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1E88E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777240"/>
            <a:ext cx="2926080" cy="32918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777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TEAM BRIEFING  |  TECHNICAL PREP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ECC On-Premise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to S/4HANA on GCP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3090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AF9"/>
                </a:solidFill>
              </a:rPr>
              <a:t>Can it be done? How? Plus: the data migration tool playbook.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4041648"/>
            <a:ext cx="10515600" cy="1024128"/>
          </a:xfrm>
          <a:prstGeom prst="rect">
            <a:avLst/>
          </a:prstGeom>
          <a:solidFill>
            <a:srgbClr val="1565C0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4041648"/>
            <a:ext cx="64008" cy="10241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0CAF9"/>
                </a:solidFill>
              </a:rPr>
              <a:t>PART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0976" y="438912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ECC On-Prem → S/4HANA on GCP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47365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</a:rPr>
              <a:t>Is it possible · Prerequisites · 6-phase journey · SUM+DMO explained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230368"/>
            <a:ext cx="10515600" cy="1024128"/>
          </a:xfrm>
          <a:prstGeom prst="rect">
            <a:avLst/>
          </a:prstGeom>
          <a:solidFill>
            <a:srgbClr val="1565C0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230368"/>
            <a:ext cx="64008" cy="10241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5321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0CAF9"/>
                </a:solidFill>
              </a:rPr>
              <a:t>PART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50976" y="557784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Migration — Tools &amp; Process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" y="592531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</a:rPr>
              <a:t>What data moves · SAP tools compared · 3rd-party options · 8-step process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1  |  CAN ECC ON-PREMISE MIGRATE TO S/4HANA ON GCP?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3291840" cy="5897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188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YES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347472" y="2487168"/>
            <a:ext cx="2999232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100% possible.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SAP's official supported path.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Used in thousands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migrations worldwide.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840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9F6CA"/>
                </a:solidFill>
              </a:rPr>
              <a:t>SAP's tool for this: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9F6CA"/>
                </a:solidFill>
              </a:rPr>
              <a:t>SUM+DMO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9F6CA"/>
                </a:solidFill>
              </a:rPr>
              <a:t>(Software Update 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B9F6CA"/>
                </a:solidFill>
              </a:rPr>
              <a:t>+ Database Migration Option)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5E9"/>
                </a:solidFill>
              </a:rPr>
              <a:t>GCP Dammam (me-central2)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5E9"/>
                </a:solidFill>
              </a:rPr>
              <a:t>is SAP-certified for this exact scenario.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67328" y="822960"/>
            <a:ext cx="82296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822960"/>
            <a:ext cx="54864" cy="13533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95344" y="932688"/>
            <a:ext cx="475488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62272" y="950976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SAP's official path — not a workaround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62272" y="1298448"/>
            <a:ext cx="7360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SUM+DMO takes any ECC system on any database (Oracle, DB2, SQL Server) and in one automated operation upgrades it to S/4HANA and migrates the database to HANA on GCP.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67328" y="2276856"/>
            <a:ext cx="8229600" cy="13533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2276856"/>
            <a:ext cx="54864" cy="13533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2386584"/>
            <a:ext cx="475488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895344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2272" y="240487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Minimum: ECC 6.0 + Unicode enabled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62272" y="2752344"/>
            <a:ext cx="7360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Older versions (R/3 4.6, 4.7) need an intermediate upgrade to ECC 6.0 first. The SAP Readiness Check confirms eligibility instantly in Phase 1.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3730752"/>
            <a:ext cx="82296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67328" y="3730752"/>
            <a:ext cx="54864" cy="13533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895344" y="3840480"/>
            <a:ext cx="475488" cy="4754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6" name="Text 24"/>
          <p:cNvSpPr/>
          <p:nvPr/>
        </p:nvSpPr>
        <p:spPr>
          <a:xfrm>
            <a:off x="3895344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62272" y="38587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DB does NOT need to be HANA first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4206240"/>
            <a:ext cx="7360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Common misconception. SUM+DMO handles the database conversion (Oracle → HANA) simultaneously with the software upgrade. One tool, one downtime window.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67328" y="5184648"/>
            <a:ext cx="8229600" cy="13533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67328" y="5184648"/>
            <a:ext cx="54864" cy="13533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1" name="Shape 29"/>
          <p:cNvSpPr/>
          <p:nvPr/>
        </p:nvSpPr>
        <p:spPr>
          <a:xfrm>
            <a:off x="3895344" y="5294376"/>
            <a:ext cx="475488" cy="47548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2" name="Text 30"/>
          <p:cNvSpPr/>
          <p:nvPr/>
        </p:nvSpPr>
        <p:spPr>
          <a:xfrm>
            <a:off x="3895344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62272" y="5312664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</a:rPr>
              <a:t>GCP KSA is fully SAP-certified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62272" y="5660136"/>
            <a:ext cx="7360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GCP Dammam M4/C4D VMs are in SAP's official HANA Hardware Directory. NCA/CCC compliance is pre-certified under RISE — no separate audit needed.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1  |  PREREQUISITES — WHAT MUST BE IN PLACE BEFORE MIGRATION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11750040" cy="256032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86384"/>
            <a:ext cx="45720" cy="2560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8638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Checked by your team in Phase 1. Any failure here becomes a risk item before the project starts.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115568"/>
            <a:ext cx="5760720" cy="31089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11556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</a:rPr>
              <a:t>SOFTWARE VERSION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" y="1481328"/>
            <a:ext cx="5541264" cy="102412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3619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565C0"/>
                </a:solidFill>
              </a:rPr>
              <a:t>✔  ECC 6.0 minimum + Unicode enabled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Older versions need an intermediate upgrade first. Unicode is mandatory — S/4HANA is Unicode-only.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10896" y="2578608"/>
            <a:ext cx="5541264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3347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565C0"/>
                </a:solidFill>
              </a:rPr>
              <a:t>✔  ABAP-only stack (no dual ABAP+Java)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Java components (old NetWeaver Portal) must be decommissioned before SUM+DMO can run.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0488" y="1115568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0488" y="1115568"/>
            <a:ext cx="5760720" cy="31089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111556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</a:rPr>
              <a:t>DATABASE &amp; 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00216" y="1481328"/>
            <a:ext cx="5541264" cy="102412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53619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695C"/>
                </a:solidFill>
              </a:rPr>
              <a:t>✔  Any major DB is acceptable as source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Oracle, DB2, SQL Server, SAP ASE — all supported. SUM+DMO converts everything to HANA automatically.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300216" y="2578608"/>
            <a:ext cx="5541264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63347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695C"/>
                </a:solidFill>
              </a:rPr>
              <a:t>✔  Supported OS version on source server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355080" y="292608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RHEL, SLES, or Windows. SUM checks this in its Prerequisites Check. Outdated OS may need upgrading first.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01168" y="3904488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3904488"/>
            <a:ext cx="5760720" cy="31089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" y="39044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</a:rPr>
              <a:t>GCP INFRASTRUCTURE (SAP sets up under RISE)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" y="4270248"/>
            <a:ext cx="5541264" cy="102412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2511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5E20"/>
                </a:solidFill>
              </a:rPr>
              <a:t>✔  Target GCP VMs provisioned by SAP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SAP deploys M4/C4D VMs, storage, networking, and HA clustering in GCP Dammam. Takes 3–7 days. SAP's responsibility.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10896" y="5367528"/>
            <a:ext cx="5541264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542239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5E20"/>
                </a:solidFill>
              </a:rPr>
              <a:t>✔  VPN tunnel: on-prem ↔ GCP + sufficient RAM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65760" y="571500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High-bandwidth secure tunnel for data transfer during conversion. RAM must match the ECC database size — HANA stores everything in memory.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190488" y="3904488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3904488"/>
            <a:ext cx="5760720" cy="310896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0216" y="39044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</a:rPr>
              <a:t>FUNCTIONAL / BUSINESS READINESS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0216" y="4270248"/>
            <a:ext cx="5541264" cy="1024128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32511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527A0"/>
                </a:solidFill>
              </a:rPr>
              <a:t>✔  CVI (Customer-Vendor Integration) activated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355080" y="461772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S/4HANA merges Customers and Vendors into one Business Partner record. CVI must be activated in ECC before conversion — otherwise SUM+DMO halts.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300216" y="5367528"/>
            <a:ext cx="5541264" cy="10241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5422392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527A0"/>
                </a:solidFill>
              </a:rPr>
              <a:t>✔  Simplification Item Check (SICheck) passed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55080" y="571500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SAP's SICheck scans ECC for S/4HANA incompatibilities. All errors must be resolved before SUM+DMO will proceed.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1  |  THE 6-PHASE JOURNEY: ECC ON-PREM → S/4HANA ON GCP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170432"/>
            <a:ext cx="1175004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060704"/>
            <a:ext cx="512064" cy="51206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737360"/>
            <a:ext cx="1920240" cy="6217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2–4 wk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565C0"/>
                </a:solidFill>
              </a:rPr>
              <a:t>WHAT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65176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Business case + SAP Readiness Check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65176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Readiness Check · Signavio · LeanIX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01168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65176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Run Readiness Check · Fit-Gap workshops · Confirm approach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889504" y="1060704"/>
            <a:ext cx="512064" cy="512064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23" name="Text 21"/>
          <p:cNvSpPr/>
          <p:nvPr/>
        </p:nvSpPr>
        <p:spPr>
          <a:xfrm>
            <a:off x="2889504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85416" y="1737360"/>
            <a:ext cx="1920240" cy="62179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5" name="Text 23"/>
          <p:cNvSpPr/>
          <p:nvPr/>
        </p:nvSpPr>
        <p:spPr>
          <a:xfrm>
            <a:off x="2185416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85416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4–6 wk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85416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49424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277BD"/>
                </a:solidFill>
              </a:rPr>
              <a:t>WHAT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249424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GCP provisioned · SUM+DMO installed · Blueprint finalised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85416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85416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2185416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249424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Provisions GCP Dammam VMs · Installs empty S/4HANA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185416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185416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2185416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249424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Project governance · Install SUM on ECC · VPN setup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873752" y="1060704"/>
            <a:ext cx="512064" cy="51206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169664" y="1737360"/>
            <a:ext cx="1920240" cy="62179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1" name="Text 39"/>
          <p:cNvSpPr/>
          <p:nvPr/>
        </p:nvSpPr>
        <p:spPr>
          <a:xfrm>
            <a:off x="4169664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69664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6–10 wk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69664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233672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695C"/>
                </a:solidFill>
              </a:rPr>
              <a:t>WHAT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233672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Fit-to-Standard workshops · SICheck resolved · Code plan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69664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69664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4169664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233672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SICheck report · ATC code scanner · Best Practice content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169664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69664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2" name="Text 50"/>
          <p:cNvSpPr/>
          <p:nvPr/>
        </p:nvSpPr>
        <p:spPr>
          <a:xfrm>
            <a:off x="4169664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233672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Resolve SICheck errors · ATC scan · Plan ABAP remediation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858000" y="1060704"/>
            <a:ext cx="512064" cy="512064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0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153912" y="1737360"/>
            <a:ext cx="1920240" cy="62179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57" name="Text 55"/>
          <p:cNvSpPr/>
          <p:nvPr/>
        </p:nvSpPr>
        <p:spPr>
          <a:xfrm>
            <a:off x="6153912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REALIZE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53912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12–20 wk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53912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17920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527A0"/>
                </a:solidFill>
              </a:rPr>
              <a:t>WHAT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217920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SUM+DMO runs · Code fixed · Full config · Testing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53912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53912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4" name="Text 62"/>
          <p:cNvSpPr/>
          <p:nvPr/>
        </p:nvSpPr>
        <p:spPr>
          <a:xfrm>
            <a:off x="6153912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217920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Runs SUM+DMO conversion · Manages HANA · Provides Fiori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53912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53912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8" name="Text 66"/>
          <p:cNvSpPr/>
          <p:nvPr/>
        </p:nvSpPr>
        <p:spPr>
          <a:xfrm>
            <a:off x="6153912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217920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War room · Fix custom code · Full config · Data loads · UAT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8842248" y="1060704"/>
            <a:ext cx="512064" cy="512064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71" name="Text 69"/>
          <p:cNvSpPr/>
          <p:nvPr/>
        </p:nvSpPr>
        <p:spPr>
          <a:xfrm>
            <a:off x="8842248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8138160" y="1737360"/>
            <a:ext cx="1920240" cy="62179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73" name="Text 71"/>
          <p:cNvSpPr/>
          <p:nvPr/>
        </p:nvSpPr>
        <p:spPr>
          <a:xfrm>
            <a:off x="8138160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138160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2–4 wk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138160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202168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F360C"/>
                </a:solidFill>
              </a:rPr>
              <a:t>WHAT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202168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Final data load · Cutover · Go-live sign-off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138160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138160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0" name="Text 78"/>
          <p:cNvSpPr/>
          <p:nvPr/>
        </p:nvSpPr>
        <p:spPr>
          <a:xfrm>
            <a:off x="8138160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8202168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Switches DNS · Activates production monitoring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8138160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8138160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4" name="Text 82"/>
          <p:cNvSpPr/>
          <p:nvPr/>
        </p:nvSpPr>
        <p:spPr>
          <a:xfrm>
            <a:off x="8138160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8202168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Cutover playbook (200–400 tasks) · Go-live sign-off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10826496" y="1060704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87" name="Text 85"/>
          <p:cNvSpPr/>
          <p:nvPr/>
        </p:nvSpPr>
        <p:spPr>
          <a:xfrm>
            <a:off x="10826496" y="1060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0122408" y="1737360"/>
            <a:ext cx="1920240" cy="62179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9" name="Text 87"/>
          <p:cNvSpPr/>
          <p:nvPr/>
        </p:nvSpPr>
        <p:spPr>
          <a:xfrm>
            <a:off x="10122408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0122408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Ongoing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122408" y="2404872"/>
            <a:ext cx="1920240" cy="8961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10186416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B5E20"/>
                </a:solidFill>
              </a:rPr>
              <a:t>WHAT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0186416" y="2624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Hypercare 4–8 wk → steady state under RISE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0122408" y="3346704"/>
            <a:ext cx="1920240" cy="148132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10122408" y="3346704"/>
            <a:ext cx="1920240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6" name="Text 94"/>
          <p:cNvSpPr/>
          <p:nvPr/>
        </p:nvSpPr>
        <p:spPr>
          <a:xfrm>
            <a:off x="10122408" y="3346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SAP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0186416" y="35935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47A1"/>
                </a:solidFill>
              </a:rPr>
              <a:t>Takes over all managed ops: patching · upgrades · SLA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10122408" y="4873752"/>
            <a:ext cx="1920240" cy="17830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0122408" y="4873752"/>
            <a:ext cx="1920240" cy="21945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0" name="Text 98"/>
          <p:cNvSpPr/>
          <p:nvPr/>
        </p:nvSpPr>
        <p:spPr>
          <a:xfrm>
            <a:off x="10122408" y="4873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YOUR TEAM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0186416" y="5120640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4D40"/>
                </a:solidFill>
              </a:rPr>
              <a:t>Hypercare support · Knowledge transfer to customer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1  |  SUM+DMO — THE TOOL THAT DOES THE ACTUAL CONVERSION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11750040" cy="6858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86384"/>
            <a:ext cx="54864" cy="6858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813816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27A0"/>
                </a:solidFill>
              </a:rPr>
              <a:t>What is SUM+DMO?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SUM (Software Update Manager) + DMO (Database Migration Option). In one automated run: upgrades ECC → S/4HANA · converts the database (Oracle/DB2/SQL Server → HANA) · moves everything to GCP. Your team monitors; the tool runs itself.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28600" y="1554480"/>
            <a:ext cx="1175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27A0"/>
                </a:solidFill>
              </a:rPr>
              <a:t>TWO MODES — CHOOSE BASED ON YOUR SCENARIO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1847088"/>
            <a:ext cx="5760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847088"/>
            <a:ext cx="57607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1847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 A — DMO with System Move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258568"/>
            <a:ext cx="5541264" cy="2194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2258568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Best for: Standard — recommended for most KSA ECC → GCP migrations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9184" y="2542032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542032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SUM+DMO starts running on the source ECC system (still on-premise)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9184" y="2980944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980944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Upgrades SAP software + converts DB simultaneously on the new GCP HANA target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29184" y="3419856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419856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Data transfers across VPN from on-prem to GCP during conversion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29184" y="3858768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858768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Once complete, GCP S/4HANA is the new production system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29184" y="4297680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4297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Old on-premise ECC decommissioned after validation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10896" y="4791456"/>
            <a:ext cx="5541264" cy="228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" y="4791456"/>
            <a:ext cx="546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565C0"/>
                </a:solidFill>
              </a:rPr>
              <a:t>⏱  Downtime: 30–80 hours during conversion weekend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10896" y="5065776"/>
            <a:ext cx="5541264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" y="5065776"/>
            <a:ext cx="546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⚠  Main risk: network bandwidth between on-prem and GCP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190488" y="1847088"/>
            <a:ext cx="5760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0488" y="1847088"/>
            <a:ext cx="57607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6300216" y="1847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 B — DMOVE2S4 (Hyperscaler Mode)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0216" y="2258568"/>
            <a:ext cx="5541264" cy="219456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2258568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695C"/>
                </a:solidFill>
              </a:rPr>
              <a:t>Best for: SAP's preferred mode for GCP destination — reduces downtime by 20–35%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318504" y="2542032"/>
            <a:ext cx="237744" cy="23774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2542032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SAP spins up a bridge application server inside GCP that still belongs to the source ECC landscape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318504" y="2980944"/>
            <a:ext cx="237744" cy="23774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43" name="Text 41"/>
          <p:cNvSpPr/>
          <p:nvPr/>
        </p:nvSpPr>
        <p:spPr>
          <a:xfrm>
            <a:off x="6318504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2980944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Conversion steps are distributed between on-prem and GCP — more work happens while system is live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318504" y="3419856"/>
            <a:ext cx="237744" cy="23774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46" name="Text 44"/>
          <p:cNvSpPr/>
          <p:nvPr/>
        </p:nvSpPr>
        <p:spPr>
          <a:xfrm>
            <a:off x="6318504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29400" y="3419856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Large tables moved during uptime using shadow processing — reducing actual downtime window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318504" y="3858768"/>
            <a:ext cx="237744" cy="23774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49" name="Text 47"/>
          <p:cNvSpPr/>
          <p:nvPr/>
        </p:nvSpPr>
        <p:spPr>
          <a:xfrm>
            <a:off x="6318504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29400" y="3858768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Final cutover is cleaner because both environments are pre-aligned before the switch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318504" y="4297680"/>
            <a:ext cx="237744" cy="23774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52" name="Text 50"/>
          <p:cNvSpPr/>
          <p:nvPr/>
        </p:nvSpPr>
        <p:spPr>
          <a:xfrm>
            <a:off x="6318504" y="4297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29400" y="4297680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55A64"/>
                </a:solidFill>
              </a:rPr>
              <a:t>Recommended by SAP for all RISE with GCP migrations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300216" y="4791456"/>
            <a:ext cx="5541264" cy="2286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5" name="Text 53"/>
          <p:cNvSpPr/>
          <p:nvPr/>
        </p:nvSpPr>
        <p:spPr>
          <a:xfrm>
            <a:off x="6345936" y="4791456"/>
            <a:ext cx="546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695C"/>
                </a:solidFill>
              </a:rPr>
              <a:t>⏱  Downtime: 20–35% shorter than Mode A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300216" y="5065776"/>
            <a:ext cx="5541264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6345936" y="5065776"/>
            <a:ext cx="546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⚠  Slightly more complex setup — SAP's recommended method under RISE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201168" y="6656832"/>
            <a:ext cx="1175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0A4AE"/>
                </a:solidFill>
              </a:rPr>
              <a:t>KEY FACT: SUM+DMO is SAP's fully automated tool — not custom scripts. Your team's job is to monitor, manage the war room, and validate. Not to write conversion logic.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1  |  THE CONVERSION WEEKEND — WHAT ACTUALLY HAPPENS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11750040" cy="237744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86384"/>
            <a:ext cx="45720" cy="237744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8638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1E293B"/>
                </a:solidFill>
              </a:rPr>
              <a:t>Typically Friday evening → Sunday afternoon (48–72 hours total). Your team runs a 24/7 war room throughout.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9601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" y="107899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TIME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07008" y="1078992"/>
            <a:ext cx="1207008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1243584" y="107899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87168" y="1078992"/>
            <a:ext cx="1298448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10789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OWNER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58768" y="1078992"/>
            <a:ext cx="7882128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3895344" y="1078992"/>
            <a:ext cx="7827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WHAT HAPPENS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1371600"/>
            <a:ext cx="9601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" y="137160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FRI 18:00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07008" y="1371600"/>
            <a:ext cx="120700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52728" y="13716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SYSTEM FREEZE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87168" y="1371600"/>
            <a:ext cx="129844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532888" y="137160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Your Team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58768" y="1371600"/>
            <a:ext cx="788212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13716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Stop all batch jobs · Notify users · Trigger final on-prem backup · Start master data extraction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82880" y="2139696"/>
            <a:ext cx="9601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" y="2139696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FRI 20:00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207008" y="2139696"/>
            <a:ext cx="120700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1252728" y="2139696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SYSTEM LOCK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87168" y="2139696"/>
            <a:ext cx="129844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2532888" y="213969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Your Team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58768" y="2139696"/>
            <a:ext cx="788212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213969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Lock all users out of ECC · Close financial period · Final transactional data extraction (open POs, SOs, invoices) · Confirm totals reconciled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82880" y="2907792"/>
            <a:ext cx="960120" cy="7132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3" name="Text 31"/>
          <p:cNvSpPr/>
          <p:nvPr/>
        </p:nvSpPr>
        <p:spPr>
          <a:xfrm>
            <a:off x="219456" y="2907792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FRI 22:00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207008" y="2907792"/>
            <a:ext cx="120700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52728" y="290779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SUM+DMO STARTS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87168" y="2907792"/>
            <a:ext cx="129844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532888" y="290779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SAP Tool (Automated)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58768" y="2907792"/>
            <a:ext cx="788212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290779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Tool launched on source ECC · Software upgrade phase begins · DB schema conversion starts (Oracle/DB2 → HANA) · Data starts transferring via VPN to GCP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182880" y="3675888"/>
            <a:ext cx="960120" cy="7132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1" name="Text 39"/>
          <p:cNvSpPr/>
          <p:nvPr/>
        </p:nvSpPr>
        <p:spPr>
          <a:xfrm>
            <a:off x="219456" y="3675888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 06:00–18:00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207008" y="3675888"/>
            <a:ext cx="120700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1252728" y="3675888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CONVERSION RUNNING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87168" y="3675888"/>
            <a:ext cx="129844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2532888" y="367588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War Room Active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58768" y="3675888"/>
            <a:ext cx="788212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367588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SUM+DMO runs fully automated · Basis team monitors dashboard · GCP scaled to max CPU/RAM for speed · Migration Cockpit loads final transactional data in parallel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182880" y="4443984"/>
            <a:ext cx="960120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9" name="Text 47"/>
          <p:cNvSpPr/>
          <p:nvPr/>
        </p:nvSpPr>
        <p:spPr>
          <a:xfrm>
            <a:off x="219456" y="4443984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 18:00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207008" y="4443984"/>
            <a:ext cx="120700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252728" y="44439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95C"/>
                </a:solidFill>
              </a:rPr>
              <a:t>TECHNICAL VALIDATION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487168" y="4443984"/>
            <a:ext cx="129844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532888" y="444398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Your Team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58768" y="4443984"/>
            <a:ext cx="788212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931920" y="444398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SUM+DMO completes — system is now S/4HANA on GCP · Run health checks · Validate CVI Business Partner conversion · Reconcile trial balance cent-by-cent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182880" y="5212080"/>
            <a:ext cx="960120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7" name="Text 55"/>
          <p:cNvSpPr/>
          <p:nvPr/>
        </p:nvSpPr>
        <p:spPr>
          <a:xfrm>
            <a:off x="219456" y="521208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SUN 08:00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207008" y="5212080"/>
            <a:ext cx="120700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1252728" y="521208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95C"/>
                </a:solidFill>
              </a:rPr>
              <a:t>BUSINESS VALIDATION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87168" y="5212080"/>
            <a:ext cx="129844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2532888" y="52120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Team + Key Users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858768" y="5212080"/>
            <a:ext cx="7882128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61"/>
          <p:cNvSpPr/>
          <p:nvPr/>
        </p:nvSpPr>
        <p:spPr>
          <a:xfrm>
            <a:off x="3931920" y="521208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Key users log into new S/4HANA Fiori · Run test scripts: create PO · post journal · run report · Confirm integrations live · Formal Go / No-Go decision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182880" y="5980176"/>
            <a:ext cx="960120" cy="7132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5" name="Text 63"/>
          <p:cNvSpPr/>
          <p:nvPr/>
        </p:nvSpPr>
        <p:spPr>
          <a:xfrm>
            <a:off x="219456" y="5980176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SUN 14:00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207008" y="5980176"/>
            <a:ext cx="120700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728" y="5980176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20"/>
                </a:solidFill>
              </a:rPr>
              <a:t>GO-LIVE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87168" y="5980176"/>
            <a:ext cx="129844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2532888" y="598017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55A64"/>
                </a:solidFill>
              </a:rPr>
              <a:t>SAP (DNS) + Your Team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858768" y="5980176"/>
            <a:ext cx="788212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931920" y="598017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SAP switches DNS — all users now connect to GCP S/4HANA · Old ECC permanently locked · New Fiori URL distributed · Full hypercare team deployed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3D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3D3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D1B2A">
              <a:alpha val="4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2EBF2"/>
                </a:solidFill>
              </a:rPr>
              <a:t>PART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Migration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Tools &amp; Process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EBF2"/>
                </a:solidFill>
              </a:rPr>
              <a:t>What data moves · SAP tools compared · 3rd-party options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2EBF2"/>
                </a:solidFill>
              </a:rPr>
              <a:t>8-step process your team owns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73568" y="868680"/>
            <a:ext cx="3931920" cy="128016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065008" y="9509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65008" y="12618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 data types must migrate?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73568" y="2331720"/>
            <a:ext cx="3931920" cy="128016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24140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65008" y="27249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 SAP tools exist and how do they differ?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3794760"/>
            <a:ext cx="3931920" cy="128016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65008" y="38770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65008" y="41879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Are 3rd-party tools ever better?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5257800"/>
            <a:ext cx="3931920" cy="128016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65008" y="5340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65008" y="56509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 are the 8 steps your team runs?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2  |  WHAT DATA NEEDS TO MIGRATE — TYPES &amp; HOW EACH IS HANDLED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11750040" cy="237744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86384"/>
            <a:ext cx="45720" cy="2377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8638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SUM+DMO automatically converts ~90% of all ECC data. Your team's manual work covers the remaining 10% — the most complex, highest-risk portion.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01168" y="1078992"/>
            <a:ext cx="3858768" cy="5650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78992"/>
            <a:ext cx="3858768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0972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MASTER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38988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FFFFF"/>
                </a:solidFill>
              </a:rPr>
              <a:t>Permanent reference entities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92608" y="1627632"/>
            <a:ext cx="3694176" cy="2331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70078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Business Partners (Customers &amp; Vendors)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2066544"/>
            <a:ext cx="3602736" cy="219456"/>
          </a:xfrm>
          <a:prstGeom prst="rect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How: MANUAL — CVI program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340864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S/4HANA merges separate Customer and Vendor records into one Business Partner. Your team runs the CVI migration program before go-live.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114800"/>
            <a:ext cx="3694176" cy="2331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418795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Material Master, G/L Accounts, Cost Centres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" y="4553712"/>
            <a:ext cx="3602736" cy="219456"/>
          </a:xfrm>
          <a:prstGeom prst="rect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553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How: SUM+DMO automatic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8328" y="4828032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All product and finance master data migrated automatically. Your team validates completeness post-conversion.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078992"/>
            <a:ext cx="3858768" cy="5650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1078992"/>
            <a:ext cx="3858768" cy="47548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10972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TRANSACTIONAL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138988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FFFFF"/>
                </a:solidFill>
              </a:rPr>
              <a:t>Business events and documents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297680" y="1627632"/>
            <a:ext cx="3694176" cy="233172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170078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27A0"/>
                </a:solidFill>
              </a:rPr>
              <a:t>Open POs, Sales Orders, Invoices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2066544"/>
            <a:ext cx="3602736" cy="219456"/>
          </a:xfrm>
          <a:prstGeom prst="rect">
            <a:avLst/>
          </a:prstGeom>
          <a:solidFill>
            <a:srgbClr val="4527A0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70832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How: SUM+DMO automatic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43400" y="2340864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All in-progress business documents carried over. Your Procurement and Finance teams validate values match the old system line-by-line.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0" y="4114800"/>
            <a:ext cx="3694176" cy="2331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343400" y="418795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27A0"/>
                </a:solidFill>
              </a:rPr>
              <a:t>Financial Balances (AR/AP)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4553712"/>
            <a:ext cx="3602736" cy="219456"/>
          </a:xfrm>
          <a:prstGeom prst="rect">
            <a:avLst/>
          </a:prstGeom>
          <a:solidFill>
            <a:srgbClr val="4527A0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370832" y="4553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How: SUM+DMO automatic — reconcile to penny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343400" y="4828032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All unpaid invoices and payables migrated. Zero tolerance for discrepancy — Finance reconciles every total before go-live sign-off.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11312" y="1078992"/>
            <a:ext cx="3858768" cy="5650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11312" y="1078992"/>
            <a:ext cx="3858768" cy="47548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10972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 &amp; CUSTOM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02752" y="138988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FFFFF"/>
                </a:solidFill>
              </a:rPr>
              <a:t>System settings and customer-built programs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8302752" y="1627632"/>
            <a:ext cx="3694176" cy="233172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41" name="Text 39"/>
          <p:cNvSpPr/>
          <p:nvPr/>
        </p:nvSpPr>
        <p:spPr>
          <a:xfrm>
            <a:off x="8348472" y="170078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SAP IMG Configuration (all settings)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48472" y="2066544"/>
            <a:ext cx="3602736" cy="219456"/>
          </a:xfrm>
          <a:prstGeom prst="rect">
            <a:avLst/>
          </a:prstGeom>
          <a:solidFill>
            <a:srgbClr val="BF360C">
              <a:alpha val="2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375904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F360C"/>
                </a:solidFill>
              </a:rPr>
              <a:t>How: SUM+DMO automatic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48472" y="2340864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All configuration settings — company codes, workflows, tax codes, document types — carried over. Consultants validate they work in S/4HANA.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02752" y="4114800"/>
            <a:ext cx="3694176" cy="2331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8348472" y="418795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</a:rPr>
              <a:t>Custom ABAP Programs (Z-objects)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348472" y="4553712"/>
            <a:ext cx="3602736" cy="219456"/>
          </a:xfrm>
          <a:prstGeom prst="rect">
            <a:avLst/>
          </a:prstGeom>
          <a:solidFill>
            <a:srgbClr val="BF360C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375904" y="4553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F360C"/>
                </a:solidFill>
              </a:rPr>
              <a:t>How: MANUAL — ABAP team fixes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48472" y="4828032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Custom reports and interfaces copied by SUM+DMO but may break in S/4HANA. ABAP developers fix each one identified by the ATC scanner.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2  |  SAP DATA MIGRATION TOOLS — COMPARED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786384"/>
            <a:ext cx="129844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" y="78638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554480" y="786384"/>
            <a:ext cx="192024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591056" y="7863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WHAT IT DOES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47872" y="786384"/>
            <a:ext cx="18470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7863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BEST USED FOR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68112" y="786384"/>
            <a:ext cx="137160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504688" y="7863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SKILL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903720" y="786384"/>
            <a:ext cx="1335024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0296" y="786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COST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302752" y="786384"/>
            <a:ext cx="1261872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7863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LIMITATION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46920" y="786384"/>
            <a:ext cx="239572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9683496" y="7863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VERDICT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097280"/>
            <a:ext cx="1298448" cy="10698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" y="11430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SUM+DMO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7744" y="1645920"/>
            <a:ext cx="1207008" cy="201168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16459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554480" y="1097280"/>
            <a:ext cx="192024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1133856"/>
            <a:ext cx="18470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Converts the entire ECC system — software, database, all data — to S/4HANA in one automated run. Handles ~90% of all data automatically.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547872" y="1097280"/>
            <a:ext cx="184708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1133856"/>
            <a:ext cx="1773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Always the first tool. Every Brownfield migration starts here.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468112" y="1097280"/>
            <a:ext cx="137160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513832" y="1133856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SAP Basis (specialist). Tool runs itself; team monitors.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903720" y="1097280"/>
            <a:ext cx="1335024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133856"/>
            <a:ext cx="1261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Included in RISE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302752" y="1097280"/>
            <a:ext cx="1261872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48472" y="1133856"/>
            <a:ext cx="1188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Migrates everything — can't be selective. Bad data in ECC comes across as-is.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9646920" y="1097280"/>
            <a:ext cx="239572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0" y="1133856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</a:rPr>
              <a:t>Always use first. Foundation of every Brownfield.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2212848"/>
            <a:ext cx="1298448" cy="10698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" y="22585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Migration Cockpit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(LTMC / 'Migrate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Your Data' app)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7744" y="2761488"/>
            <a:ext cx="1207008" cy="201168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37744" y="276148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554480" y="2212848"/>
            <a:ext cx="1920240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1600200" y="2249424"/>
            <a:ext cx="18470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SAP's modern Fiori-based migration tool with pre-built templates for standard objects (BPs, materials, open items). Replaced LSMW officially.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547872" y="2212848"/>
            <a:ext cx="1847088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593592" y="2249424"/>
            <a:ext cx="1773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Business Partner CVI migration, supplementary master data loads, residual open items SUM+DMO doesn't fully cover.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468112" y="2212848"/>
            <a:ext cx="1371600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513832" y="2249424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Functional consultants — no ABAP needed for standard templates.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903720" y="2212848"/>
            <a:ext cx="1335024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2249424"/>
            <a:ext cx="1261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Included with S/4HANA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302752" y="2212848"/>
            <a:ext cx="1261872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8348472" y="2249424"/>
            <a:ext cx="1188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Initial load only — can't update existing records. Not all objects have templates.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9646920" y="2212848"/>
            <a:ext cx="2395728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9692640" y="2249424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Your team's main manual migration tool alongside SUM+DMO.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82880" y="3328416"/>
            <a:ext cx="1298448" cy="106984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52" name="Text 50"/>
          <p:cNvSpPr/>
          <p:nvPr/>
        </p:nvSpPr>
        <p:spPr>
          <a:xfrm>
            <a:off x="237744" y="337413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SAP BODS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(Business Objects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Services)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7744" y="3877056"/>
            <a:ext cx="1207008" cy="201168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237744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554480" y="3328416"/>
            <a:ext cx="192024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600200" y="3364992"/>
            <a:ext cx="18470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SAP's ETL platform. Connects to any source, applies complex transformation rules, cleanses data, then loads into Migration Cockpit staging tables.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547872" y="3328416"/>
            <a:ext cx="184708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3593592" y="3364992"/>
            <a:ext cx="1773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Complex transformations, multiple source systems, major data quality remediation.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468112" y="3328416"/>
            <a:ext cx="137160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513832" y="3364992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BODS specialist developers. Requires dedicated server.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903720" y="3328416"/>
            <a:ext cx="1335024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949440" y="3364992"/>
            <a:ext cx="1261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Included (HANA licence)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but needs infra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302752" y="3328416"/>
            <a:ext cx="1261872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8348472" y="3364992"/>
            <a:ext cx="1188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Steep learning curve. Overkill for standard Brownfield if SUM+DMO covers most data.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9646920" y="3328416"/>
            <a:ext cx="239572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9692640" y="3364992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360C"/>
                </a:solidFill>
              </a:rPr>
              <a:t>Use for complex scenarios: multi-source, heavy transformation.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82880" y="4443984"/>
            <a:ext cx="1298448" cy="10698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8" name="Text 66"/>
          <p:cNvSpPr/>
          <p:nvPr/>
        </p:nvSpPr>
        <p:spPr>
          <a:xfrm>
            <a:off x="237744" y="448970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(SAP Landscape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Transformation)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7744" y="4992624"/>
            <a:ext cx="1207008" cy="201168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237744" y="499262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554480" y="4443984"/>
            <a:ext cx="1920240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1600200" y="4480560"/>
            <a:ext cx="18470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Real-time database trigger-based replication. Captures every change on source and replicates continuously to target — not just one-time loads.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3547872" y="4443984"/>
            <a:ext cx="1847088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4" name="Text 72"/>
          <p:cNvSpPr/>
          <p:nvPr/>
        </p:nvSpPr>
        <p:spPr>
          <a:xfrm>
            <a:off x="3593592" y="4480560"/>
            <a:ext cx="1773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Near-zero downtime migrations. Extended parallel runs where old ECC and new S/4HANA must stay in sync for months.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468112" y="4443984"/>
            <a:ext cx="1371600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6" name="Text 74"/>
          <p:cNvSpPr/>
          <p:nvPr/>
        </p:nvSpPr>
        <p:spPr>
          <a:xfrm>
            <a:off x="5513832" y="4480560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SLT specialist (rare, high cost). Separate licence required.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903720" y="4443984"/>
            <a:ext cx="1335024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6"/>
          <p:cNvSpPr/>
          <p:nvPr/>
        </p:nvSpPr>
        <p:spPr>
          <a:xfrm>
            <a:off x="6949440" y="4480560"/>
            <a:ext cx="1261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Separate licence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8302752" y="4443984"/>
            <a:ext cx="1261872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Text 78"/>
          <p:cNvSpPr/>
          <p:nvPr/>
        </p:nvSpPr>
        <p:spPr>
          <a:xfrm>
            <a:off x="8348472" y="4480560"/>
            <a:ext cx="1188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Complex setup. Not standard in a typical Brownfield — more for Bluefield scenarios.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9646920" y="4443984"/>
            <a:ext cx="2395728" cy="10698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Text 80"/>
          <p:cNvSpPr/>
          <p:nvPr/>
        </p:nvSpPr>
        <p:spPr>
          <a:xfrm>
            <a:off x="9692640" y="4480560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</a:rPr>
              <a:t>Only use when downtime must be under 4 hours or for long parallel runs.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82880" y="5559552"/>
            <a:ext cx="1298448" cy="10698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84" name="Text 82"/>
          <p:cNvSpPr/>
          <p:nvPr/>
        </p:nvSpPr>
        <p:spPr>
          <a:xfrm>
            <a:off x="237744" y="560527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LSMW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(Legacy Migration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Workbench)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37744" y="6108192"/>
            <a:ext cx="1207008" cy="201168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237744" y="61081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AVOID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554480" y="5559552"/>
            <a:ext cx="192024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1600200" y="5596128"/>
            <a:ext cx="18470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SAP's original migration tool built for R/2→R/3 in the 1990s. Still in S/4HANA but SAP explicitly does not recommend it for S/4HANA migrations.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3547872" y="5559552"/>
            <a:ext cx="184708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3593592" y="5596128"/>
            <a:ext cx="17739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Only as a last resort if no Migration Cockpit template exists. Check SAP Note 2287723 first.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5468112" y="5559552"/>
            <a:ext cx="1371600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5513832" y="5596128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ABAP developers familiar with BAPIs and IDocs.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6903720" y="5559552"/>
            <a:ext cx="1335024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6949440" y="5596128"/>
            <a:ext cx="1261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Included (legacy)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8302752" y="5559552"/>
            <a:ext cx="1261872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8348472" y="5596128"/>
            <a:ext cx="1188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No simulation mode, cannot update records, slow for large volumes, corruption risk if wrong interface used.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9646920" y="5559552"/>
            <a:ext cx="2395728" cy="1069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9692640" y="5596128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71C1C"/>
                </a:solidFill>
              </a:rPr>
              <a:t>AVOID. Check SAP Note 2287723 before any use in S/4HANA.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2  |  THIRD-PARTY TOOLS — WHEN ARE THEY BETTER THAN SAP'S OWN?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86384"/>
            <a:ext cx="11750040" cy="237744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86384"/>
            <a:ext cx="45720" cy="23774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8638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SAP tools handle ~95% of migrations. Third-party tools add value in 4 specific scenarios: severe data quality · non-SAP sources · Bluefield/M&amp;A · smaller supplementary loads.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01168" y="1078992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78992"/>
            <a:ext cx="57607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789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Syniti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1768" y="1143000"/>
            <a:ext cx="896112" cy="256032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01768" y="114300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Data Quality + Migration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310896" y="1517904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Acts as the intelligent staging layer between extraction and loading. Cleanses, deduplicates, and transforms data before it reaches SAP Migration Cockpit.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USE WHEN: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2322576"/>
            <a:ext cx="5504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Severe data quality issues — duplicate vendors, missing mandatory fields, incorrect formats. Large migrations where manual cleansing isn't viable.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10896" y="3310128"/>
            <a:ext cx="5559552" cy="310896"/>
          </a:xfrm>
          <a:prstGeom prst="rect">
            <a:avLst/>
          </a:prstGeom>
          <a:solidFill>
            <a:srgbClr val="1565C0">
              <a:alpha val="8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101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Verdict: Best-in-class when data quality is the main risk. Often paired with SAP Migration Cockpit for the final load.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90488" y="1078992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0488" y="1078992"/>
            <a:ext cx="576072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10789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Informatica IDMC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91088" y="1143000"/>
            <a:ext cx="896112" cy="256032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91088" y="114300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Enterprise ETL + Data Governance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6300216" y="1517904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Market leader in enterprise data integration. Connects to any source — SAP ECC, Oracle EBS, JD Edwards, Dynamics — applies AI data quality rules and loads into S/4HANA.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0216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95C"/>
                </a:solidFill>
              </a:rPr>
              <a:t>USE WHEN: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27648" y="2322576"/>
            <a:ext cx="5504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Migration involves non-SAP source systems alongside ECC. Ongoing sync needed during extended parallel run. Enterprise audit trail requirements.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300216" y="3310128"/>
            <a:ext cx="5559552" cy="310896"/>
          </a:xfrm>
          <a:prstGeom prst="rect">
            <a:avLst/>
          </a:prstGeom>
          <a:solidFill>
            <a:srgbClr val="00695C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101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95C"/>
                </a:solidFill>
              </a:rPr>
              <a:t>Verdict: Preferred when the migration involves non-SAP sources or the customer needs enterprise-grade data governance.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" y="3867912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867912"/>
            <a:ext cx="5760720" cy="3840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" y="3867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SNP CrystalBridge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01768" y="3931920"/>
            <a:ext cx="896112" cy="256032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3931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Bluefield / Landscape Transformation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310896" y="4306824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Invented the Bluefield approach. Can selectively extract, transform, and load SAP data — including company code splits, merges, and currency conversions during migration.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0896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USE WHEN: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8328" y="5111496"/>
            <a:ext cx="5504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Bluefield — migrating only specific company codes or entities. Mergers &amp; Acquisitions: merging two SAP systems into one. Carve-outs: splitting one SAP into two.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10896" y="6099048"/>
            <a:ext cx="5559552" cy="310896"/>
          </a:xfrm>
          <a:prstGeom prst="rect">
            <a:avLst/>
          </a:prstGeom>
          <a:solidFill>
            <a:srgbClr val="4527A0">
              <a:alpha val="8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6099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527A0"/>
                </a:solidFill>
              </a:rPr>
              <a:t>Verdict: The go-to tool for org restructuring, M&amp;A, or carve-outs. Beyond the capability of any standard SAP tool.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90488" y="3867912"/>
            <a:ext cx="576072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0488" y="3867912"/>
            <a:ext cx="576072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6300216" y="3867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Precisely Automate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(Winshuttle)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991088" y="3931920"/>
            <a:ext cx="896112" cy="256032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991088" y="3931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Excel-Based Template Loading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6300216" y="4306824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Allows business users (not IT) to prepare data in Excel templates that are automatically validated and loaded into SAP via BAPIs. Low technical barrier.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0216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20"/>
                </a:solidFill>
              </a:rPr>
              <a:t>USE WHEN: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27648" y="5111496"/>
            <a:ext cx="5504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Smaller supplementary loads where business teams prepare the data themselves. Post-go-live data corrections — small, targeted record updates.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300216" y="6099048"/>
            <a:ext cx="5559552" cy="310896"/>
          </a:xfrm>
          <a:prstGeom prst="rect">
            <a:avLst/>
          </a:prstGeom>
          <a:solidFill>
            <a:srgbClr val="1B5E20">
              <a:alpha val="8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6099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20"/>
                </a:solidFill>
              </a:rPr>
              <a:t>Verdict: Good for supplementary loads and post-go-live fixes. Not a primary tool for large-scale ECC Brownfield migration.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2  |  THE 8-STEP DATA MIGRATION PROCESS — YOUR TEAM'S OWNERSHIP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786384"/>
            <a:ext cx="256032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" y="78638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#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3776" y="786384"/>
            <a:ext cx="1170432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7863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STEP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19072" y="786384"/>
            <a:ext cx="3273552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78638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SAP PROVIDES / DOES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47488" y="786384"/>
            <a:ext cx="3310128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7863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YOUR TEAM DOES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412480" y="786384"/>
            <a:ext cx="356616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8449056" y="78638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1078992"/>
            <a:ext cx="256032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078992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" y="1078992"/>
            <a:ext cx="11704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07899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SCOPE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19072" y="1078992"/>
            <a:ext cx="32735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773936" y="1078992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Readiness Check provides full object inventory &amp; data volumes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47488" y="1078992"/>
            <a:ext cx="3310128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1078992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Classify every data object: SUM+DMO auto vs manual migration. Define quality rules.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1078992"/>
            <a:ext cx="3566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467344" y="1078992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SAP Readiness Check · LTMOM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" y="1792224"/>
            <a:ext cx="256032" cy="65836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179222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" y="1792224"/>
            <a:ext cx="117043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179222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77BD"/>
                </a:solidFill>
              </a:rPr>
              <a:t>EXTRACT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19072" y="1792224"/>
            <a:ext cx="327355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1773936" y="1792224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SUM+DMO auto-extracts all ECC data during conversion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47488" y="1792224"/>
            <a:ext cx="3310128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1792224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For manual objects: write ABAP reports or BODS jobs to pull data into staging files.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412480" y="1792224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8467344" y="1792224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Custom ABAP · SAP BODS · SQL queries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2505456"/>
            <a:ext cx="256032" cy="6583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2505456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" y="2505456"/>
            <a:ext cx="11704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5054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</a:rPr>
              <a:t>PROFILE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19072" y="2505456"/>
            <a:ext cx="32735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773936" y="2505456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SICheck flags incompatibilities. ATC flags code issues.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47488" y="2505456"/>
            <a:ext cx="3310128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02352" y="2505456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Find duplicates, nulls, format errors, orphan records. Document every issue.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412480" y="2505456"/>
            <a:ext cx="3566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467344" y="2505456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Syniti / Informatica · Excel profiling · SAP DQM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82880" y="3218688"/>
            <a:ext cx="256032" cy="65836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3218688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93776" y="3218688"/>
            <a:ext cx="117043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218688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27A0"/>
                </a:solidFill>
              </a:rPr>
              <a:t>CLEANSE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719072" y="3218688"/>
            <a:ext cx="327355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1773936" y="3218688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SAP MDG provides cleansing workflow approvals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47488" y="3218688"/>
            <a:ext cx="3310128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3218688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Fix all issues: deduplicate, fill fields, convert formats, run CVI for Business Partners.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12480" y="3218688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8467344" y="3218688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BODS · Syniti · SAP MDG · CVI program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2880" y="3931920"/>
            <a:ext cx="256032" cy="65836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" y="393192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93776" y="3931920"/>
            <a:ext cx="11704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9319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F360C"/>
                </a:solidFill>
              </a:rPr>
              <a:t>MAP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719072" y="3931920"/>
            <a:ext cx="32735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773936" y="3931920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Migration Cockpit provides field mapping templates per object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47488" y="3931920"/>
            <a:ext cx="3310128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102352" y="3931920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Map every source ECC field to its S/4HANA equivalent. Translate value codes.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412480" y="3931920"/>
            <a:ext cx="3566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8467344" y="3931920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Migration Cockpit mapper · LTMOM · Syniti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82880" y="4645152"/>
            <a:ext cx="256032" cy="6583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4645152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93776" y="4645152"/>
            <a:ext cx="117043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64515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</a:rPr>
              <a:t>TEST LOADS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719072" y="4645152"/>
            <a:ext cx="327355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0" name="Text 68"/>
          <p:cNvSpPr/>
          <p:nvPr/>
        </p:nvSpPr>
        <p:spPr>
          <a:xfrm>
            <a:off x="1773936" y="4645152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Migration Cockpit staging tables auto-validate against S/4HANA rules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047488" y="4645152"/>
            <a:ext cx="3310128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102352" y="4645152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Run 3–5 full test cycles. Fix errors, reload. Target: below 0.5% error rate.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412480" y="4645152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4" name="Text 72"/>
          <p:cNvSpPr/>
          <p:nvPr/>
        </p:nvSpPr>
        <p:spPr>
          <a:xfrm>
            <a:off x="8467344" y="4645152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SAP Migration Cockpit (LTMC) · Error log analysis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82880" y="5358384"/>
            <a:ext cx="256032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6" name="Text 74"/>
          <p:cNvSpPr/>
          <p:nvPr/>
        </p:nvSpPr>
        <p:spPr>
          <a:xfrm>
            <a:off x="182880" y="5358384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5358384"/>
            <a:ext cx="11704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535838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VALIDATE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719072" y="5358384"/>
            <a:ext cx="327355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1773936" y="5358384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S/4HANA reconciliation reports compare source vs target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047488" y="5358384"/>
            <a:ext cx="3310128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5102352" y="5358384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Business users confirm data looks correct in test system. Sign off each object.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412480" y="5358384"/>
            <a:ext cx="3566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8467344" y="5358384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SAP reconciliation reports · Business sign-off checklist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82880" y="6071616"/>
            <a:ext cx="25603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6" name="Text 84"/>
          <p:cNvSpPr/>
          <p:nvPr/>
        </p:nvSpPr>
        <p:spPr>
          <a:xfrm>
            <a:off x="182880" y="6071616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493776" y="6071616"/>
            <a:ext cx="117043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607161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</a:rPr>
              <a:t>PRODUCTION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</a:rPr>
              <a:t>LOAD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719072" y="6071616"/>
            <a:ext cx="327355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0" name="Text 88"/>
          <p:cNvSpPr/>
          <p:nvPr/>
        </p:nvSpPr>
        <p:spPr>
          <a:xfrm>
            <a:off x="1773936" y="6071616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47A1"/>
                </a:solidFill>
              </a:rPr>
              <a:t>SAP manages HANA DB performance; scales GCP if needed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047488" y="6071616"/>
            <a:ext cx="3310128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2" name="Text 90"/>
          <p:cNvSpPr/>
          <p:nvPr/>
        </p:nvSpPr>
        <p:spPr>
          <a:xfrm>
            <a:off x="5102352" y="6071616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5A64"/>
                </a:solidFill>
              </a:rPr>
              <a:t>Execute final load during cutover weekend. Reconcile every total. CFO/CPO signs off.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412480" y="6071616"/>
            <a:ext cx="356616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Text 92"/>
          <p:cNvSpPr/>
          <p:nvPr/>
        </p:nvSpPr>
        <p:spPr>
          <a:xfrm>
            <a:off x="8467344" y="6071616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695C"/>
                </a:solidFill>
              </a:rPr>
              <a:t>Migration Cockpit prod run · War room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</a:rPr>
              <a:t>PART 2  |  WHICH TOOL TO USE WHEN — QUICK DECISION REFERENCE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55A64"/>
                </a:solidFill>
              </a:rPr>
              <a:t>Answer any tool question instantly using this reference: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78992"/>
            <a:ext cx="3858768" cy="3657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17043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Converting full ECC to S/4HANA?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92608" y="1673352"/>
            <a:ext cx="3694176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16733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SUM+DMO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97510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Always first — handles 90% automatically.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206240" y="107899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078992"/>
            <a:ext cx="3858768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17043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Business Partner migration (CVI)?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297680" y="1673352"/>
            <a:ext cx="3694176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256" y="16733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CVI Program + Migration Cockpit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0" y="197510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Activate CVI in ECC first, then load BPs via LTMC.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8211312" y="107899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1312" y="1078992"/>
            <a:ext cx="3858768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17043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Materials, open POs, G/L accounts?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302752" y="1673352"/>
            <a:ext cx="3694176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16733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Migration Cockpit (LTMC)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02752" y="197510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Pre-built templates. Functional team, no ABAP.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01168" y="249631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496312"/>
            <a:ext cx="3858768" cy="36576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258775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Custom ABAP code breaks post-conversion?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92608" y="3090672"/>
            <a:ext cx="3694176" cy="2560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" y="3090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ABAP Test Cockpit (ATC)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92608" y="339242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ATC scan → ABAP developers fix each issue.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206240" y="249631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06240" y="2496312"/>
            <a:ext cx="3858768" cy="36576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258775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Severe data quality issues?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297680" y="3090672"/>
            <a:ext cx="3694176" cy="2560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4" name="Text 32"/>
          <p:cNvSpPr/>
          <p:nvPr/>
        </p:nvSpPr>
        <p:spPr>
          <a:xfrm>
            <a:off x="4334256" y="3090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Syniti → then Migration Cockpit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97680" y="339242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Cleanse in Syniti, load clean data via LTMC.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211312" y="249631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11312" y="2496312"/>
            <a:ext cx="3858768" cy="36576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258775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Non-SAP source systems (Oracle EBS)?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302752" y="3090672"/>
            <a:ext cx="3694176" cy="256032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0" name="Text 38"/>
          <p:cNvSpPr/>
          <p:nvPr/>
        </p:nvSpPr>
        <p:spPr>
          <a:xfrm>
            <a:off x="8339328" y="3090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Informatica or SAP BODS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02752" y="339242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Extract from any source, transform, then load.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01168" y="391363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913632"/>
            <a:ext cx="3858768" cy="36576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40050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Near-zero downtime (&lt; 4hr window)?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92608" y="4507992"/>
            <a:ext cx="3694176" cy="25603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" y="4507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SLT + Downtime-Optimised DMO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92608" y="480974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SLT replicates live changes during conversion.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206240" y="391363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206240" y="3913632"/>
            <a:ext cx="3858768" cy="3657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0" y="40050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Bluefield or M&amp;A / carve-out?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297680" y="4507992"/>
            <a:ext cx="3694176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4334256" y="4507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SNP CrystalBridge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297680" y="480974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Only tool built for selective landscape transformation.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211312" y="391363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11312" y="3913632"/>
            <a:ext cx="3858768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6" name="Text 54"/>
          <p:cNvSpPr/>
          <p:nvPr/>
        </p:nvSpPr>
        <p:spPr>
          <a:xfrm>
            <a:off x="8302752" y="40050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Extended parallel run needed?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8302752" y="4507992"/>
            <a:ext cx="3694176" cy="2560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8" name="Text 56"/>
          <p:cNvSpPr/>
          <p:nvPr/>
        </p:nvSpPr>
        <p:spPr>
          <a:xfrm>
            <a:off x="8339328" y="4507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SLT Replication Server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302752" y="480974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Real-time sync keeps both systems aligned.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01168" y="533095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01168" y="5330952"/>
            <a:ext cx="3858768" cy="3657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2" name="Text 60"/>
          <p:cNvSpPr/>
          <p:nvPr/>
        </p:nvSpPr>
        <p:spPr>
          <a:xfrm>
            <a:off x="292608" y="542239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Should we use LSMW for S/4HANA?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292608" y="5925312"/>
            <a:ext cx="3694176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4" name="Text 62"/>
          <p:cNvSpPr/>
          <p:nvPr/>
        </p:nvSpPr>
        <p:spPr>
          <a:xfrm>
            <a:off x="329184" y="59253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NO — use Migration Cockpit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92608" y="622706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LSMW not recommended. Check SAP Note 2287723.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4206240" y="533095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206240" y="5330952"/>
            <a:ext cx="3858768" cy="3657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8" name="Text 66"/>
          <p:cNvSpPr/>
          <p:nvPr/>
        </p:nvSpPr>
        <p:spPr>
          <a:xfrm>
            <a:off x="4297680" y="542239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Small structured load / post-go-live fix?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4297680" y="5925312"/>
            <a:ext cx="3694176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0" name="Text 68"/>
          <p:cNvSpPr/>
          <p:nvPr/>
        </p:nvSpPr>
        <p:spPr>
          <a:xfrm>
            <a:off x="4334256" y="59253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Migration Cockpit (File Upload)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297680" y="622706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CSV/Excel upload mode — fast for small volumes.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8211312" y="5330952"/>
            <a:ext cx="38587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211312" y="5330952"/>
            <a:ext cx="3858768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4" name="Text 72"/>
          <p:cNvSpPr/>
          <p:nvPr/>
        </p:nvSpPr>
        <p:spPr>
          <a:xfrm>
            <a:off x="8302752" y="542239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IF: Data load needs business team input?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8302752" y="5925312"/>
            <a:ext cx="3694176" cy="2560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6" name="Text 74"/>
          <p:cNvSpPr/>
          <p:nvPr/>
        </p:nvSpPr>
        <p:spPr>
          <a:xfrm>
            <a:off x="8339328" y="59253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USE:  Precisely Automate (Winshuttle)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302752" y="622706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55A64"/>
                </a:solidFill>
              </a:rPr>
              <a:t>Excel-based — no IT needed to prepare the data.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2026-03-09T18:31:21Z</dcterms:created>
  <dcterms:modified xsi:type="dcterms:W3CDTF">2026-03-09T18:31:21Z</dcterms:modified>
</cp:coreProperties>
</file>