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457200" cy="6858000"/>
          </a:xfrm>
          <a:prstGeom prst="rect">
            <a:avLst/>
          </a:prstGeom>
          <a:solidFill>
            <a:srgbClr val="1565C0"/>
          </a:solidFill>
          <a:ln/>
        </p:spPr>
      </p:sp>
      <p:sp>
        <p:nvSpPr>
          <p:cNvPr id="3" name="Shape 1"/>
          <p:cNvSpPr/>
          <p:nvPr/>
        </p:nvSpPr>
        <p:spPr>
          <a:xfrm>
            <a:off x="457200" y="0"/>
            <a:ext cx="109728" cy="6858000"/>
          </a:xfrm>
          <a:prstGeom prst="rect">
            <a:avLst/>
          </a:prstGeom>
          <a:solidFill>
            <a:srgbClr val="1E88E5">
              <a:alpha val="58000"/>
            </a:srgbClr>
          </a:solidFill>
          <a:ln/>
        </p:spPr>
      </p:sp>
      <p:sp>
        <p:nvSpPr>
          <p:cNvPr id="4" name="Shape 2"/>
          <p:cNvSpPr/>
          <p:nvPr/>
        </p:nvSpPr>
        <p:spPr>
          <a:xfrm>
            <a:off x="8961120" y="0"/>
            <a:ext cx="3200400" cy="3657600"/>
          </a:xfrm>
          <a:prstGeom prst="rect">
            <a:avLst/>
          </a:prstGeom>
          <a:solidFill>
            <a:srgbClr val="1565C0">
              <a:alpha val="24000"/>
            </a:srgbClr>
          </a:solidFill>
          <a:ln/>
        </p:spPr>
      </p:sp>
      <p:sp>
        <p:nvSpPr>
          <p:cNvPr id="5" name="Shape 3"/>
          <p:cNvSpPr/>
          <p:nvPr/>
        </p:nvSpPr>
        <p:spPr>
          <a:xfrm>
            <a:off x="9601200" y="3657600"/>
            <a:ext cx="2560320" cy="3200400"/>
          </a:xfrm>
          <a:prstGeom prst="rect">
            <a:avLst/>
          </a:prstGeom>
          <a:solidFill>
            <a:srgbClr val="1E88E5">
              <a:alpha val="18000"/>
            </a:srgbClr>
          </a:solidFill>
          <a:ln/>
        </p:spPr>
      </p:sp>
      <p:sp>
        <p:nvSpPr>
          <p:cNvPr id="6" name="Shape 4"/>
          <p:cNvSpPr/>
          <p:nvPr/>
        </p:nvSpPr>
        <p:spPr>
          <a:xfrm>
            <a:off x="777240" y="777240"/>
            <a:ext cx="3383280" cy="347472"/>
          </a:xfrm>
          <a:prstGeom prst="rect">
            <a:avLst/>
          </a:prstGeom>
          <a:solidFill>
            <a:srgbClr val="1E88E5"/>
          </a:solidFill>
          <a:ln/>
        </p:spPr>
      </p:sp>
      <p:sp>
        <p:nvSpPr>
          <p:cNvPr id="7" name="Text 5"/>
          <p:cNvSpPr/>
          <p:nvPr/>
        </p:nvSpPr>
        <p:spPr>
          <a:xfrm>
            <a:off x="777240" y="777240"/>
            <a:ext cx="3383280" cy="347472"/>
          </a:xfrm>
          <a:prstGeom prst="rect">
            <a:avLst/>
          </a:prstGeom>
          <a:noFill/>
          <a:ln/>
        </p:spPr>
        <p:txBody>
          <a:bodyPr wrap="square" lIns="0" tIns="0" rIns="0" bIns="0" rtlCol="0" anchor="ctr"/>
          <a:lstStyle/>
          <a:p>
            <a:pPr algn="ctr" indent="0" marL="0">
              <a:buNone/>
            </a:pPr>
            <a:r>
              <a:rPr lang="en-US" sz="850" b="1" spc="150" kern="0" dirty="0">
                <a:solidFill>
                  <a:srgbClr val="FFFFFF"/>
                </a:solidFill>
              </a:rPr>
              <a:t>TEAM DEEP DIVE  |  TECHNICAL PREPARATION</a:t>
            </a:r>
            <a:endParaRPr lang="en-US" sz="850" dirty="0"/>
          </a:p>
        </p:txBody>
      </p:sp>
      <p:sp>
        <p:nvSpPr>
          <p:cNvPr id="8" name="Text 6"/>
          <p:cNvSpPr/>
          <p:nvPr/>
        </p:nvSpPr>
        <p:spPr>
          <a:xfrm>
            <a:off x="777240" y="1298448"/>
            <a:ext cx="8046720" cy="1737360"/>
          </a:xfrm>
          <a:prstGeom prst="rect">
            <a:avLst/>
          </a:prstGeom>
          <a:noFill/>
          <a:ln/>
        </p:spPr>
        <p:txBody>
          <a:bodyPr wrap="square" lIns="0" tIns="0" rIns="0" bIns="0" rtlCol="0" anchor="ctr"/>
          <a:lstStyle/>
          <a:p>
            <a:pPr indent="0" marL="0">
              <a:buNone/>
            </a:pPr>
            <a:r>
              <a:rPr lang="en-US" sz="4000" b="1" dirty="0">
                <a:solidFill>
                  <a:srgbClr val="FFFFFF"/>
                </a:solidFill>
              </a:rPr>
              <a:t>SAP ECC On-Premise</a:t>
            </a:r>
            <a:endParaRPr lang="en-US" sz="4000" dirty="0"/>
          </a:p>
          <a:p>
            <a:pPr indent="0" marL="0">
              <a:buNone/>
            </a:pPr>
            <a:r>
              <a:rPr lang="en-US" sz="4000" b="1" dirty="0">
                <a:solidFill>
                  <a:srgbClr val="FFFFFF"/>
                </a:solidFill>
              </a:rPr>
              <a:t>to S/4HANA on GCP</a:t>
            </a:r>
            <a:endParaRPr lang="en-US" sz="4000" dirty="0"/>
          </a:p>
        </p:txBody>
      </p:sp>
      <p:sp>
        <p:nvSpPr>
          <p:cNvPr id="9" name="Text 7"/>
          <p:cNvSpPr/>
          <p:nvPr/>
        </p:nvSpPr>
        <p:spPr>
          <a:xfrm>
            <a:off x="777240" y="3127248"/>
            <a:ext cx="8046720" cy="365760"/>
          </a:xfrm>
          <a:prstGeom prst="rect">
            <a:avLst/>
          </a:prstGeom>
          <a:noFill/>
          <a:ln/>
        </p:spPr>
        <p:txBody>
          <a:bodyPr wrap="square" lIns="0" tIns="0" rIns="0" bIns="0" rtlCol="0" anchor="ctr"/>
          <a:lstStyle/>
          <a:p>
            <a:pPr indent="0" marL="0">
              <a:buNone/>
            </a:pPr>
            <a:r>
              <a:rPr lang="en-US" sz="1300" i="1" dirty="0">
                <a:solidFill>
                  <a:srgbClr val="90CAF9"/>
                </a:solidFill>
              </a:rPr>
              <a:t>Can it be done? Every step explained. Plus: the complete data migration playbook.</a:t>
            </a:r>
            <a:endParaRPr lang="en-US" sz="1300" dirty="0"/>
          </a:p>
        </p:txBody>
      </p:sp>
      <p:sp>
        <p:nvSpPr>
          <p:cNvPr id="10" name="Shape 8"/>
          <p:cNvSpPr/>
          <p:nvPr/>
        </p:nvSpPr>
        <p:spPr>
          <a:xfrm>
            <a:off x="777240" y="4005072"/>
            <a:ext cx="10607040" cy="1042416"/>
          </a:xfrm>
          <a:prstGeom prst="rect">
            <a:avLst/>
          </a:prstGeom>
          <a:solidFill>
            <a:srgbClr val="1565C0">
              <a:alpha val="48000"/>
            </a:srgbClr>
          </a:solidFill>
          <a:ln/>
        </p:spPr>
      </p:sp>
      <p:sp>
        <p:nvSpPr>
          <p:cNvPr id="11" name="Shape 9"/>
          <p:cNvSpPr/>
          <p:nvPr/>
        </p:nvSpPr>
        <p:spPr>
          <a:xfrm>
            <a:off x="777240" y="4005072"/>
            <a:ext cx="73152" cy="1042416"/>
          </a:xfrm>
          <a:prstGeom prst="rect">
            <a:avLst/>
          </a:prstGeom>
          <a:solidFill>
            <a:srgbClr val="1E88E5"/>
          </a:solidFill>
          <a:ln/>
        </p:spPr>
      </p:sp>
      <p:sp>
        <p:nvSpPr>
          <p:cNvPr id="12" name="Text 10"/>
          <p:cNvSpPr/>
          <p:nvPr/>
        </p:nvSpPr>
        <p:spPr>
          <a:xfrm>
            <a:off x="987552" y="4096512"/>
            <a:ext cx="1463040" cy="256032"/>
          </a:xfrm>
          <a:prstGeom prst="rect">
            <a:avLst/>
          </a:prstGeom>
          <a:noFill/>
          <a:ln/>
        </p:spPr>
        <p:txBody>
          <a:bodyPr wrap="square" lIns="0" tIns="0" rIns="0" bIns="0" rtlCol="0" anchor="ctr"/>
          <a:lstStyle/>
          <a:p>
            <a:pPr indent="0" marL="0">
              <a:buNone/>
            </a:pPr>
            <a:r>
              <a:rPr lang="en-US" sz="850" b="1" spc="100" kern="0" dirty="0">
                <a:solidFill>
                  <a:srgbClr val="90CAF9"/>
                </a:solidFill>
              </a:rPr>
              <a:t>PART 1</a:t>
            </a:r>
            <a:endParaRPr lang="en-US" sz="850" dirty="0"/>
          </a:p>
        </p:txBody>
      </p:sp>
      <p:sp>
        <p:nvSpPr>
          <p:cNvPr id="13" name="Text 11"/>
          <p:cNvSpPr/>
          <p:nvPr/>
        </p:nvSpPr>
        <p:spPr>
          <a:xfrm>
            <a:off x="987552" y="4370832"/>
            <a:ext cx="9509760" cy="320040"/>
          </a:xfrm>
          <a:prstGeom prst="rect">
            <a:avLst/>
          </a:prstGeom>
          <a:noFill/>
          <a:ln/>
        </p:spPr>
        <p:txBody>
          <a:bodyPr wrap="square" lIns="0" tIns="0" rIns="0" bIns="0" rtlCol="0" anchor="ctr"/>
          <a:lstStyle/>
          <a:p>
            <a:pPr indent="0" marL="0">
              <a:buNone/>
            </a:pPr>
            <a:r>
              <a:rPr lang="en-US" sz="1400" b="1" dirty="0">
                <a:solidFill>
                  <a:srgbClr val="FFFFFF"/>
                </a:solidFill>
              </a:rPr>
              <a:t>ECC On-Prem → S/4HANA on GCP: Is it Possible &amp; How?</a:t>
            </a:r>
            <a:endParaRPr lang="en-US" sz="1400" dirty="0"/>
          </a:p>
        </p:txBody>
      </p:sp>
      <p:sp>
        <p:nvSpPr>
          <p:cNvPr id="14" name="Text 12"/>
          <p:cNvSpPr/>
          <p:nvPr/>
        </p:nvSpPr>
        <p:spPr>
          <a:xfrm>
            <a:off x="987552" y="4718304"/>
            <a:ext cx="9509760" cy="256032"/>
          </a:xfrm>
          <a:prstGeom prst="rect">
            <a:avLst/>
          </a:prstGeom>
          <a:noFill/>
          <a:ln/>
        </p:spPr>
        <p:txBody>
          <a:bodyPr wrap="square" lIns="0" tIns="0" rIns="0" bIns="0" rtlCol="0" anchor="ctr"/>
          <a:lstStyle/>
          <a:p>
            <a:pPr indent="0" marL="0">
              <a:buNone/>
            </a:pPr>
            <a:r>
              <a:rPr lang="en-US" sz="880" i="1" dirty="0">
                <a:solidFill>
                  <a:srgbClr val="90CAF9"/>
                </a:solidFill>
              </a:rPr>
              <a:t>The answer · Prerequisites · Every step of the 6-phase journey · SUM+DMO explained · The conversion weekend</a:t>
            </a:r>
            <a:endParaRPr lang="en-US" sz="880" dirty="0"/>
          </a:p>
        </p:txBody>
      </p:sp>
      <p:sp>
        <p:nvSpPr>
          <p:cNvPr id="15" name="Shape 13"/>
          <p:cNvSpPr/>
          <p:nvPr/>
        </p:nvSpPr>
        <p:spPr>
          <a:xfrm>
            <a:off x="777240" y="5212080"/>
            <a:ext cx="10607040" cy="1042416"/>
          </a:xfrm>
          <a:prstGeom prst="rect">
            <a:avLst/>
          </a:prstGeom>
          <a:solidFill>
            <a:srgbClr val="1565C0">
              <a:alpha val="48000"/>
            </a:srgbClr>
          </a:solidFill>
          <a:ln/>
        </p:spPr>
      </p:sp>
      <p:sp>
        <p:nvSpPr>
          <p:cNvPr id="16" name="Shape 14"/>
          <p:cNvSpPr/>
          <p:nvPr/>
        </p:nvSpPr>
        <p:spPr>
          <a:xfrm>
            <a:off x="777240" y="5212080"/>
            <a:ext cx="73152" cy="1042416"/>
          </a:xfrm>
          <a:prstGeom prst="rect">
            <a:avLst/>
          </a:prstGeom>
          <a:solidFill>
            <a:srgbClr val="1E88E5"/>
          </a:solidFill>
          <a:ln/>
        </p:spPr>
      </p:sp>
      <p:sp>
        <p:nvSpPr>
          <p:cNvPr id="17" name="Text 15"/>
          <p:cNvSpPr/>
          <p:nvPr/>
        </p:nvSpPr>
        <p:spPr>
          <a:xfrm>
            <a:off x="987552" y="5303520"/>
            <a:ext cx="1463040" cy="256032"/>
          </a:xfrm>
          <a:prstGeom prst="rect">
            <a:avLst/>
          </a:prstGeom>
          <a:noFill/>
          <a:ln/>
        </p:spPr>
        <p:txBody>
          <a:bodyPr wrap="square" lIns="0" tIns="0" rIns="0" bIns="0" rtlCol="0" anchor="ctr"/>
          <a:lstStyle/>
          <a:p>
            <a:pPr indent="0" marL="0">
              <a:buNone/>
            </a:pPr>
            <a:r>
              <a:rPr lang="en-US" sz="850" b="1" spc="100" kern="0" dirty="0">
                <a:solidFill>
                  <a:srgbClr val="90CAF9"/>
                </a:solidFill>
              </a:rPr>
              <a:t>PART 2</a:t>
            </a:r>
            <a:endParaRPr lang="en-US" sz="850" dirty="0"/>
          </a:p>
        </p:txBody>
      </p:sp>
      <p:sp>
        <p:nvSpPr>
          <p:cNvPr id="18" name="Text 16"/>
          <p:cNvSpPr/>
          <p:nvPr/>
        </p:nvSpPr>
        <p:spPr>
          <a:xfrm>
            <a:off x="987552" y="5577840"/>
            <a:ext cx="9509760" cy="320040"/>
          </a:xfrm>
          <a:prstGeom prst="rect">
            <a:avLst/>
          </a:prstGeom>
          <a:noFill/>
          <a:ln/>
        </p:spPr>
        <p:txBody>
          <a:bodyPr wrap="square" lIns="0" tIns="0" rIns="0" bIns="0" rtlCol="0" anchor="ctr"/>
          <a:lstStyle/>
          <a:p>
            <a:pPr indent="0" marL="0">
              <a:buNone/>
            </a:pPr>
            <a:r>
              <a:rPr lang="en-US" sz="1400" b="1" dirty="0">
                <a:solidFill>
                  <a:srgbClr val="FFFFFF"/>
                </a:solidFill>
              </a:rPr>
              <a:t>Data Migration in Brownfield — The Complete Playbook</a:t>
            </a:r>
            <a:endParaRPr lang="en-US" sz="1400" dirty="0"/>
          </a:p>
        </p:txBody>
      </p:sp>
      <p:sp>
        <p:nvSpPr>
          <p:cNvPr id="19" name="Text 17"/>
          <p:cNvSpPr/>
          <p:nvPr/>
        </p:nvSpPr>
        <p:spPr>
          <a:xfrm>
            <a:off x="987552" y="5925312"/>
            <a:ext cx="9509760" cy="256032"/>
          </a:xfrm>
          <a:prstGeom prst="rect">
            <a:avLst/>
          </a:prstGeom>
          <a:noFill/>
          <a:ln/>
        </p:spPr>
        <p:txBody>
          <a:bodyPr wrap="square" lIns="0" tIns="0" rIns="0" bIns="0" rtlCol="0" anchor="ctr"/>
          <a:lstStyle/>
          <a:p>
            <a:pPr indent="0" marL="0">
              <a:buNone/>
            </a:pPr>
            <a:r>
              <a:rPr lang="en-US" sz="880" i="1" dirty="0">
                <a:solidFill>
                  <a:srgbClr val="90CAF9"/>
                </a:solidFill>
              </a:rPr>
              <a:t>What data moves &amp; how · All SAP tools side-by-side · 3rd-party tools · 8-step process your team executes · Tool selection guide</a:t>
            </a:r>
            <a:endParaRPr lang="en-US" sz="88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D"/>
        </a:solidFill>
      </p:bgPr>
    </p:bg>
    <p:spTree>
      <p:nvGrpSpPr>
        <p:cNvPr id="1" name=""/>
        <p:cNvGrpSpPr/>
        <p:nvPr/>
      </p:nvGrpSpPr>
      <p:grpSpPr>
        <a:xfrm>
          <a:off x="0" y="0"/>
          <a:ext cx="0" cy="0"/>
          <a:chOff x="0" y="0"/>
          <a:chExt cx="0" cy="0"/>
        </a:xfrm>
      </p:grpSpPr>
      <p:sp>
        <p:nvSpPr>
          <p:cNvPr id="2" name="Shape 0"/>
          <p:cNvSpPr/>
          <p:nvPr/>
        </p:nvSpPr>
        <p:spPr>
          <a:xfrm>
            <a:off x="0" y="0"/>
            <a:ext cx="12161520" cy="749808"/>
          </a:xfrm>
          <a:prstGeom prst="rect">
            <a:avLst/>
          </a:prstGeom>
          <a:solidFill>
            <a:srgbClr val="0D1B2A"/>
          </a:solidFill>
          <a:ln/>
        </p:spPr>
      </p:sp>
      <p:sp>
        <p:nvSpPr>
          <p:cNvPr id="3" name="Shape 1"/>
          <p:cNvSpPr/>
          <p:nvPr/>
        </p:nvSpPr>
        <p:spPr>
          <a:xfrm>
            <a:off x="0" y="0"/>
            <a:ext cx="274320" cy="749808"/>
          </a:xfrm>
          <a:prstGeom prst="rect">
            <a:avLst/>
          </a:prstGeom>
          <a:solidFill>
            <a:srgbClr val="1B5E20"/>
          </a:solidFill>
          <a:ln/>
        </p:spPr>
      </p:sp>
      <p:sp>
        <p:nvSpPr>
          <p:cNvPr id="4" name="Text 2"/>
          <p:cNvSpPr/>
          <p:nvPr/>
        </p:nvSpPr>
        <p:spPr>
          <a:xfrm>
            <a:off x="457200" y="0"/>
            <a:ext cx="11521440" cy="749808"/>
          </a:xfrm>
          <a:prstGeom prst="rect">
            <a:avLst/>
          </a:prstGeom>
          <a:noFill/>
          <a:ln/>
        </p:spPr>
        <p:txBody>
          <a:bodyPr wrap="square" lIns="0" tIns="0" rIns="0" bIns="0" rtlCol="0" anchor="ctr"/>
          <a:lstStyle/>
          <a:p>
            <a:pPr indent="0" marL="0">
              <a:buNone/>
            </a:pPr>
            <a:r>
              <a:rPr lang="en-US" sz="1350" b="1" spc="70" kern="0" dirty="0">
                <a:solidFill>
                  <a:srgbClr val="FFFFFF"/>
                </a:solidFill>
              </a:rPr>
              <a:t>PART 1  |  THE DIRECT ANSWER: CAN ECC ON-PREMISE MIGRATE TO S/4HANA ON GCP?</a:t>
            </a:r>
            <a:endParaRPr lang="en-US" sz="1350" dirty="0"/>
          </a:p>
        </p:txBody>
      </p:sp>
      <p:sp>
        <p:nvSpPr>
          <p:cNvPr id="5" name="Shape 3"/>
          <p:cNvSpPr/>
          <p:nvPr/>
        </p:nvSpPr>
        <p:spPr>
          <a:xfrm>
            <a:off x="201168" y="877824"/>
            <a:ext cx="3520440" cy="5852160"/>
          </a:xfrm>
          <a:prstGeom prst="rect">
            <a:avLst/>
          </a:prstGeom>
          <a:solidFill>
            <a:srgbClr val="1B5E20"/>
          </a:solidFill>
          <a:ln/>
        </p:spPr>
      </p:sp>
      <p:sp>
        <p:nvSpPr>
          <p:cNvPr id="6" name="Text 4"/>
          <p:cNvSpPr/>
          <p:nvPr/>
        </p:nvSpPr>
        <p:spPr>
          <a:xfrm>
            <a:off x="201168" y="1325880"/>
            <a:ext cx="3520440" cy="1188720"/>
          </a:xfrm>
          <a:prstGeom prst="rect">
            <a:avLst/>
          </a:prstGeom>
          <a:noFill/>
          <a:ln/>
        </p:spPr>
        <p:txBody>
          <a:bodyPr wrap="square" lIns="0" tIns="0" rIns="0" bIns="0" rtlCol="0" anchor="ctr"/>
          <a:lstStyle/>
          <a:p>
            <a:pPr algn="ctr" indent="0" marL="0">
              <a:buNone/>
            </a:pPr>
            <a:r>
              <a:rPr lang="en-US" sz="8000" b="1" dirty="0">
                <a:solidFill>
                  <a:srgbClr val="FFFFFF"/>
                </a:solidFill>
              </a:rPr>
              <a:t>YES</a:t>
            </a:r>
            <a:endParaRPr lang="en-US" sz="8000" dirty="0"/>
          </a:p>
        </p:txBody>
      </p:sp>
      <p:sp>
        <p:nvSpPr>
          <p:cNvPr id="7" name="Shape 5"/>
          <p:cNvSpPr/>
          <p:nvPr/>
        </p:nvSpPr>
        <p:spPr>
          <a:xfrm>
            <a:off x="347472" y="2578608"/>
            <a:ext cx="3200400" cy="36576"/>
          </a:xfrm>
          <a:prstGeom prst="rect">
            <a:avLst/>
          </a:prstGeom>
          <a:solidFill>
            <a:srgbClr val="FFFFFF">
              <a:alpha val="45000"/>
            </a:srgbClr>
          </a:solidFill>
          <a:ln/>
        </p:spPr>
      </p:sp>
      <p:sp>
        <p:nvSpPr>
          <p:cNvPr id="8" name="Text 6"/>
          <p:cNvSpPr/>
          <p:nvPr/>
        </p:nvSpPr>
        <p:spPr>
          <a:xfrm>
            <a:off x="320040" y="2670048"/>
            <a:ext cx="3291840" cy="749808"/>
          </a:xfrm>
          <a:prstGeom prst="rect">
            <a:avLst/>
          </a:prstGeom>
          <a:noFill/>
          <a:ln/>
        </p:spPr>
        <p:txBody>
          <a:bodyPr wrap="square" lIns="0" tIns="0" rIns="0" bIns="0" rtlCol="0" anchor="ctr"/>
          <a:lstStyle/>
          <a:p>
            <a:pPr algn="ctr" indent="0" marL="0">
              <a:buNone/>
            </a:pPr>
            <a:r>
              <a:rPr lang="en-US" sz="1050" dirty="0">
                <a:solidFill>
                  <a:srgbClr val="FFFFFF"/>
                </a:solidFill>
              </a:rPr>
              <a:t>100% possible.</a:t>
            </a:r>
            <a:endParaRPr lang="en-US" sz="1050" dirty="0"/>
          </a:p>
          <a:p>
            <a:pPr algn="ctr" indent="0" marL="0">
              <a:buNone/>
            </a:pPr>
            <a:r>
              <a:rPr lang="en-US" sz="1050" dirty="0">
                <a:solidFill>
                  <a:srgbClr val="FFFFFF"/>
                </a:solidFill>
              </a:rPr>
              <a:t>This is the standard path for large enterprises globally.</a:t>
            </a:r>
            <a:endParaRPr lang="en-US" sz="1050" dirty="0"/>
          </a:p>
        </p:txBody>
      </p:sp>
      <p:sp>
        <p:nvSpPr>
          <p:cNvPr id="9" name="Text 7"/>
          <p:cNvSpPr/>
          <p:nvPr/>
        </p:nvSpPr>
        <p:spPr>
          <a:xfrm>
            <a:off x="320040" y="3520440"/>
            <a:ext cx="3291840" cy="1481328"/>
          </a:xfrm>
          <a:prstGeom prst="rect">
            <a:avLst/>
          </a:prstGeom>
          <a:noFill/>
          <a:ln/>
        </p:spPr>
        <p:txBody>
          <a:bodyPr wrap="square" lIns="0" tIns="0" rIns="0" bIns="0" rtlCol="0" anchor="ctr"/>
          <a:lstStyle/>
          <a:p>
            <a:pPr algn="ctr" indent="0" marL="0">
              <a:buNone/>
            </a:pPr>
            <a:r>
              <a:rPr lang="en-US" sz="1050" i="1" dirty="0">
                <a:solidFill>
                  <a:srgbClr val="B9F6CA"/>
                </a:solidFill>
              </a:rPr>
              <a:t>SAP calls it:</a:t>
            </a:r>
            <a:endParaRPr lang="en-US" sz="1050" dirty="0"/>
          </a:p>
          <a:p>
            <a:pPr algn="ctr" indent="0" marL="0">
              <a:buNone/>
            </a:pPr>
            <a:endParaRPr lang="en-US" sz="1050" dirty="0"/>
          </a:p>
          <a:p>
            <a:pPr algn="ctr" indent="0" marL="0">
              <a:buNone/>
            </a:pPr>
            <a:r>
              <a:rPr lang="en-US" sz="1050" i="1" dirty="0">
                <a:solidFill>
                  <a:srgbClr val="B9F6CA"/>
                </a:solidFill>
              </a:rPr>
              <a:t>'System Conversion using</a:t>
            </a:r>
            <a:endParaRPr lang="en-US" sz="1050" dirty="0"/>
          </a:p>
          <a:p>
            <a:pPr algn="ctr" indent="0" marL="0">
              <a:buNone/>
            </a:pPr>
            <a:r>
              <a:rPr lang="en-US" sz="1050" i="1" dirty="0">
                <a:solidFill>
                  <a:srgbClr val="B9F6CA"/>
                </a:solidFill>
              </a:rPr>
              <a:t>SUM + Database Migration</a:t>
            </a:r>
            <a:endParaRPr lang="en-US" sz="1050" dirty="0"/>
          </a:p>
          <a:p>
            <a:pPr algn="ctr" indent="0" marL="0">
              <a:buNone/>
            </a:pPr>
            <a:r>
              <a:rPr lang="en-US" sz="1050" i="1" dirty="0">
                <a:solidFill>
                  <a:srgbClr val="B9F6CA"/>
                </a:solidFill>
              </a:rPr>
              <a:t>Option (DMO) to</a:t>
            </a:r>
            <a:endParaRPr lang="en-US" sz="1050" dirty="0"/>
          </a:p>
          <a:p>
            <a:pPr algn="ctr" indent="0" marL="0">
              <a:buNone/>
            </a:pPr>
            <a:r>
              <a:rPr lang="en-US" sz="1050" i="1" dirty="0">
                <a:solidFill>
                  <a:srgbClr val="B9F6CA"/>
                </a:solidFill>
              </a:rPr>
              <a:t>Hyperscaler'</a:t>
            </a:r>
            <a:endParaRPr lang="en-US" sz="1050" dirty="0"/>
          </a:p>
        </p:txBody>
      </p:sp>
      <p:sp>
        <p:nvSpPr>
          <p:cNvPr id="10" name="Text 8"/>
          <p:cNvSpPr/>
          <p:nvPr/>
        </p:nvSpPr>
        <p:spPr>
          <a:xfrm>
            <a:off x="320040" y="5138928"/>
            <a:ext cx="3291840" cy="868680"/>
          </a:xfrm>
          <a:prstGeom prst="rect">
            <a:avLst/>
          </a:prstGeom>
          <a:noFill/>
          <a:ln/>
        </p:spPr>
        <p:txBody>
          <a:bodyPr wrap="square" lIns="0" tIns="0" rIns="0" bIns="0" rtlCol="0" anchor="ctr"/>
          <a:lstStyle/>
          <a:p>
            <a:pPr algn="ctr" indent="0" marL="0">
              <a:buNone/>
            </a:pPr>
            <a:r>
              <a:rPr lang="en-US" sz="950" dirty="0">
                <a:solidFill>
                  <a:srgbClr val="E8F5E9"/>
                </a:solidFill>
              </a:rPr>
              <a:t>Under RISE with SAP, GCP Dammam</a:t>
            </a:r>
            <a:endParaRPr lang="en-US" sz="950" dirty="0"/>
          </a:p>
          <a:p>
            <a:pPr algn="ctr" indent="0" marL="0">
              <a:buNone/>
            </a:pPr>
            <a:r>
              <a:rPr lang="en-US" sz="950" dirty="0">
                <a:solidFill>
                  <a:srgbClr val="E8F5E9"/>
                </a:solidFill>
              </a:rPr>
              <a:t>(me-central2) is the certified</a:t>
            </a:r>
            <a:endParaRPr lang="en-US" sz="950" dirty="0"/>
          </a:p>
          <a:p>
            <a:pPr algn="ctr" indent="0" marL="0">
              <a:buNone/>
            </a:pPr>
            <a:r>
              <a:rPr lang="en-US" sz="950" dirty="0">
                <a:solidFill>
                  <a:srgbClr val="E8F5E9"/>
                </a:solidFill>
              </a:rPr>
              <a:t>destination for this exact scenario.</a:t>
            </a:r>
            <a:endParaRPr lang="en-US" sz="950" dirty="0"/>
          </a:p>
        </p:txBody>
      </p:sp>
      <p:sp>
        <p:nvSpPr>
          <p:cNvPr id="11" name="Shape 9"/>
          <p:cNvSpPr/>
          <p:nvPr/>
        </p:nvSpPr>
        <p:spPr>
          <a:xfrm>
            <a:off x="4005072" y="877824"/>
            <a:ext cx="7955280" cy="1371600"/>
          </a:xfrm>
          <a:prstGeom prst="rect">
            <a:avLst/>
          </a:prstGeom>
          <a:solidFill>
            <a:srgbClr val="FFFFFF"/>
          </a:solidFill>
          <a:ln/>
          <a:effectLst>
            <a:outerShdw sx="100000" sy="100000" kx="0" ky="0" algn="bl" rotWithShape="0" blurRad="101600" dist="25400" dir="8100000">
              <a:srgbClr val="000000">
                <a:alpha val="9000"/>
              </a:srgbClr>
            </a:outerShdw>
          </a:effectLst>
        </p:spPr>
      </p:sp>
      <p:sp>
        <p:nvSpPr>
          <p:cNvPr id="12" name="Shape 10"/>
          <p:cNvSpPr/>
          <p:nvPr/>
        </p:nvSpPr>
        <p:spPr>
          <a:xfrm>
            <a:off x="4005072" y="877824"/>
            <a:ext cx="54864" cy="1371600"/>
          </a:xfrm>
          <a:prstGeom prst="rect">
            <a:avLst/>
          </a:prstGeom>
          <a:solidFill>
            <a:srgbClr val="1B5E20"/>
          </a:solidFill>
          <a:ln/>
        </p:spPr>
      </p:sp>
      <p:sp>
        <p:nvSpPr>
          <p:cNvPr id="13" name="Shape 11"/>
          <p:cNvSpPr/>
          <p:nvPr/>
        </p:nvSpPr>
        <p:spPr>
          <a:xfrm>
            <a:off x="4133088" y="969264"/>
            <a:ext cx="512064" cy="512064"/>
          </a:xfrm>
          <a:prstGeom prst="rect">
            <a:avLst/>
          </a:prstGeom>
          <a:solidFill>
            <a:srgbClr val="1B5E20"/>
          </a:solidFill>
          <a:ln/>
        </p:spPr>
      </p:sp>
      <p:sp>
        <p:nvSpPr>
          <p:cNvPr id="14" name="Text 12"/>
          <p:cNvSpPr/>
          <p:nvPr/>
        </p:nvSpPr>
        <p:spPr>
          <a:xfrm>
            <a:off x="4133088" y="969264"/>
            <a:ext cx="512064" cy="512064"/>
          </a:xfrm>
          <a:prstGeom prst="rect">
            <a:avLst/>
          </a:prstGeom>
          <a:noFill/>
          <a:ln/>
        </p:spPr>
        <p:txBody>
          <a:bodyPr wrap="square" lIns="0" tIns="0" rIns="0" bIns="0" rtlCol="0" anchor="ctr"/>
          <a:lstStyle/>
          <a:p>
            <a:pPr algn="ctr" indent="0" marL="0">
              <a:buNone/>
            </a:pPr>
            <a:r>
              <a:rPr lang="en-US" sz="1400" b="1" dirty="0">
                <a:solidFill>
                  <a:srgbClr val="FFFFFF"/>
                </a:solidFill>
              </a:rPr>
              <a:t>01</a:t>
            </a:r>
            <a:endParaRPr lang="en-US" sz="1400" dirty="0"/>
          </a:p>
        </p:txBody>
      </p:sp>
      <p:sp>
        <p:nvSpPr>
          <p:cNvPr id="15" name="Text 13"/>
          <p:cNvSpPr/>
          <p:nvPr/>
        </p:nvSpPr>
        <p:spPr>
          <a:xfrm>
            <a:off x="4736592" y="987552"/>
            <a:ext cx="7086600" cy="310896"/>
          </a:xfrm>
          <a:prstGeom prst="rect">
            <a:avLst/>
          </a:prstGeom>
          <a:noFill/>
          <a:ln/>
        </p:spPr>
        <p:txBody>
          <a:bodyPr wrap="square" lIns="0" tIns="0" rIns="0" bIns="0" rtlCol="0" anchor="ctr"/>
          <a:lstStyle/>
          <a:p>
            <a:pPr indent="0" marL="0">
              <a:buNone/>
            </a:pPr>
            <a:r>
              <a:rPr lang="en-US" sz="1050" b="1" dirty="0">
                <a:solidFill>
                  <a:srgbClr val="1B5E20"/>
                </a:solidFill>
              </a:rPr>
              <a:t>SAP's official supported path — not a workaround</a:t>
            </a:r>
            <a:endParaRPr lang="en-US" sz="1050" dirty="0"/>
          </a:p>
        </p:txBody>
      </p:sp>
      <p:sp>
        <p:nvSpPr>
          <p:cNvPr id="16" name="Text 14"/>
          <p:cNvSpPr/>
          <p:nvPr/>
        </p:nvSpPr>
        <p:spPr>
          <a:xfrm>
            <a:off x="4736592" y="1335024"/>
            <a:ext cx="7086600" cy="822960"/>
          </a:xfrm>
          <a:prstGeom prst="rect">
            <a:avLst/>
          </a:prstGeom>
          <a:noFill/>
          <a:ln/>
        </p:spPr>
        <p:txBody>
          <a:bodyPr wrap="square" lIns="0" tIns="0" rIns="0" bIns="0" rtlCol="0" anchor="ctr"/>
          <a:lstStyle/>
          <a:p>
            <a:pPr indent="0" marL="0">
              <a:buNone/>
            </a:pPr>
            <a:r>
              <a:rPr lang="en-US" sz="850" dirty="0">
                <a:solidFill>
                  <a:srgbClr val="37474F"/>
                </a:solidFill>
              </a:rPr>
              <a:t>SAP's SUM+DMO tool was purpose-built to take any ECC system running on-premise (on Oracle, DB2, SQL Server, or other databases) and in a single automated operation upgrade the software to S/4HANA and simultaneously migrate the database to SAP HANA on the cloud. This is SAP's primary recommended method — used in thousands of migrations worldwide.</a:t>
            </a:r>
            <a:endParaRPr lang="en-US" sz="850" dirty="0"/>
          </a:p>
        </p:txBody>
      </p:sp>
      <p:sp>
        <p:nvSpPr>
          <p:cNvPr id="17" name="Shape 15"/>
          <p:cNvSpPr/>
          <p:nvPr/>
        </p:nvSpPr>
        <p:spPr>
          <a:xfrm>
            <a:off x="4005072" y="2331720"/>
            <a:ext cx="7955280" cy="1371600"/>
          </a:xfrm>
          <a:prstGeom prst="rect">
            <a:avLst/>
          </a:prstGeom>
          <a:solidFill>
            <a:srgbClr val="F1F5F9"/>
          </a:solidFill>
          <a:ln/>
          <a:effectLst>
            <a:outerShdw sx="100000" sy="100000" kx="0" ky="0" algn="bl" rotWithShape="0" blurRad="101600" dist="25400" dir="8100000">
              <a:srgbClr val="000000">
                <a:alpha val="9000"/>
              </a:srgbClr>
            </a:outerShdw>
          </a:effectLst>
        </p:spPr>
      </p:sp>
      <p:sp>
        <p:nvSpPr>
          <p:cNvPr id="18" name="Shape 16"/>
          <p:cNvSpPr/>
          <p:nvPr/>
        </p:nvSpPr>
        <p:spPr>
          <a:xfrm>
            <a:off x="4005072" y="2331720"/>
            <a:ext cx="54864" cy="1371600"/>
          </a:xfrm>
          <a:prstGeom prst="rect">
            <a:avLst/>
          </a:prstGeom>
          <a:solidFill>
            <a:srgbClr val="1565C0"/>
          </a:solidFill>
          <a:ln/>
        </p:spPr>
      </p:sp>
      <p:sp>
        <p:nvSpPr>
          <p:cNvPr id="19" name="Shape 17"/>
          <p:cNvSpPr/>
          <p:nvPr/>
        </p:nvSpPr>
        <p:spPr>
          <a:xfrm>
            <a:off x="4133088" y="2423160"/>
            <a:ext cx="512064" cy="512064"/>
          </a:xfrm>
          <a:prstGeom prst="rect">
            <a:avLst/>
          </a:prstGeom>
          <a:solidFill>
            <a:srgbClr val="1565C0"/>
          </a:solidFill>
          <a:ln/>
        </p:spPr>
      </p:sp>
      <p:sp>
        <p:nvSpPr>
          <p:cNvPr id="20" name="Text 18"/>
          <p:cNvSpPr/>
          <p:nvPr/>
        </p:nvSpPr>
        <p:spPr>
          <a:xfrm>
            <a:off x="4133088" y="2423160"/>
            <a:ext cx="512064" cy="512064"/>
          </a:xfrm>
          <a:prstGeom prst="rect">
            <a:avLst/>
          </a:prstGeom>
          <a:noFill/>
          <a:ln/>
        </p:spPr>
        <p:txBody>
          <a:bodyPr wrap="square" lIns="0" tIns="0" rIns="0" bIns="0" rtlCol="0" anchor="ctr"/>
          <a:lstStyle/>
          <a:p>
            <a:pPr algn="ctr" indent="0" marL="0">
              <a:buNone/>
            </a:pPr>
            <a:r>
              <a:rPr lang="en-US" sz="1400" b="1" dirty="0">
                <a:solidFill>
                  <a:srgbClr val="FFFFFF"/>
                </a:solidFill>
              </a:rPr>
              <a:t>02</a:t>
            </a:r>
            <a:endParaRPr lang="en-US" sz="1400" dirty="0"/>
          </a:p>
        </p:txBody>
      </p:sp>
      <p:sp>
        <p:nvSpPr>
          <p:cNvPr id="21" name="Text 19"/>
          <p:cNvSpPr/>
          <p:nvPr/>
        </p:nvSpPr>
        <p:spPr>
          <a:xfrm>
            <a:off x="4736592" y="2441448"/>
            <a:ext cx="7086600" cy="310896"/>
          </a:xfrm>
          <a:prstGeom prst="rect">
            <a:avLst/>
          </a:prstGeom>
          <a:noFill/>
          <a:ln/>
        </p:spPr>
        <p:txBody>
          <a:bodyPr wrap="square" lIns="0" tIns="0" rIns="0" bIns="0" rtlCol="0" anchor="ctr"/>
          <a:lstStyle/>
          <a:p>
            <a:pPr indent="0" marL="0">
              <a:buNone/>
            </a:pPr>
            <a:r>
              <a:rPr lang="en-US" sz="1050" b="1" dirty="0">
                <a:solidFill>
                  <a:srgbClr val="1565C0"/>
                </a:solidFill>
              </a:rPr>
              <a:t>ECC version matters — ECC 6.0 minimum required</a:t>
            </a:r>
            <a:endParaRPr lang="en-US" sz="1050" dirty="0"/>
          </a:p>
        </p:txBody>
      </p:sp>
      <p:sp>
        <p:nvSpPr>
          <p:cNvPr id="22" name="Text 20"/>
          <p:cNvSpPr/>
          <p:nvPr/>
        </p:nvSpPr>
        <p:spPr>
          <a:xfrm>
            <a:off x="4736592" y="2788920"/>
            <a:ext cx="7086600" cy="822960"/>
          </a:xfrm>
          <a:prstGeom prst="rect">
            <a:avLst/>
          </a:prstGeom>
          <a:noFill/>
          <a:ln/>
        </p:spPr>
        <p:txBody>
          <a:bodyPr wrap="square" lIns="0" tIns="0" rIns="0" bIns="0" rtlCol="0" anchor="ctr"/>
          <a:lstStyle/>
          <a:p>
            <a:pPr indent="0" marL="0">
              <a:buNone/>
            </a:pPr>
            <a:r>
              <a:rPr lang="en-US" sz="850" dirty="0">
                <a:solidFill>
                  <a:srgbClr val="37474F"/>
                </a:solidFill>
              </a:rPr>
              <a:t>The source system must be at minimum SAP ERP ECC 6.0 and it must be Unicode-enabled. Older versions like R/3 4.6 or 4.7 cannot jump directly — they require an intermediate upgrade to ECC 6.0 first (a separate 4–8 week project). The SAP Readiness Check (run in Phase 1) will confirm the source system's eligibility immediately.</a:t>
            </a:r>
            <a:endParaRPr lang="en-US" sz="850" dirty="0"/>
          </a:p>
        </p:txBody>
      </p:sp>
      <p:sp>
        <p:nvSpPr>
          <p:cNvPr id="23" name="Shape 21"/>
          <p:cNvSpPr/>
          <p:nvPr/>
        </p:nvSpPr>
        <p:spPr>
          <a:xfrm>
            <a:off x="4005072" y="3785616"/>
            <a:ext cx="7955280" cy="1371600"/>
          </a:xfrm>
          <a:prstGeom prst="rect">
            <a:avLst/>
          </a:prstGeom>
          <a:solidFill>
            <a:srgbClr val="FFFFFF"/>
          </a:solidFill>
          <a:ln/>
          <a:effectLst>
            <a:outerShdw sx="100000" sy="100000" kx="0" ky="0" algn="bl" rotWithShape="0" blurRad="101600" dist="25400" dir="8100000">
              <a:srgbClr val="000000">
                <a:alpha val="9000"/>
              </a:srgbClr>
            </a:outerShdw>
          </a:effectLst>
        </p:spPr>
      </p:sp>
      <p:sp>
        <p:nvSpPr>
          <p:cNvPr id="24" name="Shape 22"/>
          <p:cNvSpPr/>
          <p:nvPr/>
        </p:nvSpPr>
        <p:spPr>
          <a:xfrm>
            <a:off x="4005072" y="3785616"/>
            <a:ext cx="54864" cy="1371600"/>
          </a:xfrm>
          <a:prstGeom prst="rect">
            <a:avLst/>
          </a:prstGeom>
          <a:solidFill>
            <a:srgbClr val="00695C"/>
          </a:solidFill>
          <a:ln/>
        </p:spPr>
      </p:sp>
      <p:sp>
        <p:nvSpPr>
          <p:cNvPr id="25" name="Shape 23"/>
          <p:cNvSpPr/>
          <p:nvPr/>
        </p:nvSpPr>
        <p:spPr>
          <a:xfrm>
            <a:off x="4133088" y="3877056"/>
            <a:ext cx="512064" cy="512064"/>
          </a:xfrm>
          <a:prstGeom prst="rect">
            <a:avLst/>
          </a:prstGeom>
          <a:solidFill>
            <a:srgbClr val="00695C"/>
          </a:solidFill>
          <a:ln/>
        </p:spPr>
      </p:sp>
      <p:sp>
        <p:nvSpPr>
          <p:cNvPr id="26" name="Text 24"/>
          <p:cNvSpPr/>
          <p:nvPr/>
        </p:nvSpPr>
        <p:spPr>
          <a:xfrm>
            <a:off x="4133088" y="3877056"/>
            <a:ext cx="512064" cy="512064"/>
          </a:xfrm>
          <a:prstGeom prst="rect">
            <a:avLst/>
          </a:prstGeom>
          <a:noFill/>
          <a:ln/>
        </p:spPr>
        <p:txBody>
          <a:bodyPr wrap="square" lIns="0" tIns="0" rIns="0" bIns="0" rtlCol="0" anchor="ctr"/>
          <a:lstStyle/>
          <a:p>
            <a:pPr algn="ctr" indent="0" marL="0">
              <a:buNone/>
            </a:pPr>
            <a:r>
              <a:rPr lang="en-US" sz="1400" b="1" dirty="0">
                <a:solidFill>
                  <a:srgbClr val="FFFFFF"/>
                </a:solidFill>
              </a:rPr>
              <a:t>03</a:t>
            </a:r>
            <a:endParaRPr lang="en-US" sz="1400" dirty="0"/>
          </a:p>
        </p:txBody>
      </p:sp>
      <p:sp>
        <p:nvSpPr>
          <p:cNvPr id="27" name="Text 25"/>
          <p:cNvSpPr/>
          <p:nvPr/>
        </p:nvSpPr>
        <p:spPr>
          <a:xfrm>
            <a:off x="4736592" y="3895344"/>
            <a:ext cx="7086600" cy="310896"/>
          </a:xfrm>
          <a:prstGeom prst="rect">
            <a:avLst/>
          </a:prstGeom>
          <a:noFill/>
          <a:ln/>
        </p:spPr>
        <p:txBody>
          <a:bodyPr wrap="square" lIns="0" tIns="0" rIns="0" bIns="0" rtlCol="0" anchor="ctr"/>
          <a:lstStyle/>
          <a:p>
            <a:pPr indent="0" marL="0">
              <a:buNone/>
            </a:pPr>
            <a:r>
              <a:rPr lang="en-US" sz="1050" b="1" dirty="0">
                <a:solidFill>
                  <a:srgbClr val="00695C"/>
                </a:solidFill>
              </a:rPr>
              <a:t>The database does NOT need to be HANA first</a:t>
            </a:r>
            <a:endParaRPr lang="en-US" sz="1050" dirty="0"/>
          </a:p>
        </p:txBody>
      </p:sp>
      <p:sp>
        <p:nvSpPr>
          <p:cNvPr id="28" name="Text 26"/>
          <p:cNvSpPr/>
          <p:nvPr/>
        </p:nvSpPr>
        <p:spPr>
          <a:xfrm>
            <a:off x="4736592" y="4242816"/>
            <a:ext cx="7086600" cy="822960"/>
          </a:xfrm>
          <a:prstGeom prst="rect">
            <a:avLst/>
          </a:prstGeom>
          <a:noFill/>
          <a:ln/>
        </p:spPr>
        <p:txBody>
          <a:bodyPr wrap="square" lIns="0" tIns="0" rIns="0" bIns="0" rtlCol="0" anchor="ctr"/>
          <a:lstStyle/>
          <a:p>
            <a:pPr indent="0" marL="0">
              <a:buNone/>
            </a:pPr>
            <a:r>
              <a:rPr lang="en-US" sz="850" dirty="0">
                <a:solidFill>
                  <a:srgbClr val="37474F"/>
                </a:solidFill>
              </a:rPr>
              <a:t>A very common misconception: 'ECC must first move to HANA database before migrating to S/4HANA.' This is incorrect. SUM+DMO handles the database conversion (Oracle → HANA, DB2 → HANA, SQL Server → HANA) simultaneously with the software upgrade. One tool, one operation, one downtime window. No intermediate step required.</a:t>
            </a:r>
            <a:endParaRPr lang="en-US" sz="850" dirty="0"/>
          </a:p>
        </p:txBody>
      </p:sp>
      <p:sp>
        <p:nvSpPr>
          <p:cNvPr id="29" name="Shape 27"/>
          <p:cNvSpPr/>
          <p:nvPr/>
        </p:nvSpPr>
        <p:spPr>
          <a:xfrm>
            <a:off x="4005072" y="5239512"/>
            <a:ext cx="7955280" cy="1371600"/>
          </a:xfrm>
          <a:prstGeom prst="rect">
            <a:avLst/>
          </a:prstGeom>
          <a:solidFill>
            <a:srgbClr val="F1F5F9"/>
          </a:solidFill>
          <a:ln/>
          <a:effectLst>
            <a:outerShdw sx="100000" sy="100000" kx="0" ky="0" algn="bl" rotWithShape="0" blurRad="101600" dist="25400" dir="8100000">
              <a:srgbClr val="000000">
                <a:alpha val="9000"/>
              </a:srgbClr>
            </a:outerShdw>
          </a:effectLst>
        </p:spPr>
      </p:sp>
      <p:sp>
        <p:nvSpPr>
          <p:cNvPr id="30" name="Shape 28"/>
          <p:cNvSpPr/>
          <p:nvPr/>
        </p:nvSpPr>
        <p:spPr>
          <a:xfrm>
            <a:off x="4005072" y="5239512"/>
            <a:ext cx="54864" cy="1371600"/>
          </a:xfrm>
          <a:prstGeom prst="rect">
            <a:avLst/>
          </a:prstGeom>
          <a:solidFill>
            <a:srgbClr val="4527A0"/>
          </a:solidFill>
          <a:ln/>
        </p:spPr>
      </p:sp>
      <p:sp>
        <p:nvSpPr>
          <p:cNvPr id="31" name="Shape 29"/>
          <p:cNvSpPr/>
          <p:nvPr/>
        </p:nvSpPr>
        <p:spPr>
          <a:xfrm>
            <a:off x="4133088" y="5330952"/>
            <a:ext cx="512064" cy="512064"/>
          </a:xfrm>
          <a:prstGeom prst="rect">
            <a:avLst/>
          </a:prstGeom>
          <a:solidFill>
            <a:srgbClr val="4527A0"/>
          </a:solidFill>
          <a:ln/>
        </p:spPr>
      </p:sp>
      <p:sp>
        <p:nvSpPr>
          <p:cNvPr id="32" name="Text 30"/>
          <p:cNvSpPr/>
          <p:nvPr/>
        </p:nvSpPr>
        <p:spPr>
          <a:xfrm>
            <a:off x="4133088" y="5330952"/>
            <a:ext cx="512064" cy="512064"/>
          </a:xfrm>
          <a:prstGeom prst="rect">
            <a:avLst/>
          </a:prstGeom>
          <a:noFill/>
          <a:ln/>
        </p:spPr>
        <p:txBody>
          <a:bodyPr wrap="square" lIns="0" tIns="0" rIns="0" bIns="0" rtlCol="0" anchor="ctr"/>
          <a:lstStyle/>
          <a:p>
            <a:pPr algn="ctr" indent="0" marL="0">
              <a:buNone/>
            </a:pPr>
            <a:r>
              <a:rPr lang="en-US" sz="1400" b="1" dirty="0">
                <a:solidFill>
                  <a:srgbClr val="FFFFFF"/>
                </a:solidFill>
              </a:rPr>
              <a:t>04</a:t>
            </a:r>
            <a:endParaRPr lang="en-US" sz="1400" dirty="0"/>
          </a:p>
        </p:txBody>
      </p:sp>
      <p:sp>
        <p:nvSpPr>
          <p:cNvPr id="33" name="Text 31"/>
          <p:cNvSpPr/>
          <p:nvPr/>
        </p:nvSpPr>
        <p:spPr>
          <a:xfrm>
            <a:off x="4736592" y="5349240"/>
            <a:ext cx="7086600" cy="310896"/>
          </a:xfrm>
          <a:prstGeom prst="rect">
            <a:avLst/>
          </a:prstGeom>
          <a:noFill/>
          <a:ln/>
        </p:spPr>
        <p:txBody>
          <a:bodyPr wrap="square" lIns="0" tIns="0" rIns="0" bIns="0" rtlCol="0" anchor="ctr"/>
          <a:lstStyle/>
          <a:p>
            <a:pPr indent="0" marL="0">
              <a:buNone/>
            </a:pPr>
            <a:r>
              <a:rPr lang="en-US" sz="1050" b="1" dirty="0">
                <a:solidFill>
                  <a:srgbClr val="4527A0"/>
                </a:solidFill>
              </a:rPr>
              <a:t>GCP KSA (Dammam) is fully SAP-certified for this</a:t>
            </a:r>
            <a:endParaRPr lang="en-US" sz="1050" dirty="0"/>
          </a:p>
        </p:txBody>
      </p:sp>
      <p:sp>
        <p:nvSpPr>
          <p:cNvPr id="34" name="Text 32"/>
          <p:cNvSpPr/>
          <p:nvPr/>
        </p:nvSpPr>
        <p:spPr>
          <a:xfrm>
            <a:off x="4736592" y="5696712"/>
            <a:ext cx="7086600" cy="822960"/>
          </a:xfrm>
          <a:prstGeom prst="rect">
            <a:avLst/>
          </a:prstGeom>
          <a:noFill/>
          <a:ln/>
        </p:spPr>
        <p:txBody>
          <a:bodyPr wrap="square" lIns="0" tIns="0" rIns="0" bIns="0" rtlCol="0" anchor="ctr"/>
          <a:lstStyle/>
          <a:p>
            <a:pPr indent="0" marL="0">
              <a:buNone/>
            </a:pPr>
            <a:r>
              <a:rPr lang="en-US" sz="850" dirty="0">
                <a:solidFill>
                  <a:srgbClr val="37474F"/>
                </a:solidFill>
              </a:rPr>
              <a:t>GCP's me-central2 region in Dammam runs SAP-certified M4 and C4D virtual machines listed in SAP's official HANA Hardware Directory. NCA/CCC compliance for data residency is pre-certified by SAP under RISE with SAP. This means no separate cloud security audit — SAP takes responsibility for the certification.</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D"/>
        </a:solidFill>
      </p:bgPr>
    </p:bg>
    <p:spTree>
      <p:nvGrpSpPr>
        <p:cNvPr id="1" name=""/>
        <p:cNvGrpSpPr/>
        <p:nvPr/>
      </p:nvGrpSpPr>
      <p:grpSpPr>
        <a:xfrm>
          <a:off x="0" y="0"/>
          <a:ext cx="0" cy="0"/>
          <a:chOff x="0" y="0"/>
          <a:chExt cx="0" cy="0"/>
        </a:xfrm>
      </p:grpSpPr>
      <p:sp>
        <p:nvSpPr>
          <p:cNvPr id="2" name="Shape 0"/>
          <p:cNvSpPr/>
          <p:nvPr/>
        </p:nvSpPr>
        <p:spPr>
          <a:xfrm>
            <a:off x="0" y="0"/>
            <a:ext cx="12161520" cy="749808"/>
          </a:xfrm>
          <a:prstGeom prst="rect">
            <a:avLst/>
          </a:prstGeom>
          <a:solidFill>
            <a:srgbClr val="0D1B2A"/>
          </a:solidFill>
          <a:ln/>
        </p:spPr>
      </p:sp>
      <p:sp>
        <p:nvSpPr>
          <p:cNvPr id="3" name="Shape 1"/>
          <p:cNvSpPr/>
          <p:nvPr/>
        </p:nvSpPr>
        <p:spPr>
          <a:xfrm>
            <a:off x="0" y="0"/>
            <a:ext cx="274320" cy="749808"/>
          </a:xfrm>
          <a:prstGeom prst="rect">
            <a:avLst/>
          </a:prstGeom>
          <a:solidFill>
            <a:srgbClr val="BF360C"/>
          </a:solidFill>
          <a:ln/>
        </p:spPr>
      </p:sp>
      <p:sp>
        <p:nvSpPr>
          <p:cNvPr id="4" name="Text 2"/>
          <p:cNvSpPr/>
          <p:nvPr/>
        </p:nvSpPr>
        <p:spPr>
          <a:xfrm>
            <a:off x="457200" y="0"/>
            <a:ext cx="11521440" cy="749808"/>
          </a:xfrm>
          <a:prstGeom prst="rect">
            <a:avLst/>
          </a:prstGeom>
          <a:noFill/>
          <a:ln/>
        </p:spPr>
        <p:txBody>
          <a:bodyPr wrap="square" lIns="0" tIns="0" rIns="0" bIns="0" rtlCol="0" anchor="ctr"/>
          <a:lstStyle/>
          <a:p>
            <a:pPr indent="0" marL="0">
              <a:buNone/>
            </a:pPr>
            <a:r>
              <a:rPr lang="en-US" sz="1350" b="1" spc="70" kern="0" dirty="0">
                <a:solidFill>
                  <a:srgbClr val="FFFFFF"/>
                </a:solidFill>
              </a:rPr>
              <a:t>PART 1  |  PREREQUISITES — WHAT MUST BE IN PLACE BEFORE MIGRATION CAN BEGIN</a:t>
            </a:r>
            <a:endParaRPr lang="en-US" sz="1350" dirty="0"/>
          </a:p>
        </p:txBody>
      </p:sp>
      <p:sp>
        <p:nvSpPr>
          <p:cNvPr id="5" name="Shape 3"/>
          <p:cNvSpPr/>
          <p:nvPr/>
        </p:nvSpPr>
        <p:spPr>
          <a:xfrm>
            <a:off x="201168" y="822960"/>
            <a:ext cx="11750040" cy="274320"/>
          </a:xfrm>
          <a:prstGeom prst="rect">
            <a:avLst/>
          </a:prstGeom>
          <a:solidFill>
            <a:srgbClr val="FBE9E7"/>
          </a:solidFill>
          <a:ln/>
        </p:spPr>
      </p:sp>
      <p:sp>
        <p:nvSpPr>
          <p:cNvPr id="6" name="Shape 4"/>
          <p:cNvSpPr/>
          <p:nvPr/>
        </p:nvSpPr>
        <p:spPr>
          <a:xfrm>
            <a:off x="201168" y="822960"/>
            <a:ext cx="54864" cy="274320"/>
          </a:xfrm>
          <a:prstGeom prst="rect">
            <a:avLst/>
          </a:prstGeom>
          <a:solidFill>
            <a:srgbClr val="BF360C"/>
          </a:solidFill>
          <a:ln/>
        </p:spPr>
      </p:sp>
      <p:sp>
        <p:nvSpPr>
          <p:cNvPr id="7" name="Text 5"/>
          <p:cNvSpPr/>
          <p:nvPr/>
        </p:nvSpPr>
        <p:spPr>
          <a:xfrm>
            <a:off x="347472" y="822960"/>
            <a:ext cx="11430000" cy="274320"/>
          </a:xfrm>
          <a:prstGeom prst="rect">
            <a:avLst/>
          </a:prstGeom>
          <a:noFill/>
          <a:ln/>
        </p:spPr>
        <p:txBody>
          <a:bodyPr wrap="square" lIns="0" tIns="0" rIns="0" bIns="0" rtlCol="0" anchor="ctr"/>
          <a:lstStyle/>
          <a:p>
            <a:pPr indent="0" marL="0">
              <a:buNone/>
            </a:pPr>
            <a:r>
              <a:rPr lang="en-US" sz="900" dirty="0">
                <a:solidFill>
                  <a:srgbClr val="1E293B"/>
                </a:solidFill>
              </a:rPr>
              <a:t>Your team validates all of these during Phase 1 (Discover). Failures here become the first items in the project risk register.</a:t>
            </a:r>
            <a:endParaRPr lang="en-US" sz="900" dirty="0"/>
          </a:p>
        </p:txBody>
      </p:sp>
      <p:sp>
        <p:nvSpPr>
          <p:cNvPr id="8" name="Shape 6"/>
          <p:cNvSpPr/>
          <p:nvPr/>
        </p:nvSpPr>
        <p:spPr>
          <a:xfrm>
            <a:off x="201168" y="1161288"/>
            <a:ext cx="5760720" cy="2825496"/>
          </a:xfrm>
          <a:prstGeom prst="rect">
            <a:avLst/>
          </a:prstGeom>
          <a:solidFill>
            <a:srgbClr val="FFFFFF"/>
          </a:solidFill>
          <a:ln/>
          <a:effectLst>
            <a:outerShdw sx="100000" sy="100000" kx="0" ky="0" algn="bl" rotWithShape="0" blurRad="101600" dist="25400" dir="8100000">
              <a:srgbClr val="000000">
                <a:alpha val="9000"/>
              </a:srgbClr>
            </a:outerShdw>
          </a:effectLst>
        </p:spPr>
      </p:sp>
      <p:sp>
        <p:nvSpPr>
          <p:cNvPr id="9" name="Shape 7"/>
          <p:cNvSpPr/>
          <p:nvPr/>
        </p:nvSpPr>
        <p:spPr>
          <a:xfrm>
            <a:off x="201168" y="1161288"/>
            <a:ext cx="5760720" cy="329184"/>
          </a:xfrm>
          <a:prstGeom prst="rect">
            <a:avLst/>
          </a:prstGeom>
          <a:solidFill>
            <a:srgbClr val="1565C0"/>
          </a:solidFill>
          <a:ln/>
        </p:spPr>
      </p:sp>
      <p:sp>
        <p:nvSpPr>
          <p:cNvPr id="10" name="Text 8"/>
          <p:cNvSpPr/>
          <p:nvPr/>
        </p:nvSpPr>
        <p:spPr>
          <a:xfrm>
            <a:off x="310896" y="1161288"/>
            <a:ext cx="5577840" cy="329184"/>
          </a:xfrm>
          <a:prstGeom prst="rect">
            <a:avLst/>
          </a:prstGeom>
          <a:noFill/>
          <a:ln/>
        </p:spPr>
        <p:txBody>
          <a:bodyPr wrap="square" lIns="0" tIns="0" rIns="0" bIns="0" rtlCol="0" anchor="ctr"/>
          <a:lstStyle/>
          <a:p>
            <a:pPr indent="0" marL="0">
              <a:buNone/>
            </a:pPr>
            <a:r>
              <a:rPr lang="en-US" sz="900" b="1" spc="80" kern="0" dirty="0">
                <a:solidFill>
                  <a:srgbClr val="FFFFFF"/>
                </a:solidFill>
              </a:rPr>
              <a:t>SOFTWARE VERSION</a:t>
            </a:r>
            <a:endParaRPr lang="en-US" sz="900" dirty="0"/>
          </a:p>
        </p:txBody>
      </p:sp>
      <p:sp>
        <p:nvSpPr>
          <p:cNvPr id="11" name="Shape 9"/>
          <p:cNvSpPr/>
          <p:nvPr/>
        </p:nvSpPr>
        <p:spPr>
          <a:xfrm>
            <a:off x="310896" y="1545336"/>
            <a:ext cx="5541264" cy="713232"/>
          </a:xfrm>
          <a:prstGeom prst="rect">
            <a:avLst/>
          </a:prstGeom>
          <a:solidFill>
            <a:srgbClr val="E3F2FD"/>
          </a:solidFill>
          <a:ln/>
        </p:spPr>
      </p:sp>
      <p:sp>
        <p:nvSpPr>
          <p:cNvPr id="12" name="Text 10"/>
          <p:cNvSpPr/>
          <p:nvPr/>
        </p:nvSpPr>
        <p:spPr>
          <a:xfrm>
            <a:off x="365760" y="1581912"/>
            <a:ext cx="5449824" cy="237744"/>
          </a:xfrm>
          <a:prstGeom prst="rect">
            <a:avLst/>
          </a:prstGeom>
          <a:noFill/>
          <a:ln/>
        </p:spPr>
        <p:txBody>
          <a:bodyPr wrap="square" lIns="0" tIns="0" rIns="0" bIns="0" rtlCol="0" anchor="ctr"/>
          <a:lstStyle/>
          <a:p>
            <a:pPr indent="0" marL="0">
              <a:buNone/>
            </a:pPr>
            <a:r>
              <a:rPr lang="en-US" sz="850" b="1" dirty="0">
                <a:solidFill>
                  <a:srgbClr val="1565C0"/>
                </a:solidFill>
              </a:rPr>
              <a:t>✔  ECC 6.0 minimum (Enhancement Pack 0+)</a:t>
            </a:r>
            <a:endParaRPr lang="en-US" sz="850" dirty="0"/>
          </a:p>
        </p:txBody>
      </p:sp>
      <p:sp>
        <p:nvSpPr>
          <p:cNvPr id="13" name="Text 11"/>
          <p:cNvSpPr/>
          <p:nvPr/>
        </p:nvSpPr>
        <p:spPr>
          <a:xfrm>
            <a:off x="365760" y="1828800"/>
            <a:ext cx="5449824" cy="402336"/>
          </a:xfrm>
          <a:prstGeom prst="rect">
            <a:avLst/>
          </a:prstGeom>
          <a:noFill/>
          <a:ln/>
        </p:spPr>
        <p:txBody>
          <a:bodyPr wrap="square" lIns="0" tIns="0" rIns="0" bIns="0" rtlCol="0" anchor="ctr"/>
          <a:lstStyle/>
          <a:p>
            <a:pPr indent="0" marL="0">
              <a:buNone/>
            </a:pPr>
            <a:r>
              <a:rPr lang="en-US" sz="780" dirty="0">
                <a:solidFill>
                  <a:srgbClr val="37474F"/>
                </a:solidFill>
              </a:rPr>
              <a:t>Why it matters: SUM+DMO conversion scripts are built for ECC 6.0+. Older releases (R/3 4.6, 4.7) must first do an intermediate upgrade — a separate project that adds 4–8 weeks and cost before the main migration.</a:t>
            </a:r>
            <a:endParaRPr lang="en-US" sz="780" dirty="0"/>
          </a:p>
        </p:txBody>
      </p:sp>
      <p:sp>
        <p:nvSpPr>
          <p:cNvPr id="14" name="Shape 12"/>
          <p:cNvSpPr/>
          <p:nvPr/>
        </p:nvSpPr>
        <p:spPr>
          <a:xfrm>
            <a:off x="310896" y="2322576"/>
            <a:ext cx="5541264" cy="713232"/>
          </a:xfrm>
          <a:prstGeom prst="rect">
            <a:avLst/>
          </a:prstGeom>
          <a:solidFill>
            <a:srgbClr val="F1F5F9"/>
          </a:solidFill>
          <a:ln/>
        </p:spPr>
      </p:sp>
      <p:sp>
        <p:nvSpPr>
          <p:cNvPr id="15" name="Text 13"/>
          <p:cNvSpPr/>
          <p:nvPr/>
        </p:nvSpPr>
        <p:spPr>
          <a:xfrm>
            <a:off x="365760" y="2359152"/>
            <a:ext cx="5449824" cy="237744"/>
          </a:xfrm>
          <a:prstGeom prst="rect">
            <a:avLst/>
          </a:prstGeom>
          <a:noFill/>
          <a:ln/>
        </p:spPr>
        <p:txBody>
          <a:bodyPr wrap="square" lIns="0" tIns="0" rIns="0" bIns="0" rtlCol="0" anchor="ctr"/>
          <a:lstStyle/>
          <a:p>
            <a:pPr indent="0" marL="0">
              <a:buNone/>
            </a:pPr>
            <a:r>
              <a:rPr lang="en-US" sz="850" b="1" dirty="0">
                <a:solidFill>
                  <a:srgbClr val="1565C0"/>
                </a:solidFill>
              </a:rPr>
              <a:t>✔  Unicode character encoding enabled</a:t>
            </a:r>
            <a:endParaRPr lang="en-US" sz="850" dirty="0"/>
          </a:p>
        </p:txBody>
      </p:sp>
      <p:sp>
        <p:nvSpPr>
          <p:cNvPr id="16" name="Text 14"/>
          <p:cNvSpPr/>
          <p:nvPr/>
        </p:nvSpPr>
        <p:spPr>
          <a:xfrm>
            <a:off x="365760" y="2606040"/>
            <a:ext cx="5449824" cy="402336"/>
          </a:xfrm>
          <a:prstGeom prst="rect">
            <a:avLst/>
          </a:prstGeom>
          <a:noFill/>
          <a:ln/>
        </p:spPr>
        <p:txBody>
          <a:bodyPr wrap="square" lIns="0" tIns="0" rIns="0" bIns="0" rtlCol="0" anchor="ctr"/>
          <a:lstStyle/>
          <a:p>
            <a:pPr indent="0" marL="0">
              <a:buNone/>
            </a:pPr>
            <a:r>
              <a:rPr lang="en-US" sz="780" dirty="0">
                <a:solidFill>
                  <a:srgbClr val="37474F"/>
                </a:solidFill>
              </a:rPr>
              <a:t>Why it matters: S/4HANA is Unicode-only. If ECC runs in legacy non-Unicode mode (common in very old systems), a Unicode conversion is mandatory first. SAP's UCCHECK report identifies this instantly.</a:t>
            </a:r>
            <a:endParaRPr lang="en-US" sz="780" dirty="0"/>
          </a:p>
        </p:txBody>
      </p:sp>
      <p:sp>
        <p:nvSpPr>
          <p:cNvPr id="17" name="Shape 15"/>
          <p:cNvSpPr/>
          <p:nvPr/>
        </p:nvSpPr>
        <p:spPr>
          <a:xfrm>
            <a:off x="310896" y="3099816"/>
            <a:ext cx="5541264" cy="713232"/>
          </a:xfrm>
          <a:prstGeom prst="rect">
            <a:avLst/>
          </a:prstGeom>
          <a:solidFill>
            <a:srgbClr val="E3F2FD"/>
          </a:solidFill>
          <a:ln/>
        </p:spPr>
      </p:sp>
      <p:sp>
        <p:nvSpPr>
          <p:cNvPr id="18" name="Text 16"/>
          <p:cNvSpPr/>
          <p:nvPr/>
        </p:nvSpPr>
        <p:spPr>
          <a:xfrm>
            <a:off x="365760" y="3136392"/>
            <a:ext cx="5449824" cy="237744"/>
          </a:xfrm>
          <a:prstGeom prst="rect">
            <a:avLst/>
          </a:prstGeom>
          <a:noFill/>
          <a:ln/>
        </p:spPr>
        <p:txBody>
          <a:bodyPr wrap="square" lIns="0" tIns="0" rIns="0" bIns="0" rtlCol="0" anchor="ctr"/>
          <a:lstStyle/>
          <a:p>
            <a:pPr indent="0" marL="0">
              <a:buNone/>
            </a:pPr>
            <a:r>
              <a:rPr lang="en-US" sz="850" b="1" dirty="0">
                <a:solidFill>
                  <a:srgbClr val="1565C0"/>
                </a:solidFill>
              </a:rPr>
              <a:t>✔  ABAP-only stack (no dual ABAP+Java)</a:t>
            </a:r>
            <a:endParaRPr lang="en-US" sz="850" dirty="0"/>
          </a:p>
        </p:txBody>
      </p:sp>
      <p:sp>
        <p:nvSpPr>
          <p:cNvPr id="19" name="Text 17"/>
          <p:cNvSpPr/>
          <p:nvPr/>
        </p:nvSpPr>
        <p:spPr>
          <a:xfrm>
            <a:off x="365760" y="3383280"/>
            <a:ext cx="5449824" cy="402336"/>
          </a:xfrm>
          <a:prstGeom prst="rect">
            <a:avLst/>
          </a:prstGeom>
          <a:noFill/>
          <a:ln/>
        </p:spPr>
        <p:txBody>
          <a:bodyPr wrap="square" lIns="0" tIns="0" rIns="0" bIns="0" rtlCol="0" anchor="ctr"/>
          <a:lstStyle/>
          <a:p>
            <a:pPr indent="0" marL="0">
              <a:buNone/>
            </a:pPr>
            <a:r>
              <a:rPr lang="en-US" sz="780" dirty="0">
                <a:solidFill>
                  <a:srgbClr val="37474F"/>
                </a:solidFill>
              </a:rPr>
              <a:t>Why it matters: ECC systems with both ABAP and Java stacks (used for old NetWeaver Portal) cannot be converted directly. The Java components must be decommissioned or separated before SUM+DMO can run.</a:t>
            </a:r>
            <a:endParaRPr lang="en-US" sz="780" dirty="0"/>
          </a:p>
        </p:txBody>
      </p:sp>
      <p:sp>
        <p:nvSpPr>
          <p:cNvPr id="20" name="Shape 18"/>
          <p:cNvSpPr/>
          <p:nvPr/>
        </p:nvSpPr>
        <p:spPr>
          <a:xfrm>
            <a:off x="6190488" y="1161288"/>
            <a:ext cx="5760720" cy="2020824"/>
          </a:xfrm>
          <a:prstGeom prst="rect">
            <a:avLst/>
          </a:prstGeom>
          <a:solidFill>
            <a:srgbClr val="FFFFFF"/>
          </a:solidFill>
          <a:ln/>
          <a:effectLst>
            <a:outerShdw sx="100000" sy="100000" kx="0" ky="0" algn="bl" rotWithShape="0" blurRad="101600" dist="25400" dir="8100000">
              <a:srgbClr val="000000">
                <a:alpha val="9000"/>
              </a:srgbClr>
            </a:outerShdw>
          </a:effectLst>
        </p:spPr>
      </p:sp>
      <p:sp>
        <p:nvSpPr>
          <p:cNvPr id="21" name="Shape 19"/>
          <p:cNvSpPr/>
          <p:nvPr/>
        </p:nvSpPr>
        <p:spPr>
          <a:xfrm>
            <a:off x="6190488" y="1161288"/>
            <a:ext cx="5760720" cy="329184"/>
          </a:xfrm>
          <a:prstGeom prst="rect">
            <a:avLst/>
          </a:prstGeom>
          <a:solidFill>
            <a:srgbClr val="00695C"/>
          </a:solidFill>
          <a:ln/>
        </p:spPr>
      </p:sp>
      <p:sp>
        <p:nvSpPr>
          <p:cNvPr id="22" name="Text 20"/>
          <p:cNvSpPr/>
          <p:nvPr/>
        </p:nvSpPr>
        <p:spPr>
          <a:xfrm>
            <a:off x="6300216" y="1161288"/>
            <a:ext cx="5577840" cy="329184"/>
          </a:xfrm>
          <a:prstGeom prst="rect">
            <a:avLst/>
          </a:prstGeom>
          <a:noFill/>
          <a:ln/>
        </p:spPr>
        <p:txBody>
          <a:bodyPr wrap="square" lIns="0" tIns="0" rIns="0" bIns="0" rtlCol="0" anchor="ctr"/>
          <a:lstStyle/>
          <a:p>
            <a:pPr indent="0" marL="0">
              <a:buNone/>
            </a:pPr>
            <a:r>
              <a:rPr lang="en-US" sz="900" b="1" spc="80" kern="0" dirty="0">
                <a:solidFill>
                  <a:srgbClr val="FFFFFF"/>
                </a:solidFill>
              </a:rPr>
              <a:t>DATABASE &amp; OS</a:t>
            </a:r>
            <a:endParaRPr lang="en-US" sz="900" dirty="0"/>
          </a:p>
        </p:txBody>
      </p:sp>
      <p:sp>
        <p:nvSpPr>
          <p:cNvPr id="23" name="Shape 21"/>
          <p:cNvSpPr/>
          <p:nvPr/>
        </p:nvSpPr>
        <p:spPr>
          <a:xfrm>
            <a:off x="6300216" y="1545336"/>
            <a:ext cx="5541264" cy="713232"/>
          </a:xfrm>
          <a:prstGeom prst="rect">
            <a:avLst/>
          </a:prstGeom>
          <a:solidFill>
            <a:srgbClr val="E0F2F1"/>
          </a:solidFill>
          <a:ln/>
        </p:spPr>
      </p:sp>
      <p:sp>
        <p:nvSpPr>
          <p:cNvPr id="24" name="Text 22"/>
          <p:cNvSpPr/>
          <p:nvPr/>
        </p:nvSpPr>
        <p:spPr>
          <a:xfrm>
            <a:off x="6355080" y="1581912"/>
            <a:ext cx="5449824" cy="237744"/>
          </a:xfrm>
          <a:prstGeom prst="rect">
            <a:avLst/>
          </a:prstGeom>
          <a:noFill/>
          <a:ln/>
        </p:spPr>
        <p:txBody>
          <a:bodyPr wrap="square" lIns="0" tIns="0" rIns="0" bIns="0" rtlCol="0" anchor="ctr"/>
          <a:lstStyle/>
          <a:p>
            <a:pPr indent="0" marL="0">
              <a:buNone/>
            </a:pPr>
            <a:r>
              <a:rPr lang="en-US" sz="850" b="1" dirty="0">
                <a:solidFill>
                  <a:srgbClr val="00695C"/>
                </a:solidFill>
              </a:rPr>
              <a:t>✔  Any major DB is fine as source</a:t>
            </a:r>
            <a:endParaRPr lang="en-US" sz="850" dirty="0"/>
          </a:p>
        </p:txBody>
      </p:sp>
      <p:sp>
        <p:nvSpPr>
          <p:cNvPr id="25" name="Text 23"/>
          <p:cNvSpPr/>
          <p:nvPr/>
        </p:nvSpPr>
        <p:spPr>
          <a:xfrm>
            <a:off x="6355080" y="1828800"/>
            <a:ext cx="5449824" cy="402336"/>
          </a:xfrm>
          <a:prstGeom prst="rect">
            <a:avLst/>
          </a:prstGeom>
          <a:noFill/>
          <a:ln/>
        </p:spPr>
        <p:txBody>
          <a:bodyPr wrap="square" lIns="0" tIns="0" rIns="0" bIns="0" rtlCol="0" anchor="ctr"/>
          <a:lstStyle/>
          <a:p>
            <a:pPr indent="0" marL="0">
              <a:buNone/>
            </a:pPr>
            <a:r>
              <a:rPr lang="en-US" sz="780" dirty="0">
                <a:solidFill>
                  <a:srgbClr val="37474F"/>
                </a:solidFill>
              </a:rPr>
              <a:t>Why it matters: SUM+DMO migrates from Oracle, IBM DB2, Microsoft SQL Server, SAP ASE (Sybase), or MaxDB. Only the source DB version matters — it must be a currently supported version. The DB itself becomes irrelevant after migration (everything moves to HANA).</a:t>
            </a:r>
            <a:endParaRPr lang="en-US" sz="780" dirty="0"/>
          </a:p>
        </p:txBody>
      </p:sp>
      <p:sp>
        <p:nvSpPr>
          <p:cNvPr id="26" name="Shape 24"/>
          <p:cNvSpPr/>
          <p:nvPr/>
        </p:nvSpPr>
        <p:spPr>
          <a:xfrm>
            <a:off x="6300216" y="2322576"/>
            <a:ext cx="5541264" cy="713232"/>
          </a:xfrm>
          <a:prstGeom prst="rect">
            <a:avLst/>
          </a:prstGeom>
          <a:solidFill>
            <a:srgbClr val="F1F5F9"/>
          </a:solidFill>
          <a:ln/>
        </p:spPr>
      </p:sp>
      <p:sp>
        <p:nvSpPr>
          <p:cNvPr id="27" name="Text 25"/>
          <p:cNvSpPr/>
          <p:nvPr/>
        </p:nvSpPr>
        <p:spPr>
          <a:xfrm>
            <a:off x="6355080" y="2359152"/>
            <a:ext cx="5449824" cy="237744"/>
          </a:xfrm>
          <a:prstGeom prst="rect">
            <a:avLst/>
          </a:prstGeom>
          <a:noFill/>
          <a:ln/>
        </p:spPr>
        <p:txBody>
          <a:bodyPr wrap="square" lIns="0" tIns="0" rIns="0" bIns="0" rtlCol="0" anchor="ctr"/>
          <a:lstStyle/>
          <a:p>
            <a:pPr indent="0" marL="0">
              <a:buNone/>
            </a:pPr>
            <a:r>
              <a:rPr lang="en-US" sz="850" b="1" dirty="0">
                <a:solidFill>
                  <a:srgbClr val="00695C"/>
                </a:solidFill>
              </a:rPr>
              <a:t>✔  Supported OS on source system</a:t>
            </a:r>
            <a:endParaRPr lang="en-US" sz="850" dirty="0"/>
          </a:p>
        </p:txBody>
      </p:sp>
      <p:sp>
        <p:nvSpPr>
          <p:cNvPr id="28" name="Text 26"/>
          <p:cNvSpPr/>
          <p:nvPr/>
        </p:nvSpPr>
        <p:spPr>
          <a:xfrm>
            <a:off x="6355080" y="2606040"/>
            <a:ext cx="5449824" cy="402336"/>
          </a:xfrm>
          <a:prstGeom prst="rect">
            <a:avLst/>
          </a:prstGeom>
          <a:noFill/>
          <a:ln/>
        </p:spPr>
        <p:txBody>
          <a:bodyPr wrap="square" lIns="0" tIns="0" rIns="0" bIns="0" rtlCol="0" anchor="ctr"/>
          <a:lstStyle/>
          <a:p>
            <a:pPr indent="0" marL="0">
              <a:buNone/>
            </a:pPr>
            <a:r>
              <a:rPr lang="en-US" sz="780" dirty="0">
                <a:solidFill>
                  <a:srgbClr val="37474F"/>
                </a:solidFill>
              </a:rPr>
              <a:t>Why it matters: The on-premise server running ECC must be on a supported OS version (RHEL, SLES, Windows). SUM checks this automatically in the Prerequisites Check phase. An outdated OS may require a server OS upgrade before migration starts.</a:t>
            </a:r>
            <a:endParaRPr lang="en-US" sz="780" dirty="0"/>
          </a:p>
        </p:txBody>
      </p:sp>
      <p:sp>
        <p:nvSpPr>
          <p:cNvPr id="29" name="Shape 27"/>
          <p:cNvSpPr/>
          <p:nvPr/>
        </p:nvSpPr>
        <p:spPr>
          <a:xfrm>
            <a:off x="201168" y="3886200"/>
            <a:ext cx="5760720" cy="2825496"/>
          </a:xfrm>
          <a:prstGeom prst="rect">
            <a:avLst/>
          </a:prstGeom>
          <a:solidFill>
            <a:srgbClr val="FFFFFF"/>
          </a:solidFill>
          <a:ln/>
          <a:effectLst>
            <a:outerShdw sx="100000" sy="100000" kx="0" ky="0" algn="bl" rotWithShape="0" blurRad="101600" dist="25400" dir="8100000">
              <a:srgbClr val="000000">
                <a:alpha val="9000"/>
              </a:srgbClr>
            </a:outerShdw>
          </a:effectLst>
        </p:spPr>
      </p:sp>
      <p:sp>
        <p:nvSpPr>
          <p:cNvPr id="30" name="Shape 28"/>
          <p:cNvSpPr/>
          <p:nvPr/>
        </p:nvSpPr>
        <p:spPr>
          <a:xfrm>
            <a:off x="201168" y="3886200"/>
            <a:ext cx="5760720" cy="329184"/>
          </a:xfrm>
          <a:prstGeom prst="rect">
            <a:avLst/>
          </a:prstGeom>
          <a:solidFill>
            <a:srgbClr val="1B5E20"/>
          </a:solidFill>
          <a:ln/>
        </p:spPr>
      </p:sp>
      <p:sp>
        <p:nvSpPr>
          <p:cNvPr id="31" name="Text 29"/>
          <p:cNvSpPr/>
          <p:nvPr/>
        </p:nvSpPr>
        <p:spPr>
          <a:xfrm>
            <a:off x="310896" y="3886200"/>
            <a:ext cx="5577840" cy="329184"/>
          </a:xfrm>
          <a:prstGeom prst="rect">
            <a:avLst/>
          </a:prstGeom>
          <a:noFill/>
          <a:ln/>
        </p:spPr>
        <p:txBody>
          <a:bodyPr wrap="square" lIns="0" tIns="0" rIns="0" bIns="0" rtlCol="0" anchor="ctr"/>
          <a:lstStyle/>
          <a:p>
            <a:pPr indent="0" marL="0">
              <a:buNone/>
            </a:pPr>
            <a:r>
              <a:rPr lang="en-US" sz="900" b="1" spc="80" kern="0" dirty="0">
                <a:solidFill>
                  <a:srgbClr val="FFFFFF"/>
                </a:solidFill>
              </a:rPr>
              <a:t>GCP INFRASTRUCTURE (SAP sets up under RISE)</a:t>
            </a:r>
            <a:endParaRPr lang="en-US" sz="900" dirty="0"/>
          </a:p>
        </p:txBody>
      </p:sp>
      <p:sp>
        <p:nvSpPr>
          <p:cNvPr id="32" name="Shape 30"/>
          <p:cNvSpPr/>
          <p:nvPr/>
        </p:nvSpPr>
        <p:spPr>
          <a:xfrm>
            <a:off x="310896" y="4270248"/>
            <a:ext cx="5541264" cy="713232"/>
          </a:xfrm>
          <a:prstGeom prst="rect">
            <a:avLst/>
          </a:prstGeom>
          <a:solidFill>
            <a:srgbClr val="E8F5E9"/>
          </a:solidFill>
          <a:ln/>
        </p:spPr>
      </p:sp>
      <p:sp>
        <p:nvSpPr>
          <p:cNvPr id="33" name="Text 31"/>
          <p:cNvSpPr/>
          <p:nvPr/>
        </p:nvSpPr>
        <p:spPr>
          <a:xfrm>
            <a:off x="365760" y="4306824"/>
            <a:ext cx="5449824" cy="237744"/>
          </a:xfrm>
          <a:prstGeom prst="rect">
            <a:avLst/>
          </a:prstGeom>
          <a:noFill/>
          <a:ln/>
        </p:spPr>
        <p:txBody>
          <a:bodyPr wrap="square" lIns="0" tIns="0" rIns="0" bIns="0" rtlCol="0" anchor="ctr"/>
          <a:lstStyle/>
          <a:p>
            <a:pPr indent="0" marL="0">
              <a:buNone/>
            </a:pPr>
            <a:r>
              <a:rPr lang="en-US" sz="850" b="1" dirty="0">
                <a:solidFill>
                  <a:srgbClr val="1B5E20"/>
                </a:solidFill>
              </a:rPr>
              <a:t>✔  Target GCP VMs provisioned by SAP</a:t>
            </a:r>
            <a:endParaRPr lang="en-US" sz="850" dirty="0"/>
          </a:p>
        </p:txBody>
      </p:sp>
      <p:sp>
        <p:nvSpPr>
          <p:cNvPr id="34" name="Text 32"/>
          <p:cNvSpPr/>
          <p:nvPr/>
        </p:nvSpPr>
        <p:spPr>
          <a:xfrm>
            <a:off x="365760" y="4553712"/>
            <a:ext cx="5449824" cy="402336"/>
          </a:xfrm>
          <a:prstGeom prst="rect">
            <a:avLst/>
          </a:prstGeom>
          <a:noFill/>
          <a:ln/>
        </p:spPr>
        <p:txBody>
          <a:bodyPr wrap="square" lIns="0" tIns="0" rIns="0" bIns="0" rtlCol="0" anchor="ctr"/>
          <a:lstStyle/>
          <a:p>
            <a:pPr indent="0" marL="0">
              <a:buNone/>
            </a:pPr>
            <a:r>
              <a:rPr lang="en-US" sz="780" dirty="0">
                <a:solidFill>
                  <a:srgbClr val="37474F"/>
                </a:solidFill>
              </a:rPr>
              <a:t>Why it matters: Under RISE, SAP provisions the M4/C4D high-memory VMs, Hyperdisk Extreme storage, VPC networking, HA clustering in GCP Dammam before SUM+DMO starts. This takes 3–7 days and is fully SAP's responsibility — your team just confirms readiness.</a:t>
            </a:r>
            <a:endParaRPr lang="en-US" sz="780" dirty="0"/>
          </a:p>
        </p:txBody>
      </p:sp>
      <p:sp>
        <p:nvSpPr>
          <p:cNvPr id="35" name="Shape 33"/>
          <p:cNvSpPr/>
          <p:nvPr/>
        </p:nvSpPr>
        <p:spPr>
          <a:xfrm>
            <a:off x="310896" y="5047488"/>
            <a:ext cx="5541264" cy="713232"/>
          </a:xfrm>
          <a:prstGeom prst="rect">
            <a:avLst/>
          </a:prstGeom>
          <a:solidFill>
            <a:srgbClr val="F1F5F9"/>
          </a:solidFill>
          <a:ln/>
        </p:spPr>
      </p:sp>
      <p:sp>
        <p:nvSpPr>
          <p:cNvPr id="36" name="Text 34"/>
          <p:cNvSpPr/>
          <p:nvPr/>
        </p:nvSpPr>
        <p:spPr>
          <a:xfrm>
            <a:off x="365760" y="5084064"/>
            <a:ext cx="5449824" cy="237744"/>
          </a:xfrm>
          <a:prstGeom prst="rect">
            <a:avLst/>
          </a:prstGeom>
          <a:noFill/>
          <a:ln/>
        </p:spPr>
        <p:txBody>
          <a:bodyPr wrap="square" lIns="0" tIns="0" rIns="0" bIns="0" rtlCol="0" anchor="ctr"/>
          <a:lstStyle/>
          <a:p>
            <a:pPr indent="0" marL="0">
              <a:buNone/>
            </a:pPr>
            <a:r>
              <a:rPr lang="en-US" sz="850" b="1" dirty="0">
                <a:solidFill>
                  <a:srgbClr val="1B5E20"/>
                </a:solidFill>
              </a:rPr>
              <a:t>✔  Secure VPN tunnel: on-prem ↔ GCP</a:t>
            </a:r>
            <a:endParaRPr lang="en-US" sz="850" dirty="0"/>
          </a:p>
        </p:txBody>
      </p:sp>
      <p:sp>
        <p:nvSpPr>
          <p:cNvPr id="37" name="Text 35"/>
          <p:cNvSpPr/>
          <p:nvPr/>
        </p:nvSpPr>
        <p:spPr>
          <a:xfrm>
            <a:off x="365760" y="5330952"/>
            <a:ext cx="5449824" cy="402336"/>
          </a:xfrm>
          <a:prstGeom prst="rect">
            <a:avLst/>
          </a:prstGeom>
          <a:noFill/>
          <a:ln/>
        </p:spPr>
        <p:txBody>
          <a:bodyPr wrap="square" lIns="0" tIns="0" rIns="0" bIns="0" rtlCol="0" anchor="ctr"/>
          <a:lstStyle/>
          <a:p>
            <a:pPr indent="0" marL="0">
              <a:buNone/>
            </a:pPr>
            <a:r>
              <a:rPr lang="en-US" sz="780" dirty="0">
                <a:solidFill>
                  <a:srgbClr val="37474F"/>
                </a:solidFill>
              </a:rPr>
              <a:t>Why it matters: The DMOVE2S4 variant of SUM+DMO needs a secure, high-bandwidth network connection between the customer's on-premise data center and GCP Dammam so the tool can transfer data across during conversion. Bandwidth directly impacts the downtime window duration.</a:t>
            </a:r>
            <a:endParaRPr lang="en-US" sz="780" dirty="0"/>
          </a:p>
        </p:txBody>
      </p:sp>
      <p:sp>
        <p:nvSpPr>
          <p:cNvPr id="38" name="Shape 36"/>
          <p:cNvSpPr/>
          <p:nvPr/>
        </p:nvSpPr>
        <p:spPr>
          <a:xfrm>
            <a:off x="310896" y="5824728"/>
            <a:ext cx="5541264" cy="713232"/>
          </a:xfrm>
          <a:prstGeom prst="rect">
            <a:avLst/>
          </a:prstGeom>
          <a:solidFill>
            <a:srgbClr val="E8F5E9"/>
          </a:solidFill>
          <a:ln/>
        </p:spPr>
      </p:sp>
      <p:sp>
        <p:nvSpPr>
          <p:cNvPr id="39" name="Text 37"/>
          <p:cNvSpPr/>
          <p:nvPr/>
        </p:nvSpPr>
        <p:spPr>
          <a:xfrm>
            <a:off x="365760" y="5861304"/>
            <a:ext cx="5449824" cy="237744"/>
          </a:xfrm>
          <a:prstGeom prst="rect">
            <a:avLst/>
          </a:prstGeom>
          <a:noFill/>
          <a:ln/>
        </p:spPr>
        <p:txBody>
          <a:bodyPr wrap="square" lIns="0" tIns="0" rIns="0" bIns="0" rtlCol="0" anchor="ctr"/>
          <a:lstStyle/>
          <a:p>
            <a:pPr indent="0" marL="0">
              <a:buNone/>
            </a:pPr>
            <a:r>
              <a:rPr lang="en-US" sz="850" b="1" dirty="0">
                <a:solidFill>
                  <a:srgbClr val="1B5E20"/>
                </a:solidFill>
              </a:rPr>
              <a:t>✔  Sufficient GCP RAM for HANA sizing</a:t>
            </a:r>
            <a:endParaRPr lang="en-US" sz="850" dirty="0"/>
          </a:p>
        </p:txBody>
      </p:sp>
      <p:sp>
        <p:nvSpPr>
          <p:cNvPr id="40" name="Text 38"/>
          <p:cNvSpPr/>
          <p:nvPr/>
        </p:nvSpPr>
        <p:spPr>
          <a:xfrm>
            <a:off x="365760" y="6108192"/>
            <a:ext cx="5449824" cy="402336"/>
          </a:xfrm>
          <a:prstGeom prst="rect">
            <a:avLst/>
          </a:prstGeom>
          <a:noFill/>
          <a:ln/>
        </p:spPr>
        <p:txBody>
          <a:bodyPr wrap="square" lIns="0" tIns="0" rIns="0" bIns="0" rtlCol="0" anchor="ctr"/>
          <a:lstStyle/>
          <a:p>
            <a:pPr indent="0" marL="0">
              <a:buNone/>
            </a:pPr>
            <a:r>
              <a:rPr lang="en-US" sz="780" dirty="0">
                <a:solidFill>
                  <a:srgbClr val="37474F"/>
                </a:solidFill>
              </a:rPr>
              <a:t>Why it matters: HANA stores the entire database in memory (RAM). If the ECC database is 3TB, the target GCP system needs at minimum 3TB RAM VMs. SAP Readiness Check calculates this exact sizing requirement — one of the most critical outputs of Phase 1.</a:t>
            </a:r>
            <a:endParaRPr lang="en-US" sz="780" dirty="0"/>
          </a:p>
        </p:txBody>
      </p:sp>
      <p:sp>
        <p:nvSpPr>
          <p:cNvPr id="41" name="Shape 39"/>
          <p:cNvSpPr/>
          <p:nvPr/>
        </p:nvSpPr>
        <p:spPr>
          <a:xfrm>
            <a:off x="6190488" y="3886200"/>
            <a:ext cx="5760720" cy="2825496"/>
          </a:xfrm>
          <a:prstGeom prst="rect">
            <a:avLst/>
          </a:prstGeom>
          <a:solidFill>
            <a:srgbClr val="FFFFFF"/>
          </a:solidFill>
          <a:ln/>
          <a:effectLst>
            <a:outerShdw sx="100000" sy="100000" kx="0" ky="0" algn="bl" rotWithShape="0" blurRad="101600" dist="25400" dir="8100000">
              <a:srgbClr val="000000">
                <a:alpha val="9000"/>
              </a:srgbClr>
            </a:outerShdw>
          </a:effectLst>
        </p:spPr>
      </p:sp>
      <p:sp>
        <p:nvSpPr>
          <p:cNvPr id="42" name="Shape 40"/>
          <p:cNvSpPr/>
          <p:nvPr/>
        </p:nvSpPr>
        <p:spPr>
          <a:xfrm>
            <a:off x="6190488" y="3886200"/>
            <a:ext cx="5760720" cy="329184"/>
          </a:xfrm>
          <a:prstGeom prst="rect">
            <a:avLst/>
          </a:prstGeom>
          <a:solidFill>
            <a:srgbClr val="4527A0"/>
          </a:solidFill>
          <a:ln/>
        </p:spPr>
      </p:sp>
      <p:sp>
        <p:nvSpPr>
          <p:cNvPr id="43" name="Text 41"/>
          <p:cNvSpPr/>
          <p:nvPr/>
        </p:nvSpPr>
        <p:spPr>
          <a:xfrm>
            <a:off x="6300216" y="3886200"/>
            <a:ext cx="5577840" cy="329184"/>
          </a:xfrm>
          <a:prstGeom prst="rect">
            <a:avLst/>
          </a:prstGeom>
          <a:noFill/>
          <a:ln/>
        </p:spPr>
        <p:txBody>
          <a:bodyPr wrap="square" lIns="0" tIns="0" rIns="0" bIns="0" rtlCol="0" anchor="ctr"/>
          <a:lstStyle/>
          <a:p>
            <a:pPr indent="0" marL="0">
              <a:buNone/>
            </a:pPr>
            <a:r>
              <a:rPr lang="en-US" sz="900" b="1" spc="80" kern="0" dirty="0">
                <a:solidFill>
                  <a:srgbClr val="FFFFFF"/>
                </a:solidFill>
              </a:rPr>
              <a:t>FUNCTIONAL / BUSINESS READINESS</a:t>
            </a:r>
            <a:endParaRPr lang="en-US" sz="900" dirty="0"/>
          </a:p>
        </p:txBody>
      </p:sp>
      <p:sp>
        <p:nvSpPr>
          <p:cNvPr id="44" name="Shape 42"/>
          <p:cNvSpPr/>
          <p:nvPr/>
        </p:nvSpPr>
        <p:spPr>
          <a:xfrm>
            <a:off x="6300216" y="4270248"/>
            <a:ext cx="5541264" cy="713232"/>
          </a:xfrm>
          <a:prstGeom prst="rect">
            <a:avLst/>
          </a:prstGeom>
          <a:solidFill>
            <a:srgbClr val="EDE7F6"/>
          </a:solidFill>
          <a:ln/>
        </p:spPr>
      </p:sp>
      <p:sp>
        <p:nvSpPr>
          <p:cNvPr id="45" name="Text 43"/>
          <p:cNvSpPr/>
          <p:nvPr/>
        </p:nvSpPr>
        <p:spPr>
          <a:xfrm>
            <a:off x="6355080" y="4306824"/>
            <a:ext cx="5449824" cy="237744"/>
          </a:xfrm>
          <a:prstGeom prst="rect">
            <a:avLst/>
          </a:prstGeom>
          <a:noFill/>
          <a:ln/>
        </p:spPr>
        <p:txBody>
          <a:bodyPr wrap="square" lIns="0" tIns="0" rIns="0" bIns="0" rtlCol="0" anchor="ctr"/>
          <a:lstStyle/>
          <a:p>
            <a:pPr indent="0" marL="0">
              <a:buNone/>
            </a:pPr>
            <a:r>
              <a:rPr lang="en-US" sz="850" b="1" dirty="0">
                <a:solidFill>
                  <a:srgbClr val="4527A0"/>
                </a:solidFill>
              </a:rPr>
              <a:t>✔  Customer-Vendor Integration (CVI) ready</a:t>
            </a:r>
            <a:endParaRPr lang="en-US" sz="850" dirty="0"/>
          </a:p>
        </p:txBody>
      </p:sp>
      <p:sp>
        <p:nvSpPr>
          <p:cNvPr id="46" name="Text 44"/>
          <p:cNvSpPr/>
          <p:nvPr/>
        </p:nvSpPr>
        <p:spPr>
          <a:xfrm>
            <a:off x="6355080" y="4553712"/>
            <a:ext cx="5449824" cy="402336"/>
          </a:xfrm>
          <a:prstGeom prst="rect">
            <a:avLst/>
          </a:prstGeom>
          <a:noFill/>
          <a:ln/>
        </p:spPr>
        <p:txBody>
          <a:bodyPr wrap="square" lIns="0" tIns="0" rIns="0" bIns="0" rtlCol="0" anchor="ctr"/>
          <a:lstStyle/>
          <a:p>
            <a:pPr indent="0" marL="0">
              <a:buNone/>
            </a:pPr>
            <a:r>
              <a:rPr lang="en-US" sz="780" dirty="0">
                <a:solidFill>
                  <a:srgbClr val="37474F"/>
                </a:solidFill>
              </a:rPr>
              <a:t>Why it matters: S/4HANA replaces separate Customer (KNA1) and Vendor (LFA1) master records with a single 'Business Partner' (BP) record. The CVI Customizing program must be activated in ECC before conversion — otherwise SUM+DMO will halt with errors on all customer/vendor records.</a:t>
            </a:r>
            <a:endParaRPr lang="en-US" sz="780" dirty="0"/>
          </a:p>
        </p:txBody>
      </p:sp>
      <p:sp>
        <p:nvSpPr>
          <p:cNvPr id="47" name="Shape 45"/>
          <p:cNvSpPr/>
          <p:nvPr/>
        </p:nvSpPr>
        <p:spPr>
          <a:xfrm>
            <a:off x="6300216" y="5047488"/>
            <a:ext cx="5541264" cy="713232"/>
          </a:xfrm>
          <a:prstGeom prst="rect">
            <a:avLst/>
          </a:prstGeom>
          <a:solidFill>
            <a:srgbClr val="F1F5F9"/>
          </a:solidFill>
          <a:ln/>
        </p:spPr>
      </p:sp>
      <p:sp>
        <p:nvSpPr>
          <p:cNvPr id="48" name="Text 46"/>
          <p:cNvSpPr/>
          <p:nvPr/>
        </p:nvSpPr>
        <p:spPr>
          <a:xfrm>
            <a:off x="6355080" y="5084064"/>
            <a:ext cx="5449824" cy="237744"/>
          </a:xfrm>
          <a:prstGeom prst="rect">
            <a:avLst/>
          </a:prstGeom>
          <a:noFill/>
          <a:ln/>
        </p:spPr>
        <p:txBody>
          <a:bodyPr wrap="square" lIns="0" tIns="0" rIns="0" bIns="0" rtlCol="0" anchor="ctr"/>
          <a:lstStyle/>
          <a:p>
            <a:pPr indent="0" marL="0">
              <a:buNone/>
            </a:pPr>
            <a:r>
              <a:rPr lang="en-US" sz="850" b="1" dirty="0">
                <a:solidFill>
                  <a:srgbClr val="4527A0"/>
                </a:solidFill>
              </a:rPr>
              <a:t>✔  Simplification Item Check (SICheck) passed</a:t>
            </a:r>
            <a:endParaRPr lang="en-US" sz="850" dirty="0"/>
          </a:p>
        </p:txBody>
      </p:sp>
      <p:sp>
        <p:nvSpPr>
          <p:cNvPr id="49" name="Text 47"/>
          <p:cNvSpPr/>
          <p:nvPr/>
        </p:nvSpPr>
        <p:spPr>
          <a:xfrm>
            <a:off x="6355080" y="5330952"/>
            <a:ext cx="5449824" cy="402336"/>
          </a:xfrm>
          <a:prstGeom prst="rect">
            <a:avLst/>
          </a:prstGeom>
          <a:noFill/>
          <a:ln/>
        </p:spPr>
        <p:txBody>
          <a:bodyPr wrap="square" lIns="0" tIns="0" rIns="0" bIns="0" rtlCol="0" anchor="ctr"/>
          <a:lstStyle/>
          <a:p>
            <a:pPr indent="0" marL="0">
              <a:buNone/>
            </a:pPr>
            <a:r>
              <a:rPr lang="en-US" sz="780" dirty="0">
                <a:solidFill>
                  <a:srgbClr val="37474F"/>
                </a:solidFill>
              </a:rPr>
              <a:t>Why it matters: SAP's SICheck report scans ECC for configuration incompatibilities with S/4HANA — e.g., old pricing procedures, obsolete condition types, deprecated SD/MM settings. All 'errors' must be resolved before SUM+DMO will proceed. 'Warnings' are advisory.</a:t>
            </a:r>
            <a:endParaRPr lang="en-US" sz="780" dirty="0"/>
          </a:p>
        </p:txBody>
      </p:sp>
      <p:sp>
        <p:nvSpPr>
          <p:cNvPr id="50" name="Shape 48"/>
          <p:cNvSpPr/>
          <p:nvPr/>
        </p:nvSpPr>
        <p:spPr>
          <a:xfrm>
            <a:off x="6300216" y="5824728"/>
            <a:ext cx="5541264" cy="713232"/>
          </a:xfrm>
          <a:prstGeom prst="rect">
            <a:avLst/>
          </a:prstGeom>
          <a:solidFill>
            <a:srgbClr val="EDE7F6"/>
          </a:solidFill>
          <a:ln/>
        </p:spPr>
      </p:sp>
      <p:sp>
        <p:nvSpPr>
          <p:cNvPr id="51" name="Text 49"/>
          <p:cNvSpPr/>
          <p:nvPr/>
        </p:nvSpPr>
        <p:spPr>
          <a:xfrm>
            <a:off x="6355080" y="5861304"/>
            <a:ext cx="5449824" cy="237744"/>
          </a:xfrm>
          <a:prstGeom prst="rect">
            <a:avLst/>
          </a:prstGeom>
          <a:noFill/>
          <a:ln/>
        </p:spPr>
        <p:txBody>
          <a:bodyPr wrap="square" lIns="0" tIns="0" rIns="0" bIns="0" rtlCol="0" anchor="ctr"/>
          <a:lstStyle/>
          <a:p>
            <a:pPr indent="0" marL="0">
              <a:buNone/>
            </a:pPr>
            <a:r>
              <a:rPr lang="en-US" sz="850" b="1" dirty="0">
                <a:solidFill>
                  <a:srgbClr val="4527A0"/>
                </a:solidFill>
              </a:rPr>
              <a:t>✔  Finance: New GL activated (or migration path confirmed)</a:t>
            </a:r>
            <a:endParaRPr lang="en-US" sz="850" dirty="0"/>
          </a:p>
        </p:txBody>
      </p:sp>
      <p:sp>
        <p:nvSpPr>
          <p:cNvPr id="52" name="Text 50"/>
          <p:cNvSpPr/>
          <p:nvPr/>
        </p:nvSpPr>
        <p:spPr>
          <a:xfrm>
            <a:off x="6355080" y="6108192"/>
            <a:ext cx="5449824" cy="402336"/>
          </a:xfrm>
          <a:prstGeom prst="rect">
            <a:avLst/>
          </a:prstGeom>
          <a:noFill/>
          <a:ln/>
        </p:spPr>
        <p:txBody>
          <a:bodyPr wrap="square" lIns="0" tIns="0" rIns="0" bIns="0" rtlCol="0" anchor="ctr"/>
          <a:lstStyle/>
          <a:p>
            <a:pPr indent="0" marL="0">
              <a:buNone/>
            </a:pPr>
            <a:r>
              <a:rPr lang="en-US" sz="780" dirty="0">
                <a:solidFill>
                  <a:srgbClr val="37474F"/>
                </a:solidFill>
              </a:rPr>
              <a:t>Why it matters: S/4HANA uses the Universal Journal (table ACDOCA). Systems still on 'Classic GL' must either migrate to New GL first, or a specific conversion path in SUM+DMO handles it — but this must be explicitly planned, not left as a surprise.</a:t>
            </a:r>
            <a:endParaRPr lang="en-US" sz="78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D"/>
        </a:solidFill>
      </p:bgPr>
    </p:bg>
    <p:spTree>
      <p:nvGrpSpPr>
        <p:cNvPr id="1" name=""/>
        <p:cNvGrpSpPr/>
        <p:nvPr/>
      </p:nvGrpSpPr>
      <p:grpSpPr>
        <a:xfrm>
          <a:off x="0" y="0"/>
          <a:ext cx="0" cy="0"/>
          <a:chOff x="0" y="0"/>
          <a:chExt cx="0" cy="0"/>
        </a:xfrm>
      </p:grpSpPr>
      <p:sp>
        <p:nvSpPr>
          <p:cNvPr id="2" name="Shape 0"/>
          <p:cNvSpPr/>
          <p:nvPr/>
        </p:nvSpPr>
        <p:spPr>
          <a:xfrm>
            <a:off x="0" y="0"/>
            <a:ext cx="12161520" cy="749808"/>
          </a:xfrm>
          <a:prstGeom prst="rect">
            <a:avLst/>
          </a:prstGeom>
          <a:solidFill>
            <a:srgbClr val="0D1B2A"/>
          </a:solidFill>
          <a:ln/>
        </p:spPr>
      </p:sp>
      <p:sp>
        <p:nvSpPr>
          <p:cNvPr id="3" name="Shape 1"/>
          <p:cNvSpPr/>
          <p:nvPr/>
        </p:nvSpPr>
        <p:spPr>
          <a:xfrm>
            <a:off x="0" y="0"/>
            <a:ext cx="274320" cy="749808"/>
          </a:xfrm>
          <a:prstGeom prst="rect">
            <a:avLst/>
          </a:prstGeom>
          <a:solidFill>
            <a:srgbClr val="1E88E5"/>
          </a:solidFill>
          <a:ln/>
        </p:spPr>
      </p:sp>
      <p:sp>
        <p:nvSpPr>
          <p:cNvPr id="4" name="Text 2"/>
          <p:cNvSpPr/>
          <p:nvPr/>
        </p:nvSpPr>
        <p:spPr>
          <a:xfrm>
            <a:off x="457200" y="0"/>
            <a:ext cx="11521440" cy="749808"/>
          </a:xfrm>
          <a:prstGeom prst="rect">
            <a:avLst/>
          </a:prstGeom>
          <a:noFill/>
          <a:ln/>
        </p:spPr>
        <p:txBody>
          <a:bodyPr wrap="square" lIns="0" tIns="0" rIns="0" bIns="0" rtlCol="0" anchor="ctr"/>
          <a:lstStyle/>
          <a:p>
            <a:pPr indent="0" marL="0">
              <a:buNone/>
            </a:pPr>
            <a:r>
              <a:rPr lang="en-US" sz="1300" b="1" spc="50" kern="0" dirty="0">
                <a:solidFill>
                  <a:srgbClr val="FFFFFF"/>
                </a:solidFill>
              </a:rPr>
              <a:t>PART 1  |  THE 6-PHASE MIGRATION JOURNEY: ECC ON-PREM → S/4HANA ON GCP  (SAP ACTIVATE METHODOLOGY)</a:t>
            </a:r>
            <a:endParaRPr lang="en-US" sz="1300" dirty="0"/>
          </a:p>
        </p:txBody>
      </p:sp>
      <p:sp>
        <p:nvSpPr>
          <p:cNvPr id="5" name="Shape 3"/>
          <p:cNvSpPr/>
          <p:nvPr/>
        </p:nvSpPr>
        <p:spPr>
          <a:xfrm>
            <a:off x="201168" y="1207008"/>
            <a:ext cx="11750040" cy="91440"/>
          </a:xfrm>
          <a:prstGeom prst="rect">
            <a:avLst/>
          </a:prstGeom>
          <a:solidFill>
            <a:srgbClr val="CBD5E1"/>
          </a:solidFill>
          <a:ln/>
        </p:spPr>
      </p:sp>
      <p:sp>
        <p:nvSpPr>
          <p:cNvPr id="6" name="Shape 4"/>
          <p:cNvSpPr/>
          <p:nvPr/>
        </p:nvSpPr>
        <p:spPr>
          <a:xfrm>
            <a:off x="886968" y="1088136"/>
            <a:ext cx="548640" cy="548640"/>
          </a:xfrm>
          <a:prstGeom prst="ellipse">
            <a:avLst/>
          </a:prstGeom>
          <a:solidFill>
            <a:srgbClr val="1565C0"/>
          </a:solidFill>
          <a:ln/>
        </p:spPr>
      </p:sp>
      <p:sp>
        <p:nvSpPr>
          <p:cNvPr id="7" name="Text 5"/>
          <p:cNvSpPr/>
          <p:nvPr/>
        </p:nvSpPr>
        <p:spPr>
          <a:xfrm>
            <a:off x="886968" y="1088136"/>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rPr>
              <a:t>1</a:t>
            </a:r>
            <a:endParaRPr lang="en-US" sz="1600" dirty="0"/>
          </a:p>
        </p:txBody>
      </p:sp>
      <p:sp>
        <p:nvSpPr>
          <p:cNvPr id="8" name="Shape 6"/>
          <p:cNvSpPr/>
          <p:nvPr/>
        </p:nvSpPr>
        <p:spPr>
          <a:xfrm>
            <a:off x="201168" y="1792224"/>
            <a:ext cx="1920240" cy="640080"/>
          </a:xfrm>
          <a:prstGeom prst="rect">
            <a:avLst/>
          </a:prstGeom>
          <a:solidFill>
            <a:srgbClr val="1565C0"/>
          </a:solidFill>
          <a:ln/>
        </p:spPr>
      </p:sp>
      <p:sp>
        <p:nvSpPr>
          <p:cNvPr id="9" name="Text 7"/>
          <p:cNvSpPr/>
          <p:nvPr/>
        </p:nvSpPr>
        <p:spPr>
          <a:xfrm>
            <a:off x="201168" y="1801368"/>
            <a:ext cx="1920240" cy="347472"/>
          </a:xfrm>
          <a:prstGeom prst="rect">
            <a:avLst/>
          </a:prstGeom>
          <a:noFill/>
          <a:ln/>
        </p:spPr>
        <p:txBody>
          <a:bodyPr wrap="square" lIns="0" tIns="0" rIns="0" bIns="0" rtlCol="0" anchor="ctr"/>
          <a:lstStyle/>
          <a:p>
            <a:pPr algn="ctr" indent="0" marL="0">
              <a:buNone/>
            </a:pPr>
            <a:r>
              <a:rPr lang="en-US" sz="1200" b="1" dirty="0">
                <a:solidFill>
                  <a:srgbClr val="FFFFFF"/>
                </a:solidFill>
              </a:rPr>
              <a:t>DISCOVER</a:t>
            </a:r>
            <a:endParaRPr lang="en-US" sz="1200" dirty="0"/>
          </a:p>
        </p:txBody>
      </p:sp>
      <p:sp>
        <p:nvSpPr>
          <p:cNvPr id="10" name="Text 8"/>
          <p:cNvSpPr/>
          <p:nvPr/>
        </p:nvSpPr>
        <p:spPr>
          <a:xfrm>
            <a:off x="201168" y="2139696"/>
            <a:ext cx="1920240" cy="256032"/>
          </a:xfrm>
          <a:prstGeom prst="rect">
            <a:avLst/>
          </a:prstGeom>
          <a:noFill/>
          <a:ln/>
        </p:spPr>
        <p:txBody>
          <a:bodyPr wrap="square" lIns="0" tIns="0" rIns="0" bIns="0" rtlCol="0" anchor="ctr"/>
          <a:lstStyle/>
          <a:p>
            <a:pPr algn="ctr" indent="0" marL="0">
              <a:buNone/>
            </a:pPr>
            <a:r>
              <a:rPr lang="en-US" sz="900" i="1" dirty="0">
                <a:solidFill>
                  <a:srgbClr val="FFFFFF"/>
                </a:solidFill>
              </a:rPr>
              <a:t>2–4 wk</a:t>
            </a:r>
            <a:endParaRPr lang="en-US" sz="900" dirty="0"/>
          </a:p>
        </p:txBody>
      </p:sp>
      <p:sp>
        <p:nvSpPr>
          <p:cNvPr id="11" name="Shape 9"/>
          <p:cNvSpPr/>
          <p:nvPr/>
        </p:nvSpPr>
        <p:spPr>
          <a:xfrm>
            <a:off x="201168" y="2478024"/>
            <a:ext cx="1920240" cy="1170432"/>
          </a:xfrm>
          <a:prstGeom prst="rect">
            <a:avLst/>
          </a:prstGeom>
          <a:solidFill>
            <a:srgbClr val="F1F5F9"/>
          </a:solidFill>
          <a:ln/>
          <a:effectLst>
            <a:outerShdw sx="100000" sy="100000" kx="0" ky="0" algn="bl" rotWithShape="0" blurRad="101600" dist="25400" dir="8100000">
              <a:srgbClr val="000000">
                <a:alpha val="9000"/>
              </a:srgbClr>
            </a:outerShdw>
          </a:effectLst>
        </p:spPr>
      </p:sp>
      <p:sp>
        <p:nvSpPr>
          <p:cNvPr id="12" name="Text 10"/>
          <p:cNvSpPr/>
          <p:nvPr/>
        </p:nvSpPr>
        <p:spPr>
          <a:xfrm>
            <a:off x="265176" y="2505456"/>
            <a:ext cx="1828800" cy="201168"/>
          </a:xfrm>
          <a:prstGeom prst="rect">
            <a:avLst/>
          </a:prstGeom>
          <a:noFill/>
          <a:ln/>
        </p:spPr>
        <p:txBody>
          <a:bodyPr wrap="square" lIns="0" tIns="0" rIns="0" bIns="0" rtlCol="0" anchor="ctr"/>
          <a:lstStyle/>
          <a:p>
            <a:pPr indent="0" marL="0">
              <a:buNone/>
            </a:pPr>
            <a:r>
              <a:rPr lang="en-US" sz="700" b="1" spc="50" kern="0" dirty="0">
                <a:solidFill>
                  <a:srgbClr val="1565C0"/>
                </a:solidFill>
              </a:rPr>
              <a:t>WHAT HAPPENS</a:t>
            </a:r>
            <a:endParaRPr lang="en-US" sz="700" dirty="0"/>
          </a:p>
        </p:txBody>
      </p:sp>
      <p:sp>
        <p:nvSpPr>
          <p:cNvPr id="13" name="Text 11"/>
          <p:cNvSpPr/>
          <p:nvPr/>
        </p:nvSpPr>
        <p:spPr>
          <a:xfrm>
            <a:off x="265176" y="2706624"/>
            <a:ext cx="1828800" cy="896112"/>
          </a:xfrm>
          <a:prstGeom prst="rect">
            <a:avLst/>
          </a:prstGeom>
          <a:noFill/>
          <a:ln/>
        </p:spPr>
        <p:txBody>
          <a:bodyPr wrap="square" lIns="0" tIns="0" rIns="0" bIns="0" rtlCol="0" anchor="ctr"/>
          <a:lstStyle/>
          <a:p>
            <a:pPr indent="0" marL="0">
              <a:buNone/>
            </a:pPr>
            <a:r>
              <a:rPr lang="en-US" sz="780" dirty="0">
                <a:solidFill>
                  <a:srgbClr val="1E293B"/>
                </a:solidFill>
              </a:rPr>
              <a:t>Business case, SAP Readiness Check, initial scan. Output: go/no-go &amp; migration assessment report.</a:t>
            </a:r>
            <a:endParaRPr lang="en-US" sz="780" dirty="0"/>
          </a:p>
        </p:txBody>
      </p:sp>
      <p:sp>
        <p:nvSpPr>
          <p:cNvPr id="14" name="Shape 12"/>
          <p:cNvSpPr/>
          <p:nvPr/>
        </p:nvSpPr>
        <p:spPr>
          <a:xfrm>
            <a:off x="201168" y="3694176"/>
            <a:ext cx="1920240" cy="1298448"/>
          </a:xfrm>
          <a:prstGeom prst="rect">
            <a:avLst/>
          </a:prstGeom>
          <a:solidFill>
            <a:srgbClr val="E3F2FD"/>
          </a:solidFill>
          <a:ln/>
          <a:effectLst>
            <a:outerShdw sx="100000" sy="100000" kx="0" ky="0" algn="bl" rotWithShape="0" blurRad="101600" dist="25400" dir="8100000">
              <a:srgbClr val="000000">
                <a:alpha val="9000"/>
              </a:srgbClr>
            </a:outerShdw>
          </a:effectLst>
        </p:spPr>
      </p:sp>
      <p:sp>
        <p:nvSpPr>
          <p:cNvPr id="15" name="Shape 13"/>
          <p:cNvSpPr/>
          <p:nvPr/>
        </p:nvSpPr>
        <p:spPr>
          <a:xfrm>
            <a:off x="201168" y="3694176"/>
            <a:ext cx="1920240" cy="237744"/>
          </a:xfrm>
          <a:prstGeom prst="rect">
            <a:avLst/>
          </a:prstGeom>
          <a:solidFill>
            <a:srgbClr val="1565C0"/>
          </a:solidFill>
          <a:ln/>
        </p:spPr>
      </p:sp>
      <p:sp>
        <p:nvSpPr>
          <p:cNvPr id="16" name="Text 14"/>
          <p:cNvSpPr/>
          <p:nvPr/>
        </p:nvSpPr>
        <p:spPr>
          <a:xfrm>
            <a:off x="201168" y="3694176"/>
            <a:ext cx="1920240" cy="237744"/>
          </a:xfrm>
          <a:prstGeom prst="rect">
            <a:avLst/>
          </a:prstGeom>
          <a:noFill/>
          <a:ln/>
        </p:spPr>
        <p:txBody>
          <a:bodyPr wrap="square" lIns="0" tIns="0" rIns="0" bIns="0" rtlCol="0" anchor="ctr"/>
          <a:lstStyle/>
          <a:p>
            <a:pPr algn="ctr" indent="0" marL="0">
              <a:buNone/>
            </a:pPr>
            <a:r>
              <a:rPr lang="en-US" sz="700" b="1" dirty="0">
                <a:solidFill>
                  <a:srgbClr val="FFFFFF"/>
                </a:solidFill>
              </a:rPr>
              <a:t>SAP DOES</a:t>
            </a:r>
            <a:endParaRPr lang="en-US" sz="700" dirty="0"/>
          </a:p>
        </p:txBody>
      </p:sp>
      <p:sp>
        <p:nvSpPr>
          <p:cNvPr id="17" name="Text 15"/>
          <p:cNvSpPr/>
          <p:nvPr/>
        </p:nvSpPr>
        <p:spPr>
          <a:xfrm>
            <a:off x="265176" y="3959352"/>
            <a:ext cx="1828800" cy="1005840"/>
          </a:xfrm>
          <a:prstGeom prst="rect">
            <a:avLst/>
          </a:prstGeom>
          <a:noFill/>
          <a:ln/>
        </p:spPr>
        <p:txBody>
          <a:bodyPr wrap="square" lIns="0" tIns="0" rIns="0" bIns="0" rtlCol="0" anchor="ctr"/>
          <a:lstStyle/>
          <a:p>
            <a:pPr indent="0" marL="0">
              <a:buNone/>
            </a:pPr>
            <a:r>
              <a:rPr lang="en-US" sz="760" dirty="0">
                <a:solidFill>
                  <a:srgbClr val="0D47A1"/>
                </a:solidFill>
              </a:rPr>
              <a:t>Readiness Check · Signavio · LeanIX provided</a:t>
            </a:r>
            <a:endParaRPr lang="en-US" sz="760" dirty="0"/>
          </a:p>
        </p:txBody>
      </p:sp>
      <p:sp>
        <p:nvSpPr>
          <p:cNvPr id="18" name="Shape 16"/>
          <p:cNvSpPr/>
          <p:nvPr/>
        </p:nvSpPr>
        <p:spPr>
          <a:xfrm>
            <a:off x="201168" y="5038344"/>
            <a:ext cx="1920240" cy="1600200"/>
          </a:xfrm>
          <a:prstGeom prst="rect">
            <a:avLst/>
          </a:prstGeom>
          <a:solidFill>
            <a:srgbClr val="E0F2F1"/>
          </a:solidFill>
          <a:ln/>
          <a:effectLst>
            <a:outerShdw sx="100000" sy="100000" kx="0" ky="0" algn="bl" rotWithShape="0" blurRad="101600" dist="25400" dir="8100000">
              <a:srgbClr val="000000">
                <a:alpha val="9000"/>
              </a:srgbClr>
            </a:outerShdw>
          </a:effectLst>
        </p:spPr>
      </p:sp>
      <p:sp>
        <p:nvSpPr>
          <p:cNvPr id="19" name="Shape 17"/>
          <p:cNvSpPr/>
          <p:nvPr/>
        </p:nvSpPr>
        <p:spPr>
          <a:xfrm>
            <a:off x="201168" y="5038344"/>
            <a:ext cx="1920240" cy="237744"/>
          </a:xfrm>
          <a:prstGeom prst="rect">
            <a:avLst/>
          </a:prstGeom>
          <a:solidFill>
            <a:srgbClr val="00695C"/>
          </a:solidFill>
          <a:ln/>
        </p:spPr>
      </p:sp>
      <p:sp>
        <p:nvSpPr>
          <p:cNvPr id="20" name="Text 18"/>
          <p:cNvSpPr/>
          <p:nvPr/>
        </p:nvSpPr>
        <p:spPr>
          <a:xfrm>
            <a:off x="201168" y="5038344"/>
            <a:ext cx="1920240" cy="237744"/>
          </a:xfrm>
          <a:prstGeom prst="rect">
            <a:avLst/>
          </a:prstGeom>
          <a:noFill/>
          <a:ln/>
        </p:spPr>
        <p:txBody>
          <a:bodyPr wrap="square" lIns="0" tIns="0" rIns="0" bIns="0" rtlCol="0" anchor="ctr"/>
          <a:lstStyle/>
          <a:p>
            <a:pPr algn="ctr" indent="0" marL="0">
              <a:buNone/>
            </a:pPr>
            <a:r>
              <a:rPr lang="en-US" sz="700" b="1" dirty="0">
                <a:solidFill>
                  <a:srgbClr val="FFFFFF"/>
                </a:solidFill>
              </a:rPr>
              <a:t>YOUR TEAM DOES</a:t>
            </a:r>
            <a:endParaRPr lang="en-US" sz="700" dirty="0"/>
          </a:p>
        </p:txBody>
      </p:sp>
      <p:sp>
        <p:nvSpPr>
          <p:cNvPr id="21" name="Text 19"/>
          <p:cNvSpPr/>
          <p:nvPr/>
        </p:nvSpPr>
        <p:spPr>
          <a:xfrm>
            <a:off x="265176" y="5303520"/>
            <a:ext cx="1828800" cy="1307592"/>
          </a:xfrm>
          <a:prstGeom prst="rect">
            <a:avLst/>
          </a:prstGeom>
          <a:noFill/>
          <a:ln/>
        </p:spPr>
        <p:txBody>
          <a:bodyPr wrap="square" lIns="0" tIns="0" rIns="0" bIns="0" rtlCol="0" anchor="ctr"/>
          <a:lstStyle/>
          <a:p>
            <a:pPr indent="0" marL="0">
              <a:buNone/>
            </a:pPr>
            <a:r>
              <a:rPr lang="en-US" sz="760" dirty="0">
                <a:solidFill>
                  <a:srgbClr val="004D40"/>
                </a:solidFill>
              </a:rPr>
              <a:t>Run Readiness Check · Fit-Gap workshops · Build business case · Confirm approach</a:t>
            </a:r>
            <a:endParaRPr lang="en-US" sz="760" dirty="0"/>
          </a:p>
        </p:txBody>
      </p:sp>
      <p:sp>
        <p:nvSpPr>
          <p:cNvPr id="22" name="Shape 20"/>
          <p:cNvSpPr/>
          <p:nvPr/>
        </p:nvSpPr>
        <p:spPr>
          <a:xfrm>
            <a:off x="2871216" y="1088136"/>
            <a:ext cx="548640" cy="548640"/>
          </a:xfrm>
          <a:prstGeom prst="ellipse">
            <a:avLst/>
          </a:prstGeom>
          <a:solidFill>
            <a:srgbClr val="0277BD"/>
          </a:solidFill>
          <a:ln/>
        </p:spPr>
      </p:sp>
      <p:sp>
        <p:nvSpPr>
          <p:cNvPr id="23" name="Text 21"/>
          <p:cNvSpPr/>
          <p:nvPr/>
        </p:nvSpPr>
        <p:spPr>
          <a:xfrm>
            <a:off x="2871216" y="1088136"/>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rPr>
              <a:t>2</a:t>
            </a:r>
            <a:endParaRPr lang="en-US" sz="1600" dirty="0"/>
          </a:p>
        </p:txBody>
      </p:sp>
      <p:sp>
        <p:nvSpPr>
          <p:cNvPr id="24" name="Shape 22"/>
          <p:cNvSpPr/>
          <p:nvPr/>
        </p:nvSpPr>
        <p:spPr>
          <a:xfrm>
            <a:off x="2185416" y="1792224"/>
            <a:ext cx="1920240" cy="640080"/>
          </a:xfrm>
          <a:prstGeom prst="rect">
            <a:avLst/>
          </a:prstGeom>
          <a:solidFill>
            <a:srgbClr val="0277BD"/>
          </a:solidFill>
          <a:ln/>
        </p:spPr>
      </p:sp>
      <p:sp>
        <p:nvSpPr>
          <p:cNvPr id="25" name="Text 23"/>
          <p:cNvSpPr/>
          <p:nvPr/>
        </p:nvSpPr>
        <p:spPr>
          <a:xfrm>
            <a:off x="2185416" y="1801368"/>
            <a:ext cx="1920240" cy="347472"/>
          </a:xfrm>
          <a:prstGeom prst="rect">
            <a:avLst/>
          </a:prstGeom>
          <a:noFill/>
          <a:ln/>
        </p:spPr>
        <p:txBody>
          <a:bodyPr wrap="square" lIns="0" tIns="0" rIns="0" bIns="0" rtlCol="0" anchor="ctr"/>
          <a:lstStyle/>
          <a:p>
            <a:pPr algn="ctr" indent="0" marL="0">
              <a:buNone/>
            </a:pPr>
            <a:r>
              <a:rPr lang="en-US" sz="1200" b="1" dirty="0">
                <a:solidFill>
                  <a:srgbClr val="FFFFFF"/>
                </a:solidFill>
              </a:rPr>
              <a:t>PREPARE</a:t>
            </a:r>
            <a:endParaRPr lang="en-US" sz="1200" dirty="0"/>
          </a:p>
        </p:txBody>
      </p:sp>
      <p:sp>
        <p:nvSpPr>
          <p:cNvPr id="26" name="Text 24"/>
          <p:cNvSpPr/>
          <p:nvPr/>
        </p:nvSpPr>
        <p:spPr>
          <a:xfrm>
            <a:off x="2185416" y="2139696"/>
            <a:ext cx="1920240" cy="256032"/>
          </a:xfrm>
          <a:prstGeom prst="rect">
            <a:avLst/>
          </a:prstGeom>
          <a:noFill/>
          <a:ln/>
        </p:spPr>
        <p:txBody>
          <a:bodyPr wrap="square" lIns="0" tIns="0" rIns="0" bIns="0" rtlCol="0" anchor="ctr"/>
          <a:lstStyle/>
          <a:p>
            <a:pPr algn="ctr" indent="0" marL="0">
              <a:buNone/>
            </a:pPr>
            <a:r>
              <a:rPr lang="en-US" sz="900" i="1" dirty="0">
                <a:solidFill>
                  <a:srgbClr val="FFFFFF"/>
                </a:solidFill>
              </a:rPr>
              <a:t>4–6 wk</a:t>
            </a:r>
            <a:endParaRPr lang="en-US" sz="900" dirty="0"/>
          </a:p>
        </p:txBody>
      </p:sp>
      <p:sp>
        <p:nvSpPr>
          <p:cNvPr id="27" name="Shape 25"/>
          <p:cNvSpPr/>
          <p:nvPr/>
        </p:nvSpPr>
        <p:spPr>
          <a:xfrm>
            <a:off x="2185416" y="2478024"/>
            <a:ext cx="1920240" cy="1170432"/>
          </a:xfrm>
          <a:prstGeom prst="rect">
            <a:avLst/>
          </a:prstGeom>
          <a:solidFill>
            <a:srgbClr val="F1F5F9"/>
          </a:solidFill>
          <a:ln/>
          <a:effectLst>
            <a:outerShdw sx="100000" sy="100000" kx="0" ky="0" algn="bl" rotWithShape="0" blurRad="101600" dist="25400" dir="8100000">
              <a:srgbClr val="000000">
                <a:alpha val="9000"/>
              </a:srgbClr>
            </a:outerShdw>
          </a:effectLst>
        </p:spPr>
      </p:sp>
      <p:sp>
        <p:nvSpPr>
          <p:cNvPr id="28" name="Text 26"/>
          <p:cNvSpPr/>
          <p:nvPr/>
        </p:nvSpPr>
        <p:spPr>
          <a:xfrm>
            <a:off x="2249424" y="2505456"/>
            <a:ext cx="1828800" cy="201168"/>
          </a:xfrm>
          <a:prstGeom prst="rect">
            <a:avLst/>
          </a:prstGeom>
          <a:noFill/>
          <a:ln/>
        </p:spPr>
        <p:txBody>
          <a:bodyPr wrap="square" lIns="0" tIns="0" rIns="0" bIns="0" rtlCol="0" anchor="ctr"/>
          <a:lstStyle/>
          <a:p>
            <a:pPr indent="0" marL="0">
              <a:buNone/>
            </a:pPr>
            <a:r>
              <a:rPr lang="en-US" sz="700" b="1" spc="50" kern="0" dirty="0">
                <a:solidFill>
                  <a:srgbClr val="0277BD"/>
                </a:solidFill>
              </a:rPr>
              <a:t>WHAT HAPPENS</a:t>
            </a:r>
            <a:endParaRPr lang="en-US" sz="700" dirty="0"/>
          </a:p>
        </p:txBody>
      </p:sp>
      <p:sp>
        <p:nvSpPr>
          <p:cNvPr id="29" name="Text 27"/>
          <p:cNvSpPr/>
          <p:nvPr/>
        </p:nvSpPr>
        <p:spPr>
          <a:xfrm>
            <a:off x="2249424" y="2706624"/>
            <a:ext cx="1828800" cy="896112"/>
          </a:xfrm>
          <a:prstGeom prst="rect">
            <a:avLst/>
          </a:prstGeom>
          <a:noFill/>
          <a:ln/>
        </p:spPr>
        <p:txBody>
          <a:bodyPr wrap="square" lIns="0" tIns="0" rIns="0" bIns="0" rtlCol="0" anchor="ctr"/>
          <a:lstStyle/>
          <a:p>
            <a:pPr indent="0" marL="0">
              <a:buNone/>
            </a:pPr>
            <a:r>
              <a:rPr lang="en-US" sz="780" dirty="0">
                <a:solidFill>
                  <a:srgbClr val="1E293B"/>
                </a:solidFill>
              </a:rPr>
              <a:t>Project governance, GCP environment provisioned by SAP, SUM+DMO installed on source ECC, blueprint finalised.</a:t>
            </a:r>
            <a:endParaRPr lang="en-US" sz="780" dirty="0"/>
          </a:p>
        </p:txBody>
      </p:sp>
      <p:sp>
        <p:nvSpPr>
          <p:cNvPr id="30" name="Shape 28"/>
          <p:cNvSpPr/>
          <p:nvPr/>
        </p:nvSpPr>
        <p:spPr>
          <a:xfrm>
            <a:off x="2185416" y="3694176"/>
            <a:ext cx="1920240" cy="1298448"/>
          </a:xfrm>
          <a:prstGeom prst="rect">
            <a:avLst/>
          </a:prstGeom>
          <a:solidFill>
            <a:srgbClr val="E3F2FD"/>
          </a:solidFill>
          <a:ln/>
          <a:effectLst>
            <a:outerShdw sx="100000" sy="100000" kx="0" ky="0" algn="bl" rotWithShape="0" blurRad="101600" dist="25400" dir="8100000">
              <a:srgbClr val="000000">
                <a:alpha val="9000"/>
              </a:srgbClr>
            </a:outerShdw>
          </a:effectLst>
        </p:spPr>
      </p:sp>
      <p:sp>
        <p:nvSpPr>
          <p:cNvPr id="31" name="Shape 29"/>
          <p:cNvSpPr/>
          <p:nvPr/>
        </p:nvSpPr>
        <p:spPr>
          <a:xfrm>
            <a:off x="2185416" y="3694176"/>
            <a:ext cx="1920240" cy="237744"/>
          </a:xfrm>
          <a:prstGeom prst="rect">
            <a:avLst/>
          </a:prstGeom>
          <a:solidFill>
            <a:srgbClr val="1565C0"/>
          </a:solidFill>
          <a:ln/>
        </p:spPr>
      </p:sp>
      <p:sp>
        <p:nvSpPr>
          <p:cNvPr id="32" name="Text 30"/>
          <p:cNvSpPr/>
          <p:nvPr/>
        </p:nvSpPr>
        <p:spPr>
          <a:xfrm>
            <a:off x="2185416" y="3694176"/>
            <a:ext cx="1920240" cy="237744"/>
          </a:xfrm>
          <a:prstGeom prst="rect">
            <a:avLst/>
          </a:prstGeom>
          <a:noFill/>
          <a:ln/>
        </p:spPr>
        <p:txBody>
          <a:bodyPr wrap="square" lIns="0" tIns="0" rIns="0" bIns="0" rtlCol="0" anchor="ctr"/>
          <a:lstStyle/>
          <a:p>
            <a:pPr algn="ctr" indent="0" marL="0">
              <a:buNone/>
            </a:pPr>
            <a:r>
              <a:rPr lang="en-US" sz="700" b="1" dirty="0">
                <a:solidFill>
                  <a:srgbClr val="FFFFFF"/>
                </a:solidFill>
              </a:rPr>
              <a:t>SAP DOES</a:t>
            </a:r>
            <a:endParaRPr lang="en-US" sz="700" dirty="0"/>
          </a:p>
        </p:txBody>
      </p:sp>
      <p:sp>
        <p:nvSpPr>
          <p:cNvPr id="33" name="Text 31"/>
          <p:cNvSpPr/>
          <p:nvPr/>
        </p:nvSpPr>
        <p:spPr>
          <a:xfrm>
            <a:off x="2249424" y="3959352"/>
            <a:ext cx="1828800" cy="1005840"/>
          </a:xfrm>
          <a:prstGeom prst="rect">
            <a:avLst/>
          </a:prstGeom>
          <a:noFill/>
          <a:ln/>
        </p:spPr>
        <p:txBody>
          <a:bodyPr wrap="square" lIns="0" tIns="0" rIns="0" bIns="0" rtlCol="0" anchor="ctr"/>
          <a:lstStyle/>
          <a:p>
            <a:pPr indent="0" marL="0">
              <a:buNone/>
            </a:pPr>
            <a:r>
              <a:rPr lang="en-US" sz="760" dirty="0">
                <a:solidFill>
                  <a:srgbClr val="0D47A1"/>
                </a:solidFill>
              </a:rPr>
              <a:t>Provisions GCP M4 VMs · Installs empty S/4HANA · Sets up Cloud ALM</a:t>
            </a:r>
            <a:endParaRPr lang="en-US" sz="760" dirty="0"/>
          </a:p>
        </p:txBody>
      </p:sp>
      <p:sp>
        <p:nvSpPr>
          <p:cNvPr id="34" name="Shape 32"/>
          <p:cNvSpPr/>
          <p:nvPr/>
        </p:nvSpPr>
        <p:spPr>
          <a:xfrm>
            <a:off x="2185416" y="5038344"/>
            <a:ext cx="1920240" cy="1600200"/>
          </a:xfrm>
          <a:prstGeom prst="rect">
            <a:avLst/>
          </a:prstGeom>
          <a:solidFill>
            <a:srgbClr val="E0F2F1"/>
          </a:solidFill>
          <a:ln/>
          <a:effectLst>
            <a:outerShdw sx="100000" sy="100000" kx="0" ky="0" algn="bl" rotWithShape="0" blurRad="101600" dist="25400" dir="8100000">
              <a:srgbClr val="000000">
                <a:alpha val="9000"/>
              </a:srgbClr>
            </a:outerShdw>
          </a:effectLst>
        </p:spPr>
      </p:sp>
      <p:sp>
        <p:nvSpPr>
          <p:cNvPr id="35" name="Shape 33"/>
          <p:cNvSpPr/>
          <p:nvPr/>
        </p:nvSpPr>
        <p:spPr>
          <a:xfrm>
            <a:off x="2185416" y="5038344"/>
            <a:ext cx="1920240" cy="237744"/>
          </a:xfrm>
          <a:prstGeom prst="rect">
            <a:avLst/>
          </a:prstGeom>
          <a:solidFill>
            <a:srgbClr val="00695C"/>
          </a:solidFill>
          <a:ln/>
        </p:spPr>
      </p:sp>
      <p:sp>
        <p:nvSpPr>
          <p:cNvPr id="36" name="Text 34"/>
          <p:cNvSpPr/>
          <p:nvPr/>
        </p:nvSpPr>
        <p:spPr>
          <a:xfrm>
            <a:off x="2185416" y="5038344"/>
            <a:ext cx="1920240" cy="237744"/>
          </a:xfrm>
          <a:prstGeom prst="rect">
            <a:avLst/>
          </a:prstGeom>
          <a:noFill/>
          <a:ln/>
        </p:spPr>
        <p:txBody>
          <a:bodyPr wrap="square" lIns="0" tIns="0" rIns="0" bIns="0" rtlCol="0" anchor="ctr"/>
          <a:lstStyle/>
          <a:p>
            <a:pPr algn="ctr" indent="0" marL="0">
              <a:buNone/>
            </a:pPr>
            <a:r>
              <a:rPr lang="en-US" sz="700" b="1" dirty="0">
                <a:solidFill>
                  <a:srgbClr val="FFFFFF"/>
                </a:solidFill>
              </a:rPr>
              <a:t>YOUR TEAM DOES</a:t>
            </a:r>
            <a:endParaRPr lang="en-US" sz="700" dirty="0"/>
          </a:p>
        </p:txBody>
      </p:sp>
      <p:sp>
        <p:nvSpPr>
          <p:cNvPr id="37" name="Text 35"/>
          <p:cNvSpPr/>
          <p:nvPr/>
        </p:nvSpPr>
        <p:spPr>
          <a:xfrm>
            <a:off x="2249424" y="5303520"/>
            <a:ext cx="1828800" cy="1307592"/>
          </a:xfrm>
          <a:prstGeom prst="rect">
            <a:avLst/>
          </a:prstGeom>
          <a:noFill/>
          <a:ln/>
        </p:spPr>
        <p:txBody>
          <a:bodyPr wrap="square" lIns="0" tIns="0" rIns="0" bIns="0" rtlCol="0" anchor="ctr"/>
          <a:lstStyle/>
          <a:p>
            <a:pPr indent="0" marL="0">
              <a:buNone/>
            </a:pPr>
            <a:r>
              <a:rPr lang="en-US" sz="760" dirty="0">
                <a:solidFill>
                  <a:srgbClr val="004D40"/>
                </a:solidFill>
              </a:rPr>
              <a:t>Project setup · Install SUM on ECC · VPN connectivity · Config blueprint</a:t>
            </a:r>
            <a:endParaRPr lang="en-US" sz="760" dirty="0"/>
          </a:p>
        </p:txBody>
      </p:sp>
      <p:sp>
        <p:nvSpPr>
          <p:cNvPr id="38" name="Shape 36"/>
          <p:cNvSpPr/>
          <p:nvPr/>
        </p:nvSpPr>
        <p:spPr>
          <a:xfrm>
            <a:off x="4855464" y="1088136"/>
            <a:ext cx="548640" cy="548640"/>
          </a:xfrm>
          <a:prstGeom prst="ellipse">
            <a:avLst/>
          </a:prstGeom>
          <a:solidFill>
            <a:srgbClr val="00695C"/>
          </a:solidFill>
          <a:ln/>
        </p:spPr>
      </p:sp>
      <p:sp>
        <p:nvSpPr>
          <p:cNvPr id="39" name="Text 37"/>
          <p:cNvSpPr/>
          <p:nvPr/>
        </p:nvSpPr>
        <p:spPr>
          <a:xfrm>
            <a:off x="4855464" y="1088136"/>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rPr>
              <a:t>3</a:t>
            </a:r>
            <a:endParaRPr lang="en-US" sz="1600" dirty="0"/>
          </a:p>
        </p:txBody>
      </p:sp>
      <p:sp>
        <p:nvSpPr>
          <p:cNvPr id="40" name="Shape 38"/>
          <p:cNvSpPr/>
          <p:nvPr/>
        </p:nvSpPr>
        <p:spPr>
          <a:xfrm>
            <a:off x="4169664" y="1792224"/>
            <a:ext cx="1920240" cy="640080"/>
          </a:xfrm>
          <a:prstGeom prst="rect">
            <a:avLst/>
          </a:prstGeom>
          <a:solidFill>
            <a:srgbClr val="00695C"/>
          </a:solidFill>
          <a:ln/>
        </p:spPr>
      </p:sp>
      <p:sp>
        <p:nvSpPr>
          <p:cNvPr id="41" name="Text 39"/>
          <p:cNvSpPr/>
          <p:nvPr/>
        </p:nvSpPr>
        <p:spPr>
          <a:xfrm>
            <a:off x="4169664" y="1801368"/>
            <a:ext cx="1920240" cy="347472"/>
          </a:xfrm>
          <a:prstGeom prst="rect">
            <a:avLst/>
          </a:prstGeom>
          <a:noFill/>
          <a:ln/>
        </p:spPr>
        <p:txBody>
          <a:bodyPr wrap="square" lIns="0" tIns="0" rIns="0" bIns="0" rtlCol="0" anchor="ctr"/>
          <a:lstStyle/>
          <a:p>
            <a:pPr algn="ctr" indent="0" marL="0">
              <a:buNone/>
            </a:pPr>
            <a:r>
              <a:rPr lang="en-US" sz="1200" b="1" dirty="0">
                <a:solidFill>
                  <a:srgbClr val="FFFFFF"/>
                </a:solidFill>
              </a:rPr>
              <a:t>EXPLORE</a:t>
            </a:r>
            <a:endParaRPr lang="en-US" sz="1200" dirty="0"/>
          </a:p>
        </p:txBody>
      </p:sp>
      <p:sp>
        <p:nvSpPr>
          <p:cNvPr id="42" name="Text 40"/>
          <p:cNvSpPr/>
          <p:nvPr/>
        </p:nvSpPr>
        <p:spPr>
          <a:xfrm>
            <a:off x="4169664" y="2139696"/>
            <a:ext cx="1920240" cy="256032"/>
          </a:xfrm>
          <a:prstGeom prst="rect">
            <a:avLst/>
          </a:prstGeom>
          <a:noFill/>
          <a:ln/>
        </p:spPr>
        <p:txBody>
          <a:bodyPr wrap="square" lIns="0" tIns="0" rIns="0" bIns="0" rtlCol="0" anchor="ctr"/>
          <a:lstStyle/>
          <a:p>
            <a:pPr algn="ctr" indent="0" marL="0">
              <a:buNone/>
            </a:pPr>
            <a:r>
              <a:rPr lang="en-US" sz="900" i="1" dirty="0">
                <a:solidFill>
                  <a:srgbClr val="FFFFFF"/>
                </a:solidFill>
              </a:rPr>
              <a:t>6–10 wk</a:t>
            </a:r>
            <a:endParaRPr lang="en-US" sz="900" dirty="0"/>
          </a:p>
        </p:txBody>
      </p:sp>
      <p:sp>
        <p:nvSpPr>
          <p:cNvPr id="43" name="Shape 41"/>
          <p:cNvSpPr/>
          <p:nvPr/>
        </p:nvSpPr>
        <p:spPr>
          <a:xfrm>
            <a:off x="4169664" y="2478024"/>
            <a:ext cx="1920240" cy="1170432"/>
          </a:xfrm>
          <a:prstGeom prst="rect">
            <a:avLst/>
          </a:prstGeom>
          <a:solidFill>
            <a:srgbClr val="F1F5F9"/>
          </a:solidFill>
          <a:ln/>
          <a:effectLst>
            <a:outerShdw sx="100000" sy="100000" kx="0" ky="0" algn="bl" rotWithShape="0" blurRad="101600" dist="25400" dir="8100000">
              <a:srgbClr val="000000">
                <a:alpha val="9000"/>
              </a:srgbClr>
            </a:outerShdw>
          </a:effectLst>
        </p:spPr>
      </p:sp>
      <p:sp>
        <p:nvSpPr>
          <p:cNvPr id="44" name="Text 42"/>
          <p:cNvSpPr/>
          <p:nvPr/>
        </p:nvSpPr>
        <p:spPr>
          <a:xfrm>
            <a:off x="4233672" y="2505456"/>
            <a:ext cx="1828800" cy="201168"/>
          </a:xfrm>
          <a:prstGeom prst="rect">
            <a:avLst/>
          </a:prstGeom>
          <a:noFill/>
          <a:ln/>
        </p:spPr>
        <p:txBody>
          <a:bodyPr wrap="square" lIns="0" tIns="0" rIns="0" bIns="0" rtlCol="0" anchor="ctr"/>
          <a:lstStyle/>
          <a:p>
            <a:pPr indent="0" marL="0">
              <a:buNone/>
            </a:pPr>
            <a:r>
              <a:rPr lang="en-US" sz="700" b="1" spc="50" kern="0" dirty="0">
                <a:solidFill>
                  <a:srgbClr val="00695C"/>
                </a:solidFill>
              </a:rPr>
              <a:t>WHAT HAPPENS</a:t>
            </a:r>
            <a:endParaRPr lang="en-US" sz="700" dirty="0"/>
          </a:p>
        </p:txBody>
      </p:sp>
      <p:sp>
        <p:nvSpPr>
          <p:cNvPr id="45" name="Text 43"/>
          <p:cNvSpPr/>
          <p:nvPr/>
        </p:nvSpPr>
        <p:spPr>
          <a:xfrm>
            <a:off x="4233672" y="2706624"/>
            <a:ext cx="1828800" cy="896112"/>
          </a:xfrm>
          <a:prstGeom prst="rect">
            <a:avLst/>
          </a:prstGeom>
          <a:noFill/>
          <a:ln/>
        </p:spPr>
        <p:txBody>
          <a:bodyPr wrap="square" lIns="0" tIns="0" rIns="0" bIns="0" rtlCol="0" anchor="ctr"/>
          <a:lstStyle/>
          <a:p>
            <a:pPr indent="0" marL="0">
              <a:buNone/>
            </a:pPr>
            <a:r>
              <a:rPr lang="en-US" sz="780" dirty="0">
                <a:solidFill>
                  <a:srgbClr val="1E293B"/>
                </a:solidFill>
              </a:rPr>
              <a:t>Fit-to-Standard workshops, all gaps documented, custom code remediation planned, SICheck run and resolved.</a:t>
            </a:r>
            <a:endParaRPr lang="en-US" sz="780" dirty="0"/>
          </a:p>
        </p:txBody>
      </p:sp>
      <p:sp>
        <p:nvSpPr>
          <p:cNvPr id="46" name="Shape 44"/>
          <p:cNvSpPr/>
          <p:nvPr/>
        </p:nvSpPr>
        <p:spPr>
          <a:xfrm>
            <a:off x="4169664" y="3694176"/>
            <a:ext cx="1920240" cy="1298448"/>
          </a:xfrm>
          <a:prstGeom prst="rect">
            <a:avLst/>
          </a:prstGeom>
          <a:solidFill>
            <a:srgbClr val="E3F2FD"/>
          </a:solidFill>
          <a:ln/>
          <a:effectLst>
            <a:outerShdw sx="100000" sy="100000" kx="0" ky="0" algn="bl" rotWithShape="0" blurRad="101600" dist="25400" dir="8100000">
              <a:srgbClr val="000000">
                <a:alpha val="9000"/>
              </a:srgbClr>
            </a:outerShdw>
          </a:effectLst>
        </p:spPr>
      </p:sp>
      <p:sp>
        <p:nvSpPr>
          <p:cNvPr id="47" name="Shape 45"/>
          <p:cNvSpPr/>
          <p:nvPr/>
        </p:nvSpPr>
        <p:spPr>
          <a:xfrm>
            <a:off x="4169664" y="3694176"/>
            <a:ext cx="1920240" cy="237744"/>
          </a:xfrm>
          <a:prstGeom prst="rect">
            <a:avLst/>
          </a:prstGeom>
          <a:solidFill>
            <a:srgbClr val="1565C0"/>
          </a:solidFill>
          <a:ln/>
        </p:spPr>
      </p:sp>
      <p:sp>
        <p:nvSpPr>
          <p:cNvPr id="48" name="Text 46"/>
          <p:cNvSpPr/>
          <p:nvPr/>
        </p:nvSpPr>
        <p:spPr>
          <a:xfrm>
            <a:off x="4169664" y="3694176"/>
            <a:ext cx="1920240" cy="237744"/>
          </a:xfrm>
          <a:prstGeom prst="rect">
            <a:avLst/>
          </a:prstGeom>
          <a:noFill/>
          <a:ln/>
        </p:spPr>
        <p:txBody>
          <a:bodyPr wrap="square" lIns="0" tIns="0" rIns="0" bIns="0" rtlCol="0" anchor="ctr"/>
          <a:lstStyle/>
          <a:p>
            <a:pPr algn="ctr" indent="0" marL="0">
              <a:buNone/>
            </a:pPr>
            <a:r>
              <a:rPr lang="en-US" sz="700" b="1" dirty="0">
                <a:solidFill>
                  <a:srgbClr val="FFFFFF"/>
                </a:solidFill>
              </a:rPr>
              <a:t>SAP DOES</a:t>
            </a:r>
            <a:endParaRPr lang="en-US" sz="700" dirty="0"/>
          </a:p>
        </p:txBody>
      </p:sp>
      <p:sp>
        <p:nvSpPr>
          <p:cNvPr id="49" name="Text 47"/>
          <p:cNvSpPr/>
          <p:nvPr/>
        </p:nvSpPr>
        <p:spPr>
          <a:xfrm>
            <a:off x="4233672" y="3959352"/>
            <a:ext cx="1828800" cy="1005840"/>
          </a:xfrm>
          <a:prstGeom prst="rect">
            <a:avLst/>
          </a:prstGeom>
          <a:noFill/>
          <a:ln/>
        </p:spPr>
        <p:txBody>
          <a:bodyPr wrap="square" lIns="0" tIns="0" rIns="0" bIns="0" rtlCol="0" anchor="ctr"/>
          <a:lstStyle/>
          <a:p>
            <a:pPr indent="0" marL="0">
              <a:buNone/>
            </a:pPr>
            <a:r>
              <a:rPr lang="en-US" sz="760" dirty="0">
                <a:solidFill>
                  <a:srgbClr val="0D47A1"/>
                </a:solidFill>
              </a:rPr>
              <a:t>Delivers SICheck report · ATC code scanner · Best Practice content</a:t>
            </a:r>
            <a:endParaRPr lang="en-US" sz="760" dirty="0"/>
          </a:p>
        </p:txBody>
      </p:sp>
      <p:sp>
        <p:nvSpPr>
          <p:cNvPr id="50" name="Shape 48"/>
          <p:cNvSpPr/>
          <p:nvPr/>
        </p:nvSpPr>
        <p:spPr>
          <a:xfrm>
            <a:off x="4169664" y="5038344"/>
            <a:ext cx="1920240" cy="1600200"/>
          </a:xfrm>
          <a:prstGeom prst="rect">
            <a:avLst/>
          </a:prstGeom>
          <a:solidFill>
            <a:srgbClr val="E0F2F1"/>
          </a:solidFill>
          <a:ln/>
          <a:effectLst>
            <a:outerShdw sx="100000" sy="100000" kx="0" ky="0" algn="bl" rotWithShape="0" blurRad="101600" dist="25400" dir="8100000">
              <a:srgbClr val="000000">
                <a:alpha val="9000"/>
              </a:srgbClr>
            </a:outerShdw>
          </a:effectLst>
        </p:spPr>
      </p:sp>
      <p:sp>
        <p:nvSpPr>
          <p:cNvPr id="51" name="Shape 49"/>
          <p:cNvSpPr/>
          <p:nvPr/>
        </p:nvSpPr>
        <p:spPr>
          <a:xfrm>
            <a:off x="4169664" y="5038344"/>
            <a:ext cx="1920240" cy="237744"/>
          </a:xfrm>
          <a:prstGeom prst="rect">
            <a:avLst/>
          </a:prstGeom>
          <a:solidFill>
            <a:srgbClr val="00695C"/>
          </a:solidFill>
          <a:ln/>
        </p:spPr>
      </p:sp>
      <p:sp>
        <p:nvSpPr>
          <p:cNvPr id="52" name="Text 50"/>
          <p:cNvSpPr/>
          <p:nvPr/>
        </p:nvSpPr>
        <p:spPr>
          <a:xfrm>
            <a:off x="4169664" y="5038344"/>
            <a:ext cx="1920240" cy="237744"/>
          </a:xfrm>
          <a:prstGeom prst="rect">
            <a:avLst/>
          </a:prstGeom>
          <a:noFill/>
          <a:ln/>
        </p:spPr>
        <p:txBody>
          <a:bodyPr wrap="square" lIns="0" tIns="0" rIns="0" bIns="0" rtlCol="0" anchor="ctr"/>
          <a:lstStyle/>
          <a:p>
            <a:pPr algn="ctr" indent="0" marL="0">
              <a:buNone/>
            </a:pPr>
            <a:r>
              <a:rPr lang="en-US" sz="700" b="1" dirty="0">
                <a:solidFill>
                  <a:srgbClr val="FFFFFF"/>
                </a:solidFill>
              </a:rPr>
              <a:t>YOUR TEAM DOES</a:t>
            </a:r>
            <a:endParaRPr lang="en-US" sz="700" dirty="0"/>
          </a:p>
        </p:txBody>
      </p:sp>
      <p:sp>
        <p:nvSpPr>
          <p:cNvPr id="53" name="Text 51"/>
          <p:cNvSpPr/>
          <p:nvPr/>
        </p:nvSpPr>
        <p:spPr>
          <a:xfrm>
            <a:off x="4233672" y="5303520"/>
            <a:ext cx="1828800" cy="1307592"/>
          </a:xfrm>
          <a:prstGeom prst="rect">
            <a:avLst/>
          </a:prstGeom>
          <a:noFill/>
          <a:ln/>
        </p:spPr>
        <p:txBody>
          <a:bodyPr wrap="square" lIns="0" tIns="0" rIns="0" bIns="0" rtlCol="0" anchor="ctr"/>
          <a:lstStyle/>
          <a:p>
            <a:pPr indent="0" marL="0">
              <a:buNone/>
            </a:pPr>
            <a:r>
              <a:rPr lang="en-US" sz="760" dirty="0">
                <a:solidFill>
                  <a:srgbClr val="004D40"/>
                </a:solidFill>
              </a:rPr>
              <a:t>Run SICheck · Resolve all errors · ATC scan · Plan ABAP remediation</a:t>
            </a:r>
            <a:endParaRPr lang="en-US" sz="760" dirty="0"/>
          </a:p>
        </p:txBody>
      </p:sp>
      <p:sp>
        <p:nvSpPr>
          <p:cNvPr id="54" name="Shape 52"/>
          <p:cNvSpPr/>
          <p:nvPr/>
        </p:nvSpPr>
        <p:spPr>
          <a:xfrm>
            <a:off x="6839712" y="1088136"/>
            <a:ext cx="548640" cy="548640"/>
          </a:xfrm>
          <a:prstGeom prst="ellipse">
            <a:avLst/>
          </a:prstGeom>
          <a:solidFill>
            <a:srgbClr val="4527A0"/>
          </a:solidFill>
          <a:ln/>
        </p:spPr>
      </p:sp>
      <p:sp>
        <p:nvSpPr>
          <p:cNvPr id="55" name="Text 53"/>
          <p:cNvSpPr/>
          <p:nvPr/>
        </p:nvSpPr>
        <p:spPr>
          <a:xfrm>
            <a:off x="6839712" y="1088136"/>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rPr>
              <a:t>4</a:t>
            </a:r>
            <a:endParaRPr lang="en-US" sz="1600" dirty="0"/>
          </a:p>
        </p:txBody>
      </p:sp>
      <p:sp>
        <p:nvSpPr>
          <p:cNvPr id="56" name="Shape 54"/>
          <p:cNvSpPr/>
          <p:nvPr/>
        </p:nvSpPr>
        <p:spPr>
          <a:xfrm>
            <a:off x="6153912" y="1792224"/>
            <a:ext cx="1920240" cy="640080"/>
          </a:xfrm>
          <a:prstGeom prst="rect">
            <a:avLst/>
          </a:prstGeom>
          <a:solidFill>
            <a:srgbClr val="4527A0"/>
          </a:solidFill>
          <a:ln/>
        </p:spPr>
      </p:sp>
      <p:sp>
        <p:nvSpPr>
          <p:cNvPr id="57" name="Text 55"/>
          <p:cNvSpPr/>
          <p:nvPr/>
        </p:nvSpPr>
        <p:spPr>
          <a:xfrm>
            <a:off x="6153912" y="1801368"/>
            <a:ext cx="1920240" cy="347472"/>
          </a:xfrm>
          <a:prstGeom prst="rect">
            <a:avLst/>
          </a:prstGeom>
          <a:noFill/>
          <a:ln/>
        </p:spPr>
        <p:txBody>
          <a:bodyPr wrap="square" lIns="0" tIns="0" rIns="0" bIns="0" rtlCol="0" anchor="ctr"/>
          <a:lstStyle/>
          <a:p>
            <a:pPr algn="ctr" indent="0" marL="0">
              <a:buNone/>
            </a:pPr>
            <a:r>
              <a:rPr lang="en-US" sz="1200" b="1" dirty="0">
                <a:solidFill>
                  <a:srgbClr val="FFFFFF"/>
                </a:solidFill>
              </a:rPr>
              <a:t>REALIZE</a:t>
            </a:r>
            <a:endParaRPr lang="en-US" sz="1200" dirty="0"/>
          </a:p>
        </p:txBody>
      </p:sp>
      <p:sp>
        <p:nvSpPr>
          <p:cNvPr id="58" name="Text 56"/>
          <p:cNvSpPr/>
          <p:nvPr/>
        </p:nvSpPr>
        <p:spPr>
          <a:xfrm>
            <a:off x="6153912" y="2139696"/>
            <a:ext cx="1920240" cy="256032"/>
          </a:xfrm>
          <a:prstGeom prst="rect">
            <a:avLst/>
          </a:prstGeom>
          <a:noFill/>
          <a:ln/>
        </p:spPr>
        <p:txBody>
          <a:bodyPr wrap="square" lIns="0" tIns="0" rIns="0" bIns="0" rtlCol="0" anchor="ctr"/>
          <a:lstStyle/>
          <a:p>
            <a:pPr algn="ctr" indent="0" marL="0">
              <a:buNone/>
            </a:pPr>
            <a:r>
              <a:rPr lang="en-US" sz="900" i="1" dirty="0">
                <a:solidFill>
                  <a:srgbClr val="FFFFFF"/>
                </a:solidFill>
              </a:rPr>
              <a:t>12–20 wk</a:t>
            </a:r>
            <a:endParaRPr lang="en-US" sz="900" dirty="0"/>
          </a:p>
        </p:txBody>
      </p:sp>
      <p:sp>
        <p:nvSpPr>
          <p:cNvPr id="59" name="Shape 57"/>
          <p:cNvSpPr/>
          <p:nvPr/>
        </p:nvSpPr>
        <p:spPr>
          <a:xfrm>
            <a:off x="6153912" y="2478024"/>
            <a:ext cx="1920240" cy="1170432"/>
          </a:xfrm>
          <a:prstGeom prst="rect">
            <a:avLst/>
          </a:prstGeom>
          <a:solidFill>
            <a:srgbClr val="F1F5F9"/>
          </a:solidFill>
          <a:ln/>
          <a:effectLst>
            <a:outerShdw sx="100000" sy="100000" kx="0" ky="0" algn="bl" rotWithShape="0" blurRad="101600" dist="25400" dir="8100000">
              <a:srgbClr val="000000">
                <a:alpha val="9000"/>
              </a:srgbClr>
            </a:outerShdw>
          </a:effectLst>
        </p:spPr>
      </p:sp>
      <p:sp>
        <p:nvSpPr>
          <p:cNvPr id="60" name="Text 58"/>
          <p:cNvSpPr/>
          <p:nvPr/>
        </p:nvSpPr>
        <p:spPr>
          <a:xfrm>
            <a:off x="6217920" y="2505456"/>
            <a:ext cx="1828800" cy="201168"/>
          </a:xfrm>
          <a:prstGeom prst="rect">
            <a:avLst/>
          </a:prstGeom>
          <a:noFill/>
          <a:ln/>
        </p:spPr>
        <p:txBody>
          <a:bodyPr wrap="square" lIns="0" tIns="0" rIns="0" bIns="0" rtlCol="0" anchor="ctr"/>
          <a:lstStyle/>
          <a:p>
            <a:pPr indent="0" marL="0">
              <a:buNone/>
            </a:pPr>
            <a:r>
              <a:rPr lang="en-US" sz="700" b="1" spc="50" kern="0" dirty="0">
                <a:solidFill>
                  <a:srgbClr val="4527A0"/>
                </a:solidFill>
              </a:rPr>
              <a:t>WHAT HAPPENS</a:t>
            </a:r>
            <a:endParaRPr lang="en-US" sz="700" dirty="0"/>
          </a:p>
        </p:txBody>
      </p:sp>
      <p:sp>
        <p:nvSpPr>
          <p:cNvPr id="61" name="Text 59"/>
          <p:cNvSpPr/>
          <p:nvPr/>
        </p:nvSpPr>
        <p:spPr>
          <a:xfrm>
            <a:off x="6217920" y="2706624"/>
            <a:ext cx="1828800" cy="896112"/>
          </a:xfrm>
          <a:prstGeom prst="rect">
            <a:avLst/>
          </a:prstGeom>
          <a:noFill/>
          <a:ln/>
        </p:spPr>
        <p:txBody>
          <a:bodyPr wrap="square" lIns="0" tIns="0" rIns="0" bIns="0" rtlCol="0" anchor="ctr"/>
          <a:lstStyle/>
          <a:p>
            <a:pPr indent="0" marL="0">
              <a:buNone/>
            </a:pPr>
            <a:r>
              <a:rPr lang="en-US" sz="780" dirty="0">
                <a:solidFill>
                  <a:srgbClr val="1E293B"/>
                </a:solidFill>
              </a:rPr>
              <a:t>LONGEST PHASE: SUM+DMO conversion runs, custom code fixed, full SAP config, integrations rebuilt, all testing.</a:t>
            </a:r>
            <a:endParaRPr lang="en-US" sz="780" dirty="0"/>
          </a:p>
        </p:txBody>
      </p:sp>
      <p:sp>
        <p:nvSpPr>
          <p:cNvPr id="62" name="Shape 60"/>
          <p:cNvSpPr/>
          <p:nvPr/>
        </p:nvSpPr>
        <p:spPr>
          <a:xfrm>
            <a:off x="6153912" y="3694176"/>
            <a:ext cx="1920240" cy="1298448"/>
          </a:xfrm>
          <a:prstGeom prst="rect">
            <a:avLst/>
          </a:prstGeom>
          <a:solidFill>
            <a:srgbClr val="E3F2FD"/>
          </a:solidFill>
          <a:ln/>
          <a:effectLst>
            <a:outerShdw sx="100000" sy="100000" kx="0" ky="0" algn="bl" rotWithShape="0" blurRad="101600" dist="25400" dir="8100000">
              <a:srgbClr val="000000">
                <a:alpha val="9000"/>
              </a:srgbClr>
            </a:outerShdw>
          </a:effectLst>
        </p:spPr>
      </p:sp>
      <p:sp>
        <p:nvSpPr>
          <p:cNvPr id="63" name="Shape 61"/>
          <p:cNvSpPr/>
          <p:nvPr/>
        </p:nvSpPr>
        <p:spPr>
          <a:xfrm>
            <a:off x="6153912" y="3694176"/>
            <a:ext cx="1920240" cy="237744"/>
          </a:xfrm>
          <a:prstGeom prst="rect">
            <a:avLst/>
          </a:prstGeom>
          <a:solidFill>
            <a:srgbClr val="1565C0"/>
          </a:solidFill>
          <a:ln/>
        </p:spPr>
      </p:sp>
      <p:sp>
        <p:nvSpPr>
          <p:cNvPr id="64" name="Text 62"/>
          <p:cNvSpPr/>
          <p:nvPr/>
        </p:nvSpPr>
        <p:spPr>
          <a:xfrm>
            <a:off x="6153912" y="3694176"/>
            <a:ext cx="1920240" cy="237744"/>
          </a:xfrm>
          <a:prstGeom prst="rect">
            <a:avLst/>
          </a:prstGeom>
          <a:noFill/>
          <a:ln/>
        </p:spPr>
        <p:txBody>
          <a:bodyPr wrap="square" lIns="0" tIns="0" rIns="0" bIns="0" rtlCol="0" anchor="ctr"/>
          <a:lstStyle/>
          <a:p>
            <a:pPr algn="ctr" indent="0" marL="0">
              <a:buNone/>
            </a:pPr>
            <a:r>
              <a:rPr lang="en-US" sz="700" b="1" dirty="0">
                <a:solidFill>
                  <a:srgbClr val="FFFFFF"/>
                </a:solidFill>
              </a:rPr>
              <a:t>SAP DOES</a:t>
            </a:r>
            <a:endParaRPr lang="en-US" sz="700" dirty="0"/>
          </a:p>
        </p:txBody>
      </p:sp>
      <p:sp>
        <p:nvSpPr>
          <p:cNvPr id="65" name="Text 63"/>
          <p:cNvSpPr/>
          <p:nvPr/>
        </p:nvSpPr>
        <p:spPr>
          <a:xfrm>
            <a:off x="6217920" y="3959352"/>
            <a:ext cx="1828800" cy="1005840"/>
          </a:xfrm>
          <a:prstGeom prst="rect">
            <a:avLst/>
          </a:prstGeom>
          <a:noFill/>
          <a:ln/>
        </p:spPr>
        <p:txBody>
          <a:bodyPr wrap="square" lIns="0" tIns="0" rIns="0" bIns="0" rtlCol="0" anchor="ctr"/>
          <a:lstStyle/>
          <a:p>
            <a:pPr indent="0" marL="0">
              <a:buNone/>
            </a:pPr>
            <a:r>
              <a:rPr lang="en-US" sz="760" dirty="0">
                <a:solidFill>
                  <a:srgbClr val="0D47A1"/>
                </a:solidFill>
              </a:rPr>
              <a:t>Runs SUM+DMO conversion · Manages HANA infra · Provides Fiori apps</a:t>
            </a:r>
            <a:endParaRPr lang="en-US" sz="760" dirty="0"/>
          </a:p>
        </p:txBody>
      </p:sp>
      <p:sp>
        <p:nvSpPr>
          <p:cNvPr id="66" name="Shape 64"/>
          <p:cNvSpPr/>
          <p:nvPr/>
        </p:nvSpPr>
        <p:spPr>
          <a:xfrm>
            <a:off x="6153912" y="5038344"/>
            <a:ext cx="1920240" cy="1600200"/>
          </a:xfrm>
          <a:prstGeom prst="rect">
            <a:avLst/>
          </a:prstGeom>
          <a:solidFill>
            <a:srgbClr val="E0F2F1"/>
          </a:solidFill>
          <a:ln/>
          <a:effectLst>
            <a:outerShdw sx="100000" sy="100000" kx="0" ky="0" algn="bl" rotWithShape="0" blurRad="101600" dist="25400" dir="8100000">
              <a:srgbClr val="000000">
                <a:alpha val="9000"/>
              </a:srgbClr>
            </a:outerShdw>
          </a:effectLst>
        </p:spPr>
      </p:sp>
      <p:sp>
        <p:nvSpPr>
          <p:cNvPr id="67" name="Shape 65"/>
          <p:cNvSpPr/>
          <p:nvPr/>
        </p:nvSpPr>
        <p:spPr>
          <a:xfrm>
            <a:off x="6153912" y="5038344"/>
            <a:ext cx="1920240" cy="237744"/>
          </a:xfrm>
          <a:prstGeom prst="rect">
            <a:avLst/>
          </a:prstGeom>
          <a:solidFill>
            <a:srgbClr val="00695C"/>
          </a:solidFill>
          <a:ln/>
        </p:spPr>
      </p:sp>
      <p:sp>
        <p:nvSpPr>
          <p:cNvPr id="68" name="Text 66"/>
          <p:cNvSpPr/>
          <p:nvPr/>
        </p:nvSpPr>
        <p:spPr>
          <a:xfrm>
            <a:off x="6153912" y="5038344"/>
            <a:ext cx="1920240" cy="237744"/>
          </a:xfrm>
          <a:prstGeom prst="rect">
            <a:avLst/>
          </a:prstGeom>
          <a:noFill/>
          <a:ln/>
        </p:spPr>
        <p:txBody>
          <a:bodyPr wrap="square" lIns="0" tIns="0" rIns="0" bIns="0" rtlCol="0" anchor="ctr"/>
          <a:lstStyle/>
          <a:p>
            <a:pPr algn="ctr" indent="0" marL="0">
              <a:buNone/>
            </a:pPr>
            <a:r>
              <a:rPr lang="en-US" sz="700" b="1" dirty="0">
                <a:solidFill>
                  <a:srgbClr val="FFFFFF"/>
                </a:solidFill>
              </a:rPr>
              <a:t>YOUR TEAM DOES</a:t>
            </a:r>
            <a:endParaRPr lang="en-US" sz="700" dirty="0"/>
          </a:p>
        </p:txBody>
      </p:sp>
      <p:sp>
        <p:nvSpPr>
          <p:cNvPr id="69" name="Text 67"/>
          <p:cNvSpPr/>
          <p:nvPr/>
        </p:nvSpPr>
        <p:spPr>
          <a:xfrm>
            <a:off x="6217920" y="5303520"/>
            <a:ext cx="1828800" cy="1307592"/>
          </a:xfrm>
          <a:prstGeom prst="rect">
            <a:avLst/>
          </a:prstGeom>
          <a:noFill/>
          <a:ln/>
        </p:spPr>
        <p:txBody>
          <a:bodyPr wrap="square" lIns="0" tIns="0" rIns="0" bIns="0" rtlCol="0" anchor="ctr"/>
          <a:lstStyle/>
          <a:p>
            <a:pPr indent="0" marL="0">
              <a:buNone/>
            </a:pPr>
            <a:r>
              <a:rPr lang="en-US" sz="760" dirty="0">
                <a:solidFill>
                  <a:srgbClr val="004D40"/>
                </a:solidFill>
              </a:rPr>
              <a:t>War room for conversion · Fix custom code · Full config · Data loads · UAT</a:t>
            </a:r>
            <a:endParaRPr lang="en-US" sz="760" dirty="0"/>
          </a:p>
        </p:txBody>
      </p:sp>
      <p:sp>
        <p:nvSpPr>
          <p:cNvPr id="70" name="Shape 68"/>
          <p:cNvSpPr/>
          <p:nvPr/>
        </p:nvSpPr>
        <p:spPr>
          <a:xfrm>
            <a:off x="8823960" y="1088136"/>
            <a:ext cx="548640" cy="548640"/>
          </a:xfrm>
          <a:prstGeom prst="ellipse">
            <a:avLst/>
          </a:prstGeom>
          <a:solidFill>
            <a:srgbClr val="BF360C"/>
          </a:solidFill>
          <a:ln/>
        </p:spPr>
      </p:sp>
      <p:sp>
        <p:nvSpPr>
          <p:cNvPr id="71" name="Text 69"/>
          <p:cNvSpPr/>
          <p:nvPr/>
        </p:nvSpPr>
        <p:spPr>
          <a:xfrm>
            <a:off x="8823960" y="1088136"/>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rPr>
              <a:t>5</a:t>
            </a:r>
            <a:endParaRPr lang="en-US" sz="1600" dirty="0"/>
          </a:p>
        </p:txBody>
      </p:sp>
      <p:sp>
        <p:nvSpPr>
          <p:cNvPr id="72" name="Shape 70"/>
          <p:cNvSpPr/>
          <p:nvPr/>
        </p:nvSpPr>
        <p:spPr>
          <a:xfrm>
            <a:off x="8138160" y="1792224"/>
            <a:ext cx="1920240" cy="640080"/>
          </a:xfrm>
          <a:prstGeom prst="rect">
            <a:avLst/>
          </a:prstGeom>
          <a:solidFill>
            <a:srgbClr val="BF360C"/>
          </a:solidFill>
          <a:ln/>
        </p:spPr>
      </p:sp>
      <p:sp>
        <p:nvSpPr>
          <p:cNvPr id="73" name="Text 71"/>
          <p:cNvSpPr/>
          <p:nvPr/>
        </p:nvSpPr>
        <p:spPr>
          <a:xfrm>
            <a:off x="8138160" y="1801368"/>
            <a:ext cx="1920240" cy="347472"/>
          </a:xfrm>
          <a:prstGeom prst="rect">
            <a:avLst/>
          </a:prstGeom>
          <a:noFill/>
          <a:ln/>
        </p:spPr>
        <p:txBody>
          <a:bodyPr wrap="square" lIns="0" tIns="0" rIns="0" bIns="0" rtlCol="0" anchor="ctr"/>
          <a:lstStyle/>
          <a:p>
            <a:pPr algn="ctr" indent="0" marL="0">
              <a:buNone/>
            </a:pPr>
            <a:r>
              <a:rPr lang="en-US" sz="1200" b="1" dirty="0">
                <a:solidFill>
                  <a:srgbClr val="FFFFFF"/>
                </a:solidFill>
              </a:rPr>
              <a:t>DEPLOY</a:t>
            </a:r>
            <a:endParaRPr lang="en-US" sz="1200" dirty="0"/>
          </a:p>
        </p:txBody>
      </p:sp>
      <p:sp>
        <p:nvSpPr>
          <p:cNvPr id="74" name="Text 72"/>
          <p:cNvSpPr/>
          <p:nvPr/>
        </p:nvSpPr>
        <p:spPr>
          <a:xfrm>
            <a:off x="8138160" y="2139696"/>
            <a:ext cx="1920240" cy="256032"/>
          </a:xfrm>
          <a:prstGeom prst="rect">
            <a:avLst/>
          </a:prstGeom>
          <a:noFill/>
          <a:ln/>
        </p:spPr>
        <p:txBody>
          <a:bodyPr wrap="square" lIns="0" tIns="0" rIns="0" bIns="0" rtlCol="0" anchor="ctr"/>
          <a:lstStyle/>
          <a:p>
            <a:pPr algn="ctr" indent="0" marL="0">
              <a:buNone/>
            </a:pPr>
            <a:r>
              <a:rPr lang="en-US" sz="900" i="1" dirty="0">
                <a:solidFill>
                  <a:srgbClr val="FFFFFF"/>
                </a:solidFill>
              </a:rPr>
              <a:t>2–4 wk</a:t>
            </a:r>
            <a:endParaRPr lang="en-US" sz="900" dirty="0"/>
          </a:p>
        </p:txBody>
      </p:sp>
      <p:sp>
        <p:nvSpPr>
          <p:cNvPr id="75" name="Shape 73"/>
          <p:cNvSpPr/>
          <p:nvPr/>
        </p:nvSpPr>
        <p:spPr>
          <a:xfrm>
            <a:off x="8138160" y="2478024"/>
            <a:ext cx="1920240" cy="1170432"/>
          </a:xfrm>
          <a:prstGeom prst="rect">
            <a:avLst/>
          </a:prstGeom>
          <a:solidFill>
            <a:srgbClr val="F1F5F9"/>
          </a:solidFill>
          <a:ln/>
          <a:effectLst>
            <a:outerShdw sx="100000" sy="100000" kx="0" ky="0" algn="bl" rotWithShape="0" blurRad="101600" dist="25400" dir="8100000">
              <a:srgbClr val="000000">
                <a:alpha val="9000"/>
              </a:srgbClr>
            </a:outerShdw>
          </a:effectLst>
        </p:spPr>
      </p:sp>
      <p:sp>
        <p:nvSpPr>
          <p:cNvPr id="76" name="Text 74"/>
          <p:cNvSpPr/>
          <p:nvPr/>
        </p:nvSpPr>
        <p:spPr>
          <a:xfrm>
            <a:off x="8202168" y="2505456"/>
            <a:ext cx="1828800" cy="201168"/>
          </a:xfrm>
          <a:prstGeom prst="rect">
            <a:avLst/>
          </a:prstGeom>
          <a:noFill/>
          <a:ln/>
        </p:spPr>
        <p:txBody>
          <a:bodyPr wrap="square" lIns="0" tIns="0" rIns="0" bIns="0" rtlCol="0" anchor="ctr"/>
          <a:lstStyle/>
          <a:p>
            <a:pPr indent="0" marL="0">
              <a:buNone/>
            </a:pPr>
            <a:r>
              <a:rPr lang="en-US" sz="700" b="1" spc="50" kern="0" dirty="0">
                <a:solidFill>
                  <a:srgbClr val="BF360C"/>
                </a:solidFill>
              </a:rPr>
              <a:t>WHAT HAPPENS</a:t>
            </a:r>
            <a:endParaRPr lang="en-US" sz="700" dirty="0"/>
          </a:p>
        </p:txBody>
      </p:sp>
      <p:sp>
        <p:nvSpPr>
          <p:cNvPr id="77" name="Text 75"/>
          <p:cNvSpPr/>
          <p:nvPr/>
        </p:nvSpPr>
        <p:spPr>
          <a:xfrm>
            <a:off x="8202168" y="2706624"/>
            <a:ext cx="1828800" cy="896112"/>
          </a:xfrm>
          <a:prstGeom prst="rect">
            <a:avLst/>
          </a:prstGeom>
          <a:noFill/>
          <a:ln/>
        </p:spPr>
        <p:txBody>
          <a:bodyPr wrap="square" lIns="0" tIns="0" rIns="0" bIns="0" rtlCol="0" anchor="ctr"/>
          <a:lstStyle/>
          <a:p>
            <a:pPr indent="0" marL="0">
              <a:buNone/>
            </a:pPr>
            <a:r>
              <a:rPr lang="en-US" sz="780" dirty="0">
                <a:solidFill>
                  <a:srgbClr val="1E293B"/>
                </a:solidFill>
              </a:rPr>
              <a:t>Final data migration, cutover playbook executed, go-live sign-off, old system decommissioned.</a:t>
            </a:r>
            <a:endParaRPr lang="en-US" sz="780" dirty="0"/>
          </a:p>
        </p:txBody>
      </p:sp>
      <p:sp>
        <p:nvSpPr>
          <p:cNvPr id="78" name="Shape 76"/>
          <p:cNvSpPr/>
          <p:nvPr/>
        </p:nvSpPr>
        <p:spPr>
          <a:xfrm>
            <a:off x="8138160" y="3694176"/>
            <a:ext cx="1920240" cy="1298448"/>
          </a:xfrm>
          <a:prstGeom prst="rect">
            <a:avLst/>
          </a:prstGeom>
          <a:solidFill>
            <a:srgbClr val="E3F2FD"/>
          </a:solidFill>
          <a:ln/>
          <a:effectLst>
            <a:outerShdw sx="100000" sy="100000" kx="0" ky="0" algn="bl" rotWithShape="0" blurRad="101600" dist="25400" dir="8100000">
              <a:srgbClr val="000000">
                <a:alpha val="9000"/>
              </a:srgbClr>
            </a:outerShdw>
          </a:effectLst>
        </p:spPr>
      </p:sp>
      <p:sp>
        <p:nvSpPr>
          <p:cNvPr id="79" name="Shape 77"/>
          <p:cNvSpPr/>
          <p:nvPr/>
        </p:nvSpPr>
        <p:spPr>
          <a:xfrm>
            <a:off x="8138160" y="3694176"/>
            <a:ext cx="1920240" cy="237744"/>
          </a:xfrm>
          <a:prstGeom prst="rect">
            <a:avLst/>
          </a:prstGeom>
          <a:solidFill>
            <a:srgbClr val="1565C0"/>
          </a:solidFill>
          <a:ln/>
        </p:spPr>
      </p:sp>
      <p:sp>
        <p:nvSpPr>
          <p:cNvPr id="80" name="Text 78"/>
          <p:cNvSpPr/>
          <p:nvPr/>
        </p:nvSpPr>
        <p:spPr>
          <a:xfrm>
            <a:off x="8138160" y="3694176"/>
            <a:ext cx="1920240" cy="237744"/>
          </a:xfrm>
          <a:prstGeom prst="rect">
            <a:avLst/>
          </a:prstGeom>
          <a:noFill/>
          <a:ln/>
        </p:spPr>
        <p:txBody>
          <a:bodyPr wrap="square" lIns="0" tIns="0" rIns="0" bIns="0" rtlCol="0" anchor="ctr"/>
          <a:lstStyle/>
          <a:p>
            <a:pPr algn="ctr" indent="0" marL="0">
              <a:buNone/>
            </a:pPr>
            <a:r>
              <a:rPr lang="en-US" sz="700" b="1" dirty="0">
                <a:solidFill>
                  <a:srgbClr val="FFFFFF"/>
                </a:solidFill>
              </a:rPr>
              <a:t>SAP DOES</a:t>
            </a:r>
            <a:endParaRPr lang="en-US" sz="700" dirty="0"/>
          </a:p>
        </p:txBody>
      </p:sp>
      <p:sp>
        <p:nvSpPr>
          <p:cNvPr id="81" name="Text 79"/>
          <p:cNvSpPr/>
          <p:nvPr/>
        </p:nvSpPr>
        <p:spPr>
          <a:xfrm>
            <a:off x="8202168" y="3959352"/>
            <a:ext cx="1828800" cy="1005840"/>
          </a:xfrm>
          <a:prstGeom prst="rect">
            <a:avLst/>
          </a:prstGeom>
          <a:noFill/>
          <a:ln/>
        </p:spPr>
        <p:txBody>
          <a:bodyPr wrap="square" lIns="0" tIns="0" rIns="0" bIns="0" rtlCol="0" anchor="ctr"/>
          <a:lstStyle/>
          <a:p>
            <a:pPr indent="0" marL="0">
              <a:buNone/>
            </a:pPr>
            <a:r>
              <a:rPr lang="en-US" sz="760" dirty="0">
                <a:solidFill>
                  <a:srgbClr val="0D47A1"/>
                </a:solidFill>
              </a:rPr>
              <a:t>Switches DNS · Activates prod monitoring · Scales GCP for production</a:t>
            </a:r>
            <a:endParaRPr lang="en-US" sz="760" dirty="0"/>
          </a:p>
        </p:txBody>
      </p:sp>
      <p:sp>
        <p:nvSpPr>
          <p:cNvPr id="82" name="Shape 80"/>
          <p:cNvSpPr/>
          <p:nvPr/>
        </p:nvSpPr>
        <p:spPr>
          <a:xfrm>
            <a:off x="8138160" y="5038344"/>
            <a:ext cx="1920240" cy="1600200"/>
          </a:xfrm>
          <a:prstGeom prst="rect">
            <a:avLst/>
          </a:prstGeom>
          <a:solidFill>
            <a:srgbClr val="E0F2F1"/>
          </a:solidFill>
          <a:ln/>
          <a:effectLst>
            <a:outerShdw sx="100000" sy="100000" kx="0" ky="0" algn="bl" rotWithShape="0" blurRad="101600" dist="25400" dir="8100000">
              <a:srgbClr val="000000">
                <a:alpha val="9000"/>
              </a:srgbClr>
            </a:outerShdw>
          </a:effectLst>
        </p:spPr>
      </p:sp>
      <p:sp>
        <p:nvSpPr>
          <p:cNvPr id="83" name="Shape 81"/>
          <p:cNvSpPr/>
          <p:nvPr/>
        </p:nvSpPr>
        <p:spPr>
          <a:xfrm>
            <a:off x="8138160" y="5038344"/>
            <a:ext cx="1920240" cy="237744"/>
          </a:xfrm>
          <a:prstGeom prst="rect">
            <a:avLst/>
          </a:prstGeom>
          <a:solidFill>
            <a:srgbClr val="00695C"/>
          </a:solidFill>
          <a:ln/>
        </p:spPr>
      </p:sp>
      <p:sp>
        <p:nvSpPr>
          <p:cNvPr id="84" name="Text 82"/>
          <p:cNvSpPr/>
          <p:nvPr/>
        </p:nvSpPr>
        <p:spPr>
          <a:xfrm>
            <a:off x="8138160" y="5038344"/>
            <a:ext cx="1920240" cy="237744"/>
          </a:xfrm>
          <a:prstGeom prst="rect">
            <a:avLst/>
          </a:prstGeom>
          <a:noFill/>
          <a:ln/>
        </p:spPr>
        <p:txBody>
          <a:bodyPr wrap="square" lIns="0" tIns="0" rIns="0" bIns="0" rtlCol="0" anchor="ctr"/>
          <a:lstStyle/>
          <a:p>
            <a:pPr algn="ctr" indent="0" marL="0">
              <a:buNone/>
            </a:pPr>
            <a:r>
              <a:rPr lang="en-US" sz="700" b="1" dirty="0">
                <a:solidFill>
                  <a:srgbClr val="FFFFFF"/>
                </a:solidFill>
              </a:rPr>
              <a:t>YOUR TEAM DOES</a:t>
            </a:r>
            <a:endParaRPr lang="en-US" sz="700" dirty="0"/>
          </a:p>
        </p:txBody>
      </p:sp>
      <p:sp>
        <p:nvSpPr>
          <p:cNvPr id="85" name="Text 83"/>
          <p:cNvSpPr/>
          <p:nvPr/>
        </p:nvSpPr>
        <p:spPr>
          <a:xfrm>
            <a:off x="8202168" y="5303520"/>
            <a:ext cx="1828800" cy="1307592"/>
          </a:xfrm>
          <a:prstGeom prst="rect">
            <a:avLst/>
          </a:prstGeom>
          <a:noFill/>
          <a:ln/>
        </p:spPr>
        <p:txBody>
          <a:bodyPr wrap="square" lIns="0" tIns="0" rIns="0" bIns="0" rtlCol="0" anchor="ctr"/>
          <a:lstStyle/>
          <a:p>
            <a:pPr indent="0" marL="0">
              <a:buNone/>
            </a:pPr>
            <a:r>
              <a:rPr lang="en-US" sz="760" dirty="0">
                <a:solidFill>
                  <a:srgbClr val="004D40"/>
                </a:solidFill>
              </a:rPr>
              <a:t>Cutover playbook (200–400 tasks) · Go-live readiness sign-off</a:t>
            </a:r>
            <a:endParaRPr lang="en-US" sz="760" dirty="0"/>
          </a:p>
        </p:txBody>
      </p:sp>
      <p:sp>
        <p:nvSpPr>
          <p:cNvPr id="86" name="Shape 84"/>
          <p:cNvSpPr/>
          <p:nvPr/>
        </p:nvSpPr>
        <p:spPr>
          <a:xfrm>
            <a:off x="10808208" y="1088136"/>
            <a:ext cx="548640" cy="548640"/>
          </a:xfrm>
          <a:prstGeom prst="ellipse">
            <a:avLst/>
          </a:prstGeom>
          <a:solidFill>
            <a:srgbClr val="1B5E20"/>
          </a:solidFill>
          <a:ln/>
        </p:spPr>
      </p:sp>
      <p:sp>
        <p:nvSpPr>
          <p:cNvPr id="87" name="Text 85"/>
          <p:cNvSpPr/>
          <p:nvPr/>
        </p:nvSpPr>
        <p:spPr>
          <a:xfrm>
            <a:off x="10808208" y="1088136"/>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rPr>
              <a:t>6</a:t>
            </a:r>
            <a:endParaRPr lang="en-US" sz="1600" dirty="0"/>
          </a:p>
        </p:txBody>
      </p:sp>
      <p:sp>
        <p:nvSpPr>
          <p:cNvPr id="88" name="Shape 86"/>
          <p:cNvSpPr/>
          <p:nvPr/>
        </p:nvSpPr>
        <p:spPr>
          <a:xfrm>
            <a:off x="10122408" y="1792224"/>
            <a:ext cx="1920240" cy="640080"/>
          </a:xfrm>
          <a:prstGeom prst="rect">
            <a:avLst/>
          </a:prstGeom>
          <a:solidFill>
            <a:srgbClr val="1B5E20"/>
          </a:solidFill>
          <a:ln/>
        </p:spPr>
      </p:sp>
      <p:sp>
        <p:nvSpPr>
          <p:cNvPr id="89" name="Text 87"/>
          <p:cNvSpPr/>
          <p:nvPr/>
        </p:nvSpPr>
        <p:spPr>
          <a:xfrm>
            <a:off x="10122408" y="1801368"/>
            <a:ext cx="1920240" cy="347472"/>
          </a:xfrm>
          <a:prstGeom prst="rect">
            <a:avLst/>
          </a:prstGeom>
          <a:noFill/>
          <a:ln/>
        </p:spPr>
        <p:txBody>
          <a:bodyPr wrap="square" lIns="0" tIns="0" rIns="0" bIns="0" rtlCol="0" anchor="ctr"/>
          <a:lstStyle/>
          <a:p>
            <a:pPr algn="ctr" indent="0" marL="0">
              <a:buNone/>
            </a:pPr>
            <a:r>
              <a:rPr lang="en-US" sz="1200" b="1" dirty="0">
                <a:solidFill>
                  <a:srgbClr val="FFFFFF"/>
                </a:solidFill>
              </a:rPr>
              <a:t>RUN</a:t>
            </a:r>
            <a:endParaRPr lang="en-US" sz="1200" dirty="0"/>
          </a:p>
        </p:txBody>
      </p:sp>
      <p:sp>
        <p:nvSpPr>
          <p:cNvPr id="90" name="Text 88"/>
          <p:cNvSpPr/>
          <p:nvPr/>
        </p:nvSpPr>
        <p:spPr>
          <a:xfrm>
            <a:off x="10122408" y="2139696"/>
            <a:ext cx="1920240" cy="256032"/>
          </a:xfrm>
          <a:prstGeom prst="rect">
            <a:avLst/>
          </a:prstGeom>
          <a:noFill/>
          <a:ln/>
        </p:spPr>
        <p:txBody>
          <a:bodyPr wrap="square" lIns="0" tIns="0" rIns="0" bIns="0" rtlCol="0" anchor="ctr"/>
          <a:lstStyle/>
          <a:p>
            <a:pPr algn="ctr" indent="0" marL="0">
              <a:buNone/>
            </a:pPr>
            <a:r>
              <a:rPr lang="en-US" sz="900" i="1" dirty="0">
                <a:solidFill>
                  <a:srgbClr val="FFFFFF"/>
                </a:solidFill>
              </a:rPr>
              <a:t>Ongoing</a:t>
            </a:r>
            <a:endParaRPr lang="en-US" sz="900" dirty="0"/>
          </a:p>
        </p:txBody>
      </p:sp>
      <p:sp>
        <p:nvSpPr>
          <p:cNvPr id="91" name="Shape 89"/>
          <p:cNvSpPr/>
          <p:nvPr/>
        </p:nvSpPr>
        <p:spPr>
          <a:xfrm>
            <a:off x="10122408" y="2478024"/>
            <a:ext cx="1920240" cy="1170432"/>
          </a:xfrm>
          <a:prstGeom prst="rect">
            <a:avLst/>
          </a:prstGeom>
          <a:solidFill>
            <a:srgbClr val="F1F5F9"/>
          </a:solidFill>
          <a:ln/>
          <a:effectLst>
            <a:outerShdw sx="100000" sy="100000" kx="0" ky="0" algn="bl" rotWithShape="0" blurRad="101600" dist="25400" dir="8100000">
              <a:srgbClr val="000000">
                <a:alpha val="9000"/>
              </a:srgbClr>
            </a:outerShdw>
          </a:effectLst>
        </p:spPr>
      </p:sp>
      <p:sp>
        <p:nvSpPr>
          <p:cNvPr id="92" name="Text 90"/>
          <p:cNvSpPr/>
          <p:nvPr/>
        </p:nvSpPr>
        <p:spPr>
          <a:xfrm>
            <a:off x="10186416" y="2505456"/>
            <a:ext cx="1828800" cy="201168"/>
          </a:xfrm>
          <a:prstGeom prst="rect">
            <a:avLst/>
          </a:prstGeom>
          <a:noFill/>
          <a:ln/>
        </p:spPr>
        <p:txBody>
          <a:bodyPr wrap="square" lIns="0" tIns="0" rIns="0" bIns="0" rtlCol="0" anchor="ctr"/>
          <a:lstStyle/>
          <a:p>
            <a:pPr indent="0" marL="0">
              <a:buNone/>
            </a:pPr>
            <a:r>
              <a:rPr lang="en-US" sz="700" b="1" spc="50" kern="0" dirty="0">
                <a:solidFill>
                  <a:srgbClr val="1B5E20"/>
                </a:solidFill>
              </a:rPr>
              <a:t>WHAT HAPPENS</a:t>
            </a:r>
            <a:endParaRPr lang="en-US" sz="700" dirty="0"/>
          </a:p>
        </p:txBody>
      </p:sp>
      <p:sp>
        <p:nvSpPr>
          <p:cNvPr id="93" name="Text 91"/>
          <p:cNvSpPr/>
          <p:nvPr/>
        </p:nvSpPr>
        <p:spPr>
          <a:xfrm>
            <a:off x="10186416" y="2706624"/>
            <a:ext cx="1828800" cy="896112"/>
          </a:xfrm>
          <a:prstGeom prst="rect">
            <a:avLst/>
          </a:prstGeom>
          <a:noFill/>
          <a:ln/>
        </p:spPr>
        <p:txBody>
          <a:bodyPr wrap="square" lIns="0" tIns="0" rIns="0" bIns="0" rtlCol="0" anchor="ctr"/>
          <a:lstStyle/>
          <a:p>
            <a:pPr indent="0" marL="0">
              <a:buNone/>
            </a:pPr>
            <a:r>
              <a:rPr lang="en-US" sz="780" dirty="0">
                <a:solidFill>
                  <a:srgbClr val="1E293B"/>
                </a:solidFill>
              </a:rPr>
              <a:t>Hypercare 4–8 weeks, then steady state. SAP manages infra under RISE; SI supports application.</a:t>
            </a:r>
            <a:endParaRPr lang="en-US" sz="780" dirty="0"/>
          </a:p>
        </p:txBody>
      </p:sp>
      <p:sp>
        <p:nvSpPr>
          <p:cNvPr id="94" name="Shape 92"/>
          <p:cNvSpPr/>
          <p:nvPr/>
        </p:nvSpPr>
        <p:spPr>
          <a:xfrm>
            <a:off x="10122408" y="3694176"/>
            <a:ext cx="1920240" cy="1298448"/>
          </a:xfrm>
          <a:prstGeom prst="rect">
            <a:avLst/>
          </a:prstGeom>
          <a:solidFill>
            <a:srgbClr val="E3F2FD"/>
          </a:solidFill>
          <a:ln/>
          <a:effectLst>
            <a:outerShdw sx="100000" sy="100000" kx="0" ky="0" algn="bl" rotWithShape="0" blurRad="101600" dist="25400" dir="8100000">
              <a:srgbClr val="000000">
                <a:alpha val="9000"/>
              </a:srgbClr>
            </a:outerShdw>
          </a:effectLst>
        </p:spPr>
      </p:sp>
      <p:sp>
        <p:nvSpPr>
          <p:cNvPr id="95" name="Shape 93"/>
          <p:cNvSpPr/>
          <p:nvPr/>
        </p:nvSpPr>
        <p:spPr>
          <a:xfrm>
            <a:off x="10122408" y="3694176"/>
            <a:ext cx="1920240" cy="237744"/>
          </a:xfrm>
          <a:prstGeom prst="rect">
            <a:avLst/>
          </a:prstGeom>
          <a:solidFill>
            <a:srgbClr val="1565C0"/>
          </a:solidFill>
          <a:ln/>
        </p:spPr>
      </p:sp>
      <p:sp>
        <p:nvSpPr>
          <p:cNvPr id="96" name="Text 94"/>
          <p:cNvSpPr/>
          <p:nvPr/>
        </p:nvSpPr>
        <p:spPr>
          <a:xfrm>
            <a:off x="10122408" y="3694176"/>
            <a:ext cx="1920240" cy="237744"/>
          </a:xfrm>
          <a:prstGeom prst="rect">
            <a:avLst/>
          </a:prstGeom>
          <a:noFill/>
          <a:ln/>
        </p:spPr>
        <p:txBody>
          <a:bodyPr wrap="square" lIns="0" tIns="0" rIns="0" bIns="0" rtlCol="0" anchor="ctr"/>
          <a:lstStyle/>
          <a:p>
            <a:pPr algn="ctr" indent="0" marL="0">
              <a:buNone/>
            </a:pPr>
            <a:r>
              <a:rPr lang="en-US" sz="700" b="1" dirty="0">
                <a:solidFill>
                  <a:srgbClr val="FFFFFF"/>
                </a:solidFill>
              </a:rPr>
              <a:t>SAP DOES</a:t>
            </a:r>
            <a:endParaRPr lang="en-US" sz="700" dirty="0"/>
          </a:p>
        </p:txBody>
      </p:sp>
      <p:sp>
        <p:nvSpPr>
          <p:cNvPr id="97" name="Text 95"/>
          <p:cNvSpPr/>
          <p:nvPr/>
        </p:nvSpPr>
        <p:spPr>
          <a:xfrm>
            <a:off x="10186416" y="3959352"/>
            <a:ext cx="1828800" cy="1005840"/>
          </a:xfrm>
          <a:prstGeom prst="rect">
            <a:avLst/>
          </a:prstGeom>
          <a:noFill/>
          <a:ln/>
        </p:spPr>
        <p:txBody>
          <a:bodyPr wrap="square" lIns="0" tIns="0" rIns="0" bIns="0" rtlCol="0" anchor="ctr"/>
          <a:lstStyle/>
          <a:p>
            <a:pPr indent="0" marL="0">
              <a:buNone/>
            </a:pPr>
            <a:r>
              <a:rPr lang="en-US" sz="760" dirty="0">
                <a:solidFill>
                  <a:srgbClr val="0D47A1"/>
                </a:solidFill>
              </a:rPr>
              <a:t>Takes over all managed ops: patching, upgrades, backups, SLA monitoring</a:t>
            </a:r>
            <a:endParaRPr lang="en-US" sz="760" dirty="0"/>
          </a:p>
        </p:txBody>
      </p:sp>
      <p:sp>
        <p:nvSpPr>
          <p:cNvPr id="98" name="Shape 96"/>
          <p:cNvSpPr/>
          <p:nvPr/>
        </p:nvSpPr>
        <p:spPr>
          <a:xfrm>
            <a:off x="10122408" y="5038344"/>
            <a:ext cx="1920240" cy="1600200"/>
          </a:xfrm>
          <a:prstGeom prst="rect">
            <a:avLst/>
          </a:prstGeom>
          <a:solidFill>
            <a:srgbClr val="E0F2F1"/>
          </a:solidFill>
          <a:ln/>
          <a:effectLst>
            <a:outerShdw sx="100000" sy="100000" kx="0" ky="0" algn="bl" rotWithShape="0" blurRad="101600" dist="25400" dir="8100000">
              <a:srgbClr val="000000">
                <a:alpha val="9000"/>
              </a:srgbClr>
            </a:outerShdw>
          </a:effectLst>
        </p:spPr>
      </p:sp>
      <p:sp>
        <p:nvSpPr>
          <p:cNvPr id="99" name="Shape 97"/>
          <p:cNvSpPr/>
          <p:nvPr/>
        </p:nvSpPr>
        <p:spPr>
          <a:xfrm>
            <a:off x="10122408" y="5038344"/>
            <a:ext cx="1920240" cy="237744"/>
          </a:xfrm>
          <a:prstGeom prst="rect">
            <a:avLst/>
          </a:prstGeom>
          <a:solidFill>
            <a:srgbClr val="00695C"/>
          </a:solidFill>
          <a:ln/>
        </p:spPr>
      </p:sp>
      <p:sp>
        <p:nvSpPr>
          <p:cNvPr id="100" name="Text 98"/>
          <p:cNvSpPr/>
          <p:nvPr/>
        </p:nvSpPr>
        <p:spPr>
          <a:xfrm>
            <a:off x="10122408" y="5038344"/>
            <a:ext cx="1920240" cy="237744"/>
          </a:xfrm>
          <a:prstGeom prst="rect">
            <a:avLst/>
          </a:prstGeom>
          <a:noFill/>
          <a:ln/>
        </p:spPr>
        <p:txBody>
          <a:bodyPr wrap="square" lIns="0" tIns="0" rIns="0" bIns="0" rtlCol="0" anchor="ctr"/>
          <a:lstStyle/>
          <a:p>
            <a:pPr algn="ctr" indent="0" marL="0">
              <a:buNone/>
            </a:pPr>
            <a:r>
              <a:rPr lang="en-US" sz="700" b="1" dirty="0">
                <a:solidFill>
                  <a:srgbClr val="FFFFFF"/>
                </a:solidFill>
              </a:rPr>
              <a:t>YOUR TEAM DOES</a:t>
            </a:r>
            <a:endParaRPr lang="en-US" sz="700" dirty="0"/>
          </a:p>
        </p:txBody>
      </p:sp>
      <p:sp>
        <p:nvSpPr>
          <p:cNvPr id="101" name="Text 99"/>
          <p:cNvSpPr/>
          <p:nvPr/>
        </p:nvSpPr>
        <p:spPr>
          <a:xfrm>
            <a:off x="10186416" y="5303520"/>
            <a:ext cx="1828800" cy="1307592"/>
          </a:xfrm>
          <a:prstGeom prst="rect">
            <a:avLst/>
          </a:prstGeom>
          <a:noFill/>
          <a:ln/>
        </p:spPr>
        <p:txBody>
          <a:bodyPr wrap="square" lIns="0" tIns="0" rIns="0" bIns="0" rtlCol="0" anchor="ctr"/>
          <a:lstStyle/>
          <a:p>
            <a:pPr indent="0" marL="0">
              <a:buNone/>
            </a:pPr>
            <a:r>
              <a:rPr lang="en-US" sz="760" dirty="0">
                <a:solidFill>
                  <a:srgbClr val="004D40"/>
                </a:solidFill>
              </a:rPr>
              <a:t>Hypercare · Issue resolution · Knowledge transfer to customer team</a:t>
            </a:r>
            <a:endParaRPr lang="en-US" sz="76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D"/>
        </a:solidFill>
      </p:bgPr>
    </p:bg>
    <p:spTree>
      <p:nvGrpSpPr>
        <p:cNvPr id="1" name=""/>
        <p:cNvGrpSpPr/>
        <p:nvPr/>
      </p:nvGrpSpPr>
      <p:grpSpPr>
        <a:xfrm>
          <a:off x="0" y="0"/>
          <a:ext cx="0" cy="0"/>
          <a:chOff x="0" y="0"/>
          <a:chExt cx="0" cy="0"/>
        </a:xfrm>
      </p:grpSpPr>
      <p:sp>
        <p:nvSpPr>
          <p:cNvPr id="2" name="Shape 0"/>
          <p:cNvSpPr/>
          <p:nvPr/>
        </p:nvSpPr>
        <p:spPr>
          <a:xfrm>
            <a:off x="0" y="0"/>
            <a:ext cx="12161520" cy="749808"/>
          </a:xfrm>
          <a:prstGeom prst="rect">
            <a:avLst/>
          </a:prstGeom>
          <a:solidFill>
            <a:srgbClr val="0D1B2A"/>
          </a:solidFill>
          <a:ln/>
        </p:spPr>
      </p:sp>
      <p:sp>
        <p:nvSpPr>
          <p:cNvPr id="3" name="Shape 1"/>
          <p:cNvSpPr/>
          <p:nvPr/>
        </p:nvSpPr>
        <p:spPr>
          <a:xfrm>
            <a:off x="0" y="0"/>
            <a:ext cx="274320" cy="749808"/>
          </a:xfrm>
          <a:prstGeom prst="rect">
            <a:avLst/>
          </a:prstGeom>
          <a:solidFill>
            <a:srgbClr val="4527A0"/>
          </a:solidFill>
          <a:ln/>
        </p:spPr>
      </p:sp>
      <p:sp>
        <p:nvSpPr>
          <p:cNvPr id="4" name="Text 2"/>
          <p:cNvSpPr/>
          <p:nvPr/>
        </p:nvSpPr>
        <p:spPr>
          <a:xfrm>
            <a:off x="457200" y="0"/>
            <a:ext cx="11521440" cy="749808"/>
          </a:xfrm>
          <a:prstGeom prst="rect">
            <a:avLst/>
          </a:prstGeom>
          <a:noFill/>
          <a:ln/>
        </p:spPr>
        <p:txBody>
          <a:bodyPr wrap="square" lIns="0" tIns="0" rIns="0" bIns="0" rtlCol="0" anchor="ctr"/>
          <a:lstStyle/>
          <a:p>
            <a:pPr indent="0" marL="0">
              <a:buNone/>
            </a:pPr>
            <a:r>
              <a:rPr lang="en-US" sz="1350" b="1" spc="60" kern="0" dirty="0">
                <a:solidFill>
                  <a:srgbClr val="FFFFFF"/>
                </a:solidFill>
              </a:rPr>
              <a:t>PART 1  |  PHASE 4 DEEP DIVE — SUM+DMO: THE TECHNICAL ENGINE THAT DOES THE CONVERSION</a:t>
            </a:r>
            <a:endParaRPr lang="en-US" sz="1350" dirty="0"/>
          </a:p>
        </p:txBody>
      </p:sp>
      <p:sp>
        <p:nvSpPr>
          <p:cNvPr id="5" name="Shape 3"/>
          <p:cNvSpPr/>
          <p:nvPr/>
        </p:nvSpPr>
        <p:spPr>
          <a:xfrm>
            <a:off x="201168" y="822960"/>
            <a:ext cx="11750040" cy="822960"/>
          </a:xfrm>
          <a:prstGeom prst="rect">
            <a:avLst/>
          </a:prstGeom>
          <a:solidFill>
            <a:srgbClr val="EDE7F6"/>
          </a:solidFill>
          <a:ln/>
        </p:spPr>
      </p:sp>
      <p:sp>
        <p:nvSpPr>
          <p:cNvPr id="6" name="Shape 4"/>
          <p:cNvSpPr/>
          <p:nvPr/>
        </p:nvSpPr>
        <p:spPr>
          <a:xfrm>
            <a:off x="201168" y="822960"/>
            <a:ext cx="64008" cy="822960"/>
          </a:xfrm>
          <a:prstGeom prst="rect">
            <a:avLst/>
          </a:prstGeom>
          <a:solidFill>
            <a:srgbClr val="4527A0"/>
          </a:solidFill>
          <a:ln/>
        </p:spPr>
      </p:sp>
      <p:sp>
        <p:nvSpPr>
          <p:cNvPr id="7" name="Text 5"/>
          <p:cNvSpPr/>
          <p:nvPr/>
        </p:nvSpPr>
        <p:spPr>
          <a:xfrm>
            <a:off x="365760" y="850392"/>
            <a:ext cx="11430000" cy="256032"/>
          </a:xfrm>
          <a:prstGeom prst="rect">
            <a:avLst/>
          </a:prstGeom>
          <a:noFill/>
          <a:ln/>
        </p:spPr>
        <p:txBody>
          <a:bodyPr wrap="square" lIns="0" tIns="0" rIns="0" bIns="0" rtlCol="0" anchor="ctr"/>
          <a:lstStyle/>
          <a:p>
            <a:pPr indent="0" marL="0">
              <a:buNone/>
            </a:pPr>
            <a:r>
              <a:rPr lang="en-US" sz="1100" b="1" dirty="0">
                <a:solidFill>
                  <a:srgbClr val="4527A0"/>
                </a:solidFill>
              </a:rPr>
              <a:t>What is SUM+DMO?</a:t>
            </a:r>
            <a:endParaRPr lang="en-US" sz="1100" dirty="0"/>
          </a:p>
        </p:txBody>
      </p:sp>
      <p:sp>
        <p:nvSpPr>
          <p:cNvPr id="8" name="Text 6"/>
          <p:cNvSpPr/>
          <p:nvPr/>
        </p:nvSpPr>
        <p:spPr>
          <a:xfrm>
            <a:off x="365760" y="1124712"/>
            <a:ext cx="11430000" cy="475488"/>
          </a:xfrm>
          <a:prstGeom prst="rect">
            <a:avLst/>
          </a:prstGeom>
          <a:noFill/>
          <a:ln/>
        </p:spPr>
        <p:txBody>
          <a:bodyPr wrap="square" lIns="0" tIns="0" rIns="0" bIns="0" rtlCol="0" anchor="ctr"/>
          <a:lstStyle/>
          <a:p>
            <a:pPr indent="0" marL="0">
              <a:buNone/>
            </a:pPr>
            <a:r>
              <a:rPr lang="en-US" sz="880" dirty="0">
                <a:solidFill>
                  <a:srgbClr val="1E293B"/>
                </a:solidFill>
              </a:rPr>
              <a:t>SUM = Software Update Manager (SAP's core upgrade engine)  ·  DMO = Database Migration Option (the module that simultaneously migrates the database to HANA).</a:t>
            </a:r>
            <a:endParaRPr lang="en-US" sz="880" dirty="0"/>
          </a:p>
          <a:p>
            <a:pPr indent="0" marL="0">
              <a:buNone/>
            </a:pPr>
            <a:r>
              <a:rPr lang="en-US" sz="880" dirty="0">
                <a:solidFill>
                  <a:srgbClr val="1E293B"/>
                </a:solidFill>
              </a:rPr>
              <a:t>In one single automated run SUM+DMO does: (1) Upgrades the SAP software from ECC → S/4HANA  ·  (2) Converts the database from Oracle / DB2 / SQL Server → SAP HANA  ·  (3) Moves everything to the target GCP environment.</a:t>
            </a:r>
            <a:endParaRPr lang="en-US" sz="880" dirty="0"/>
          </a:p>
        </p:txBody>
      </p:sp>
      <p:sp>
        <p:nvSpPr>
          <p:cNvPr id="9" name="Text 7"/>
          <p:cNvSpPr/>
          <p:nvPr/>
        </p:nvSpPr>
        <p:spPr>
          <a:xfrm>
            <a:off x="228600" y="1737360"/>
            <a:ext cx="11750040" cy="256032"/>
          </a:xfrm>
          <a:prstGeom prst="rect">
            <a:avLst/>
          </a:prstGeom>
          <a:noFill/>
          <a:ln/>
        </p:spPr>
        <p:txBody>
          <a:bodyPr wrap="square" lIns="0" tIns="0" rIns="0" bIns="0" rtlCol="0" anchor="ctr"/>
          <a:lstStyle/>
          <a:p>
            <a:pPr indent="0" marL="0">
              <a:buNone/>
            </a:pPr>
            <a:r>
              <a:rPr lang="en-US" sz="950" b="1" dirty="0">
                <a:solidFill>
                  <a:srgbClr val="4527A0"/>
                </a:solidFill>
              </a:rPr>
              <a:t>TWO EXECUTION MODES — CHOOSE BASED ON YOUR SCENARIO:</a:t>
            </a:r>
            <a:endParaRPr lang="en-US" sz="950" dirty="0"/>
          </a:p>
        </p:txBody>
      </p:sp>
      <p:sp>
        <p:nvSpPr>
          <p:cNvPr id="10" name="Shape 8"/>
          <p:cNvSpPr/>
          <p:nvPr/>
        </p:nvSpPr>
        <p:spPr>
          <a:xfrm>
            <a:off x="201168" y="2048256"/>
            <a:ext cx="5760720" cy="4681728"/>
          </a:xfrm>
          <a:prstGeom prst="rect">
            <a:avLst/>
          </a:prstGeom>
          <a:solidFill>
            <a:srgbClr val="FFFFFF"/>
          </a:solidFill>
          <a:ln/>
          <a:effectLst>
            <a:outerShdw sx="100000" sy="100000" kx="0" ky="0" algn="bl" rotWithShape="0" blurRad="101600" dist="25400" dir="8100000">
              <a:srgbClr val="000000">
                <a:alpha val="9000"/>
              </a:srgbClr>
            </a:outerShdw>
          </a:effectLst>
        </p:spPr>
      </p:sp>
      <p:sp>
        <p:nvSpPr>
          <p:cNvPr id="11" name="Shape 9"/>
          <p:cNvSpPr/>
          <p:nvPr/>
        </p:nvSpPr>
        <p:spPr>
          <a:xfrm>
            <a:off x="201168" y="2048256"/>
            <a:ext cx="5760720" cy="402336"/>
          </a:xfrm>
          <a:prstGeom prst="rect">
            <a:avLst/>
          </a:prstGeom>
          <a:solidFill>
            <a:srgbClr val="1565C0"/>
          </a:solidFill>
          <a:ln/>
        </p:spPr>
      </p:sp>
      <p:sp>
        <p:nvSpPr>
          <p:cNvPr id="12" name="Text 10"/>
          <p:cNvSpPr/>
          <p:nvPr/>
        </p:nvSpPr>
        <p:spPr>
          <a:xfrm>
            <a:off x="310896" y="2048256"/>
            <a:ext cx="5559552" cy="402336"/>
          </a:xfrm>
          <a:prstGeom prst="rect">
            <a:avLst/>
          </a:prstGeom>
          <a:noFill/>
          <a:ln/>
        </p:spPr>
        <p:txBody>
          <a:bodyPr wrap="square" lIns="0" tIns="0" rIns="0" bIns="0" rtlCol="0" anchor="ctr"/>
          <a:lstStyle/>
          <a:p>
            <a:pPr indent="0" marL="0">
              <a:buNone/>
            </a:pPr>
            <a:r>
              <a:rPr lang="en-US" sz="1000" b="1" dirty="0">
                <a:solidFill>
                  <a:srgbClr val="FFFFFF"/>
                </a:solidFill>
              </a:rPr>
              <a:t>MODE A — DMO with System Move (Standard)</a:t>
            </a:r>
            <a:endParaRPr lang="en-US" sz="1000" dirty="0"/>
          </a:p>
        </p:txBody>
      </p:sp>
      <p:sp>
        <p:nvSpPr>
          <p:cNvPr id="13" name="Shape 11"/>
          <p:cNvSpPr/>
          <p:nvPr/>
        </p:nvSpPr>
        <p:spPr>
          <a:xfrm>
            <a:off x="310896" y="2496312"/>
            <a:ext cx="5541264" cy="228600"/>
          </a:xfrm>
          <a:prstGeom prst="rect">
            <a:avLst/>
          </a:prstGeom>
          <a:solidFill>
            <a:srgbClr val="E3F2FD"/>
          </a:solidFill>
          <a:ln/>
        </p:spPr>
      </p:sp>
      <p:sp>
        <p:nvSpPr>
          <p:cNvPr id="14" name="Text 12"/>
          <p:cNvSpPr/>
          <p:nvPr/>
        </p:nvSpPr>
        <p:spPr>
          <a:xfrm>
            <a:off x="365760" y="2496312"/>
            <a:ext cx="5449824" cy="228600"/>
          </a:xfrm>
          <a:prstGeom prst="rect">
            <a:avLst/>
          </a:prstGeom>
          <a:noFill/>
          <a:ln/>
        </p:spPr>
        <p:txBody>
          <a:bodyPr wrap="square" lIns="0" tIns="0" rIns="0" bIns="0" rtlCol="0" anchor="ctr"/>
          <a:lstStyle/>
          <a:p>
            <a:pPr indent="0" marL="0">
              <a:buNone/>
            </a:pPr>
            <a:r>
              <a:rPr lang="en-US" sz="780" b="1" dirty="0">
                <a:solidFill>
                  <a:srgbClr val="1565C0"/>
                </a:solidFill>
              </a:rPr>
              <a:t>Best for: Recommended for most KSA ECC → S/4HANA on GCP migrations</a:t>
            </a:r>
            <a:endParaRPr lang="en-US" sz="780" dirty="0"/>
          </a:p>
        </p:txBody>
      </p:sp>
      <p:sp>
        <p:nvSpPr>
          <p:cNvPr id="15" name="Text 13"/>
          <p:cNvSpPr/>
          <p:nvPr/>
        </p:nvSpPr>
        <p:spPr>
          <a:xfrm>
            <a:off x="310896" y="2779776"/>
            <a:ext cx="5559552" cy="201168"/>
          </a:xfrm>
          <a:prstGeom prst="rect">
            <a:avLst/>
          </a:prstGeom>
          <a:noFill/>
          <a:ln/>
        </p:spPr>
        <p:txBody>
          <a:bodyPr wrap="square" lIns="0" tIns="0" rIns="0" bIns="0" rtlCol="0" anchor="ctr"/>
          <a:lstStyle/>
          <a:p>
            <a:pPr indent="0" marL="0">
              <a:buNone/>
            </a:pPr>
            <a:r>
              <a:rPr lang="en-US" sz="750" b="1" dirty="0">
                <a:solidFill>
                  <a:srgbClr val="1565C0"/>
                </a:solidFill>
              </a:rPr>
              <a:t>HOW IT WORKS — STEP BY STEP:</a:t>
            </a:r>
            <a:endParaRPr lang="en-US" sz="750" dirty="0"/>
          </a:p>
        </p:txBody>
      </p:sp>
      <p:sp>
        <p:nvSpPr>
          <p:cNvPr id="16" name="Shape 14"/>
          <p:cNvSpPr/>
          <p:nvPr/>
        </p:nvSpPr>
        <p:spPr>
          <a:xfrm>
            <a:off x="329184" y="3017520"/>
            <a:ext cx="256032" cy="256032"/>
          </a:xfrm>
          <a:prstGeom prst="ellipse">
            <a:avLst/>
          </a:prstGeom>
          <a:solidFill>
            <a:srgbClr val="1565C0"/>
          </a:solidFill>
          <a:ln/>
        </p:spPr>
      </p:sp>
      <p:sp>
        <p:nvSpPr>
          <p:cNvPr id="17" name="Text 15"/>
          <p:cNvSpPr/>
          <p:nvPr/>
        </p:nvSpPr>
        <p:spPr>
          <a:xfrm>
            <a:off x="329184" y="301752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rPr>
              <a:t>1</a:t>
            </a:r>
            <a:endParaRPr lang="en-US" sz="900" dirty="0"/>
          </a:p>
        </p:txBody>
      </p:sp>
      <p:sp>
        <p:nvSpPr>
          <p:cNvPr id="18" name="Text 16"/>
          <p:cNvSpPr/>
          <p:nvPr/>
        </p:nvSpPr>
        <p:spPr>
          <a:xfrm>
            <a:off x="658368" y="3017520"/>
            <a:ext cx="5175504" cy="411480"/>
          </a:xfrm>
          <a:prstGeom prst="rect">
            <a:avLst/>
          </a:prstGeom>
          <a:noFill/>
          <a:ln/>
        </p:spPr>
        <p:txBody>
          <a:bodyPr wrap="square" lIns="0" tIns="0" rIns="0" bIns="0" rtlCol="0" anchor="ctr"/>
          <a:lstStyle/>
          <a:p>
            <a:pPr indent="0" marL="0">
              <a:buNone/>
            </a:pPr>
            <a:r>
              <a:rPr lang="en-US" sz="800" dirty="0">
                <a:solidFill>
                  <a:srgbClr val="37474F"/>
                </a:solidFill>
              </a:rPr>
              <a:t>SUM+DMO starts running on the source ECC system (still on-premise)</a:t>
            </a:r>
            <a:endParaRPr lang="en-US" sz="800" dirty="0"/>
          </a:p>
        </p:txBody>
      </p:sp>
      <p:sp>
        <p:nvSpPr>
          <p:cNvPr id="19" name="Shape 17"/>
          <p:cNvSpPr/>
          <p:nvPr/>
        </p:nvSpPr>
        <p:spPr>
          <a:xfrm>
            <a:off x="329184" y="3474720"/>
            <a:ext cx="256032" cy="256032"/>
          </a:xfrm>
          <a:prstGeom prst="ellipse">
            <a:avLst/>
          </a:prstGeom>
          <a:solidFill>
            <a:srgbClr val="1565C0"/>
          </a:solidFill>
          <a:ln/>
        </p:spPr>
      </p:sp>
      <p:sp>
        <p:nvSpPr>
          <p:cNvPr id="20" name="Text 18"/>
          <p:cNvSpPr/>
          <p:nvPr/>
        </p:nvSpPr>
        <p:spPr>
          <a:xfrm>
            <a:off x="329184" y="347472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rPr>
              <a:t>2</a:t>
            </a:r>
            <a:endParaRPr lang="en-US" sz="900" dirty="0"/>
          </a:p>
        </p:txBody>
      </p:sp>
      <p:sp>
        <p:nvSpPr>
          <p:cNvPr id="21" name="Text 19"/>
          <p:cNvSpPr/>
          <p:nvPr/>
        </p:nvSpPr>
        <p:spPr>
          <a:xfrm>
            <a:off x="658368" y="3474720"/>
            <a:ext cx="5175504" cy="411480"/>
          </a:xfrm>
          <a:prstGeom prst="rect">
            <a:avLst/>
          </a:prstGeom>
          <a:noFill/>
          <a:ln/>
        </p:spPr>
        <p:txBody>
          <a:bodyPr wrap="square" lIns="0" tIns="0" rIns="0" bIns="0" rtlCol="0" anchor="ctr"/>
          <a:lstStyle/>
          <a:p>
            <a:pPr indent="0" marL="0">
              <a:buNone/>
            </a:pPr>
            <a:r>
              <a:rPr lang="en-US" sz="800" dirty="0">
                <a:solidFill>
                  <a:srgbClr val="37474F"/>
                </a:solidFill>
              </a:rPr>
              <a:t>The tool performs the software upgrade and DB conversion simultaneously on the new GCP HANA target</a:t>
            </a:r>
            <a:endParaRPr lang="en-US" sz="800" dirty="0"/>
          </a:p>
        </p:txBody>
      </p:sp>
      <p:sp>
        <p:nvSpPr>
          <p:cNvPr id="22" name="Shape 20"/>
          <p:cNvSpPr/>
          <p:nvPr/>
        </p:nvSpPr>
        <p:spPr>
          <a:xfrm>
            <a:off x="329184" y="3931920"/>
            <a:ext cx="256032" cy="256032"/>
          </a:xfrm>
          <a:prstGeom prst="ellipse">
            <a:avLst/>
          </a:prstGeom>
          <a:solidFill>
            <a:srgbClr val="1565C0"/>
          </a:solidFill>
          <a:ln/>
        </p:spPr>
      </p:sp>
      <p:sp>
        <p:nvSpPr>
          <p:cNvPr id="23" name="Text 21"/>
          <p:cNvSpPr/>
          <p:nvPr/>
        </p:nvSpPr>
        <p:spPr>
          <a:xfrm>
            <a:off x="329184" y="393192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rPr>
              <a:t>3</a:t>
            </a:r>
            <a:endParaRPr lang="en-US" sz="900" dirty="0"/>
          </a:p>
        </p:txBody>
      </p:sp>
      <p:sp>
        <p:nvSpPr>
          <p:cNvPr id="24" name="Text 22"/>
          <p:cNvSpPr/>
          <p:nvPr/>
        </p:nvSpPr>
        <p:spPr>
          <a:xfrm>
            <a:off x="658368" y="3931920"/>
            <a:ext cx="5175504" cy="411480"/>
          </a:xfrm>
          <a:prstGeom prst="rect">
            <a:avLst/>
          </a:prstGeom>
          <a:noFill/>
          <a:ln/>
        </p:spPr>
        <p:txBody>
          <a:bodyPr wrap="square" lIns="0" tIns="0" rIns="0" bIns="0" rtlCol="0" anchor="ctr"/>
          <a:lstStyle/>
          <a:p>
            <a:pPr indent="0" marL="0">
              <a:buNone/>
            </a:pPr>
            <a:r>
              <a:rPr lang="en-US" sz="800" dirty="0">
                <a:solidFill>
                  <a:srgbClr val="37474F"/>
                </a:solidFill>
              </a:rPr>
              <a:t>Data transfers across the VPN tunnel from on-prem to GCP during the conversion run</a:t>
            </a:r>
            <a:endParaRPr lang="en-US" sz="800" dirty="0"/>
          </a:p>
        </p:txBody>
      </p:sp>
      <p:sp>
        <p:nvSpPr>
          <p:cNvPr id="25" name="Shape 23"/>
          <p:cNvSpPr/>
          <p:nvPr/>
        </p:nvSpPr>
        <p:spPr>
          <a:xfrm>
            <a:off x="329184" y="4389120"/>
            <a:ext cx="256032" cy="256032"/>
          </a:xfrm>
          <a:prstGeom prst="ellipse">
            <a:avLst/>
          </a:prstGeom>
          <a:solidFill>
            <a:srgbClr val="1565C0"/>
          </a:solidFill>
          <a:ln/>
        </p:spPr>
      </p:sp>
      <p:sp>
        <p:nvSpPr>
          <p:cNvPr id="26" name="Text 24"/>
          <p:cNvSpPr/>
          <p:nvPr/>
        </p:nvSpPr>
        <p:spPr>
          <a:xfrm>
            <a:off x="329184" y="438912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rPr>
              <a:t>4</a:t>
            </a:r>
            <a:endParaRPr lang="en-US" sz="900" dirty="0"/>
          </a:p>
        </p:txBody>
      </p:sp>
      <p:sp>
        <p:nvSpPr>
          <p:cNvPr id="27" name="Text 25"/>
          <p:cNvSpPr/>
          <p:nvPr/>
        </p:nvSpPr>
        <p:spPr>
          <a:xfrm>
            <a:off x="658368" y="4389120"/>
            <a:ext cx="5175504" cy="411480"/>
          </a:xfrm>
          <a:prstGeom prst="rect">
            <a:avLst/>
          </a:prstGeom>
          <a:noFill/>
          <a:ln/>
        </p:spPr>
        <p:txBody>
          <a:bodyPr wrap="square" lIns="0" tIns="0" rIns="0" bIns="0" rtlCol="0" anchor="ctr"/>
          <a:lstStyle/>
          <a:p>
            <a:pPr indent="0" marL="0">
              <a:buNone/>
            </a:pPr>
            <a:r>
              <a:rPr lang="en-US" sz="800" dirty="0">
                <a:solidFill>
                  <a:srgbClr val="37474F"/>
                </a:solidFill>
              </a:rPr>
              <a:t>Once complete, the GCP S/4HANA instance is the new production system</a:t>
            </a:r>
            <a:endParaRPr lang="en-US" sz="800" dirty="0"/>
          </a:p>
        </p:txBody>
      </p:sp>
      <p:sp>
        <p:nvSpPr>
          <p:cNvPr id="28" name="Shape 26"/>
          <p:cNvSpPr/>
          <p:nvPr/>
        </p:nvSpPr>
        <p:spPr>
          <a:xfrm>
            <a:off x="329184" y="4846320"/>
            <a:ext cx="256032" cy="256032"/>
          </a:xfrm>
          <a:prstGeom prst="ellipse">
            <a:avLst/>
          </a:prstGeom>
          <a:solidFill>
            <a:srgbClr val="1565C0"/>
          </a:solidFill>
          <a:ln/>
        </p:spPr>
      </p:sp>
      <p:sp>
        <p:nvSpPr>
          <p:cNvPr id="29" name="Text 27"/>
          <p:cNvSpPr/>
          <p:nvPr/>
        </p:nvSpPr>
        <p:spPr>
          <a:xfrm>
            <a:off x="329184" y="484632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rPr>
              <a:t>5</a:t>
            </a:r>
            <a:endParaRPr lang="en-US" sz="900" dirty="0"/>
          </a:p>
        </p:txBody>
      </p:sp>
      <p:sp>
        <p:nvSpPr>
          <p:cNvPr id="30" name="Text 28"/>
          <p:cNvSpPr/>
          <p:nvPr/>
        </p:nvSpPr>
        <p:spPr>
          <a:xfrm>
            <a:off x="658368" y="4846320"/>
            <a:ext cx="5175504" cy="411480"/>
          </a:xfrm>
          <a:prstGeom prst="rect">
            <a:avLst/>
          </a:prstGeom>
          <a:noFill/>
          <a:ln/>
        </p:spPr>
        <p:txBody>
          <a:bodyPr wrap="square" lIns="0" tIns="0" rIns="0" bIns="0" rtlCol="0" anchor="ctr"/>
          <a:lstStyle/>
          <a:p>
            <a:pPr indent="0" marL="0">
              <a:buNone/>
            </a:pPr>
            <a:r>
              <a:rPr lang="en-US" sz="800" dirty="0">
                <a:solidFill>
                  <a:srgbClr val="37474F"/>
                </a:solidFill>
              </a:rPr>
              <a:t>The old on-premise system is decommissioned after validation</a:t>
            </a:r>
            <a:endParaRPr lang="en-US" sz="800" dirty="0"/>
          </a:p>
        </p:txBody>
      </p:sp>
      <p:sp>
        <p:nvSpPr>
          <p:cNvPr id="31" name="Shape 29"/>
          <p:cNvSpPr/>
          <p:nvPr/>
        </p:nvSpPr>
        <p:spPr>
          <a:xfrm>
            <a:off x="310896" y="5413248"/>
            <a:ext cx="5541264" cy="246888"/>
          </a:xfrm>
          <a:prstGeom prst="rect">
            <a:avLst/>
          </a:prstGeom>
          <a:solidFill>
            <a:srgbClr val="E3F2FD"/>
          </a:solidFill>
          <a:ln/>
        </p:spPr>
      </p:sp>
      <p:sp>
        <p:nvSpPr>
          <p:cNvPr id="32" name="Text 30"/>
          <p:cNvSpPr/>
          <p:nvPr/>
        </p:nvSpPr>
        <p:spPr>
          <a:xfrm>
            <a:off x="365760" y="5413248"/>
            <a:ext cx="5449824" cy="246888"/>
          </a:xfrm>
          <a:prstGeom prst="rect">
            <a:avLst/>
          </a:prstGeom>
          <a:noFill/>
          <a:ln/>
        </p:spPr>
        <p:txBody>
          <a:bodyPr wrap="square" lIns="0" tIns="0" rIns="0" bIns="0" rtlCol="0" anchor="ctr"/>
          <a:lstStyle/>
          <a:p>
            <a:pPr indent="0" marL="0">
              <a:buNone/>
            </a:pPr>
            <a:r>
              <a:rPr lang="en-US" sz="780" dirty="0">
                <a:solidFill>
                  <a:srgbClr val="1565C0"/>
                </a:solidFill>
              </a:rPr>
              <a:t>⏱  Downtime: typically 30–80 hours during conversion weekend</a:t>
            </a:r>
            <a:endParaRPr lang="en-US" sz="780" dirty="0"/>
          </a:p>
        </p:txBody>
      </p:sp>
      <p:sp>
        <p:nvSpPr>
          <p:cNvPr id="33" name="Shape 31"/>
          <p:cNvSpPr/>
          <p:nvPr/>
        </p:nvSpPr>
        <p:spPr>
          <a:xfrm>
            <a:off x="310896" y="5705856"/>
            <a:ext cx="5541264" cy="246888"/>
          </a:xfrm>
          <a:prstGeom prst="rect">
            <a:avLst/>
          </a:prstGeom>
          <a:solidFill>
            <a:srgbClr val="F1F5F9"/>
          </a:solidFill>
          <a:ln/>
        </p:spPr>
      </p:sp>
      <p:sp>
        <p:nvSpPr>
          <p:cNvPr id="34" name="Text 32"/>
          <p:cNvSpPr/>
          <p:nvPr/>
        </p:nvSpPr>
        <p:spPr>
          <a:xfrm>
            <a:off x="365760" y="5705856"/>
            <a:ext cx="5449824" cy="246888"/>
          </a:xfrm>
          <a:prstGeom prst="rect">
            <a:avLst/>
          </a:prstGeom>
          <a:noFill/>
          <a:ln/>
        </p:spPr>
        <p:txBody>
          <a:bodyPr wrap="square" lIns="0" tIns="0" rIns="0" bIns="0" rtlCol="0" anchor="ctr"/>
          <a:lstStyle/>
          <a:p>
            <a:pPr indent="0" marL="0">
              <a:buNone/>
            </a:pPr>
            <a:r>
              <a:rPr lang="en-US" sz="780" dirty="0">
                <a:solidFill>
                  <a:srgbClr val="37474F"/>
                </a:solidFill>
              </a:rPr>
              <a:t>⚠  Risk: Main risk: network bandwidth between on-prem and GCP. Larger DB = longer transfer.</a:t>
            </a:r>
            <a:endParaRPr lang="en-US" sz="780" dirty="0"/>
          </a:p>
        </p:txBody>
      </p:sp>
      <p:sp>
        <p:nvSpPr>
          <p:cNvPr id="35" name="Shape 33"/>
          <p:cNvSpPr/>
          <p:nvPr/>
        </p:nvSpPr>
        <p:spPr>
          <a:xfrm>
            <a:off x="6190488" y="2048256"/>
            <a:ext cx="5760720" cy="4681728"/>
          </a:xfrm>
          <a:prstGeom prst="rect">
            <a:avLst/>
          </a:prstGeom>
          <a:solidFill>
            <a:srgbClr val="FFFFFF"/>
          </a:solidFill>
          <a:ln/>
          <a:effectLst>
            <a:outerShdw sx="100000" sy="100000" kx="0" ky="0" algn="bl" rotWithShape="0" blurRad="101600" dist="25400" dir="8100000">
              <a:srgbClr val="000000">
                <a:alpha val="9000"/>
              </a:srgbClr>
            </a:outerShdw>
          </a:effectLst>
        </p:spPr>
      </p:sp>
      <p:sp>
        <p:nvSpPr>
          <p:cNvPr id="36" name="Shape 34"/>
          <p:cNvSpPr/>
          <p:nvPr/>
        </p:nvSpPr>
        <p:spPr>
          <a:xfrm>
            <a:off x="6190488" y="2048256"/>
            <a:ext cx="5760720" cy="402336"/>
          </a:xfrm>
          <a:prstGeom prst="rect">
            <a:avLst/>
          </a:prstGeom>
          <a:solidFill>
            <a:srgbClr val="00695C"/>
          </a:solidFill>
          <a:ln/>
        </p:spPr>
      </p:sp>
      <p:sp>
        <p:nvSpPr>
          <p:cNvPr id="37" name="Text 35"/>
          <p:cNvSpPr/>
          <p:nvPr/>
        </p:nvSpPr>
        <p:spPr>
          <a:xfrm>
            <a:off x="6300216" y="2048256"/>
            <a:ext cx="5559552" cy="402336"/>
          </a:xfrm>
          <a:prstGeom prst="rect">
            <a:avLst/>
          </a:prstGeom>
          <a:noFill/>
          <a:ln/>
        </p:spPr>
        <p:txBody>
          <a:bodyPr wrap="square" lIns="0" tIns="0" rIns="0" bIns="0" rtlCol="0" anchor="ctr"/>
          <a:lstStyle/>
          <a:p>
            <a:pPr indent="0" marL="0">
              <a:buNone/>
            </a:pPr>
            <a:r>
              <a:rPr lang="en-US" sz="1000" b="1" dirty="0">
                <a:solidFill>
                  <a:srgbClr val="FFFFFF"/>
                </a:solidFill>
              </a:rPr>
              <a:t>MODE B — DMOVE2S4 (Hyperscaler-Optimised)</a:t>
            </a:r>
            <a:endParaRPr lang="en-US" sz="1000" dirty="0"/>
          </a:p>
        </p:txBody>
      </p:sp>
      <p:sp>
        <p:nvSpPr>
          <p:cNvPr id="38" name="Shape 36"/>
          <p:cNvSpPr/>
          <p:nvPr/>
        </p:nvSpPr>
        <p:spPr>
          <a:xfrm>
            <a:off x="6300216" y="2496312"/>
            <a:ext cx="5541264" cy="228600"/>
          </a:xfrm>
          <a:prstGeom prst="rect">
            <a:avLst/>
          </a:prstGeom>
          <a:solidFill>
            <a:srgbClr val="E0F2F1"/>
          </a:solidFill>
          <a:ln/>
        </p:spPr>
      </p:sp>
      <p:sp>
        <p:nvSpPr>
          <p:cNvPr id="39" name="Text 37"/>
          <p:cNvSpPr/>
          <p:nvPr/>
        </p:nvSpPr>
        <p:spPr>
          <a:xfrm>
            <a:off x="6355080" y="2496312"/>
            <a:ext cx="5449824" cy="228600"/>
          </a:xfrm>
          <a:prstGeom prst="rect">
            <a:avLst/>
          </a:prstGeom>
          <a:noFill/>
          <a:ln/>
        </p:spPr>
        <p:txBody>
          <a:bodyPr wrap="square" lIns="0" tIns="0" rIns="0" bIns="0" rtlCol="0" anchor="ctr"/>
          <a:lstStyle/>
          <a:p>
            <a:pPr indent="0" marL="0">
              <a:buNone/>
            </a:pPr>
            <a:r>
              <a:rPr lang="en-US" sz="780" b="1" dirty="0">
                <a:solidFill>
                  <a:srgbClr val="00695C"/>
                </a:solidFill>
              </a:rPr>
              <a:t>Best for: SAP's preferred mode when GCP is the destination — reduces downtime by 20–35%</a:t>
            </a:r>
            <a:endParaRPr lang="en-US" sz="780" dirty="0"/>
          </a:p>
        </p:txBody>
      </p:sp>
      <p:sp>
        <p:nvSpPr>
          <p:cNvPr id="40" name="Text 38"/>
          <p:cNvSpPr/>
          <p:nvPr/>
        </p:nvSpPr>
        <p:spPr>
          <a:xfrm>
            <a:off x="6300216" y="2779776"/>
            <a:ext cx="5559552" cy="201168"/>
          </a:xfrm>
          <a:prstGeom prst="rect">
            <a:avLst/>
          </a:prstGeom>
          <a:noFill/>
          <a:ln/>
        </p:spPr>
        <p:txBody>
          <a:bodyPr wrap="square" lIns="0" tIns="0" rIns="0" bIns="0" rtlCol="0" anchor="ctr"/>
          <a:lstStyle/>
          <a:p>
            <a:pPr indent="0" marL="0">
              <a:buNone/>
            </a:pPr>
            <a:r>
              <a:rPr lang="en-US" sz="750" b="1" dirty="0">
                <a:solidFill>
                  <a:srgbClr val="00695C"/>
                </a:solidFill>
              </a:rPr>
              <a:t>HOW IT WORKS — STEP BY STEP:</a:t>
            </a:r>
            <a:endParaRPr lang="en-US" sz="750" dirty="0"/>
          </a:p>
        </p:txBody>
      </p:sp>
      <p:sp>
        <p:nvSpPr>
          <p:cNvPr id="41" name="Shape 39"/>
          <p:cNvSpPr/>
          <p:nvPr/>
        </p:nvSpPr>
        <p:spPr>
          <a:xfrm>
            <a:off x="6318504" y="3017520"/>
            <a:ext cx="256032" cy="256032"/>
          </a:xfrm>
          <a:prstGeom prst="ellipse">
            <a:avLst/>
          </a:prstGeom>
          <a:solidFill>
            <a:srgbClr val="00695C"/>
          </a:solidFill>
          <a:ln/>
        </p:spPr>
      </p:sp>
      <p:sp>
        <p:nvSpPr>
          <p:cNvPr id="42" name="Text 40"/>
          <p:cNvSpPr/>
          <p:nvPr/>
        </p:nvSpPr>
        <p:spPr>
          <a:xfrm>
            <a:off x="6318504" y="301752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rPr>
              <a:t>1</a:t>
            </a:r>
            <a:endParaRPr lang="en-US" sz="900" dirty="0"/>
          </a:p>
        </p:txBody>
      </p:sp>
      <p:sp>
        <p:nvSpPr>
          <p:cNvPr id="43" name="Text 41"/>
          <p:cNvSpPr/>
          <p:nvPr/>
        </p:nvSpPr>
        <p:spPr>
          <a:xfrm>
            <a:off x="6647688" y="3017520"/>
            <a:ext cx="5175504" cy="411480"/>
          </a:xfrm>
          <a:prstGeom prst="rect">
            <a:avLst/>
          </a:prstGeom>
          <a:noFill/>
          <a:ln/>
        </p:spPr>
        <p:txBody>
          <a:bodyPr wrap="square" lIns="0" tIns="0" rIns="0" bIns="0" rtlCol="0" anchor="ctr"/>
          <a:lstStyle/>
          <a:p>
            <a:pPr indent="0" marL="0">
              <a:buNone/>
            </a:pPr>
            <a:r>
              <a:rPr lang="en-US" sz="800" dirty="0">
                <a:solidFill>
                  <a:srgbClr val="37474F"/>
                </a:solidFill>
              </a:rPr>
              <a:t>SUM starts an additional application server that runs IN GCP but still belongs to the source ECC landscape</a:t>
            </a:r>
            <a:endParaRPr lang="en-US" sz="800" dirty="0"/>
          </a:p>
        </p:txBody>
      </p:sp>
      <p:sp>
        <p:nvSpPr>
          <p:cNvPr id="44" name="Shape 42"/>
          <p:cNvSpPr/>
          <p:nvPr/>
        </p:nvSpPr>
        <p:spPr>
          <a:xfrm>
            <a:off x="6318504" y="3474720"/>
            <a:ext cx="256032" cy="256032"/>
          </a:xfrm>
          <a:prstGeom prst="ellipse">
            <a:avLst/>
          </a:prstGeom>
          <a:solidFill>
            <a:srgbClr val="00695C"/>
          </a:solidFill>
          <a:ln/>
        </p:spPr>
      </p:sp>
      <p:sp>
        <p:nvSpPr>
          <p:cNvPr id="45" name="Text 43"/>
          <p:cNvSpPr/>
          <p:nvPr/>
        </p:nvSpPr>
        <p:spPr>
          <a:xfrm>
            <a:off x="6318504" y="347472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rPr>
              <a:t>2</a:t>
            </a:r>
            <a:endParaRPr lang="en-US" sz="900" dirty="0"/>
          </a:p>
        </p:txBody>
      </p:sp>
      <p:sp>
        <p:nvSpPr>
          <p:cNvPr id="46" name="Text 44"/>
          <p:cNvSpPr/>
          <p:nvPr/>
        </p:nvSpPr>
        <p:spPr>
          <a:xfrm>
            <a:off x="6647688" y="3474720"/>
            <a:ext cx="5175504" cy="411480"/>
          </a:xfrm>
          <a:prstGeom prst="rect">
            <a:avLst/>
          </a:prstGeom>
          <a:noFill/>
          <a:ln/>
        </p:spPr>
        <p:txBody>
          <a:bodyPr wrap="square" lIns="0" tIns="0" rIns="0" bIns="0" rtlCol="0" anchor="ctr"/>
          <a:lstStyle/>
          <a:p>
            <a:pPr indent="0" marL="0">
              <a:buNone/>
            </a:pPr>
            <a:r>
              <a:rPr lang="en-US" sz="800" dirty="0">
                <a:solidFill>
                  <a:srgbClr val="37474F"/>
                </a:solidFill>
              </a:rPr>
              <a:t>This GCP app server acts as a bridge — processing conversion steps distributed between on-prem and GCP</a:t>
            </a:r>
            <a:endParaRPr lang="en-US" sz="800" dirty="0"/>
          </a:p>
        </p:txBody>
      </p:sp>
      <p:sp>
        <p:nvSpPr>
          <p:cNvPr id="47" name="Shape 45"/>
          <p:cNvSpPr/>
          <p:nvPr/>
        </p:nvSpPr>
        <p:spPr>
          <a:xfrm>
            <a:off x="6318504" y="3931920"/>
            <a:ext cx="256032" cy="256032"/>
          </a:xfrm>
          <a:prstGeom prst="ellipse">
            <a:avLst/>
          </a:prstGeom>
          <a:solidFill>
            <a:srgbClr val="00695C"/>
          </a:solidFill>
          <a:ln/>
        </p:spPr>
      </p:sp>
      <p:sp>
        <p:nvSpPr>
          <p:cNvPr id="48" name="Text 46"/>
          <p:cNvSpPr/>
          <p:nvPr/>
        </p:nvSpPr>
        <p:spPr>
          <a:xfrm>
            <a:off x="6318504" y="393192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rPr>
              <a:t>3</a:t>
            </a:r>
            <a:endParaRPr lang="en-US" sz="900" dirty="0"/>
          </a:p>
        </p:txBody>
      </p:sp>
      <p:sp>
        <p:nvSpPr>
          <p:cNvPr id="49" name="Text 47"/>
          <p:cNvSpPr/>
          <p:nvPr/>
        </p:nvSpPr>
        <p:spPr>
          <a:xfrm>
            <a:off x="6647688" y="3931920"/>
            <a:ext cx="5175504" cy="411480"/>
          </a:xfrm>
          <a:prstGeom prst="rect">
            <a:avLst/>
          </a:prstGeom>
          <a:noFill/>
          <a:ln/>
        </p:spPr>
        <p:txBody>
          <a:bodyPr wrap="square" lIns="0" tIns="0" rIns="0" bIns="0" rtlCol="0" anchor="ctr"/>
          <a:lstStyle/>
          <a:p>
            <a:pPr indent="0" marL="0">
              <a:buNone/>
            </a:pPr>
            <a:r>
              <a:rPr lang="en-US" sz="800" dirty="0">
                <a:solidFill>
                  <a:srgbClr val="37474F"/>
                </a:solidFill>
              </a:rPr>
              <a:t>More work is done during 'uptime' (system still live) — reducing the actual downtime window significantly</a:t>
            </a:r>
            <a:endParaRPr lang="en-US" sz="800" dirty="0"/>
          </a:p>
        </p:txBody>
      </p:sp>
      <p:sp>
        <p:nvSpPr>
          <p:cNvPr id="50" name="Shape 48"/>
          <p:cNvSpPr/>
          <p:nvPr/>
        </p:nvSpPr>
        <p:spPr>
          <a:xfrm>
            <a:off x="6318504" y="4389120"/>
            <a:ext cx="256032" cy="256032"/>
          </a:xfrm>
          <a:prstGeom prst="ellipse">
            <a:avLst/>
          </a:prstGeom>
          <a:solidFill>
            <a:srgbClr val="00695C"/>
          </a:solidFill>
          <a:ln/>
        </p:spPr>
      </p:sp>
      <p:sp>
        <p:nvSpPr>
          <p:cNvPr id="51" name="Text 49"/>
          <p:cNvSpPr/>
          <p:nvPr/>
        </p:nvSpPr>
        <p:spPr>
          <a:xfrm>
            <a:off x="6318504" y="438912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rPr>
              <a:t>4</a:t>
            </a:r>
            <a:endParaRPr lang="en-US" sz="900" dirty="0"/>
          </a:p>
        </p:txBody>
      </p:sp>
      <p:sp>
        <p:nvSpPr>
          <p:cNvPr id="52" name="Text 50"/>
          <p:cNvSpPr/>
          <p:nvPr/>
        </p:nvSpPr>
        <p:spPr>
          <a:xfrm>
            <a:off x="6647688" y="4389120"/>
            <a:ext cx="5175504" cy="411480"/>
          </a:xfrm>
          <a:prstGeom prst="rect">
            <a:avLst/>
          </a:prstGeom>
          <a:noFill/>
          <a:ln/>
        </p:spPr>
        <p:txBody>
          <a:bodyPr wrap="square" lIns="0" tIns="0" rIns="0" bIns="0" rtlCol="0" anchor="ctr"/>
          <a:lstStyle/>
          <a:p>
            <a:pPr indent="0" marL="0">
              <a:buNone/>
            </a:pPr>
            <a:r>
              <a:rPr lang="en-US" sz="800" dirty="0">
                <a:solidFill>
                  <a:srgbClr val="37474F"/>
                </a:solidFill>
              </a:rPr>
              <a:t>The downtime-optimised conversion mode moves large tables during uptime using shadow processing</a:t>
            </a:r>
            <a:endParaRPr lang="en-US" sz="800" dirty="0"/>
          </a:p>
        </p:txBody>
      </p:sp>
      <p:sp>
        <p:nvSpPr>
          <p:cNvPr id="53" name="Shape 51"/>
          <p:cNvSpPr/>
          <p:nvPr/>
        </p:nvSpPr>
        <p:spPr>
          <a:xfrm>
            <a:off x="6318504" y="4846320"/>
            <a:ext cx="256032" cy="256032"/>
          </a:xfrm>
          <a:prstGeom prst="ellipse">
            <a:avLst/>
          </a:prstGeom>
          <a:solidFill>
            <a:srgbClr val="00695C"/>
          </a:solidFill>
          <a:ln/>
        </p:spPr>
      </p:sp>
      <p:sp>
        <p:nvSpPr>
          <p:cNvPr id="54" name="Text 52"/>
          <p:cNvSpPr/>
          <p:nvPr/>
        </p:nvSpPr>
        <p:spPr>
          <a:xfrm>
            <a:off x="6318504" y="484632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rPr>
              <a:t>5</a:t>
            </a:r>
            <a:endParaRPr lang="en-US" sz="900" dirty="0"/>
          </a:p>
        </p:txBody>
      </p:sp>
      <p:sp>
        <p:nvSpPr>
          <p:cNvPr id="55" name="Text 53"/>
          <p:cNvSpPr/>
          <p:nvPr/>
        </p:nvSpPr>
        <p:spPr>
          <a:xfrm>
            <a:off x="6647688" y="4846320"/>
            <a:ext cx="5175504" cy="411480"/>
          </a:xfrm>
          <a:prstGeom prst="rect">
            <a:avLst/>
          </a:prstGeom>
          <a:noFill/>
          <a:ln/>
        </p:spPr>
        <p:txBody>
          <a:bodyPr wrap="square" lIns="0" tIns="0" rIns="0" bIns="0" rtlCol="0" anchor="ctr"/>
          <a:lstStyle/>
          <a:p>
            <a:pPr indent="0" marL="0">
              <a:buNone/>
            </a:pPr>
            <a:r>
              <a:rPr lang="en-US" sz="800" dirty="0">
                <a:solidFill>
                  <a:srgbClr val="37474F"/>
                </a:solidFill>
              </a:rPr>
              <a:t>Final cutover is cleaner because both environments are already aligned before the switch</a:t>
            </a:r>
            <a:endParaRPr lang="en-US" sz="800" dirty="0"/>
          </a:p>
        </p:txBody>
      </p:sp>
      <p:sp>
        <p:nvSpPr>
          <p:cNvPr id="56" name="Shape 54"/>
          <p:cNvSpPr/>
          <p:nvPr/>
        </p:nvSpPr>
        <p:spPr>
          <a:xfrm>
            <a:off x="6300216" y="5413248"/>
            <a:ext cx="5541264" cy="246888"/>
          </a:xfrm>
          <a:prstGeom prst="rect">
            <a:avLst/>
          </a:prstGeom>
          <a:solidFill>
            <a:srgbClr val="E0F2F1"/>
          </a:solidFill>
          <a:ln/>
        </p:spPr>
      </p:sp>
      <p:sp>
        <p:nvSpPr>
          <p:cNvPr id="57" name="Text 55"/>
          <p:cNvSpPr/>
          <p:nvPr/>
        </p:nvSpPr>
        <p:spPr>
          <a:xfrm>
            <a:off x="6355080" y="5413248"/>
            <a:ext cx="5449824" cy="246888"/>
          </a:xfrm>
          <a:prstGeom prst="rect">
            <a:avLst/>
          </a:prstGeom>
          <a:noFill/>
          <a:ln/>
        </p:spPr>
        <p:txBody>
          <a:bodyPr wrap="square" lIns="0" tIns="0" rIns="0" bIns="0" rtlCol="0" anchor="ctr"/>
          <a:lstStyle/>
          <a:p>
            <a:pPr indent="0" marL="0">
              <a:buNone/>
            </a:pPr>
            <a:r>
              <a:rPr lang="en-US" sz="780" dirty="0">
                <a:solidFill>
                  <a:srgbClr val="00695C"/>
                </a:solidFill>
              </a:rPr>
              <a:t>⏱  Downtime: 20–35% shorter than Mode A — can bring 80hr window down to ~50hrs</a:t>
            </a:r>
            <a:endParaRPr lang="en-US" sz="780" dirty="0"/>
          </a:p>
        </p:txBody>
      </p:sp>
      <p:sp>
        <p:nvSpPr>
          <p:cNvPr id="58" name="Shape 56"/>
          <p:cNvSpPr/>
          <p:nvPr/>
        </p:nvSpPr>
        <p:spPr>
          <a:xfrm>
            <a:off x="6300216" y="5705856"/>
            <a:ext cx="5541264" cy="246888"/>
          </a:xfrm>
          <a:prstGeom prst="rect">
            <a:avLst/>
          </a:prstGeom>
          <a:solidFill>
            <a:srgbClr val="F1F5F9"/>
          </a:solidFill>
          <a:ln/>
        </p:spPr>
      </p:sp>
      <p:sp>
        <p:nvSpPr>
          <p:cNvPr id="59" name="Text 57"/>
          <p:cNvSpPr/>
          <p:nvPr/>
        </p:nvSpPr>
        <p:spPr>
          <a:xfrm>
            <a:off x="6355080" y="5705856"/>
            <a:ext cx="5449824" cy="246888"/>
          </a:xfrm>
          <a:prstGeom prst="rect">
            <a:avLst/>
          </a:prstGeom>
          <a:noFill/>
          <a:ln/>
        </p:spPr>
        <p:txBody>
          <a:bodyPr wrap="square" lIns="0" tIns="0" rIns="0" bIns="0" rtlCol="0" anchor="ctr"/>
          <a:lstStyle/>
          <a:p>
            <a:pPr indent="0" marL="0">
              <a:buNone/>
            </a:pPr>
            <a:r>
              <a:rPr lang="en-US" sz="780" dirty="0">
                <a:solidFill>
                  <a:srgbClr val="37474F"/>
                </a:solidFill>
              </a:rPr>
              <a:t>⚠  Risk: Slightly more complex setup. SAP's recommended method for RISE with GCP engagements.</a:t>
            </a:r>
            <a:endParaRPr lang="en-US" sz="780" dirty="0"/>
          </a:p>
        </p:txBody>
      </p:sp>
      <p:sp>
        <p:nvSpPr>
          <p:cNvPr id="60" name="Text 58"/>
          <p:cNvSpPr/>
          <p:nvPr/>
        </p:nvSpPr>
        <p:spPr>
          <a:xfrm>
            <a:off x="201168" y="6647688"/>
            <a:ext cx="11750040" cy="182880"/>
          </a:xfrm>
          <a:prstGeom prst="rect">
            <a:avLst/>
          </a:prstGeom>
          <a:noFill/>
          <a:ln/>
        </p:spPr>
        <p:txBody>
          <a:bodyPr wrap="square" lIns="0" tIns="0" rIns="0" bIns="0" rtlCol="0" anchor="ctr"/>
          <a:lstStyle/>
          <a:p>
            <a:pPr indent="0" marL="0">
              <a:buNone/>
            </a:pPr>
            <a:r>
              <a:rPr lang="en-US" sz="780" i="1" dirty="0">
                <a:solidFill>
                  <a:srgbClr val="78909C"/>
                </a:solidFill>
              </a:rPr>
              <a:t>KEY FACT: SUM+DMO is fully automated — SAP's tool, not custom scripts. Your team's role is to monitor, manage, and validate. Not to write the conversion logic.</a:t>
            </a:r>
            <a:endParaRPr lang="en-US" sz="78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D"/>
        </a:solidFill>
      </p:bgPr>
    </p:bg>
    <p:spTree>
      <p:nvGrpSpPr>
        <p:cNvPr id="1" name=""/>
        <p:cNvGrpSpPr/>
        <p:nvPr/>
      </p:nvGrpSpPr>
      <p:grpSpPr>
        <a:xfrm>
          <a:off x="0" y="0"/>
          <a:ext cx="0" cy="0"/>
          <a:chOff x="0" y="0"/>
          <a:chExt cx="0" cy="0"/>
        </a:xfrm>
      </p:grpSpPr>
      <p:sp>
        <p:nvSpPr>
          <p:cNvPr id="2" name="Shape 0"/>
          <p:cNvSpPr/>
          <p:nvPr/>
        </p:nvSpPr>
        <p:spPr>
          <a:xfrm>
            <a:off x="0" y="0"/>
            <a:ext cx="12161520" cy="749808"/>
          </a:xfrm>
          <a:prstGeom prst="rect">
            <a:avLst/>
          </a:prstGeom>
          <a:solidFill>
            <a:srgbClr val="0D1B2A"/>
          </a:solidFill>
          <a:ln/>
        </p:spPr>
      </p:sp>
      <p:sp>
        <p:nvSpPr>
          <p:cNvPr id="3" name="Shape 1"/>
          <p:cNvSpPr/>
          <p:nvPr/>
        </p:nvSpPr>
        <p:spPr>
          <a:xfrm>
            <a:off x="0" y="0"/>
            <a:ext cx="274320" cy="749808"/>
          </a:xfrm>
          <a:prstGeom prst="rect">
            <a:avLst/>
          </a:prstGeom>
          <a:solidFill>
            <a:srgbClr val="BF360C"/>
          </a:solidFill>
          <a:ln/>
        </p:spPr>
      </p:sp>
      <p:sp>
        <p:nvSpPr>
          <p:cNvPr id="4" name="Text 2"/>
          <p:cNvSpPr/>
          <p:nvPr/>
        </p:nvSpPr>
        <p:spPr>
          <a:xfrm>
            <a:off x="457200" y="0"/>
            <a:ext cx="11521440" cy="749808"/>
          </a:xfrm>
          <a:prstGeom prst="rect">
            <a:avLst/>
          </a:prstGeom>
          <a:noFill/>
          <a:ln/>
        </p:spPr>
        <p:txBody>
          <a:bodyPr wrap="square" lIns="0" tIns="0" rIns="0" bIns="0" rtlCol="0" anchor="ctr"/>
          <a:lstStyle/>
          <a:p>
            <a:pPr indent="0" marL="0">
              <a:buNone/>
            </a:pPr>
            <a:r>
              <a:rPr lang="en-US" sz="1350" b="1" spc="60" kern="0" dirty="0">
                <a:solidFill>
                  <a:srgbClr val="FFFFFF"/>
                </a:solidFill>
              </a:rPr>
              <a:t>PART 1  |  THE CONVERSION WEEKEND — EXACT SEQUENCE OF WHAT ACTUALLY HAPPENS</a:t>
            </a:r>
            <a:endParaRPr lang="en-US" sz="1350" dirty="0"/>
          </a:p>
        </p:txBody>
      </p:sp>
      <p:sp>
        <p:nvSpPr>
          <p:cNvPr id="5" name="Shape 3"/>
          <p:cNvSpPr/>
          <p:nvPr/>
        </p:nvSpPr>
        <p:spPr>
          <a:xfrm>
            <a:off x="201168" y="822960"/>
            <a:ext cx="11750040" cy="256032"/>
          </a:xfrm>
          <a:prstGeom prst="rect">
            <a:avLst/>
          </a:prstGeom>
          <a:solidFill>
            <a:srgbClr val="FBE9E7"/>
          </a:solidFill>
          <a:ln/>
        </p:spPr>
      </p:sp>
      <p:sp>
        <p:nvSpPr>
          <p:cNvPr id="6" name="Shape 4"/>
          <p:cNvSpPr/>
          <p:nvPr/>
        </p:nvSpPr>
        <p:spPr>
          <a:xfrm>
            <a:off x="201168" y="822960"/>
            <a:ext cx="54864" cy="256032"/>
          </a:xfrm>
          <a:prstGeom prst="rect">
            <a:avLst/>
          </a:prstGeom>
          <a:solidFill>
            <a:srgbClr val="BF360C"/>
          </a:solidFill>
          <a:ln/>
        </p:spPr>
      </p:sp>
      <p:sp>
        <p:nvSpPr>
          <p:cNvPr id="7" name="Text 5"/>
          <p:cNvSpPr/>
          <p:nvPr/>
        </p:nvSpPr>
        <p:spPr>
          <a:xfrm>
            <a:off x="329184" y="822960"/>
            <a:ext cx="11521440" cy="256032"/>
          </a:xfrm>
          <a:prstGeom prst="rect">
            <a:avLst/>
          </a:prstGeom>
          <a:noFill/>
          <a:ln/>
        </p:spPr>
        <p:txBody>
          <a:bodyPr wrap="square" lIns="0" tIns="0" rIns="0" bIns="0" rtlCol="0" anchor="ctr"/>
          <a:lstStyle/>
          <a:p>
            <a:pPr indent="0" marL="0">
              <a:buNone/>
            </a:pPr>
            <a:r>
              <a:rPr lang="en-US" sz="880" dirty="0">
                <a:solidFill>
                  <a:srgbClr val="1E293B"/>
                </a:solidFill>
              </a:rPr>
              <a:t>A typical Brownfield conversion weekend: Friday evening → Sunday afternoon. Total: 48–72 hours. Your team runs a 24/7 war room throughout.</a:t>
            </a:r>
            <a:endParaRPr lang="en-US" sz="880" dirty="0"/>
          </a:p>
        </p:txBody>
      </p:sp>
      <p:sp>
        <p:nvSpPr>
          <p:cNvPr id="8" name="Shape 6"/>
          <p:cNvSpPr/>
          <p:nvPr/>
        </p:nvSpPr>
        <p:spPr>
          <a:xfrm>
            <a:off x="182880" y="1133856"/>
            <a:ext cx="960120" cy="274320"/>
          </a:xfrm>
          <a:prstGeom prst="rect">
            <a:avLst/>
          </a:prstGeom>
          <a:solidFill>
            <a:srgbClr val="0D1B2A"/>
          </a:solidFill>
          <a:ln/>
        </p:spPr>
      </p:sp>
      <p:sp>
        <p:nvSpPr>
          <p:cNvPr id="9" name="Text 7"/>
          <p:cNvSpPr/>
          <p:nvPr/>
        </p:nvSpPr>
        <p:spPr>
          <a:xfrm>
            <a:off x="219456" y="1133856"/>
            <a:ext cx="905256" cy="274320"/>
          </a:xfrm>
          <a:prstGeom prst="rect">
            <a:avLst/>
          </a:prstGeom>
          <a:noFill/>
          <a:ln/>
        </p:spPr>
        <p:txBody>
          <a:bodyPr wrap="square" lIns="0" tIns="0" rIns="0" bIns="0" rtlCol="0" anchor="ctr"/>
          <a:lstStyle/>
          <a:p>
            <a:pPr indent="0" marL="0">
              <a:buNone/>
            </a:pPr>
            <a:r>
              <a:rPr lang="en-US" sz="750" b="1" dirty="0">
                <a:solidFill>
                  <a:srgbClr val="FFFFFF"/>
                </a:solidFill>
              </a:rPr>
              <a:t>TIME</a:t>
            </a:r>
            <a:endParaRPr lang="en-US" sz="750" dirty="0"/>
          </a:p>
        </p:txBody>
      </p:sp>
      <p:sp>
        <p:nvSpPr>
          <p:cNvPr id="10" name="Shape 8"/>
          <p:cNvSpPr/>
          <p:nvPr/>
        </p:nvSpPr>
        <p:spPr>
          <a:xfrm>
            <a:off x="1234440" y="1133856"/>
            <a:ext cx="1170432" cy="274320"/>
          </a:xfrm>
          <a:prstGeom prst="rect">
            <a:avLst/>
          </a:prstGeom>
          <a:solidFill>
            <a:srgbClr val="0D1B2A"/>
          </a:solidFill>
          <a:ln/>
        </p:spPr>
      </p:sp>
      <p:sp>
        <p:nvSpPr>
          <p:cNvPr id="11" name="Text 9"/>
          <p:cNvSpPr/>
          <p:nvPr/>
        </p:nvSpPr>
        <p:spPr>
          <a:xfrm>
            <a:off x="1271016" y="1133856"/>
            <a:ext cx="1115568" cy="274320"/>
          </a:xfrm>
          <a:prstGeom prst="rect">
            <a:avLst/>
          </a:prstGeom>
          <a:noFill/>
          <a:ln/>
        </p:spPr>
        <p:txBody>
          <a:bodyPr wrap="square" lIns="0" tIns="0" rIns="0" bIns="0" rtlCol="0" anchor="ctr"/>
          <a:lstStyle/>
          <a:p>
            <a:pPr indent="0" marL="0">
              <a:buNone/>
            </a:pPr>
            <a:r>
              <a:rPr lang="en-US" sz="750" b="1" dirty="0">
                <a:solidFill>
                  <a:srgbClr val="FFFFFF"/>
                </a:solidFill>
              </a:rPr>
              <a:t>EVENT</a:t>
            </a:r>
            <a:endParaRPr lang="en-US" sz="750" dirty="0"/>
          </a:p>
        </p:txBody>
      </p:sp>
      <p:sp>
        <p:nvSpPr>
          <p:cNvPr id="12" name="Shape 10"/>
          <p:cNvSpPr/>
          <p:nvPr/>
        </p:nvSpPr>
        <p:spPr>
          <a:xfrm>
            <a:off x="2487168" y="1133856"/>
            <a:ext cx="1280160" cy="274320"/>
          </a:xfrm>
          <a:prstGeom prst="rect">
            <a:avLst/>
          </a:prstGeom>
          <a:solidFill>
            <a:srgbClr val="0D1B2A"/>
          </a:solidFill>
          <a:ln/>
        </p:spPr>
      </p:sp>
      <p:sp>
        <p:nvSpPr>
          <p:cNvPr id="13" name="Text 11"/>
          <p:cNvSpPr/>
          <p:nvPr/>
        </p:nvSpPr>
        <p:spPr>
          <a:xfrm>
            <a:off x="2523744" y="1133856"/>
            <a:ext cx="1225296" cy="274320"/>
          </a:xfrm>
          <a:prstGeom prst="rect">
            <a:avLst/>
          </a:prstGeom>
          <a:noFill/>
          <a:ln/>
        </p:spPr>
        <p:txBody>
          <a:bodyPr wrap="square" lIns="0" tIns="0" rIns="0" bIns="0" rtlCol="0" anchor="ctr"/>
          <a:lstStyle/>
          <a:p>
            <a:pPr indent="0" marL="0">
              <a:buNone/>
            </a:pPr>
            <a:r>
              <a:rPr lang="en-US" sz="750" b="1" dirty="0">
                <a:solidFill>
                  <a:srgbClr val="FFFFFF"/>
                </a:solidFill>
              </a:rPr>
              <a:t>OWNER</a:t>
            </a:r>
            <a:endParaRPr lang="en-US" sz="750" dirty="0"/>
          </a:p>
        </p:txBody>
      </p:sp>
      <p:sp>
        <p:nvSpPr>
          <p:cNvPr id="14" name="Shape 12"/>
          <p:cNvSpPr/>
          <p:nvPr/>
        </p:nvSpPr>
        <p:spPr>
          <a:xfrm>
            <a:off x="3840480" y="1133856"/>
            <a:ext cx="8229600" cy="274320"/>
          </a:xfrm>
          <a:prstGeom prst="rect">
            <a:avLst/>
          </a:prstGeom>
          <a:solidFill>
            <a:srgbClr val="0D1B2A"/>
          </a:solidFill>
          <a:ln/>
        </p:spPr>
      </p:sp>
      <p:sp>
        <p:nvSpPr>
          <p:cNvPr id="15" name="Text 13"/>
          <p:cNvSpPr/>
          <p:nvPr/>
        </p:nvSpPr>
        <p:spPr>
          <a:xfrm>
            <a:off x="3877056" y="1133856"/>
            <a:ext cx="8174736" cy="274320"/>
          </a:xfrm>
          <a:prstGeom prst="rect">
            <a:avLst/>
          </a:prstGeom>
          <a:noFill/>
          <a:ln/>
        </p:spPr>
        <p:txBody>
          <a:bodyPr wrap="square" lIns="0" tIns="0" rIns="0" bIns="0" rtlCol="0" anchor="ctr"/>
          <a:lstStyle/>
          <a:p>
            <a:pPr indent="0" marL="0">
              <a:buNone/>
            </a:pPr>
            <a:r>
              <a:rPr lang="en-US" sz="750" b="1" dirty="0">
                <a:solidFill>
                  <a:srgbClr val="FFFFFF"/>
                </a:solidFill>
              </a:rPr>
              <a:t>WHAT EXACTLY HAPPENS (Step by Step)</a:t>
            </a:r>
            <a:endParaRPr lang="en-US" sz="750" dirty="0"/>
          </a:p>
        </p:txBody>
      </p:sp>
      <p:sp>
        <p:nvSpPr>
          <p:cNvPr id="16" name="Shape 14"/>
          <p:cNvSpPr/>
          <p:nvPr/>
        </p:nvSpPr>
        <p:spPr>
          <a:xfrm>
            <a:off x="182880" y="1444752"/>
            <a:ext cx="960120" cy="713232"/>
          </a:xfrm>
          <a:prstGeom prst="rect">
            <a:avLst/>
          </a:prstGeom>
          <a:solidFill>
            <a:srgbClr val="1565C0"/>
          </a:solidFill>
          <a:ln/>
        </p:spPr>
      </p:sp>
      <p:sp>
        <p:nvSpPr>
          <p:cNvPr id="17" name="Text 15"/>
          <p:cNvSpPr/>
          <p:nvPr/>
        </p:nvSpPr>
        <p:spPr>
          <a:xfrm>
            <a:off x="219456" y="1444752"/>
            <a:ext cx="905256" cy="713232"/>
          </a:xfrm>
          <a:prstGeom prst="rect">
            <a:avLst/>
          </a:prstGeom>
          <a:noFill/>
          <a:ln/>
        </p:spPr>
        <p:txBody>
          <a:bodyPr wrap="square" lIns="0" tIns="0" rIns="0" bIns="0" rtlCol="0" anchor="ctr"/>
          <a:lstStyle/>
          <a:p>
            <a:pPr algn="ctr" indent="0" marL="0">
              <a:buNone/>
            </a:pPr>
            <a:r>
              <a:rPr lang="en-US" sz="750" b="1" dirty="0">
                <a:solidFill>
                  <a:srgbClr val="FFFFFF"/>
                </a:solidFill>
              </a:rPr>
              <a:t>FRI 18:00</a:t>
            </a:r>
            <a:endParaRPr lang="en-US" sz="750" dirty="0"/>
          </a:p>
        </p:txBody>
      </p:sp>
      <p:sp>
        <p:nvSpPr>
          <p:cNvPr id="18" name="Shape 16"/>
          <p:cNvSpPr/>
          <p:nvPr/>
        </p:nvSpPr>
        <p:spPr>
          <a:xfrm>
            <a:off x="1234440" y="1444752"/>
            <a:ext cx="1170432" cy="713232"/>
          </a:xfrm>
          <a:prstGeom prst="rect">
            <a:avLst/>
          </a:prstGeom>
          <a:solidFill>
            <a:srgbClr val="FFFFFF"/>
          </a:solidFill>
          <a:ln/>
        </p:spPr>
      </p:sp>
      <p:sp>
        <p:nvSpPr>
          <p:cNvPr id="19" name="Text 17"/>
          <p:cNvSpPr/>
          <p:nvPr/>
        </p:nvSpPr>
        <p:spPr>
          <a:xfrm>
            <a:off x="1280160" y="1444752"/>
            <a:ext cx="1106424" cy="713232"/>
          </a:xfrm>
          <a:prstGeom prst="rect">
            <a:avLst/>
          </a:prstGeom>
          <a:noFill/>
          <a:ln/>
        </p:spPr>
        <p:txBody>
          <a:bodyPr wrap="square" lIns="0" tIns="0" rIns="0" bIns="0" rtlCol="0" anchor="ctr"/>
          <a:lstStyle/>
          <a:p>
            <a:pPr indent="0" marL="0">
              <a:buNone/>
            </a:pPr>
            <a:r>
              <a:rPr lang="en-US" sz="750" b="1" dirty="0">
                <a:solidFill>
                  <a:srgbClr val="1565C0"/>
                </a:solidFill>
              </a:rPr>
              <a:t>SYSTEM FREEZE</a:t>
            </a:r>
            <a:endParaRPr lang="en-US" sz="750" dirty="0"/>
          </a:p>
        </p:txBody>
      </p:sp>
      <p:sp>
        <p:nvSpPr>
          <p:cNvPr id="20" name="Shape 18"/>
          <p:cNvSpPr/>
          <p:nvPr/>
        </p:nvSpPr>
        <p:spPr>
          <a:xfrm>
            <a:off x="2487168" y="1444752"/>
            <a:ext cx="1280160" cy="713232"/>
          </a:xfrm>
          <a:prstGeom prst="rect">
            <a:avLst/>
          </a:prstGeom>
          <a:solidFill>
            <a:srgbClr val="FFFFFF"/>
          </a:solidFill>
          <a:ln/>
        </p:spPr>
      </p:sp>
      <p:sp>
        <p:nvSpPr>
          <p:cNvPr id="21" name="Text 19"/>
          <p:cNvSpPr/>
          <p:nvPr/>
        </p:nvSpPr>
        <p:spPr>
          <a:xfrm>
            <a:off x="2532888" y="1444752"/>
            <a:ext cx="1216152" cy="713232"/>
          </a:xfrm>
          <a:prstGeom prst="rect">
            <a:avLst/>
          </a:prstGeom>
          <a:noFill/>
          <a:ln/>
        </p:spPr>
        <p:txBody>
          <a:bodyPr wrap="square" lIns="0" tIns="0" rIns="0" bIns="0" rtlCol="0" anchor="ctr"/>
          <a:lstStyle/>
          <a:p>
            <a:pPr indent="0" marL="0">
              <a:buNone/>
            </a:pPr>
            <a:r>
              <a:rPr lang="en-US" sz="750" i="1" dirty="0">
                <a:solidFill>
                  <a:srgbClr val="37474F"/>
                </a:solidFill>
              </a:rPr>
              <a:t>Your Team</a:t>
            </a:r>
            <a:endParaRPr lang="en-US" sz="750" dirty="0"/>
          </a:p>
        </p:txBody>
      </p:sp>
      <p:sp>
        <p:nvSpPr>
          <p:cNvPr id="22" name="Shape 20"/>
          <p:cNvSpPr/>
          <p:nvPr/>
        </p:nvSpPr>
        <p:spPr>
          <a:xfrm>
            <a:off x="3840480" y="1444752"/>
            <a:ext cx="8229600" cy="713232"/>
          </a:xfrm>
          <a:prstGeom prst="rect">
            <a:avLst/>
          </a:prstGeom>
          <a:solidFill>
            <a:srgbClr val="FFFFFF"/>
          </a:solidFill>
          <a:ln/>
        </p:spPr>
      </p:sp>
      <p:sp>
        <p:nvSpPr>
          <p:cNvPr id="23" name="Text 21"/>
          <p:cNvSpPr/>
          <p:nvPr/>
        </p:nvSpPr>
        <p:spPr>
          <a:xfrm>
            <a:off x="3904488" y="1444752"/>
            <a:ext cx="8138160" cy="713232"/>
          </a:xfrm>
          <a:prstGeom prst="rect">
            <a:avLst/>
          </a:prstGeom>
          <a:noFill/>
          <a:ln/>
        </p:spPr>
        <p:txBody>
          <a:bodyPr wrap="square" lIns="0" tIns="0" rIns="0" bIns="0" rtlCol="0" anchor="ctr"/>
          <a:lstStyle/>
          <a:p>
            <a:pPr indent="0" marL="0">
              <a:buNone/>
            </a:pPr>
            <a:r>
              <a:rPr lang="en-US" sz="780" dirty="0">
                <a:solidFill>
                  <a:srgbClr val="1E293B"/>
                </a:solidFill>
              </a:rPr>
              <a:t>  ①  All batch jobs stopped on ECC production   ②  Users notified: system going offline for migration weekend   ③  Final backups triggered on on-premise system   ④  Migration Cockpit: final master data extraction begins</a:t>
            </a:r>
            <a:endParaRPr lang="en-US" sz="780" dirty="0"/>
          </a:p>
        </p:txBody>
      </p:sp>
      <p:sp>
        <p:nvSpPr>
          <p:cNvPr id="24" name="Shape 22"/>
          <p:cNvSpPr/>
          <p:nvPr/>
        </p:nvSpPr>
        <p:spPr>
          <a:xfrm>
            <a:off x="182880" y="2212848"/>
            <a:ext cx="960120" cy="713232"/>
          </a:xfrm>
          <a:prstGeom prst="rect">
            <a:avLst/>
          </a:prstGeom>
          <a:solidFill>
            <a:srgbClr val="1565C0"/>
          </a:solidFill>
          <a:ln/>
        </p:spPr>
      </p:sp>
      <p:sp>
        <p:nvSpPr>
          <p:cNvPr id="25" name="Text 23"/>
          <p:cNvSpPr/>
          <p:nvPr/>
        </p:nvSpPr>
        <p:spPr>
          <a:xfrm>
            <a:off x="219456" y="2212848"/>
            <a:ext cx="905256" cy="713232"/>
          </a:xfrm>
          <a:prstGeom prst="rect">
            <a:avLst/>
          </a:prstGeom>
          <a:noFill/>
          <a:ln/>
        </p:spPr>
        <p:txBody>
          <a:bodyPr wrap="square" lIns="0" tIns="0" rIns="0" bIns="0" rtlCol="0" anchor="ctr"/>
          <a:lstStyle/>
          <a:p>
            <a:pPr algn="ctr" indent="0" marL="0">
              <a:buNone/>
            </a:pPr>
            <a:r>
              <a:rPr lang="en-US" sz="750" b="1" dirty="0">
                <a:solidFill>
                  <a:srgbClr val="FFFFFF"/>
                </a:solidFill>
              </a:rPr>
              <a:t>FRI 20:00</a:t>
            </a:r>
            <a:endParaRPr lang="en-US" sz="750" dirty="0"/>
          </a:p>
        </p:txBody>
      </p:sp>
      <p:sp>
        <p:nvSpPr>
          <p:cNvPr id="26" name="Shape 24"/>
          <p:cNvSpPr/>
          <p:nvPr/>
        </p:nvSpPr>
        <p:spPr>
          <a:xfrm>
            <a:off x="1234440" y="2212848"/>
            <a:ext cx="1170432" cy="713232"/>
          </a:xfrm>
          <a:prstGeom prst="rect">
            <a:avLst/>
          </a:prstGeom>
          <a:solidFill>
            <a:srgbClr val="F1F5F9"/>
          </a:solidFill>
          <a:ln/>
        </p:spPr>
      </p:sp>
      <p:sp>
        <p:nvSpPr>
          <p:cNvPr id="27" name="Text 25"/>
          <p:cNvSpPr/>
          <p:nvPr/>
        </p:nvSpPr>
        <p:spPr>
          <a:xfrm>
            <a:off x="1280160" y="2212848"/>
            <a:ext cx="1106424" cy="713232"/>
          </a:xfrm>
          <a:prstGeom prst="rect">
            <a:avLst/>
          </a:prstGeom>
          <a:noFill/>
          <a:ln/>
        </p:spPr>
        <p:txBody>
          <a:bodyPr wrap="square" lIns="0" tIns="0" rIns="0" bIns="0" rtlCol="0" anchor="ctr"/>
          <a:lstStyle/>
          <a:p>
            <a:pPr indent="0" marL="0">
              <a:buNone/>
            </a:pPr>
            <a:r>
              <a:rPr lang="en-US" sz="750" b="1" dirty="0">
                <a:solidFill>
                  <a:srgbClr val="1565C0"/>
                </a:solidFill>
              </a:rPr>
              <a:t>SYSTEM LOCK</a:t>
            </a:r>
            <a:endParaRPr lang="en-US" sz="750" dirty="0"/>
          </a:p>
        </p:txBody>
      </p:sp>
      <p:sp>
        <p:nvSpPr>
          <p:cNvPr id="28" name="Shape 26"/>
          <p:cNvSpPr/>
          <p:nvPr/>
        </p:nvSpPr>
        <p:spPr>
          <a:xfrm>
            <a:off x="2487168" y="2212848"/>
            <a:ext cx="1280160" cy="713232"/>
          </a:xfrm>
          <a:prstGeom prst="rect">
            <a:avLst/>
          </a:prstGeom>
          <a:solidFill>
            <a:srgbClr val="F1F5F9"/>
          </a:solidFill>
          <a:ln/>
        </p:spPr>
      </p:sp>
      <p:sp>
        <p:nvSpPr>
          <p:cNvPr id="29" name="Text 27"/>
          <p:cNvSpPr/>
          <p:nvPr/>
        </p:nvSpPr>
        <p:spPr>
          <a:xfrm>
            <a:off x="2532888" y="2212848"/>
            <a:ext cx="1216152" cy="713232"/>
          </a:xfrm>
          <a:prstGeom prst="rect">
            <a:avLst/>
          </a:prstGeom>
          <a:noFill/>
          <a:ln/>
        </p:spPr>
        <p:txBody>
          <a:bodyPr wrap="square" lIns="0" tIns="0" rIns="0" bIns="0" rtlCol="0" anchor="ctr"/>
          <a:lstStyle/>
          <a:p>
            <a:pPr indent="0" marL="0">
              <a:buNone/>
            </a:pPr>
            <a:r>
              <a:rPr lang="en-US" sz="750" i="1" dirty="0">
                <a:solidFill>
                  <a:srgbClr val="37474F"/>
                </a:solidFill>
              </a:rPr>
              <a:t>Your Team</a:t>
            </a:r>
            <a:endParaRPr lang="en-US" sz="750" dirty="0"/>
          </a:p>
        </p:txBody>
      </p:sp>
      <p:sp>
        <p:nvSpPr>
          <p:cNvPr id="30" name="Shape 28"/>
          <p:cNvSpPr/>
          <p:nvPr/>
        </p:nvSpPr>
        <p:spPr>
          <a:xfrm>
            <a:off x="3840480" y="2212848"/>
            <a:ext cx="8229600" cy="713232"/>
          </a:xfrm>
          <a:prstGeom prst="rect">
            <a:avLst/>
          </a:prstGeom>
          <a:solidFill>
            <a:srgbClr val="F1F5F9"/>
          </a:solidFill>
          <a:ln/>
        </p:spPr>
      </p:sp>
      <p:sp>
        <p:nvSpPr>
          <p:cNvPr id="31" name="Text 29"/>
          <p:cNvSpPr/>
          <p:nvPr/>
        </p:nvSpPr>
        <p:spPr>
          <a:xfrm>
            <a:off x="3904488" y="2212848"/>
            <a:ext cx="8138160" cy="713232"/>
          </a:xfrm>
          <a:prstGeom prst="rect">
            <a:avLst/>
          </a:prstGeom>
          <a:noFill/>
          <a:ln/>
        </p:spPr>
        <p:txBody>
          <a:bodyPr wrap="square" lIns="0" tIns="0" rIns="0" bIns="0" rtlCol="0" anchor="ctr"/>
          <a:lstStyle/>
          <a:p>
            <a:pPr indent="0" marL="0">
              <a:buNone/>
            </a:pPr>
            <a:r>
              <a:rPr lang="en-US" sz="780" dirty="0">
                <a:solidFill>
                  <a:srgbClr val="1E293B"/>
                </a:solidFill>
              </a:rPr>
              <a:t>  ①  All users locked out of ECC — no more transactions   ②  Financial period formally closed for migration   ③  Final transactional data extraction: open POs, SOs, invoices   ④  Data reconciliation: extracted totals vs ECC balances confirmed</a:t>
            </a:r>
            <a:endParaRPr lang="en-US" sz="780" dirty="0"/>
          </a:p>
        </p:txBody>
      </p:sp>
      <p:sp>
        <p:nvSpPr>
          <p:cNvPr id="32" name="Shape 30"/>
          <p:cNvSpPr/>
          <p:nvPr/>
        </p:nvSpPr>
        <p:spPr>
          <a:xfrm>
            <a:off x="182880" y="2980944"/>
            <a:ext cx="960120" cy="713232"/>
          </a:xfrm>
          <a:prstGeom prst="rect">
            <a:avLst/>
          </a:prstGeom>
          <a:solidFill>
            <a:srgbClr val="4527A0"/>
          </a:solidFill>
          <a:ln/>
        </p:spPr>
      </p:sp>
      <p:sp>
        <p:nvSpPr>
          <p:cNvPr id="33" name="Text 31"/>
          <p:cNvSpPr/>
          <p:nvPr/>
        </p:nvSpPr>
        <p:spPr>
          <a:xfrm>
            <a:off x="219456" y="2980944"/>
            <a:ext cx="905256" cy="713232"/>
          </a:xfrm>
          <a:prstGeom prst="rect">
            <a:avLst/>
          </a:prstGeom>
          <a:noFill/>
          <a:ln/>
        </p:spPr>
        <p:txBody>
          <a:bodyPr wrap="square" lIns="0" tIns="0" rIns="0" bIns="0" rtlCol="0" anchor="ctr"/>
          <a:lstStyle/>
          <a:p>
            <a:pPr algn="ctr" indent="0" marL="0">
              <a:buNone/>
            </a:pPr>
            <a:r>
              <a:rPr lang="en-US" sz="750" b="1" dirty="0">
                <a:solidFill>
                  <a:srgbClr val="FFFFFF"/>
                </a:solidFill>
              </a:rPr>
              <a:t>FRI 22:00</a:t>
            </a:r>
            <a:endParaRPr lang="en-US" sz="750" dirty="0"/>
          </a:p>
        </p:txBody>
      </p:sp>
      <p:sp>
        <p:nvSpPr>
          <p:cNvPr id="34" name="Shape 32"/>
          <p:cNvSpPr/>
          <p:nvPr/>
        </p:nvSpPr>
        <p:spPr>
          <a:xfrm>
            <a:off x="1234440" y="2980944"/>
            <a:ext cx="1170432" cy="713232"/>
          </a:xfrm>
          <a:prstGeom prst="rect">
            <a:avLst/>
          </a:prstGeom>
          <a:solidFill>
            <a:srgbClr val="FFFFFF"/>
          </a:solidFill>
          <a:ln/>
        </p:spPr>
      </p:sp>
      <p:sp>
        <p:nvSpPr>
          <p:cNvPr id="35" name="Text 33"/>
          <p:cNvSpPr/>
          <p:nvPr/>
        </p:nvSpPr>
        <p:spPr>
          <a:xfrm>
            <a:off x="1280160" y="2980944"/>
            <a:ext cx="1106424" cy="713232"/>
          </a:xfrm>
          <a:prstGeom prst="rect">
            <a:avLst/>
          </a:prstGeom>
          <a:noFill/>
          <a:ln/>
        </p:spPr>
        <p:txBody>
          <a:bodyPr wrap="square" lIns="0" tIns="0" rIns="0" bIns="0" rtlCol="0" anchor="ctr"/>
          <a:lstStyle/>
          <a:p>
            <a:pPr indent="0" marL="0">
              <a:buNone/>
            </a:pPr>
            <a:r>
              <a:rPr lang="en-US" sz="750" b="1" dirty="0">
                <a:solidFill>
                  <a:srgbClr val="4527A0"/>
                </a:solidFill>
              </a:rPr>
              <a:t>SUM+DMO STARTS</a:t>
            </a:r>
            <a:endParaRPr lang="en-US" sz="750" dirty="0"/>
          </a:p>
        </p:txBody>
      </p:sp>
      <p:sp>
        <p:nvSpPr>
          <p:cNvPr id="36" name="Shape 34"/>
          <p:cNvSpPr/>
          <p:nvPr/>
        </p:nvSpPr>
        <p:spPr>
          <a:xfrm>
            <a:off x="2487168" y="2980944"/>
            <a:ext cx="1280160" cy="713232"/>
          </a:xfrm>
          <a:prstGeom prst="rect">
            <a:avLst/>
          </a:prstGeom>
          <a:solidFill>
            <a:srgbClr val="FFFFFF"/>
          </a:solidFill>
          <a:ln/>
        </p:spPr>
      </p:sp>
      <p:sp>
        <p:nvSpPr>
          <p:cNvPr id="37" name="Text 35"/>
          <p:cNvSpPr/>
          <p:nvPr/>
        </p:nvSpPr>
        <p:spPr>
          <a:xfrm>
            <a:off x="2532888" y="2980944"/>
            <a:ext cx="1216152" cy="713232"/>
          </a:xfrm>
          <a:prstGeom prst="rect">
            <a:avLst/>
          </a:prstGeom>
          <a:noFill/>
          <a:ln/>
        </p:spPr>
        <p:txBody>
          <a:bodyPr wrap="square" lIns="0" tIns="0" rIns="0" bIns="0" rtlCol="0" anchor="ctr"/>
          <a:lstStyle/>
          <a:p>
            <a:pPr indent="0" marL="0">
              <a:buNone/>
            </a:pPr>
            <a:r>
              <a:rPr lang="en-US" sz="750" i="1" dirty="0">
                <a:solidFill>
                  <a:srgbClr val="37474F"/>
                </a:solidFill>
              </a:rPr>
              <a:t>SAP Tool (Automated)</a:t>
            </a:r>
            <a:endParaRPr lang="en-US" sz="750" dirty="0"/>
          </a:p>
        </p:txBody>
      </p:sp>
      <p:sp>
        <p:nvSpPr>
          <p:cNvPr id="38" name="Shape 36"/>
          <p:cNvSpPr/>
          <p:nvPr/>
        </p:nvSpPr>
        <p:spPr>
          <a:xfrm>
            <a:off x="3840480" y="2980944"/>
            <a:ext cx="8229600" cy="713232"/>
          </a:xfrm>
          <a:prstGeom prst="rect">
            <a:avLst/>
          </a:prstGeom>
          <a:solidFill>
            <a:srgbClr val="FFFFFF"/>
          </a:solidFill>
          <a:ln/>
        </p:spPr>
      </p:sp>
      <p:sp>
        <p:nvSpPr>
          <p:cNvPr id="39" name="Text 37"/>
          <p:cNvSpPr/>
          <p:nvPr/>
        </p:nvSpPr>
        <p:spPr>
          <a:xfrm>
            <a:off x="3904488" y="2980944"/>
            <a:ext cx="8138160" cy="713232"/>
          </a:xfrm>
          <a:prstGeom prst="rect">
            <a:avLst/>
          </a:prstGeom>
          <a:noFill/>
          <a:ln/>
        </p:spPr>
        <p:txBody>
          <a:bodyPr wrap="square" lIns="0" tIns="0" rIns="0" bIns="0" rtlCol="0" anchor="ctr"/>
          <a:lstStyle/>
          <a:p>
            <a:pPr indent="0" marL="0">
              <a:buNone/>
            </a:pPr>
            <a:r>
              <a:rPr lang="en-US" sz="780" dirty="0">
                <a:solidFill>
                  <a:srgbClr val="1E293B"/>
                </a:solidFill>
              </a:rPr>
              <a:t>  ①  SUM+DMO tool launched on source ECC system   ②  Upgrade phase begins: ECC software components updated to S/4HANA versions   ③  Database schema conversion starts (Oracle/DB2 → HANA format)   ④  Data begins transferring across VPN to GCP target system</a:t>
            </a:r>
            <a:endParaRPr lang="en-US" sz="780" dirty="0"/>
          </a:p>
        </p:txBody>
      </p:sp>
      <p:sp>
        <p:nvSpPr>
          <p:cNvPr id="40" name="Shape 38"/>
          <p:cNvSpPr/>
          <p:nvPr/>
        </p:nvSpPr>
        <p:spPr>
          <a:xfrm>
            <a:off x="182880" y="3749040"/>
            <a:ext cx="960120" cy="713232"/>
          </a:xfrm>
          <a:prstGeom prst="rect">
            <a:avLst/>
          </a:prstGeom>
          <a:solidFill>
            <a:srgbClr val="4527A0"/>
          </a:solidFill>
          <a:ln/>
        </p:spPr>
      </p:sp>
      <p:sp>
        <p:nvSpPr>
          <p:cNvPr id="41" name="Text 39"/>
          <p:cNvSpPr/>
          <p:nvPr/>
        </p:nvSpPr>
        <p:spPr>
          <a:xfrm>
            <a:off x="219456" y="3749040"/>
            <a:ext cx="905256" cy="713232"/>
          </a:xfrm>
          <a:prstGeom prst="rect">
            <a:avLst/>
          </a:prstGeom>
          <a:noFill/>
          <a:ln/>
        </p:spPr>
        <p:txBody>
          <a:bodyPr wrap="square" lIns="0" tIns="0" rIns="0" bIns="0" rtlCol="0" anchor="ctr"/>
          <a:lstStyle/>
          <a:p>
            <a:pPr algn="ctr" indent="0" marL="0">
              <a:buNone/>
            </a:pPr>
            <a:r>
              <a:rPr lang="en-US" sz="750" b="1" dirty="0">
                <a:solidFill>
                  <a:srgbClr val="FFFFFF"/>
                </a:solidFill>
              </a:rPr>
              <a:t>SAT 06:00–</a:t>
            </a:r>
            <a:endParaRPr lang="en-US" sz="750" dirty="0"/>
          </a:p>
          <a:p>
            <a:pPr algn="ctr" indent="0" marL="0">
              <a:buNone/>
            </a:pPr>
            <a:r>
              <a:rPr lang="en-US" sz="750" b="1" dirty="0">
                <a:solidFill>
                  <a:srgbClr val="FFFFFF"/>
                </a:solidFill>
              </a:rPr>
              <a:t>18:00</a:t>
            </a:r>
            <a:endParaRPr lang="en-US" sz="750" dirty="0"/>
          </a:p>
        </p:txBody>
      </p:sp>
      <p:sp>
        <p:nvSpPr>
          <p:cNvPr id="42" name="Shape 40"/>
          <p:cNvSpPr/>
          <p:nvPr/>
        </p:nvSpPr>
        <p:spPr>
          <a:xfrm>
            <a:off x="1234440" y="3749040"/>
            <a:ext cx="1170432" cy="713232"/>
          </a:xfrm>
          <a:prstGeom prst="rect">
            <a:avLst/>
          </a:prstGeom>
          <a:solidFill>
            <a:srgbClr val="F1F5F9"/>
          </a:solidFill>
          <a:ln/>
        </p:spPr>
      </p:sp>
      <p:sp>
        <p:nvSpPr>
          <p:cNvPr id="43" name="Text 41"/>
          <p:cNvSpPr/>
          <p:nvPr/>
        </p:nvSpPr>
        <p:spPr>
          <a:xfrm>
            <a:off x="1280160" y="3749040"/>
            <a:ext cx="1106424" cy="713232"/>
          </a:xfrm>
          <a:prstGeom prst="rect">
            <a:avLst/>
          </a:prstGeom>
          <a:noFill/>
          <a:ln/>
        </p:spPr>
        <p:txBody>
          <a:bodyPr wrap="square" lIns="0" tIns="0" rIns="0" bIns="0" rtlCol="0" anchor="ctr"/>
          <a:lstStyle/>
          <a:p>
            <a:pPr indent="0" marL="0">
              <a:buNone/>
            </a:pPr>
            <a:r>
              <a:rPr lang="en-US" sz="750" b="1" dirty="0">
                <a:solidFill>
                  <a:srgbClr val="4527A0"/>
                </a:solidFill>
              </a:rPr>
              <a:t>CONVERSION RUNNING</a:t>
            </a:r>
            <a:endParaRPr lang="en-US" sz="750" dirty="0"/>
          </a:p>
        </p:txBody>
      </p:sp>
      <p:sp>
        <p:nvSpPr>
          <p:cNvPr id="44" name="Shape 42"/>
          <p:cNvSpPr/>
          <p:nvPr/>
        </p:nvSpPr>
        <p:spPr>
          <a:xfrm>
            <a:off x="2487168" y="3749040"/>
            <a:ext cx="1280160" cy="713232"/>
          </a:xfrm>
          <a:prstGeom prst="rect">
            <a:avLst/>
          </a:prstGeom>
          <a:solidFill>
            <a:srgbClr val="F1F5F9"/>
          </a:solidFill>
          <a:ln/>
        </p:spPr>
      </p:sp>
      <p:sp>
        <p:nvSpPr>
          <p:cNvPr id="45" name="Text 43"/>
          <p:cNvSpPr/>
          <p:nvPr/>
        </p:nvSpPr>
        <p:spPr>
          <a:xfrm>
            <a:off x="2532888" y="3749040"/>
            <a:ext cx="1216152" cy="713232"/>
          </a:xfrm>
          <a:prstGeom prst="rect">
            <a:avLst/>
          </a:prstGeom>
          <a:noFill/>
          <a:ln/>
        </p:spPr>
        <p:txBody>
          <a:bodyPr wrap="square" lIns="0" tIns="0" rIns="0" bIns="0" rtlCol="0" anchor="ctr"/>
          <a:lstStyle/>
          <a:p>
            <a:pPr indent="0" marL="0">
              <a:buNone/>
            </a:pPr>
            <a:r>
              <a:rPr lang="en-US" sz="750" i="1" dirty="0">
                <a:solidFill>
                  <a:srgbClr val="37474F"/>
                </a:solidFill>
              </a:rPr>
              <a:t>War Room Active</a:t>
            </a:r>
            <a:endParaRPr lang="en-US" sz="750" dirty="0"/>
          </a:p>
        </p:txBody>
      </p:sp>
      <p:sp>
        <p:nvSpPr>
          <p:cNvPr id="46" name="Shape 44"/>
          <p:cNvSpPr/>
          <p:nvPr/>
        </p:nvSpPr>
        <p:spPr>
          <a:xfrm>
            <a:off x="3840480" y="3749040"/>
            <a:ext cx="8229600" cy="713232"/>
          </a:xfrm>
          <a:prstGeom prst="rect">
            <a:avLst/>
          </a:prstGeom>
          <a:solidFill>
            <a:srgbClr val="F1F5F9"/>
          </a:solidFill>
          <a:ln/>
        </p:spPr>
      </p:sp>
      <p:sp>
        <p:nvSpPr>
          <p:cNvPr id="47" name="Text 45"/>
          <p:cNvSpPr/>
          <p:nvPr/>
        </p:nvSpPr>
        <p:spPr>
          <a:xfrm>
            <a:off x="3904488" y="3749040"/>
            <a:ext cx="8138160" cy="713232"/>
          </a:xfrm>
          <a:prstGeom prst="rect">
            <a:avLst/>
          </a:prstGeom>
          <a:noFill/>
          <a:ln/>
        </p:spPr>
        <p:txBody>
          <a:bodyPr wrap="square" lIns="0" tIns="0" rIns="0" bIns="0" rtlCol="0" anchor="ctr"/>
          <a:lstStyle/>
          <a:p>
            <a:pPr indent="0" marL="0">
              <a:buNone/>
            </a:pPr>
            <a:r>
              <a:rPr lang="en-US" sz="780" dirty="0">
                <a:solidFill>
                  <a:srgbClr val="1E293B"/>
                </a:solidFill>
              </a:rPr>
              <a:t>  ①  SUM+DMO runs continuously — fully automated, no manual steps   ②  Basis team monitors progress dashboard; ready to intervene if errors occur   ③  GCP temporarily scaled to maximum RAM/CPU for fastest conversion speed   ④  Migration Cockpit loads final transactional data to S/4HANA in parallel</a:t>
            </a:r>
            <a:endParaRPr lang="en-US" sz="780" dirty="0"/>
          </a:p>
        </p:txBody>
      </p:sp>
      <p:sp>
        <p:nvSpPr>
          <p:cNvPr id="48" name="Shape 46"/>
          <p:cNvSpPr/>
          <p:nvPr/>
        </p:nvSpPr>
        <p:spPr>
          <a:xfrm>
            <a:off x="182880" y="4517136"/>
            <a:ext cx="960120" cy="713232"/>
          </a:xfrm>
          <a:prstGeom prst="rect">
            <a:avLst/>
          </a:prstGeom>
          <a:solidFill>
            <a:srgbClr val="00695C"/>
          </a:solidFill>
          <a:ln/>
        </p:spPr>
      </p:sp>
      <p:sp>
        <p:nvSpPr>
          <p:cNvPr id="49" name="Text 47"/>
          <p:cNvSpPr/>
          <p:nvPr/>
        </p:nvSpPr>
        <p:spPr>
          <a:xfrm>
            <a:off x="219456" y="4517136"/>
            <a:ext cx="905256" cy="713232"/>
          </a:xfrm>
          <a:prstGeom prst="rect">
            <a:avLst/>
          </a:prstGeom>
          <a:noFill/>
          <a:ln/>
        </p:spPr>
        <p:txBody>
          <a:bodyPr wrap="square" lIns="0" tIns="0" rIns="0" bIns="0" rtlCol="0" anchor="ctr"/>
          <a:lstStyle/>
          <a:p>
            <a:pPr algn="ctr" indent="0" marL="0">
              <a:buNone/>
            </a:pPr>
            <a:r>
              <a:rPr lang="en-US" sz="750" b="1" dirty="0">
                <a:solidFill>
                  <a:srgbClr val="FFFFFF"/>
                </a:solidFill>
              </a:rPr>
              <a:t>SAT 18:00</a:t>
            </a:r>
            <a:endParaRPr lang="en-US" sz="750" dirty="0"/>
          </a:p>
        </p:txBody>
      </p:sp>
      <p:sp>
        <p:nvSpPr>
          <p:cNvPr id="50" name="Shape 48"/>
          <p:cNvSpPr/>
          <p:nvPr/>
        </p:nvSpPr>
        <p:spPr>
          <a:xfrm>
            <a:off x="1234440" y="4517136"/>
            <a:ext cx="1170432" cy="713232"/>
          </a:xfrm>
          <a:prstGeom prst="rect">
            <a:avLst/>
          </a:prstGeom>
          <a:solidFill>
            <a:srgbClr val="FFFFFF"/>
          </a:solidFill>
          <a:ln/>
        </p:spPr>
      </p:sp>
      <p:sp>
        <p:nvSpPr>
          <p:cNvPr id="51" name="Text 49"/>
          <p:cNvSpPr/>
          <p:nvPr/>
        </p:nvSpPr>
        <p:spPr>
          <a:xfrm>
            <a:off x="1280160" y="4517136"/>
            <a:ext cx="1106424" cy="713232"/>
          </a:xfrm>
          <a:prstGeom prst="rect">
            <a:avLst/>
          </a:prstGeom>
          <a:noFill/>
          <a:ln/>
        </p:spPr>
        <p:txBody>
          <a:bodyPr wrap="square" lIns="0" tIns="0" rIns="0" bIns="0" rtlCol="0" anchor="ctr"/>
          <a:lstStyle/>
          <a:p>
            <a:pPr indent="0" marL="0">
              <a:buNone/>
            </a:pPr>
            <a:r>
              <a:rPr lang="en-US" sz="750" b="1" dirty="0">
                <a:solidFill>
                  <a:srgbClr val="00695C"/>
                </a:solidFill>
              </a:rPr>
              <a:t>TECHNICAL VALIDATION</a:t>
            </a:r>
            <a:endParaRPr lang="en-US" sz="750" dirty="0"/>
          </a:p>
        </p:txBody>
      </p:sp>
      <p:sp>
        <p:nvSpPr>
          <p:cNvPr id="52" name="Shape 50"/>
          <p:cNvSpPr/>
          <p:nvPr/>
        </p:nvSpPr>
        <p:spPr>
          <a:xfrm>
            <a:off x="2487168" y="4517136"/>
            <a:ext cx="1280160" cy="713232"/>
          </a:xfrm>
          <a:prstGeom prst="rect">
            <a:avLst/>
          </a:prstGeom>
          <a:solidFill>
            <a:srgbClr val="FFFFFF"/>
          </a:solidFill>
          <a:ln/>
        </p:spPr>
      </p:sp>
      <p:sp>
        <p:nvSpPr>
          <p:cNvPr id="53" name="Text 51"/>
          <p:cNvSpPr/>
          <p:nvPr/>
        </p:nvSpPr>
        <p:spPr>
          <a:xfrm>
            <a:off x="2532888" y="4517136"/>
            <a:ext cx="1216152" cy="713232"/>
          </a:xfrm>
          <a:prstGeom prst="rect">
            <a:avLst/>
          </a:prstGeom>
          <a:noFill/>
          <a:ln/>
        </p:spPr>
        <p:txBody>
          <a:bodyPr wrap="square" lIns="0" tIns="0" rIns="0" bIns="0" rtlCol="0" anchor="ctr"/>
          <a:lstStyle/>
          <a:p>
            <a:pPr indent="0" marL="0">
              <a:buNone/>
            </a:pPr>
            <a:r>
              <a:rPr lang="en-US" sz="750" i="1" dirty="0">
                <a:solidFill>
                  <a:srgbClr val="37474F"/>
                </a:solidFill>
              </a:rPr>
              <a:t>Your Team</a:t>
            </a:r>
            <a:endParaRPr lang="en-US" sz="750" dirty="0"/>
          </a:p>
        </p:txBody>
      </p:sp>
      <p:sp>
        <p:nvSpPr>
          <p:cNvPr id="54" name="Shape 52"/>
          <p:cNvSpPr/>
          <p:nvPr/>
        </p:nvSpPr>
        <p:spPr>
          <a:xfrm>
            <a:off x="3840480" y="4517136"/>
            <a:ext cx="8229600" cy="713232"/>
          </a:xfrm>
          <a:prstGeom prst="rect">
            <a:avLst/>
          </a:prstGeom>
          <a:solidFill>
            <a:srgbClr val="FFFFFF"/>
          </a:solidFill>
          <a:ln/>
        </p:spPr>
      </p:sp>
      <p:sp>
        <p:nvSpPr>
          <p:cNvPr id="55" name="Text 53"/>
          <p:cNvSpPr/>
          <p:nvPr/>
        </p:nvSpPr>
        <p:spPr>
          <a:xfrm>
            <a:off x="3904488" y="4517136"/>
            <a:ext cx="8138160" cy="713232"/>
          </a:xfrm>
          <a:prstGeom prst="rect">
            <a:avLst/>
          </a:prstGeom>
          <a:noFill/>
          <a:ln/>
        </p:spPr>
        <p:txBody>
          <a:bodyPr wrap="square" lIns="0" tIns="0" rIns="0" bIns="0" rtlCol="0" anchor="ctr"/>
          <a:lstStyle/>
          <a:p>
            <a:pPr indent="0" marL="0">
              <a:buNone/>
            </a:pPr>
            <a:r>
              <a:rPr lang="en-US" sz="780" dirty="0">
                <a:solidFill>
                  <a:srgbClr val="1E293B"/>
                </a:solidFill>
              </a:rPr>
              <a:t>  ①  SUM+DMO completes — system is now S/4HANA on GCP HANA   ②  Basis team runs system health checks: all services started, no errors in logs   ③  CVI check: all ECC Customers and Vendors converted to Business Partners   ④  Finance: ACDOCA (Universal Journal) populated, trial balance checked cent-by-cent</a:t>
            </a:r>
            <a:endParaRPr lang="en-US" sz="780" dirty="0"/>
          </a:p>
        </p:txBody>
      </p:sp>
      <p:sp>
        <p:nvSpPr>
          <p:cNvPr id="56" name="Shape 54"/>
          <p:cNvSpPr/>
          <p:nvPr/>
        </p:nvSpPr>
        <p:spPr>
          <a:xfrm>
            <a:off x="182880" y="5285232"/>
            <a:ext cx="960120" cy="713232"/>
          </a:xfrm>
          <a:prstGeom prst="rect">
            <a:avLst/>
          </a:prstGeom>
          <a:solidFill>
            <a:srgbClr val="00695C"/>
          </a:solidFill>
          <a:ln/>
        </p:spPr>
      </p:sp>
      <p:sp>
        <p:nvSpPr>
          <p:cNvPr id="57" name="Text 55"/>
          <p:cNvSpPr/>
          <p:nvPr/>
        </p:nvSpPr>
        <p:spPr>
          <a:xfrm>
            <a:off x="219456" y="5285232"/>
            <a:ext cx="905256" cy="713232"/>
          </a:xfrm>
          <a:prstGeom prst="rect">
            <a:avLst/>
          </a:prstGeom>
          <a:noFill/>
          <a:ln/>
        </p:spPr>
        <p:txBody>
          <a:bodyPr wrap="square" lIns="0" tIns="0" rIns="0" bIns="0" rtlCol="0" anchor="ctr"/>
          <a:lstStyle/>
          <a:p>
            <a:pPr algn="ctr" indent="0" marL="0">
              <a:buNone/>
            </a:pPr>
            <a:r>
              <a:rPr lang="en-US" sz="750" b="1" dirty="0">
                <a:solidFill>
                  <a:srgbClr val="FFFFFF"/>
                </a:solidFill>
              </a:rPr>
              <a:t>SUN 08:00</a:t>
            </a:r>
            <a:endParaRPr lang="en-US" sz="750" dirty="0"/>
          </a:p>
        </p:txBody>
      </p:sp>
      <p:sp>
        <p:nvSpPr>
          <p:cNvPr id="58" name="Shape 56"/>
          <p:cNvSpPr/>
          <p:nvPr/>
        </p:nvSpPr>
        <p:spPr>
          <a:xfrm>
            <a:off x="1234440" y="5285232"/>
            <a:ext cx="1170432" cy="713232"/>
          </a:xfrm>
          <a:prstGeom prst="rect">
            <a:avLst/>
          </a:prstGeom>
          <a:solidFill>
            <a:srgbClr val="F1F5F9"/>
          </a:solidFill>
          <a:ln/>
        </p:spPr>
      </p:sp>
      <p:sp>
        <p:nvSpPr>
          <p:cNvPr id="59" name="Text 57"/>
          <p:cNvSpPr/>
          <p:nvPr/>
        </p:nvSpPr>
        <p:spPr>
          <a:xfrm>
            <a:off x="1280160" y="5285232"/>
            <a:ext cx="1106424" cy="713232"/>
          </a:xfrm>
          <a:prstGeom prst="rect">
            <a:avLst/>
          </a:prstGeom>
          <a:noFill/>
          <a:ln/>
        </p:spPr>
        <p:txBody>
          <a:bodyPr wrap="square" lIns="0" tIns="0" rIns="0" bIns="0" rtlCol="0" anchor="ctr"/>
          <a:lstStyle/>
          <a:p>
            <a:pPr indent="0" marL="0">
              <a:buNone/>
            </a:pPr>
            <a:r>
              <a:rPr lang="en-US" sz="750" b="1" dirty="0">
                <a:solidFill>
                  <a:srgbClr val="00695C"/>
                </a:solidFill>
              </a:rPr>
              <a:t>BUSINESS VALIDATION</a:t>
            </a:r>
            <a:endParaRPr lang="en-US" sz="750" dirty="0"/>
          </a:p>
        </p:txBody>
      </p:sp>
      <p:sp>
        <p:nvSpPr>
          <p:cNvPr id="60" name="Shape 58"/>
          <p:cNvSpPr/>
          <p:nvPr/>
        </p:nvSpPr>
        <p:spPr>
          <a:xfrm>
            <a:off x="2487168" y="5285232"/>
            <a:ext cx="1280160" cy="713232"/>
          </a:xfrm>
          <a:prstGeom prst="rect">
            <a:avLst/>
          </a:prstGeom>
          <a:solidFill>
            <a:srgbClr val="F1F5F9"/>
          </a:solidFill>
          <a:ln/>
        </p:spPr>
      </p:sp>
      <p:sp>
        <p:nvSpPr>
          <p:cNvPr id="61" name="Text 59"/>
          <p:cNvSpPr/>
          <p:nvPr/>
        </p:nvSpPr>
        <p:spPr>
          <a:xfrm>
            <a:off x="2532888" y="5285232"/>
            <a:ext cx="1216152" cy="713232"/>
          </a:xfrm>
          <a:prstGeom prst="rect">
            <a:avLst/>
          </a:prstGeom>
          <a:noFill/>
          <a:ln/>
        </p:spPr>
        <p:txBody>
          <a:bodyPr wrap="square" lIns="0" tIns="0" rIns="0" bIns="0" rtlCol="0" anchor="ctr"/>
          <a:lstStyle/>
          <a:p>
            <a:pPr indent="0" marL="0">
              <a:buNone/>
            </a:pPr>
            <a:r>
              <a:rPr lang="en-US" sz="750" i="1" dirty="0">
                <a:solidFill>
                  <a:srgbClr val="37474F"/>
                </a:solidFill>
              </a:rPr>
              <a:t>Team + Key Users</a:t>
            </a:r>
            <a:endParaRPr lang="en-US" sz="750" dirty="0"/>
          </a:p>
        </p:txBody>
      </p:sp>
      <p:sp>
        <p:nvSpPr>
          <p:cNvPr id="62" name="Shape 60"/>
          <p:cNvSpPr/>
          <p:nvPr/>
        </p:nvSpPr>
        <p:spPr>
          <a:xfrm>
            <a:off x="3840480" y="5285232"/>
            <a:ext cx="8229600" cy="713232"/>
          </a:xfrm>
          <a:prstGeom prst="rect">
            <a:avLst/>
          </a:prstGeom>
          <a:solidFill>
            <a:srgbClr val="F1F5F9"/>
          </a:solidFill>
          <a:ln/>
        </p:spPr>
      </p:sp>
      <p:sp>
        <p:nvSpPr>
          <p:cNvPr id="63" name="Text 61"/>
          <p:cNvSpPr/>
          <p:nvPr/>
        </p:nvSpPr>
        <p:spPr>
          <a:xfrm>
            <a:off x="3904488" y="5285232"/>
            <a:ext cx="8138160" cy="713232"/>
          </a:xfrm>
          <a:prstGeom prst="rect">
            <a:avLst/>
          </a:prstGeom>
          <a:noFill/>
          <a:ln/>
        </p:spPr>
        <p:txBody>
          <a:bodyPr wrap="square" lIns="0" tIns="0" rIns="0" bIns="0" rtlCol="0" anchor="ctr"/>
          <a:lstStyle/>
          <a:p>
            <a:pPr indent="0" marL="0">
              <a:buNone/>
            </a:pPr>
            <a:r>
              <a:rPr lang="en-US" sz="780" dirty="0">
                <a:solidFill>
                  <a:srgbClr val="1E293B"/>
                </a:solidFill>
              </a:rPr>
              <a:t>  ①  Key users (Finance, Procurement, HR leads) log into new S/4HANA via Fiori   ②  Run pre-approved test scripts: create PO · post journal · run financial report   ③  All critical integrations checked: live and passing data correctly   ④  Project Director + Customer CIO make formal Go / No-Go decision</a:t>
            </a:r>
            <a:endParaRPr lang="en-US" sz="780" dirty="0"/>
          </a:p>
        </p:txBody>
      </p:sp>
      <p:sp>
        <p:nvSpPr>
          <p:cNvPr id="64" name="Shape 62"/>
          <p:cNvSpPr/>
          <p:nvPr/>
        </p:nvSpPr>
        <p:spPr>
          <a:xfrm>
            <a:off x="182880" y="6053328"/>
            <a:ext cx="960120" cy="713232"/>
          </a:xfrm>
          <a:prstGeom prst="rect">
            <a:avLst/>
          </a:prstGeom>
          <a:solidFill>
            <a:srgbClr val="1B5E20"/>
          </a:solidFill>
          <a:ln/>
        </p:spPr>
      </p:sp>
      <p:sp>
        <p:nvSpPr>
          <p:cNvPr id="65" name="Text 63"/>
          <p:cNvSpPr/>
          <p:nvPr/>
        </p:nvSpPr>
        <p:spPr>
          <a:xfrm>
            <a:off x="219456" y="6053328"/>
            <a:ext cx="905256" cy="713232"/>
          </a:xfrm>
          <a:prstGeom prst="rect">
            <a:avLst/>
          </a:prstGeom>
          <a:noFill/>
          <a:ln/>
        </p:spPr>
        <p:txBody>
          <a:bodyPr wrap="square" lIns="0" tIns="0" rIns="0" bIns="0" rtlCol="0" anchor="ctr"/>
          <a:lstStyle/>
          <a:p>
            <a:pPr algn="ctr" indent="0" marL="0">
              <a:buNone/>
            </a:pPr>
            <a:r>
              <a:rPr lang="en-US" sz="750" b="1" dirty="0">
                <a:solidFill>
                  <a:srgbClr val="FFFFFF"/>
                </a:solidFill>
              </a:rPr>
              <a:t>SUN 14:00</a:t>
            </a:r>
            <a:endParaRPr lang="en-US" sz="750" dirty="0"/>
          </a:p>
        </p:txBody>
      </p:sp>
      <p:sp>
        <p:nvSpPr>
          <p:cNvPr id="66" name="Shape 64"/>
          <p:cNvSpPr/>
          <p:nvPr/>
        </p:nvSpPr>
        <p:spPr>
          <a:xfrm>
            <a:off x="1234440" y="6053328"/>
            <a:ext cx="1170432" cy="713232"/>
          </a:xfrm>
          <a:prstGeom prst="rect">
            <a:avLst/>
          </a:prstGeom>
          <a:solidFill>
            <a:srgbClr val="FFFFFF"/>
          </a:solidFill>
          <a:ln/>
        </p:spPr>
      </p:sp>
      <p:sp>
        <p:nvSpPr>
          <p:cNvPr id="67" name="Text 65"/>
          <p:cNvSpPr/>
          <p:nvPr/>
        </p:nvSpPr>
        <p:spPr>
          <a:xfrm>
            <a:off x="1280160" y="6053328"/>
            <a:ext cx="1106424" cy="713232"/>
          </a:xfrm>
          <a:prstGeom prst="rect">
            <a:avLst/>
          </a:prstGeom>
          <a:noFill/>
          <a:ln/>
        </p:spPr>
        <p:txBody>
          <a:bodyPr wrap="square" lIns="0" tIns="0" rIns="0" bIns="0" rtlCol="0" anchor="ctr"/>
          <a:lstStyle/>
          <a:p>
            <a:pPr indent="0" marL="0">
              <a:buNone/>
            </a:pPr>
            <a:r>
              <a:rPr lang="en-US" sz="750" b="1" dirty="0">
                <a:solidFill>
                  <a:srgbClr val="1B5E20"/>
                </a:solidFill>
              </a:rPr>
              <a:t>GO-LIVE</a:t>
            </a:r>
            <a:endParaRPr lang="en-US" sz="750" dirty="0"/>
          </a:p>
        </p:txBody>
      </p:sp>
      <p:sp>
        <p:nvSpPr>
          <p:cNvPr id="68" name="Shape 66"/>
          <p:cNvSpPr/>
          <p:nvPr/>
        </p:nvSpPr>
        <p:spPr>
          <a:xfrm>
            <a:off x="2487168" y="6053328"/>
            <a:ext cx="1280160" cy="713232"/>
          </a:xfrm>
          <a:prstGeom prst="rect">
            <a:avLst/>
          </a:prstGeom>
          <a:solidFill>
            <a:srgbClr val="FFFFFF"/>
          </a:solidFill>
          <a:ln/>
        </p:spPr>
      </p:sp>
      <p:sp>
        <p:nvSpPr>
          <p:cNvPr id="69" name="Text 67"/>
          <p:cNvSpPr/>
          <p:nvPr/>
        </p:nvSpPr>
        <p:spPr>
          <a:xfrm>
            <a:off x="2532888" y="6053328"/>
            <a:ext cx="1216152" cy="713232"/>
          </a:xfrm>
          <a:prstGeom prst="rect">
            <a:avLst/>
          </a:prstGeom>
          <a:noFill/>
          <a:ln/>
        </p:spPr>
        <p:txBody>
          <a:bodyPr wrap="square" lIns="0" tIns="0" rIns="0" bIns="0" rtlCol="0" anchor="ctr"/>
          <a:lstStyle/>
          <a:p>
            <a:pPr indent="0" marL="0">
              <a:buNone/>
            </a:pPr>
            <a:r>
              <a:rPr lang="en-US" sz="750" i="1" dirty="0">
                <a:solidFill>
                  <a:srgbClr val="37474F"/>
                </a:solidFill>
              </a:rPr>
              <a:t>SAP (DNS) + Your Team</a:t>
            </a:r>
            <a:endParaRPr lang="en-US" sz="750" dirty="0"/>
          </a:p>
        </p:txBody>
      </p:sp>
      <p:sp>
        <p:nvSpPr>
          <p:cNvPr id="70" name="Shape 68"/>
          <p:cNvSpPr/>
          <p:nvPr/>
        </p:nvSpPr>
        <p:spPr>
          <a:xfrm>
            <a:off x="3840480" y="6053328"/>
            <a:ext cx="8229600" cy="713232"/>
          </a:xfrm>
          <a:prstGeom prst="rect">
            <a:avLst/>
          </a:prstGeom>
          <a:solidFill>
            <a:srgbClr val="FFFFFF"/>
          </a:solidFill>
          <a:ln/>
        </p:spPr>
      </p:sp>
      <p:sp>
        <p:nvSpPr>
          <p:cNvPr id="71" name="Text 69"/>
          <p:cNvSpPr/>
          <p:nvPr/>
        </p:nvSpPr>
        <p:spPr>
          <a:xfrm>
            <a:off x="3904488" y="6053328"/>
            <a:ext cx="8138160" cy="713232"/>
          </a:xfrm>
          <a:prstGeom prst="rect">
            <a:avLst/>
          </a:prstGeom>
          <a:noFill/>
          <a:ln/>
        </p:spPr>
        <p:txBody>
          <a:bodyPr wrap="square" lIns="0" tIns="0" rIns="0" bIns="0" rtlCol="0" anchor="ctr"/>
          <a:lstStyle/>
          <a:p>
            <a:pPr indent="0" marL="0">
              <a:buNone/>
            </a:pPr>
            <a:r>
              <a:rPr lang="en-US" sz="780" dirty="0">
                <a:solidFill>
                  <a:srgbClr val="1E293B"/>
                </a:solidFill>
              </a:rPr>
              <a:t>  ①  SAP switches DNS records: all users now connect to GCP S/4HANA (not old ECC)   ②  Old on-premise ECC system permanently locked — read-only archive only   ③  All users receive new Fiori URL and login instructions   ④  Full hypercare team deployed: all hands on deck for first 48 hours</a:t>
            </a:r>
            <a:endParaRPr lang="en-US" sz="78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0695C"/>
        </a:solidFill>
      </p:bgPr>
    </p:bg>
    <p:spTree>
      <p:nvGrpSpPr>
        <p:cNvPr id="1" name=""/>
        <p:cNvGrpSpPr/>
        <p:nvPr/>
      </p:nvGrpSpPr>
      <p:grpSpPr>
        <a:xfrm>
          <a:off x="0" y="0"/>
          <a:ext cx="0" cy="0"/>
          <a:chOff x="0" y="0"/>
          <a:chExt cx="0" cy="0"/>
        </a:xfrm>
      </p:grpSpPr>
      <p:sp>
        <p:nvSpPr>
          <p:cNvPr id="2" name="Shape 0"/>
          <p:cNvSpPr/>
          <p:nvPr/>
        </p:nvSpPr>
        <p:spPr>
          <a:xfrm>
            <a:off x="0" y="0"/>
            <a:ext cx="12161520" cy="64008"/>
          </a:xfrm>
          <a:prstGeom prst="rect">
            <a:avLst/>
          </a:prstGeom>
          <a:solidFill>
            <a:srgbClr val="003D33"/>
          </a:solidFill>
          <a:ln/>
        </p:spPr>
      </p:sp>
      <p:sp>
        <p:nvSpPr>
          <p:cNvPr id="3" name="Shape 1"/>
          <p:cNvSpPr/>
          <p:nvPr/>
        </p:nvSpPr>
        <p:spPr>
          <a:xfrm>
            <a:off x="0" y="6793992"/>
            <a:ext cx="12161520" cy="64008"/>
          </a:xfrm>
          <a:prstGeom prst="rect">
            <a:avLst/>
          </a:prstGeom>
          <a:solidFill>
            <a:srgbClr val="003D33"/>
          </a:solidFill>
          <a:ln/>
        </p:spPr>
      </p:sp>
      <p:sp>
        <p:nvSpPr>
          <p:cNvPr id="4" name="Shape 2"/>
          <p:cNvSpPr/>
          <p:nvPr/>
        </p:nvSpPr>
        <p:spPr>
          <a:xfrm>
            <a:off x="7863840" y="0"/>
            <a:ext cx="4297680" cy="6858000"/>
          </a:xfrm>
          <a:prstGeom prst="rect">
            <a:avLst/>
          </a:prstGeom>
          <a:solidFill>
            <a:srgbClr val="0D1B2A">
              <a:alpha val="48000"/>
            </a:srgbClr>
          </a:solidFill>
          <a:ln/>
        </p:spPr>
      </p:sp>
      <p:sp>
        <p:nvSpPr>
          <p:cNvPr id="5" name="Text 3"/>
          <p:cNvSpPr/>
          <p:nvPr/>
        </p:nvSpPr>
        <p:spPr>
          <a:xfrm>
            <a:off x="640080" y="1371600"/>
            <a:ext cx="5486400" cy="457200"/>
          </a:xfrm>
          <a:prstGeom prst="rect">
            <a:avLst/>
          </a:prstGeom>
          <a:noFill/>
          <a:ln/>
        </p:spPr>
        <p:txBody>
          <a:bodyPr wrap="square" lIns="0" tIns="0" rIns="0" bIns="0" rtlCol="0" anchor="ctr"/>
          <a:lstStyle/>
          <a:p>
            <a:pPr indent="0" marL="0">
              <a:buNone/>
            </a:pPr>
            <a:r>
              <a:rPr lang="en-US" sz="1400" b="1" spc="400" kern="0" dirty="0">
                <a:solidFill>
                  <a:srgbClr val="B2EBF2"/>
                </a:solidFill>
              </a:rPr>
              <a:t>PART 2</a:t>
            </a:r>
            <a:endParaRPr lang="en-US" sz="1400" dirty="0"/>
          </a:p>
        </p:txBody>
      </p:sp>
      <p:sp>
        <p:nvSpPr>
          <p:cNvPr id="6" name="Text 4"/>
          <p:cNvSpPr/>
          <p:nvPr/>
        </p:nvSpPr>
        <p:spPr>
          <a:xfrm>
            <a:off x="640080" y="1901952"/>
            <a:ext cx="6858000" cy="2468880"/>
          </a:xfrm>
          <a:prstGeom prst="rect">
            <a:avLst/>
          </a:prstGeom>
          <a:noFill/>
          <a:ln/>
        </p:spPr>
        <p:txBody>
          <a:bodyPr wrap="square" lIns="0" tIns="0" rIns="0" bIns="0" rtlCol="0" anchor="ctr"/>
          <a:lstStyle/>
          <a:p>
            <a:pPr indent="0" marL="0">
              <a:buNone/>
            </a:pPr>
            <a:r>
              <a:rPr lang="en-US" sz="3600" b="1" dirty="0">
                <a:solidFill>
                  <a:srgbClr val="FFFFFF"/>
                </a:solidFill>
              </a:rPr>
              <a:t>Data Migration in</a:t>
            </a:r>
            <a:endParaRPr lang="en-US" sz="3600" dirty="0"/>
          </a:p>
          <a:p>
            <a:pPr indent="0" marL="0">
              <a:buNone/>
            </a:pPr>
            <a:r>
              <a:rPr lang="en-US" sz="3600" b="1" dirty="0">
                <a:solidFill>
                  <a:srgbClr val="FFFFFF"/>
                </a:solidFill>
              </a:rPr>
              <a:t>Brownfield —</a:t>
            </a:r>
            <a:endParaRPr lang="en-US" sz="3600" dirty="0"/>
          </a:p>
          <a:p>
            <a:pPr indent="0" marL="0">
              <a:buNone/>
            </a:pPr>
            <a:r>
              <a:rPr lang="en-US" sz="3600" b="1" dirty="0">
                <a:solidFill>
                  <a:srgbClr val="FFFFFF"/>
                </a:solidFill>
              </a:rPr>
              <a:t>The Complete Playbook</a:t>
            </a:r>
            <a:endParaRPr lang="en-US" sz="3600" dirty="0"/>
          </a:p>
        </p:txBody>
      </p:sp>
      <p:sp>
        <p:nvSpPr>
          <p:cNvPr id="7" name="Text 5"/>
          <p:cNvSpPr/>
          <p:nvPr/>
        </p:nvSpPr>
        <p:spPr>
          <a:xfrm>
            <a:off x="640080" y="4480560"/>
            <a:ext cx="6858000" cy="804672"/>
          </a:xfrm>
          <a:prstGeom prst="rect">
            <a:avLst/>
          </a:prstGeom>
          <a:noFill/>
          <a:ln/>
        </p:spPr>
        <p:txBody>
          <a:bodyPr wrap="square" lIns="0" tIns="0" rIns="0" bIns="0" rtlCol="0" anchor="ctr"/>
          <a:lstStyle/>
          <a:p>
            <a:pPr indent="0" marL="0">
              <a:buNone/>
            </a:pPr>
            <a:r>
              <a:rPr lang="en-US" sz="1250" i="1" dirty="0">
                <a:solidFill>
                  <a:srgbClr val="B2EBF2"/>
                </a:solidFill>
              </a:rPr>
              <a:t>Exactly how data moves · All SAP tools compared · 3rd-party options</a:t>
            </a:r>
            <a:endParaRPr lang="en-US" sz="1250" dirty="0"/>
          </a:p>
          <a:p>
            <a:pPr indent="0" marL="0">
              <a:buNone/>
            </a:pPr>
            <a:r>
              <a:rPr lang="en-US" sz="1250" i="1" dirty="0">
                <a:solidFill>
                  <a:srgbClr val="B2EBF2"/>
                </a:solidFill>
              </a:rPr>
              <a:t>The 8-step process your team owns · Tool selection guide</a:t>
            </a:r>
            <a:endParaRPr lang="en-US" sz="1250" dirty="0"/>
          </a:p>
        </p:txBody>
      </p:sp>
      <p:sp>
        <p:nvSpPr>
          <p:cNvPr id="8" name="Shape 6"/>
          <p:cNvSpPr/>
          <p:nvPr/>
        </p:nvSpPr>
        <p:spPr>
          <a:xfrm>
            <a:off x="8028432" y="822960"/>
            <a:ext cx="3931920" cy="1261872"/>
          </a:xfrm>
          <a:prstGeom prst="rect">
            <a:avLst/>
          </a:prstGeom>
          <a:solidFill>
            <a:srgbClr val="FFFFFF">
              <a:alpha val="16000"/>
            </a:srgbClr>
          </a:solidFill>
          <a:ln/>
        </p:spPr>
      </p:sp>
      <p:sp>
        <p:nvSpPr>
          <p:cNvPr id="9" name="Text 7"/>
          <p:cNvSpPr/>
          <p:nvPr/>
        </p:nvSpPr>
        <p:spPr>
          <a:xfrm>
            <a:off x="8119872" y="896112"/>
            <a:ext cx="411480" cy="292608"/>
          </a:xfrm>
          <a:prstGeom prst="rect">
            <a:avLst/>
          </a:prstGeom>
          <a:noFill/>
          <a:ln/>
        </p:spPr>
        <p:txBody>
          <a:bodyPr wrap="square" lIns="0" tIns="0" rIns="0" bIns="0" rtlCol="0" anchor="ctr"/>
          <a:lstStyle/>
          <a:p>
            <a:pPr indent="0" marL="0">
              <a:buNone/>
            </a:pPr>
            <a:r>
              <a:rPr lang="en-US" sz="1100" b="1" dirty="0">
                <a:solidFill>
                  <a:srgbClr val="FFFFFF"/>
                </a:solidFill>
              </a:rPr>
              <a:t>Q1</a:t>
            </a:r>
            <a:endParaRPr lang="en-US" sz="1100" dirty="0"/>
          </a:p>
        </p:txBody>
      </p:sp>
      <p:sp>
        <p:nvSpPr>
          <p:cNvPr id="10" name="Text 8"/>
          <p:cNvSpPr/>
          <p:nvPr/>
        </p:nvSpPr>
        <p:spPr>
          <a:xfrm>
            <a:off x="8119872" y="1225296"/>
            <a:ext cx="3657600" cy="749808"/>
          </a:xfrm>
          <a:prstGeom prst="rect">
            <a:avLst/>
          </a:prstGeom>
          <a:noFill/>
          <a:ln/>
        </p:spPr>
        <p:txBody>
          <a:bodyPr wrap="square" lIns="0" tIns="0" rIns="0" bIns="0" rtlCol="0" anchor="ctr"/>
          <a:lstStyle/>
          <a:p>
            <a:pPr indent="0" marL="0">
              <a:buNone/>
            </a:pPr>
            <a:r>
              <a:rPr lang="en-US" sz="1000" dirty="0">
                <a:solidFill>
                  <a:srgbClr val="FFFFFF"/>
                </a:solidFill>
              </a:rPr>
              <a:t>What data types must be migrated?</a:t>
            </a:r>
            <a:endParaRPr lang="en-US" sz="1000" dirty="0"/>
          </a:p>
        </p:txBody>
      </p:sp>
      <p:sp>
        <p:nvSpPr>
          <p:cNvPr id="11" name="Shape 9"/>
          <p:cNvSpPr/>
          <p:nvPr/>
        </p:nvSpPr>
        <p:spPr>
          <a:xfrm>
            <a:off x="8028432" y="2304288"/>
            <a:ext cx="3931920" cy="1261872"/>
          </a:xfrm>
          <a:prstGeom prst="rect">
            <a:avLst/>
          </a:prstGeom>
          <a:solidFill>
            <a:srgbClr val="FFFFFF">
              <a:alpha val="16000"/>
            </a:srgbClr>
          </a:solidFill>
          <a:ln/>
        </p:spPr>
      </p:sp>
      <p:sp>
        <p:nvSpPr>
          <p:cNvPr id="12" name="Text 10"/>
          <p:cNvSpPr/>
          <p:nvPr/>
        </p:nvSpPr>
        <p:spPr>
          <a:xfrm>
            <a:off x="8119872" y="2377440"/>
            <a:ext cx="411480" cy="292608"/>
          </a:xfrm>
          <a:prstGeom prst="rect">
            <a:avLst/>
          </a:prstGeom>
          <a:noFill/>
          <a:ln/>
        </p:spPr>
        <p:txBody>
          <a:bodyPr wrap="square" lIns="0" tIns="0" rIns="0" bIns="0" rtlCol="0" anchor="ctr"/>
          <a:lstStyle/>
          <a:p>
            <a:pPr indent="0" marL="0">
              <a:buNone/>
            </a:pPr>
            <a:r>
              <a:rPr lang="en-US" sz="1100" b="1" dirty="0">
                <a:solidFill>
                  <a:srgbClr val="FFFFFF"/>
                </a:solidFill>
              </a:rPr>
              <a:t>Q2</a:t>
            </a:r>
            <a:endParaRPr lang="en-US" sz="1100" dirty="0"/>
          </a:p>
        </p:txBody>
      </p:sp>
      <p:sp>
        <p:nvSpPr>
          <p:cNvPr id="13" name="Text 11"/>
          <p:cNvSpPr/>
          <p:nvPr/>
        </p:nvSpPr>
        <p:spPr>
          <a:xfrm>
            <a:off x="8119872" y="2706624"/>
            <a:ext cx="3657600" cy="749808"/>
          </a:xfrm>
          <a:prstGeom prst="rect">
            <a:avLst/>
          </a:prstGeom>
          <a:noFill/>
          <a:ln/>
        </p:spPr>
        <p:txBody>
          <a:bodyPr wrap="square" lIns="0" tIns="0" rIns="0" bIns="0" rtlCol="0" anchor="ctr"/>
          <a:lstStyle/>
          <a:p>
            <a:pPr indent="0" marL="0">
              <a:buNone/>
            </a:pPr>
            <a:r>
              <a:rPr lang="en-US" sz="1000" dirty="0">
                <a:solidFill>
                  <a:srgbClr val="FFFFFF"/>
                </a:solidFill>
              </a:rPr>
              <a:t>What SAP tools exist &amp; how do they differ?</a:t>
            </a:r>
            <a:endParaRPr lang="en-US" sz="1000" dirty="0"/>
          </a:p>
        </p:txBody>
      </p:sp>
      <p:sp>
        <p:nvSpPr>
          <p:cNvPr id="14" name="Shape 12"/>
          <p:cNvSpPr/>
          <p:nvPr/>
        </p:nvSpPr>
        <p:spPr>
          <a:xfrm>
            <a:off x="8028432" y="3785616"/>
            <a:ext cx="3931920" cy="1261872"/>
          </a:xfrm>
          <a:prstGeom prst="rect">
            <a:avLst/>
          </a:prstGeom>
          <a:solidFill>
            <a:srgbClr val="FFFFFF">
              <a:alpha val="16000"/>
            </a:srgbClr>
          </a:solidFill>
          <a:ln/>
        </p:spPr>
      </p:sp>
      <p:sp>
        <p:nvSpPr>
          <p:cNvPr id="15" name="Text 13"/>
          <p:cNvSpPr/>
          <p:nvPr/>
        </p:nvSpPr>
        <p:spPr>
          <a:xfrm>
            <a:off x="8119872" y="3858768"/>
            <a:ext cx="411480" cy="292608"/>
          </a:xfrm>
          <a:prstGeom prst="rect">
            <a:avLst/>
          </a:prstGeom>
          <a:noFill/>
          <a:ln/>
        </p:spPr>
        <p:txBody>
          <a:bodyPr wrap="square" lIns="0" tIns="0" rIns="0" bIns="0" rtlCol="0" anchor="ctr"/>
          <a:lstStyle/>
          <a:p>
            <a:pPr indent="0" marL="0">
              <a:buNone/>
            </a:pPr>
            <a:r>
              <a:rPr lang="en-US" sz="1100" b="1" dirty="0">
                <a:solidFill>
                  <a:srgbClr val="FFFFFF"/>
                </a:solidFill>
              </a:rPr>
              <a:t>Q3</a:t>
            </a:r>
            <a:endParaRPr lang="en-US" sz="1100" dirty="0"/>
          </a:p>
        </p:txBody>
      </p:sp>
      <p:sp>
        <p:nvSpPr>
          <p:cNvPr id="16" name="Text 14"/>
          <p:cNvSpPr/>
          <p:nvPr/>
        </p:nvSpPr>
        <p:spPr>
          <a:xfrm>
            <a:off x="8119872" y="4187952"/>
            <a:ext cx="3657600" cy="749808"/>
          </a:xfrm>
          <a:prstGeom prst="rect">
            <a:avLst/>
          </a:prstGeom>
          <a:noFill/>
          <a:ln/>
        </p:spPr>
        <p:txBody>
          <a:bodyPr wrap="square" lIns="0" tIns="0" rIns="0" bIns="0" rtlCol="0" anchor="ctr"/>
          <a:lstStyle/>
          <a:p>
            <a:pPr indent="0" marL="0">
              <a:buNone/>
            </a:pPr>
            <a:r>
              <a:rPr lang="en-US" sz="1000" dirty="0">
                <a:solidFill>
                  <a:srgbClr val="FFFFFF"/>
                </a:solidFill>
              </a:rPr>
              <a:t>Are 3rd-party tools ever better?</a:t>
            </a:r>
            <a:endParaRPr lang="en-US" sz="1000" dirty="0"/>
          </a:p>
        </p:txBody>
      </p:sp>
      <p:sp>
        <p:nvSpPr>
          <p:cNvPr id="17" name="Shape 15"/>
          <p:cNvSpPr/>
          <p:nvPr/>
        </p:nvSpPr>
        <p:spPr>
          <a:xfrm>
            <a:off x="8028432" y="5266944"/>
            <a:ext cx="3931920" cy="1261872"/>
          </a:xfrm>
          <a:prstGeom prst="rect">
            <a:avLst/>
          </a:prstGeom>
          <a:solidFill>
            <a:srgbClr val="FFFFFF">
              <a:alpha val="16000"/>
            </a:srgbClr>
          </a:solidFill>
          <a:ln/>
        </p:spPr>
      </p:sp>
      <p:sp>
        <p:nvSpPr>
          <p:cNvPr id="18" name="Text 16"/>
          <p:cNvSpPr/>
          <p:nvPr/>
        </p:nvSpPr>
        <p:spPr>
          <a:xfrm>
            <a:off x="8119872" y="5340096"/>
            <a:ext cx="411480" cy="292608"/>
          </a:xfrm>
          <a:prstGeom prst="rect">
            <a:avLst/>
          </a:prstGeom>
          <a:noFill/>
          <a:ln/>
        </p:spPr>
        <p:txBody>
          <a:bodyPr wrap="square" lIns="0" tIns="0" rIns="0" bIns="0" rtlCol="0" anchor="ctr"/>
          <a:lstStyle/>
          <a:p>
            <a:pPr indent="0" marL="0">
              <a:buNone/>
            </a:pPr>
            <a:r>
              <a:rPr lang="en-US" sz="1100" b="1" dirty="0">
                <a:solidFill>
                  <a:srgbClr val="FFFFFF"/>
                </a:solidFill>
              </a:rPr>
              <a:t>Q4</a:t>
            </a:r>
            <a:endParaRPr lang="en-US" sz="1100" dirty="0"/>
          </a:p>
        </p:txBody>
      </p:sp>
      <p:sp>
        <p:nvSpPr>
          <p:cNvPr id="19" name="Text 17"/>
          <p:cNvSpPr/>
          <p:nvPr/>
        </p:nvSpPr>
        <p:spPr>
          <a:xfrm>
            <a:off x="8119872" y="5669280"/>
            <a:ext cx="3657600" cy="749808"/>
          </a:xfrm>
          <a:prstGeom prst="rect">
            <a:avLst/>
          </a:prstGeom>
          <a:noFill/>
          <a:ln/>
        </p:spPr>
        <p:txBody>
          <a:bodyPr wrap="square" lIns="0" tIns="0" rIns="0" bIns="0" rtlCol="0" anchor="ctr"/>
          <a:lstStyle/>
          <a:p>
            <a:pPr indent="0" marL="0">
              <a:buNone/>
            </a:pPr>
            <a:r>
              <a:rPr lang="en-US" sz="1000" dirty="0">
                <a:solidFill>
                  <a:srgbClr val="FFFFFF"/>
                </a:solidFill>
              </a:rPr>
              <a:t>What are the 8 steps your team executes?</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D"/>
        </a:solidFill>
      </p:bgPr>
    </p:bg>
    <p:spTree>
      <p:nvGrpSpPr>
        <p:cNvPr id="1" name=""/>
        <p:cNvGrpSpPr/>
        <p:nvPr/>
      </p:nvGrpSpPr>
      <p:grpSpPr>
        <a:xfrm>
          <a:off x="0" y="0"/>
          <a:ext cx="0" cy="0"/>
          <a:chOff x="0" y="0"/>
          <a:chExt cx="0" cy="0"/>
        </a:xfrm>
      </p:grpSpPr>
      <p:sp>
        <p:nvSpPr>
          <p:cNvPr id="2" name="Shape 0"/>
          <p:cNvSpPr/>
          <p:nvPr/>
        </p:nvSpPr>
        <p:spPr>
          <a:xfrm>
            <a:off x="0" y="0"/>
            <a:ext cx="12161520" cy="749808"/>
          </a:xfrm>
          <a:prstGeom prst="rect">
            <a:avLst/>
          </a:prstGeom>
          <a:solidFill>
            <a:srgbClr val="0D1B2A"/>
          </a:solidFill>
          <a:ln/>
        </p:spPr>
      </p:sp>
      <p:sp>
        <p:nvSpPr>
          <p:cNvPr id="3" name="Shape 1"/>
          <p:cNvSpPr/>
          <p:nvPr/>
        </p:nvSpPr>
        <p:spPr>
          <a:xfrm>
            <a:off x="0" y="0"/>
            <a:ext cx="274320" cy="749808"/>
          </a:xfrm>
          <a:prstGeom prst="rect">
            <a:avLst/>
          </a:prstGeom>
          <a:solidFill>
            <a:srgbClr val="00695C"/>
          </a:solidFill>
          <a:ln/>
        </p:spPr>
      </p:sp>
      <p:sp>
        <p:nvSpPr>
          <p:cNvPr id="4" name="Text 2"/>
          <p:cNvSpPr/>
          <p:nvPr/>
        </p:nvSpPr>
        <p:spPr>
          <a:xfrm>
            <a:off x="457200" y="0"/>
            <a:ext cx="11521440" cy="749808"/>
          </a:xfrm>
          <a:prstGeom prst="rect">
            <a:avLst/>
          </a:prstGeom>
          <a:noFill/>
          <a:ln/>
        </p:spPr>
        <p:txBody>
          <a:bodyPr wrap="square" lIns="0" tIns="0" rIns="0" bIns="0" rtlCol="0" anchor="ctr"/>
          <a:lstStyle/>
          <a:p>
            <a:pPr indent="0" marL="0">
              <a:buNone/>
            </a:pPr>
            <a:r>
              <a:rPr lang="en-US" sz="1350" b="1" spc="60" kern="0" dirty="0">
                <a:solidFill>
                  <a:srgbClr val="FFFFFF"/>
                </a:solidFill>
              </a:rPr>
              <a:t>PART 2  |  WHAT DATA NEEDS TO MIGRATE — TYPES, WHO HANDLES WHAT</a:t>
            </a:r>
            <a:endParaRPr lang="en-US" sz="1350" dirty="0"/>
          </a:p>
        </p:txBody>
      </p:sp>
      <p:sp>
        <p:nvSpPr>
          <p:cNvPr id="5" name="Shape 3"/>
          <p:cNvSpPr/>
          <p:nvPr/>
        </p:nvSpPr>
        <p:spPr>
          <a:xfrm>
            <a:off x="201168" y="822960"/>
            <a:ext cx="11750040" cy="256032"/>
          </a:xfrm>
          <a:prstGeom prst="rect">
            <a:avLst/>
          </a:prstGeom>
          <a:solidFill>
            <a:srgbClr val="E0F2F1"/>
          </a:solidFill>
          <a:ln/>
        </p:spPr>
      </p:sp>
      <p:sp>
        <p:nvSpPr>
          <p:cNvPr id="6" name="Shape 4"/>
          <p:cNvSpPr/>
          <p:nvPr/>
        </p:nvSpPr>
        <p:spPr>
          <a:xfrm>
            <a:off x="201168" y="822960"/>
            <a:ext cx="54864" cy="256032"/>
          </a:xfrm>
          <a:prstGeom prst="rect">
            <a:avLst/>
          </a:prstGeom>
          <a:solidFill>
            <a:srgbClr val="00695C"/>
          </a:solidFill>
          <a:ln/>
        </p:spPr>
      </p:sp>
      <p:sp>
        <p:nvSpPr>
          <p:cNvPr id="7" name="Text 5"/>
          <p:cNvSpPr/>
          <p:nvPr/>
        </p:nvSpPr>
        <p:spPr>
          <a:xfrm>
            <a:off x="329184" y="822960"/>
            <a:ext cx="11521440" cy="256032"/>
          </a:xfrm>
          <a:prstGeom prst="rect">
            <a:avLst/>
          </a:prstGeom>
          <a:noFill/>
          <a:ln/>
        </p:spPr>
        <p:txBody>
          <a:bodyPr wrap="square" lIns="0" tIns="0" rIns="0" bIns="0" rtlCol="0" anchor="ctr"/>
          <a:lstStyle/>
          <a:p>
            <a:pPr indent="0" marL="0">
              <a:buNone/>
            </a:pPr>
            <a:r>
              <a:rPr lang="en-US" sz="880" dirty="0">
                <a:solidFill>
                  <a:srgbClr val="1E293B"/>
                </a:solidFill>
              </a:rPr>
              <a:t>In Brownfield, SUM+DMO automatically converts ~90% of all ECC data. Your team's manual migration work covers the remaining 10% — but that 10% is the most complex and highest-risk portion.</a:t>
            </a:r>
            <a:endParaRPr lang="en-US" sz="880" dirty="0"/>
          </a:p>
        </p:txBody>
      </p:sp>
      <p:sp>
        <p:nvSpPr>
          <p:cNvPr id="8" name="Shape 6"/>
          <p:cNvSpPr/>
          <p:nvPr/>
        </p:nvSpPr>
        <p:spPr>
          <a:xfrm>
            <a:off x="201168" y="1133856"/>
            <a:ext cx="3858768" cy="5596128"/>
          </a:xfrm>
          <a:prstGeom prst="rect">
            <a:avLst/>
          </a:prstGeom>
          <a:solidFill>
            <a:srgbClr val="FFFFFF"/>
          </a:solidFill>
          <a:ln/>
          <a:effectLst>
            <a:outerShdw sx="100000" sy="100000" kx="0" ky="0" algn="bl" rotWithShape="0" blurRad="101600" dist="25400" dir="8100000">
              <a:srgbClr val="000000">
                <a:alpha val="9000"/>
              </a:srgbClr>
            </a:outerShdw>
          </a:effectLst>
        </p:spPr>
      </p:sp>
      <p:sp>
        <p:nvSpPr>
          <p:cNvPr id="9" name="Shape 7"/>
          <p:cNvSpPr/>
          <p:nvPr/>
        </p:nvSpPr>
        <p:spPr>
          <a:xfrm>
            <a:off x="201168" y="1133856"/>
            <a:ext cx="3858768" cy="512064"/>
          </a:xfrm>
          <a:prstGeom prst="rect">
            <a:avLst/>
          </a:prstGeom>
          <a:solidFill>
            <a:srgbClr val="1565C0"/>
          </a:solidFill>
          <a:ln/>
        </p:spPr>
      </p:sp>
      <p:sp>
        <p:nvSpPr>
          <p:cNvPr id="10" name="Text 8"/>
          <p:cNvSpPr/>
          <p:nvPr/>
        </p:nvSpPr>
        <p:spPr>
          <a:xfrm>
            <a:off x="292608" y="1152144"/>
            <a:ext cx="3694176" cy="274320"/>
          </a:xfrm>
          <a:prstGeom prst="rect">
            <a:avLst/>
          </a:prstGeom>
          <a:noFill/>
          <a:ln/>
        </p:spPr>
        <p:txBody>
          <a:bodyPr wrap="square" lIns="0" tIns="0" rIns="0" bIns="0" rtlCol="0" anchor="ctr"/>
          <a:lstStyle/>
          <a:p>
            <a:pPr indent="0" marL="0">
              <a:buNone/>
            </a:pPr>
            <a:r>
              <a:rPr lang="en-US" sz="1000" b="1" dirty="0">
                <a:solidFill>
                  <a:srgbClr val="FFFFFF"/>
                </a:solidFill>
              </a:rPr>
              <a:t>MASTER DATA</a:t>
            </a:r>
            <a:endParaRPr lang="en-US" sz="1000" dirty="0"/>
          </a:p>
        </p:txBody>
      </p:sp>
      <p:sp>
        <p:nvSpPr>
          <p:cNvPr id="11" name="Text 9"/>
          <p:cNvSpPr/>
          <p:nvPr/>
        </p:nvSpPr>
        <p:spPr>
          <a:xfrm>
            <a:off x="292608" y="1444752"/>
            <a:ext cx="3694176" cy="182880"/>
          </a:xfrm>
          <a:prstGeom prst="rect">
            <a:avLst/>
          </a:prstGeom>
          <a:noFill/>
          <a:ln/>
        </p:spPr>
        <p:txBody>
          <a:bodyPr wrap="square" lIns="0" tIns="0" rIns="0" bIns="0" rtlCol="0" anchor="ctr"/>
          <a:lstStyle/>
          <a:p>
            <a:pPr indent="0" marL="0">
              <a:buNone/>
            </a:pPr>
            <a:r>
              <a:rPr lang="en-US" sz="780" i="1" dirty="0">
                <a:solidFill>
                  <a:srgbClr val="FFFFFF"/>
                </a:solidFill>
              </a:rPr>
              <a:t>Permanent reference entities — static business objects</a:t>
            </a:r>
            <a:endParaRPr lang="en-US" sz="780" dirty="0"/>
          </a:p>
        </p:txBody>
      </p:sp>
      <p:sp>
        <p:nvSpPr>
          <p:cNvPr id="12" name="Shape 10"/>
          <p:cNvSpPr/>
          <p:nvPr/>
        </p:nvSpPr>
        <p:spPr>
          <a:xfrm>
            <a:off x="292608" y="1691640"/>
            <a:ext cx="3694176" cy="201168"/>
          </a:xfrm>
          <a:prstGeom prst="rect">
            <a:avLst/>
          </a:prstGeom>
          <a:solidFill>
            <a:srgbClr val="E3F2FD"/>
          </a:solidFill>
          <a:ln/>
        </p:spPr>
      </p:sp>
      <p:sp>
        <p:nvSpPr>
          <p:cNvPr id="13" name="Text 11"/>
          <p:cNvSpPr/>
          <p:nvPr/>
        </p:nvSpPr>
        <p:spPr>
          <a:xfrm>
            <a:off x="329184" y="1691640"/>
            <a:ext cx="3639312" cy="201168"/>
          </a:xfrm>
          <a:prstGeom prst="rect">
            <a:avLst/>
          </a:prstGeom>
          <a:noFill/>
          <a:ln/>
        </p:spPr>
        <p:txBody>
          <a:bodyPr wrap="square" lIns="0" tIns="0" rIns="0" bIns="0" rtlCol="0" anchor="ctr"/>
          <a:lstStyle/>
          <a:p>
            <a:pPr indent="0" marL="0">
              <a:buNone/>
            </a:pPr>
            <a:r>
              <a:rPr lang="en-US" sz="750" b="1" dirty="0">
                <a:solidFill>
                  <a:srgbClr val="1565C0"/>
                </a:solidFill>
              </a:rPr>
              <a:t>How handled: Mix: SUM+DMO carries most; CVI migration is manual</a:t>
            </a:r>
            <a:endParaRPr lang="en-US" sz="750" dirty="0"/>
          </a:p>
        </p:txBody>
      </p:sp>
      <p:sp>
        <p:nvSpPr>
          <p:cNvPr id="14" name="Shape 12"/>
          <p:cNvSpPr/>
          <p:nvPr/>
        </p:nvSpPr>
        <p:spPr>
          <a:xfrm>
            <a:off x="292608" y="1956816"/>
            <a:ext cx="3694176" cy="1444752"/>
          </a:xfrm>
          <a:prstGeom prst="rect">
            <a:avLst/>
          </a:prstGeom>
          <a:solidFill>
            <a:srgbClr val="E3F2FD"/>
          </a:solidFill>
          <a:ln/>
        </p:spPr>
      </p:sp>
      <p:sp>
        <p:nvSpPr>
          <p:cNvPr id="15" name="Text 13"/>
          <p:cNvSpPr/>
          <p:nvPr/>
        </p:nvSpPr>
        <p:spPr>
          <a:xfrm>
            <a:off x="338328" y="2002536"/>
            <a:ext cx="3602736" cy="237744"/>
          </a:xfrm>
          <a:prstGeom prst="rect">
            <a:avLst/>
          </a:prstGeom>
          <a:noFill/>
          <a:ln/>
        </p:spPr>
        <p:txBody>
          <a:bodyPr wrap="square" lIns="0" tIns="0" rIns="0" bIns="0" rtlCol="0" anchor="ctr"/>
          <a:lstStyle/>
          <a:p>
            <a:pPr indent="0" marL="0">
              <a:buNone/>
            </a:pPr>
            <a:r>
              <a:rPr lang="en-US" sz="820" b="1" dirty="0">
                <a:solidFill>
                  <a:srgbClr val="1565C0"/>
                </a:solidFill>
              </a:rPr>
              <a:t>Business Partners (Customers &amp; Vendors)</a:t>
            </a:r>
            <a:endParaRPr lang="en-US" sz="820" dirty="0"/>
          </a:p>
        </p:txBody>
      </p:sp>
      <p:sp>
        <p:nvSpPr>
          <p:cNvPr id="16" name="Shape 14"/>
          <p:cNvSpPr/>
          <p:nvPr/>
        </p:nvSpPr>
        <p:spPr>
          <a:xfrm>
            <a:off x="338328" y="2258568"/>
            <a:ext cx="3602736" cy="201168"/>
          </a:xfrm>
          <a:prstGeom prst="rect">
            <a:avLst/>
          </a:prstGeom>
          <a:solidFill>
            <a:srgbClr val="1565C0">
              <a:alpha val="25000"/>
            </a:srgbClr>
          </a:solidFill>
          <a:ln/>
        </p:spPr>
      </p:sp>
      <p:sp>
        <p:nvSpPr>
          <p:cNvPr id="17" name="Text 15"/>
          <p:cNvSpPr/>
          <p:nvPr/>
        </p:nvSpPr>
        <p:spPr>
          <a:xfrm>
            <a:off x="365760" y="2258568"/>
            <a:ext cx="3566160" cy="201168"/>
          </a:xfrm>
          <a:prstGeom prst="rect">
            <a:avLst/>
          </a:prstGeom>
          <a:noFill/>
          <a:ln/>
        </p:spPr>
        <p:txBody>
          <a:bodyPr wrap="square" lIns="0" tIns="0" rIns="0" bIns="0" rtlCol="0" anchor="ctr"/>
          <a:lstStyle/>
          <a:p>
            <a:pPr indent="0" marL="0">
              <a:buNone/>
            </a:pPr>
            <a:r>
              <a:rPr lang="en-US" sz="720" b="1" dirty="0">
                <a:solidFill>
                  <a:srgbClr val="1565C0"/>
                </a:solidFill>
              </a:rPr>
              <a:t>Method: MANUAL — CVI program</a:t>
            </a:r>
            <a:endParaRPr lang="en-US" sz="720" dirty="0"/>
          </a:p>
        </p:txBody>
      </p:sp>
      <p:sp>
        <p:nvSpPr>
          <p:cNvPr id="18" name="Text 16"/>
          <p:cNvSpPr/>
          <p:nvPr/>
        </p:nvSpPr>
        <p:spPr>
          <a:xfrm>
            <a:off x="338328" y="2505456"/>
            <a:ext cx="3602736" cy="841248"/>
          </a:xfrm>
          <a:prstGeom prst="rect">
            <a:avLst/>
          </a:prstGeom>
          <a:noFill/>
          <a:ln/>
        </p:spPr>
        <p:txBody>
          <a:bodyPr wrap="square" lIns="0" tIns="0" rIns="0" bIns="0" rtlCol="0" anchor="ctr"/>
          <a:lstStyle/>
          <a:p>
            <a:pPr indent="0" marL="0">
              <a:buNone/>
            </a:pPr>
            <a:r>
              <a:rPr lang="en-US" sz="770" dirty="0">
                <a:solidFill>
                  <a:srgbClr val="37474F"/>
                </a:solidFill>
              </a:rPr>
              <a:t>BIGGEST manual migration task in Brownfield. ECC stores customers in table KNA1 and vendors in LFA1. S/4HANA uses a single Business Partner (BP) record for both. Your team activates CVI Customising, runs the migration program, and validates every BP record. Must be done before go-live.</a:t>
            </a:r>
            <a:endParaRPr lang="en-US" sz="770" dirty="0"/>
          </a:p>
        </p:txBody>
      </p:sp>
      <p:sp>
        <p:nvSpPr>
          <p:cNvPr id="19" name="Shape 17"/>
          <p:cNvSpPr/>
          <p:nvPr/>
        </p:nvSpPr>
        <p:spPr>
          <a:xfrm>
            <a:off x="292608" y="3493008"/>
            <a:ext cx="3694176" cy="1444752"/>
          </a:xfrm>
          <a:prstGeom prst="rect">
            <a:avLst/>
          </a:prstGeom>
          <a:solidFill>
            <a:srgbClr val="F1F5F9"/>
          </a:solidFill>
          <a:ln/>
        </p:spPr>
      </p:sp>
      <p:sp>
        <p:nvSpPr>
          <p:cNvPr id="20" name="Text 18"/>
          <p:cNvSpPr/>
          <p:nvPr/>
        </p:nvSpPr>
        <p:spPr>
          <a:xfrm>
            <a:off x="338328" y="3538728"/>
            <a:ext cx="3602736" cy="237744"/>
          </a:xfrm>
          <a:prstGeom prst="rect">
            <a:avLst/>
          </a:prstGeom>
          <a:noFill/>
          <a:ln/>
        </p:spPr>
        <p:txBody>
          <a:bodyPr wrap="square" lIns="0" tIns="0" rIns="0" bIns="0" rtlCol="0" anchor="ctr"/>
          <a:lstStyle/>
          <a:p>
            <a:pPr indent="0" marL="0">
              <a:buNone/>
            </a:pPr>
            <a:r>
              <a:rPr lang="en-US" sz="820" b="1" dirty="0">
                <a:solidFill>
                  <a:srgbClr val="1565C0"/>
                </a:solidFill>
              </a:rPr>
              <a:t>Material Master</a:t>
            </a:r>
            <a:endParaRPr lang="en-US" sz="820" dirty="0"/>
          </a:p>
        </p:txBody>
      </p:sp>
      <p:sp>
        <p:nvSpPr>
          <p:cNvPr id="21" name="Shape 19"/>
          <p:cNvSpPr/>
          <p:nvPr/>
        </p:nvSpPr>
        <p:spPr>
          <a:xfrm>
            <a:off x="338328" y="3794760"/>
            <a:ext cx="3602736" cy="201168"/>
          </a:xfrm>
          <a:prstGeom prst="rect">
            <a:avLst/>
          </a:prstGeom>
          <a:solidFill>
            <a:srgbClr val="1565C0">
              <a:alpha val="25000"/>
            </a:srgbClr>
          </a:solidFill>
          <a:ln/>
        </p:spPr>
      </p:sp>
      <p:sp>
        <p:nvSpPr>
          <p:cNvPr id="22" name="Text 20"/>
          <p:cNvSpPr/>
          <p:nvPr/>
        </p:nvSpPr>
        <p:spPr>
          <a:xfrm>
            <a:off x="365760" y="3794760"/>
            <a:ext cx="3566160" cy="201168"/>
          </a:xfrm>
          <a:prstGeom prst="rect">
            <a:avLst/>
          </a:prstGeom>
          <a:noFill/>
          <a:ln/>
        </p:spPr>
        <p:txBody>
          <a:bodyPr wrap="square" lIns="0" tIns="0" rIns="0" bIns="0" rtlCol="0" anchor="ctr"/>
          <a:lstStyle/>
          <a:p>
            <a:pPr indent="0" marL="0">
              <a:buNone/>
            </a:pPr>
            <a:r>
              <a:rPr lang="en-US" sz="720" b="1" dirty="0">
                <a:solidFill>
                  <a:srgbClr val="1565C0"/>
                </a:solidFill>
              </a:rPr>
              <a:t>Method: SUM+DMO auto</a:t>
            </a:r>
            <a:endParaRPr lang="en-US" sz="720" dirty="0"/>
          </a:p>
        </p:txBody>
      </p:sp>
      <p:sp>
        <p:nvSpPr>
          <p:cNvPr id="23" name="Text 21"/>
          <p:cNvSpPr/>
          <p:nvPr/>
        </p:nvSpPr>
        <p:spPr>
          <a:xfrm>
            <a:off x="338328" y="4041648"/>
            <a:ext cx="3602736" cy="841248"/>
          </a:xfrm>
          <a:prstGeom prst="rect">
            <a:avLst/>
          </a:prstGeom>
          <a:noFill/>
          <a:ln/>
        </p:spPr>
        <p:txBody>
          <a:bodyPr wrap="square" lIns="0" tIns="0" rIns="0" bIns="0" rtlCol="0" anchor="ctr"/>
          <a:lstStyle/>
          <a:p>
            <a:pPr indent="0" marL="0">
              <a:buNone/>
            </a:pPr>
            <a:r>
              <a:rPr lang="en-US" sz="770" dirty="0">
                <a:solidFill>
                  <a:srgbClr val="37474F"/>
                </a:solidFill>
              </a:rPr>
              <a:t>All products, raw materials, finished goods — each with up to 25 'views' (Purchasing, MRP, Accounting, Warehouse, etc.). SUM+DMO migrates all material master records automatically. Your team validates completeness post-conversion.</a:t>
            </a:r>
            <a:endParaRPr lang="en-US" sz="770" dirty="0"/>
          </a:p>
        </p:txBody>
      </p:sp>
      <p:sp>
        <p:nvSpPr>
          <p:cNvPr id="24" name="Shape 22"/>
          <p:cNvSpPr/>
          <p:nvPr/>
        </p:nvSpPr>
        <p:spPr>
          <a:xfrm>
            <a:off x="292608" y="5029200"/>
            <a:ext cx="3694176" cy="1444752"/>
          </a:xfrm>
          <a:prstGeom prst="rect">
            <a:avLst/>
          </a:prstGeom>
          <a:solidFill>
            <a:srgbClr val="E3F2FD"/>
          </a:solidFill>
          <a:ln/>
        </p:spPr>
      </p:sp>
      <p:sp>
        <p:nvSpPr>
          <p:cNvPr id="25" name="Text 23"/>
          <p:cNvSpPr/>
          <p:nvPr/>
        </p:nvSpPr>
        <p:spPr>
          <a:xfrm>
            <a:off x="338328" y="5074920"/>
            <a:ext cx="3602736" cy="237744"/>
          </a:xfrm>
          <a:prstGeom prst="rect">
            <a:avLst/>
          </a:prstGeom>
          <a:noFill/>
          <a:ln/>
        </p:spPr>
        <p:txBody>
          <a:bodyPr wrap="square" lIns="0" tIns="0" rIns="0" bIns="0" rtlCol="0" anchor="ctr"/>
          <a:lstStyle/>
          <a:p>
            <a:pPr indent="0" marL="0">
              <a:buNone/>
            </a:pPr>
            <a:r>
              <a:rPr lang="en-US" sz="820" b="1" dirty="0">
                <a:solidFill>
                  <a:srgbClr val="1565C0"/>
                </a:solidFill>
              </a:rPr>
              <a:t>G/L Accounts, Cost Centres, Profit Centres</a:t>
            </a:r>
            <a:endParaRPr lang="en-US" sz="820" dirty="0"/>
          </a:p>
        </p:txBody>
      </p:sp>
      <p:sp>
        <p:nvSpPr>
          <p:cNvPr id="26" name="Shape 24"/>
          <p:cNvSpPr/>
          <p:nvPr/>
        </p:nvSpPr>
        <p:spPr>
          <a:xfrm>
            <a:off x="338328" y="5330952"/>
            <a:ext cx="3602736" cy="201168"/>
          </a:xfrm>
          <a:prstGeom prst="rect">
            <a:avLst/>
          </a:prstGeom>
          <a:solidFill>
            <a:srgbClr val="1565C0">
              <a:alpha val="25000"/>
            </a:srgbClr>
          </a:solidFill>
          <a:ln/>
        </p:spPr>
      </p:sp>
      <p:sp>
        <p:nvSpPr>
          <p:cNvPr id="27" name="Text 25"/>
          <p:cNvSpPr/>
          <p:nvPr/>
        </p:nvSpPr>
        <p:spPr>
          <a:xfrm>
            <a:off x="365760" y="5330952"/>
            <a:ext cx="3566160" cy="201168"/>
          </a:xfrm>
          <a:prstGeom prst="rect">
            <a:avLst/>
          </a:prstGeom>
          <a:noFill/>
          <a:ln/>
        </p:spPr>
        <p:txBody>
          <a:bodyPr wrap="square" lIns="0" tIns="0" rIns="0" bIns="0" rtlCol="0" anchor="ctr"/>
          <a:lstStyle/>
          <a:p>
            <a:pPr indent="0" marL="0">
              <a:buNone/>
            </a:pPr>
            <a:r>
              <a:rPr lang="en-US" sz="720" b="1" dirty="0">
                <a:solidFill>
                  <a:srgbClr val="1565C0"/>
                </a:solidFill>
              </a:rPr>
              <a:t>Method: SUM+DMO auto</a:t>
            </a:r>
            <a:endParaRPr lang="en-US" sz="720" dirty="0"/>
          </a:p>
        </p:txBody>
      </p:sp>
      <p:sp>
        <p:nvSpPr>
          <p:cNvPr id="28" name="Text 26"/>
          <p:cNvSpPr/>
          <p:nvPr/>
        </p:nvSpPr>
        <p:spPr>
          <a:xfrm>
            <a:off x="338328" y="5577840"/>
            <a:ext cx="3602736" cy="841248"/>
          </a:xfrm>
          <a:prstGeom prst="rect">
            <a:avLst/>
          </a:prstGeom>
          <a:noFill/>
          <a:ln/>
        </p:spPr>
        <p:txBody>
          <a:bodyPr wrap="square" lIns="0" tIns="0" rIns="0" bIns="0" rtlCol="0" anchor="ctr"/>
          <a:lstStyle/>
          <a:p>
            <a:pPr indent="0" marL="0">
              <a:buNone/>
            </a:pPr>
            <a:r>
              <a:rPr lang="en-US" sz="770" dirty="0">
                <a:solidFill>
                  <a:srgbClr val="37474F"/>
                </a:solidFill>
              </a:rPr>
              <a:t>Finance and Controlling master data. Migrated automatically by SUM+DMO. Your Finance consultant validates the hierarchy structures and chart of accounts alignment with the new Universal Journal (ACDOCA) data model.</a:t>
            </a:r>
            <a:endParaRPr lang="en-US" sz="770" dirty="0"/>
          </a:p>
        </p:txBody>
      </p:sp>
      <p:sp>
        <p:nvSpPr>
          <p:cNvPr id="29" name="Shape 27"/>
          <p:cNvSpPr/>
          <p:nvPr/>
        </p:nvSpPr>
        <p:spPr>
          <a:xfrm>
            <a:off x="4206240" y="1133856"/>
            <a:ext cx="3858768" cy="5596128"/>
          </a:xfrm>
          <a:prstGeom prst="rect">
            <a:avLst/>
          </a:prstGeom>
          <a:solidFill>
            <a:srgbClr val="FFFFFF"/>
          </a:solidFill>
          <a:ln/>
          <a:effectLst>
            <a:outerShdw sx="100000" sy="100000" kx="0" ky="0" algn="bl" rotWithShape="0" blurRad="101600" dist="25400" dir="8100000">
              <a:srgbClr val="000000">
                <a:alpha val="9000"/>
              </a:srgbClr>
            </a:outerShdw>
          </a:effectLst>
        </p:spPr>
      </p:sp>
      <p:sp>
        <p:nvSpPr>
          <p:cNvPr id="30" name="Shape 28"/>
          <p:cNvSpPr/>
          <p:nvPr/>
        </p:nvSpPr>
        <p:spPr>
          <a:xfrm>
            <a:off x="4206240" y="1133856"/>
            <a:ext cx="3858768" cy="512064"/>
          </a:xfrm>
          <a:prstGeom prst="rect">
            <a:avLst/>
          </a:prstGeom>
          <a:solidFill>
            <a:srgbClr val="4527A0"/>
          </a:solidFill>
          <a:ln/>
        </p:spPr>
      </p:sp>
      <p:sp>
        <p:nvSpPr>
          <p:cNvPr id="31" name="Text 29"/>
          <p:cNvSpPr/>
          <p:nvPr/>
        </p:nvSpPr>
        <p:spPr>
          <a:xfrm>
            <a:off x="4297680" y="1152144"/>
            <a:ext cx="3694176" cy="274320"/>
          </a:xfrm>
          <a:prstGeom prst="rect">
            <a:avLst/>
          </a:prstGeom>
          <a:noFill/>
          <a:ln/>
        </p:spPr>
        <p:txBody>
          <a:bodyPr wrap="square" lIns="0" tIns="0" rIns="0" bIns="0" rtlCol="0" anchor="ctr"/>
          <a:lstStyle/>
          <a:p>
            <a:pPr indent="0" marL="0">
              <a:buNone/>
            </a:pPr>
            <a:r>
              <a:rPr lang="en-US" sz="1000" b="1" dirty="0">
                <a:solidFill>
                  <a:srgbClr val="FFFFFF"/>
                </a:solidFill>
              </a:rPr>
              <a:t>TRANSACTIONAL DATA</a:t>
            </a:r>
            <a:endParaRPr lang="en-US" sz="1000" dirty="0"/>
          </a:p>
        </p:txBody>
      </p:sp>
      <p:sp>
        <p:nvSpPr>
          <p:cNvPr id="32" name="Text 30"/>
          <p:cNvSpPr/>
          <p:nvPr/>
        </p:nvSpPr>
        <p:spPr>
          <a:xfrm>
            <a:off x="4297680" y="1444752"/>
            <a:ext cx="3694176" cy="182880"/>
          </a:xfrm>
          <a:prstGeom prst="rect">
            <a:avLst/>
          </a:prstGeom>
          <a:noFill/>
          <a:ln/>
        </p:spPr>
        <p:txBody>
          <a:bodyPr wrap="square" lIns="0" tIns="0" rIns="0" bIns="0" rtlCol="0" anchor="ctr"/>
          <a:lstStyle/>
          <a:p>
            <a:pPr indent="0" marL="0">
              <a:buNone/>
            </a:pPr>
            <a:r>
              <a:rPr lang="en-US" sz="780" i="1" dirty="0">
                <a:solidFill>
                  <a:srgbClr val="FFFFFF"/>
                </a:solidFill>
              </a:rPr>
              <a:t>Business events — documents recording actual activity</a:t>
            </a:r>
            <a:endParaRPr lang="en-US" sz="780" dirty="0"/>
          </a:p>
        </p:txBody>
      </p:sp>
      <p:sp>
        <p:nvSpPr>
          <p:cNvPr id="33" name="Shape 31"/>
          <p:cNvSpPr/>
          <p:nvPr/>
        </p:nvSpPr>
        <p:spPr>
          <a:xfrm>
            <a:off x="4297680" y="1691640"/>
            <a:ext cx="3694176" cy="201168"/>
          </a:xfrm>
          <a:prstGeom prst="rect">
            <a:avLst/>
          </a:prstGeom>
          <a:solidFill>
            <a:srgbClr val="EDE7F6"/>
          </a:solidFill>
          <a:ln/>
        </p:spPr>
      </p:sp>
      <p:sp>
        <p:nvSpPr>
          <p:cNvPr id="34" name="Text 32"/>
          <p:cNvSpPr/>
          <p:nvPr/>
        </p:nvSpPr>
        <p:spPr>
          <a:xfrm>
            <a:off x="4334256" y="1691640"/>
            <a:ext cx="3639312" cy="201168"/>
          </a:xfrm>
          <a:prstGeom prst="rect">
            <a:avLst/>
          </a:prstGeom>
          <a:noFill/>
          <a:ln/>
        </p:spPr>
        <p:txBody>
          <a:bodyPr wrap="square" lIns="0" tIns="0" rIns="0" bIns="0" rtlCol="0" anchor="ctr"/>
          <a:lstStyle/>
          <a:p>
            <a:pPr indent="0" marL="0">
              <a:buNone/>
            </a:pPr>
            <a:r>
              <a:rPr lang="en-US" sz="750" b="1" dirty="0">
                <a:solidFill>
                  <a:srgbClr val="4527A0"/>
                </a:solidFill>
              </a:rPr>
              <a:t>How handled: SUM+DMO handles all; team validates balances</a:t>
            </a:r>
            <a:endParaRPr lang="en-US" sz="750" dirty="0"/>
          </a:p>
        </p:txBody>
      </p:sp>
      <p:sp>
        <p:nvSpPr>
          <p:cNvPr id="35" name="Shape 33"/>
          <p:cNvSpPr/>
          <p:nvPr/>
        </p:nvSpPr>
        <p:spPr>
          <a:xfrm>
            <a:off x="4297680" y="1956816"/>
            <a:ext cx="3694176" cy="1444752"/>
          </a:xfrm>
          <a:prstGeom prst="rect">
            <a:avLst/>
          </a:prstGeom>
          <a:solidFill>
            <a:srgbClr val="EDE7F6"/>
          </a:solidFill>
          <a:ln/>
        </p:spPr>
      </p:sp>
      <p:sp>
        <p:nvSpPr>
          <p:cNvPr id="36" name="Text 34"/>
          <p:cNvSpPr/>
          <p:nvPr/>
        </p:nvSpPr>
        <p:spPr>
          <a:xfrm>
            <a:off x="4343400" y="2002536"/>
            <a:ext cx="3602736" cy="237744"/>
          </a:xfrm>
          <a:prstGeom prst="rect">
            <a:avLst/>
          </a:prstGeom>
          <a:noFill/>
          <a:ln/>
        </p:spPr>
        <p:txBody>
          <a:bodyPr wrap="square" lIns="0" tIns="0" rIns="0" bIns="0" rtlCol="0" anchor="ctr"/>
          <a:lstStyle/>
          <a:p>
            <a:pPr indent="0" marL="0">
              <a:buNone/>
            </a:pPr>
            <a:r>
              <a:rPr lang="en-US" sz="820" b="1" dirty="0">
                <a:solidFill>
                  <a:srgbClr val="4527A0"/>
                </a:solidFill>
              </a:rPr>
              <a:t>Open Purchase Orders &amp; Supplier Invoices</a:t>
            </a:r>
            <a:endParaRPr lang="en-US" sz="820" dirty="0"/>
          </a:p>
        </p:txBody>
      </p:sp>
      <p:sp>
        <p:nvSpPr>
          <p:cNvPr id="37" name="Shape 35"/>
          <p:cNvSpPr/>
          <p:nvPr/>
        </p:nvSpPr>
        <p:spPr>
          <a:xfrm>
            <a:off x="4343400" y="2258568"/>
            <a:ext cx="3602736" cy="201168"/>
          </a:xfrm>
          <a:prstGeom prst="rect">
            <a:avLst/>
          </a:prstGeom>
          <a:solidFill>
            <a:srgbClr val="4527A0">
              <a:alpha val="25000"/>
            </a:srgbClr>
          </a:solidFill>
          <a:ln/>
        </p:spPr>
      </p:sp>
      <p:sp>
        <p:nvSpPr>
          <p:cNvPr id="38" name="Text 36"/>
          <p:cNvSpPr/>
          <p:nvPr/>
        </p:nvSpPr>
        <p:spPr>
          <a:xfrm>
            <a:off x="4370832" y="2258568"/>
            <a:ext cx="3566160" cy="201168"/>
          </a:xfrm>
          <a:prstGeom prst="rect">
            <a:avLst/>
          </a:prstGeom>
          <a:noFill/>
          <a:ln/>
        </p:spPr>
        <p:txBody>
          <a:bodyPr wrap="square" lIns="0" tIns="0" rIns="0" bIns="0" rtlCol="0" anchor="ctr"/>
          <a:lstStyle/>
          <a:p>
            <a:pPr indent="0" marL="0">
              <a:buNone/>
            </a:pPr>
            <a:r>
              <a:rPr lang="en-US" sz="720" b="1" dirty="0">
                <a:solidFill>
                  <a:srgbClr val="4527A0"/>
                </a:solidFill>
              </a:rPr>
              <a:t>Method: SUM+DMO auto</a:t>
            </a:r>
            <a:endParaRPr lang="en-US" sz="720" dirty="0"/>
          </a:p>
        </p:txBody>
      </p:sp>
      <p:sp>
        <p:nvSpPr>
          <p:cNvPr id="39" name="Text 37"/>
          <p:cNvSpPr/>
          <p:nvPr/>
        </p:nvSpPr>
        <p:spPr>
          <a:xfrm>
            <a:off x="4343400" y="2505456"/>
            <a:ext cx="3602736" cy="841248"/>
          </a:xfrm>
          <a:prstGeom prst="rect">
            <a:avLst/>
          </a:prstGeom>
          <a:noFill/>
          <a:ln/>
        </p:spPr>
        <p:txBody>
          <a:bodyPr wrap="square" lIns="0" tIns="0" rIns="0" bIns="0" rtlCol="0" anchor="ctr"/>
          <a:lstStyle/>
          <a:p>
            <a:pPr indent="0" marL="0">
              <a:buNone/>
            </a:pPr>
            <a:r>
              <a:rPr lang="en-US" sz="770" dirty="0">
                <a:solidFill>
                  <a:srgbClr val="37474F"/>
                </a:solidFill>
              </a:rPr>
              <a:t>All POs raised but not yet fully received or invoiced at cutover. Carried over by SUM+DMO. Your Procurement team validates open quantities and values match the old system line-by-line.</a:t>
            </a:r>
            <a:endParaRPr lang="en-US" sz="770" dirty="0"/>
          </a:p>
        </p:txBody>
      </p:sp>
      <p:sp>
        <p:nvSpPr>
          <p:cNvPr id="40" name="Shape 38"/>
          <p:cNvSpPr/>
          <p:nvPr/>
        </p:nvSpPr>
        <p:spPr>
          <a:xfrm>
            <a:off x="4297680" y="3493008"/>
            <a:ext cx="3694176" cy="1444752"/>
          </a:xfrm>
          <a:prstGeom prst="rect">
            <a:avLst/>
          </a:prstGeom>
          <a:solidFill>
            <a:srgbClr val="F1F5F9"/>
          </a:solidFill>
          <a:ln/>
        </p:spPr>
      </p:sp>
      <p:sp>
        <p:nvSpPr>
          <p:cNvPr id="41" name="Text 39"/>
          <p:cNvSpPr/>
          <p:nvPr/>
        </p:nvSpPr>
        <p:spPr>
          <a:xfrm>
            <a:off x="4343400" y="3538728"/>
            <a:ext cx="3602736" cy="237744"/>
          </a:xfrm>
          <a:prstGeom prst="rect">
            <a:avLst/>
          </a:prstGeom>
          <a:noFill/>
          <a:ln/>
        </p:spPr>
        <p:txBody>
          <a:bodyPr wrap="square" lIns="0" tIns="0" rIns="0" bIns="0" rtlCol="0" anchor="ctr"/>
          <a:lstStyle/>
          <a:p>
            <a:pPr indent="0" marL="0">
              <a:buNone/>
            </a:pPr>
            <a:r>
              <a:rPr lang="en-US" sz="820" b="1" dirty="0">
                <a:solidFill>
                  <a:srgbClr val="4527A0"/>
                </a:solidFill>
              </a:rPr>
              <a:t>Open Sales Orders &amp; Deliveries</a:t>
            </a:r>
            <a:endParaRPr lang="en-US" sz="820" dirty="0"/>
          </a:p>
        </p:txBody>
      </p:sp>
      <p:sp>
        <p:nvSpPr>
          <p:cNvPr id="42" name="Shape 40"/>
          <p:cNvSpPr/>
          <p:nvPr/>
        </p:nvSpPr>
        <p:spPr>
          <a:xfrm>
            <a:off x="4343400" y="3794760"/>
            <a:ext cx="3602736" cy="201168"/>
          </a:xfrm>
          <a:prstGeom prst="rect">
            <a:avLst/>
          </a:prstGeom>
          <a:solidFill>
            <a:srgbClr val="4527A0">
              <a:alpha val="25000"/>
            </a:srgbClr>
          </a:solidFill>
          <a:ln/>
        </p:spPr>
      </p:sp>
      <p:sp>
        <p:nvSpPr>
          <p:cNvPr id="43" name="Text 41"/>
          <p:cNvSpPr/>
          <p:nvPr/>
        </p:nvSpPr>
        <p:spPr>
          <a:xfrm>
            <a:off x="4370832" y="3794760"/>
            <a:ext cx="3566160" cy="201168"/>
          </a:xfrm>
          <a:prstGeom prst="rect">
            <a:avLst/>
          </a:prstGeom>
          <a:noFill/>
          <a:ln/>
        </p:spPr>
        <p:txBody>
          <a:bodyPr wrap="square" lIns="0" tIns="0" rIns="0" bIns="0" rtlCol="0" anchor="ctr"/>
          <a:lstStyle/>
          <a:p>
            <a:pPr indent="0" marL="0">
              <a:buNone/>
            </a:pPr>
            <a:r>
              <a:rPr lang="en-US" sz="720" b="1" dirty="0">
                <a:solidFill>
                  <a:srgbClr val="4527A0"/>
                </a:solidFill>
              </a:rPr>
              <a:t>Method: SUM+DMO auto</a:t>
            </a:r>
            <a:endParaRPr lang="en-US" sz="720" dirty="0"/>
          </a:p>
        </p:txBody>
      </p:sp>
      <p:sp>
        <p:nvSpPr>
          <p:cNvPr id="44" name="Text 42"/>
          <p:cNvSpPr/>
          <p:nvPr/>
        </p:nvSpPr>
        <p:spPr>
          <a:xfrm>
            <a:off x="4343400" y="4041648"/>
            <a:ext cx="3602736" cy="841248"/>
          </a:xfrm>
          <a:prstGeom prst="rect">
            <a:avLst/>
          </a:prstGeom>
          <a:noFill/>
          <a:ln/>
        </p:spPr>
        <p:txBody>
          <a:bodyPr wrap="square" lIns="0" tIns="0" rIns="0" bIns="0" rtlCol="0" anchor="ctr"/>
          <a:lstStyle/>
          <a:p>
            <a:pPr indent="0" marL="0">
              <a:buNone/>
            </a:pPr>
            <a:r>
              <a:rPr lang="en-US" sz="770" dirty="0">
                <a:solidFill>
                  <a:srgbClr val="37474F"/>
                </a:solidFill>
              </a:rPr>
              <a:t>Active customer orders and in-progress deliveries at cutover. Customer-facing — a missed or wrong sales order means a customer doesn't receive their goods. Must be verified by your Sales/SD team.</a:t>
            </a:r>
            <a:endParaRPr lang="en-US" sz="770" dirty="0"/>
          </a:p>
        </p:txBody>
      </p:sp>
      <p:sp>
        <p:nvSpPr>
          <p:cNvPr id="45" name="Shape 43"/>
          <p:cNvSpPr/>
          <p:nvPr/>
        </p:nvSpPr>
        <p:spPr>
          <a:xfrm>
            <a:off x="4297680" y="5029200"/>
            <a:ext cx="3694176" cy="1444752"/>
          </a:xfrm>
          <a:prstGeom prst="rect">
            <a:avLst/>
          </a:prstGeom>
          <a:solidFill>
            <a:srgbClr val="EDE7F6"/>
          </a:solidFill>
          <a:ln/>
        </p:spPr>
      </p:sp>
      <p:sp>
        <p:nvSpPr>
          <p:cNvPr id="46" name="Text 44"/>
          <p:cNvSpPr/>
          <p:nvPr/>
        </p:nvSpPr>
        <p:spPr>
          <a:xfrm>
            <a:off x="4343400" y="5074920"/>
            <a:ext cx="3602736" cy="237744"/>
          </a:xfrm>
          <a:prstGeom prst="rect">
            <a:avLst/>
          </a:prstGeom>
          <a:noFill/>
          <a:ln/>
        </p:spPr>
        <p:txBody>
          <a:bodyPr wrap="square" lIns="0" tIns="0" rIns="0" bIns="0" rtlCol="0" anchor="ctr"/>
          <a:lstStyle/>
          <a:p>
            <a:pPr indent="0" marL="0">
              <a:buNone/>
            </a:pPr>
            <a:r>
              <a:rPr lang="en-US" sz="820" b="1" dirty="0">
                <a:solidFill>
                  <a:srgbClr val="4527A0"/>
                </a:solidFill>
              </a:rPr>
              <a:t>Financial Open Items (AR/AP) &amp; Balances</a:t>
            </a:r>
            <a:endParaRPr lang="en-US" sz="820" dirty="0"/>
          </a:p>
        </p:txBody>
      </p:sp>
      <p:sp>
        <p:nvSpPr>
          <p:cNvPr id="47" name="Shape 45"/>
          <p:cNvSpPr/>
          <p:nvPr/>
        </p:nvSpPr>
        <p:spPr>
          <a:xfrm>
            <a:off x="4343400" y="5330952"/>
            <a:ext cx="3602736" cy="201168"/>
          </a:xfrm>
          <a:prstGeom prst="rect">
            <a:avLst/>
          </a:prstGeom>
          <a:solidFill>
            <a:srgbClr val="4527A0">
              <a:alpha val="25000"/>
            </a:srgbClr>
          </a:solidFill>
          <a:ln/>
        </p:spPr>
      </p:sp>
      <p:sp>
        <p:nvSpPr>
          <p:cNvPr id="48" name="Text 46"/>
          <p:cNvSpPr/>
          <p:nvPr/>
        </p:nvSpPr>
        <p:spPr>
          <a:xfrm>
            <a:off x="4370832" y="5330952"/>
            <a:ext cx="3566160" cy="201168"/>
          </a:xfrm>
          <a:prstGeom prst="rect">
            <a:avLst/>
          </a:prstGeom>
          <a:noFill/>
          <a:ln/>
        </p:spPr>
        <p:txBody>
          <a:bodyPr wrap="square" lIns="0" tIns="0" rIns="0" bIns="0" rtlCol="0" anchor="ctr"/>
          <a:lstStyle/>
          <a:p>
            <a:pPr indent="0" marL="0">
              <a:buNone/>
            </a:pPr>
            <a:r>
              <a:rPr lang="en-US" sz="720" b="1" dirty="0">
                <a:solidFill>
                  <a:srgbClr val="4527A0"/>
                </a:solidFill>
              </a:rPr>
              <a:t>Method: SUM+DMO auto — reconcile to penny</a:t>
            </a:r>
            <a:endParaRPr lang="en-US" sz="720" dirty="0"/>
          </a:p>
        </p:txBody>
      </p:sp>
      <p:sp>
        <p:nvSpPr>
          <p:cNvPr id="49" name="Text 47"/>
          <p:cNvSpPr/>
          <p:nvPr/>
        </p:nvSpPr>
        <p:spPr>
          <a:xfrm>
            <a:off x="4343400" y="5577840"/>
            <a:ext cx="3602736" cy="841248"/>
          </a:xfrm>
          <a:prstGeom prst="rect">
            <a:avLst/>
          </a:prstGeom>
          <a:noFill/>
          <a:ln/>
        </p:spPr>
        <p:txBody>
          <a:bodyPr wrap="square" lIns="0" tIns="0" rIns="0" bIns="0" rtlCol="0" anchor="ctr"/>
          <a:lstStyle/>
          <a:p>
            <a:pPr indent="0" marL="0">
              <a:buNone/>
            </a:pPr>
            <a:r>
              <a:rPr lang="en-US" sz="770" dirty="0">
                <a:solidFill>
                  <a:srgbClr val="37474F"/>
                </a:solidFill>
              </a:rPr>
              <a:t>Unpaid customer invoices (Accounts Receivable) and supplier invoices due (Accounts Payable). SUM+DMO migrates all. Your Finance team reconciles total balances against the old system before go-live sign-off. Zero tolerance for discrepancy.</a:t>
            </a:r>
            <a:endParaRPr lang="en-US" sz="770" dirty="0"/>
          </a:p>
        </p:txBody>
      </p:sp>
      <p:sp>
        <p:nvSpPr>
          <p:cNvPr id="50" name="Shape 48"/>
          <p:cNvSpPr/>
          <p:nvPr/>
        </p:nvSpPr>
        <p:spPr>
          <a:xfrm>
            <a:off x="8211312" y="1133856"/>
            <a:ext cx="3858768" cy="5596128"/>
          </a:xfrm>
          <a:prstGeom prst="rect">
            <a:avLst/>
          </a:prstGeom>
          <a:solidFill>
            <a:srgbClr val="FFFFFF"/>
          </a:solidFill>
          <a:ln/>
          <a:effectLst>
            <a:outerShdw sx="100000" sy="100000" kx="0" ky="0" algn="bl" rotWithShape="0" blurRad="101600" dist="25400" dir="8100000">
              <a:srgbClr val="000000">
                <a:alpha val="9000"/>
              </a:srgbClr>
            </a:outerShdw>
          </a:effectLst>
        </p:spPr>
      </p:sp>
      <p:sp>
        <p:nvSpPr>
          <p:cNvPr id="51" name="Shape 49"/>
          <p:cNvSpPr/>
          <p:nvPr/>
        </p:nvSpPr>
        <p:spPr>
          <a:xfrm>
            <a:off x="8211312" y="1133856"/>
            <a:ext cx="3858768" cy="512064"/>
          </a:xfrm>
          <a:prstGeom prst="rect">
            <a:avLst/>
          </a:prstGeom>
          <a:solidFill>
            <a:srgbClr val="BF360C"/>
          </a:solidFill>
          <a:ln/>
        </p:spPr>
      </p:sp>
      <p:sp>
        <p:nvSpPr>
          <p:cNvPr id="52" name="Text 50"/>
          <p:cNvSpPr/>
          <p:nvPr/>
        </p:nvSpPr>
        <p:spPr>
          <a:xfrm>
            <a:off x="8302752" y="1152144"/>
            <a:ext cx="3694176" cy="274320"/>
          </a:xfrm>
          <a:prstGeom prst="rect">
            <a:avLst/>
          </a:prstGeom>
          <a:noFill/>
          <a:ln/>
        </p:spPr>
        <p:txBody>
          <a:bodyPr wrap="square" lIns="0" tIns="0" rIns="0" bIns="0" rtlCol="0" anchor="ctr"/>
          <a:lstStyle/>
          <a:p>
            <a:pPr indent="0" marL="0">
              <a:buNone/>
            </a:pPr>
            <a:r>
              <a:rPr lang="en-US" sz="1000" b="1" dirty="0">
                <a:solidFill>
                  <a:srgbClr val="FFFFFF"/>
                </a:solidFill>
              </a:rPr>
              <a:t>CONFIG &amp; CUSTOM OBJECTS</a:t>
            </a:r>
            <a:endParaRPr lang="en-US" sz="1000" dirty="0"/>
          </a:p>
        </p:txBody>
      </p:sp>
      <p:sp>
        <p:nvSpPr>
          <p:cNvPr id="53" name="Text 51"/>
          <p:cNvSpPr/>
          <p:nvPr/>
        </p:nvSpPr>
        <p:spPr>
          <a:xfrm>
            <a:off x="8302752" y="1444752"/>
            <a:ext cx="3694176" cy="182880"/>
          </a:xfrm>
          <a:prstGeom prst="rect">
            <a:avLst/>
          </a:prstGeom>
          <a:noFill/>
          <a:ln/>
        </p:spPr>
        <p:txBody>
          <a:bodyPr wrap="square" lIns="0" tIns="0" rIns="0" bIns="0" rtlCol="0" anchor="ctr"/>
          <a:lstStyle/>
          <a:p>
            <a:pPr indent="0" marL="0">
              <a:buNone/>
            </a:pPr>
            <a:r>
              <a:rPr lang="en-US" sz="780" i="1" dirty="0">
                <a:solidFill>
                  <a:srgbClr val="FFFFFF"/>
                </a:solidFill>
              </a:rPr>
              <a:t>System settings and customer-built programs</a:t>
            </a:r>
            <a:endParaRPr lang="en-US" sz="780" dirty="0"/>
          </a:p>
        </p:txBody>
      </p:sp>
      <p:sp>
        <p:nvSpPr>
          <p:cNvPr id="54" name="Shape 52"/>
          <p:cNvSpPr/>
          <p:nvPr/>
        </p:nvSpPr>
        <p:spPr>
          <a:xfrm>
            <a:off x="8302752" y="1691640"/>
            <a:ext cx="3694176" cy="201168"/>
          </a:xfrm>
          <a:prstGeom prst="rect">
            <a:avLst/>
          </a:prstGeom>
          <a:solidFill>
            <a:srgbClr val="FBE9E7"/>
          </a:solidFill>
          <a:ln/>
        </p:spPr>
      </p:sp>
      <p:sp>
        <p:nvSpPr>
          <p:cNvPr id="55" name="Text 53"/>
          <p:cNvSpPr/>
          <p:nvPr/>
        </p:nvSpPr>
        <p:spPr>
          <a:xfrm>
            <a:off x="8339328" y="1691640"/>
            <a:ext cx="3639312" cy="201168"/>
          </a:xfrm>
          <a:prstGeom prst="rect">
            <a:avLst/>
          </a:prstGeom>
          <a:noFill/>
          <a:ln/>
        </p:spPr>
        <p:txBody>
          <a:bodyPr wrap="square" lIns="0" tIns="0" rIns="0" bIns="0" rtlCol="0" anchor="ctr"/>
          <a:lstStyle/>
          <a:p>
            <a:pPr indent="0" marL="0">
              <a:buNone/>
            </a:pPr>
            <a:r>
              <a:rPr lang="en-US" sz="750" b="1" dirty="0">
                <a:solidFill>
                  <a:srgbClr val="BF360C"/>
                </a:solidFill>
              </a:rPr>
              <a:t>How handled: Mix: config auto; custom code needs manual fixing</a:t>
            </a:r>
            <a:endParaRPr lang="en-US" sz="750" dirty="0"/>
          </a:p>
        </p:txBody>
      </p:sp>
      <p:sp>
        <p:nvSpPr>
          <p:cNvPr id="56" name="Shape 54"/>
          <p:cNvSpPr/>
          <p:nvPr/>
        </p:nvSpPr>
        <p:spPr>
          <a:xfrm>
            <a:off x="8302752" y="1956816"/>
            <a:ext cx="3694176" cy="1444752"/>
          </a:xfrm>
          <a:prstGeom prst="rect">
            <a:avLst/>
          </a:prstGeom>
          <a:solidFill>
            <a:srgbClr val="FBE9E7"/>
          </a:solidFill>
          <a:ln/>
        </p:spPr>
      </p:sp>
      <p:sp>
        <p:nvSpPr>
          <p:cNvPr id="57" name="Text 55"/>
          <p:cNvSpPr/>
          <p:nvPr/>
        </p:nvSpPr>
        <p:spPr>
          <a:xfrm>
            <a:off x="8348472" y="2002536"/>
            <a:ext cx="3602736" cy="237744"/>
          </a:xfrm>
          <a:prstGeom prst="rect">
            <a:avLst/>
          </a:prstGeom>
          <a:noFill/>
          <a:ln/>
        </p:spPr>
        <p:txBody>
          <a:bodyPr wrap="square" lIns="0" tIns="0" rIns="0" bIns="0" rtlCol="0" anchor="ctr"/>
          <a:lstStyle/>
          <a:p>
            <a:pPr indent="0" marL="0">
              <a:buNone/>
            </a:pPr>
            <a:r>
              <a:rPr lang="en-US" sz="820" b="1" dirty="0">
                <a:solidFill>
                  <a:srgbClr val="BF360C"/>
                </a:solidFill>
              </a:rPr>
              <a:t>SAP IMG Configuration (all settings)</a:t>
            </a:r>
            <a:endParaRPr lang="en-US" sz="820" dirty="0"/>
          </a:p>
        </p:txBody>
      </p:sp>
      <p:sp>
        <p:nvSpPr>
          <p:cNvPr id="58" name="Shape 56"/>
          <p:cNvSpPr/>
          <p:nvPr/>
        </p:nvSpPr>
        <p:spPr>
          <a:xfrm>
            <a:off x="8348472" y="2258568"/>
            <a:ext cx="3602736" cy="201168"/>
          </a:xfrm>
          <a:prstGeom prst="rect">
            <a:avLst/>
          </a:prstGeom>
          <a:solidFill>
            <a:srgbClr val="BF360C">
              <a:alpha val="25000"/>
            </a:srgbClr>
          </a:solidFill>
          <a:ln/>
        </p:spPr>
      </p:sp>
      <p:sp>
        <p:nvSpPr>
          <p:cNvPr id="59" name="Text 57"/>
          <p:cNvSpPr/>
          <p:nvPr/>
        </p:nvSpPr>
        <p:spPr>
          <a:xfrm>
            <a:off x="8375904" y="2258568"/>
            <a:ext cx="3566160" cy="201168"/>
          </a:xfrm>
          <a:prstGeom prst="rect">
            <a:avLst/>
          </a:prstGeom>
          <a:noFill/>
          <a:ln/>
        </p:spPr>
        <p:txBody>
          <a:bodyPr wrap="square" lIns="0" tIns="0" rIns="0" bIns="0" rtlCol="0" anchor="ctr"/>
          <a:lstStyle/>
          <a:p>
            <a:pPr indent="0" marL="0">
              <a:buNone/>
            </a:pPr>
            <a:r>
              <a:rPr lang="en-US" sz="720" b="1" dirty="0">
                <a:solidFill>
                  <a:srgbClr val="BF360C"/>
                </a:solidFill>
              </a:rPr>
              <a:t>Method: SUM+DMO auto</a:t>
            </a:r>
            <a:endParaRPr lang="en-US" sz="720" dirty="0"/>
          </a:p>
        </p:txBody>
      </p:sp>
      <p:sp>
        <p:nvSpPr>
          <p:cNvPr id="60" name="Text 58"/>
          <p:cNvSpPr/>
          <p:nvPr/>
        </p:nvSpPr>
        <p:spPr>
          <a:xfrm>
            <a:off x="8348472" y="2505456"/>
            <a:ext cx="3602736" cy="841248"/>
          </a:xfrm>
          <a:prstGeom prst="rect">
            <a:avLst/>
          </a:prstGeom>
          <a:noFill/>
          <a:ln/>
        </p:spPr>
        <p:txBody>
          <a:bodyPr wrap="square" lIns="0" tIns="0" rIns="0" bIns="0" rtlCol="0" anchor="ctr"/>
          <a:lstStyle/>
          <a:p>
            <a:pPr indent="0" marL="0">
              <a:buNone/>
            </a:pPr>
            <a:r>
              <a:rPr lang="en-US" sz="770" dirty="0">
                <a:solidFill>
                  <a:srgbClr val="37474F"/>
                </a:solidFill>
              </a:rPr>
              <a:t>All thousands of configuration settings in ECC — company codes, plant structures, tax codes, approval workflows, document types, pricing procedures — are carried over automatically by SUM+DMO. Your consultants validate they function correctly in S/4HANA.</a:t>
            </a:r>
            <a:endParaRPr lang="en-US" sz="770" dirty="0"/>
          </a:p>
        </p:txBody>
      </p:sp>
      <p:sp>
        <p:nvSpPr>
          <p:cNvPr id="61" name="Shape 59"/>
          <p:cNvSpPr/>
          <p:nvPr/>
        </p:nvSpPr>
        <p:spPr>
          <a:xfrm>
            <a:off x="8302752" y="3493008"/>
            <a:ext cx="3694176" cy="1444752"/>
          </a:xfrm>
          <a:prstGeom prst="rect">
            <a:avLst/>
          </a:prstGeom>
          <a:solidFill>
            <a:srgbClr val="F1F5F9"/>
          </a:solidFill>
          <a:ln/>
        </p:spPr>
      </p:sp>
      <p:sp>
        <p:nvSpPr>
          <p:cNvPr id="62" name="Text 60"/>
          <p:cNvSpPr/>
          <p:nvPr/>
        </p:nvSpPr>
        <p:spPr>
          <a:xfrm>
            <a:off x="8348472" y="3538728"/>
            <a:ext cx="3602736" cy="237744"/>
          </a:xfrm>
          <a:prstGeom prst="rect">
            <a:avLst/>
          </a:prstGeom>
          <a:noFill/>
          <a:ln/>
        </p:spPr>
        <p:txBody>
          <a:bodyPr wrap="square" lIns="0" tIns="0" rIns="0" bIns="0" rtlCol="0" anchor="ctr"/>
          <a:lstStyle/>
          <a:p>
            <a:pPr indent="0" marL="0">
              <a:buNone/>
            </a:pPr>
            <a:r>
              <a:rPr lang="en-US" sz="820" b="1" dirty="0">
                <a:solidFill>
                  <a:srgbClr val="BF360C"/>
                </a:solidFill>
              </a:rPr>
              <a:t>Custom ABAP Programs (Z-objects)</a:t>
            </a:r>
            <a:endParaRPr lang="en-US" sz="820" dirty="0"/>
          </a:p>
        </p:txBody>
      </p:sp>
      <p:sp>
        <p:nvSpPr>
          <p:cNvPr id="63" name="Shape 61"/>
          <p:cNvSpPr/>
          <p:nvPr/>
        </p:nvSpPr>
        <p:spPr>
          <a:xfrm>
            <a:off x="8348472" y="3794760"/>
            <a:ext cx="3602736" cy="201168"/>
          </a:xfrm>
          <a:prstGeom prst="rect">
            <a:avLst/>
          </a:prstGeom>
          <a:solidFill>
            <a:srgbClr val="BF360C">
              <a:alpha val="25000"/>
            </a:srgbClr>
          </a:solidFill>
          <a:ln/>
        </p:spPr>
      </p:sp>
      <p:sp>
        <p:nvSpPr>
          <p:cNvPr id="64" name="Text 62"/>
          <p:cNvSpPr/>
          <p:nvPr/>
        </p:nvSpPr>
        <p:spPr>
          <a:xfrm>
            <a:off x="8375904" y="3794760"/>
            <a:ext cx="3566160" cy="201168"/>
          </a:xfrm>
          <a:prstGeom prst="rect">
            <a:avLst/>
          </a:prstGeom>
          <a:noFill/>
          <a:ln/>
        </p:spPr>
        <p:txBody>
          <a:bodyPr wrap="square" lIns="0" tIns="0" rIns="0" bIns="0" rtlCol="0" anchor="ctr"/>
          <a:lstStyle/>
          <a:p>
            <a:pPr indent="0" marL="0">
              <a:buNone/>
            </a:pPr>
            <a:r>
              <a:rPr lang="en-US" sz="720" b="1" dirty="0">
                <a:solidFill>
                  <a:srgbClr val="BF360C"/>
                </a:solidFill>
              </a:rPr>
              <a:t>Method: MANUAL — ABAP team fixes</a:t>
            </a:r>
            <a:endParaRPr lang="en-US" sz="720" dirty="0"/>
          </a:p>
        </p:txBody>
      </p:sp>
      <p:sp>
        <p:nvSpPr>
          <p:cNvPr id="65" name="Text 63"/>
          <p:cNvSpPr/>
          <p:nvPr/>
        </p:nvSpPr>
        <p:spPr>
          <a:xfrm>
            <a:off x="8348472" y="4041648"/>
            <a:ext cx="3602736" cy="841248"/>
          </a:xfrm>
          <a:prstGeom prst="rect">
            <a:avLst/>
          </a:prstGeom>
          <a:noFill/>
          <a:ln/>
        </p:spPr>
        <p:txBody>
          <a:bodyPr wrap="square" lIns="0" tIns="0" rIns="0" bIns="0" rtlCol="0" anchor="ctr"/>
          <a:lstStyle/>
          <a:p>
            <a:pPr indent="0" marL="0">
              <a:buNone/>
            </a:pPr>
            <a:r>
              <a:rPr lang="en-US" sz="770" dirty="0">
                <a:solidFill>
                  <a:srgbClr val="37474F"/>
                </a:solidFill>
              </a:rPr>
              <a:t>Custom reports, interfaces, user exits, enhancements — code built over 15+ years. SUM+DMO copies the code but it may fail in S/4HANA because underlying DB tables changed. Your ABAP developers use ATC scanner output to identify and fix each breaking program.</a:t>
            </a:r>
            <a:endParaRPr lang="en-US" sz="770" dirty="0"/>
          </a:p>
        </p:txBody>
      </p:sp>
      <p:sp>
        <p:nvSpPr>
          <p:cNvPr id="66" name="Shape 64"/>
          <p:cNvSpPr/>
          <p:nvPr/>
        </p:nvSpPr>
        <p:spPr>
          <a:xfrm>
            <a:off x="8302752" y="5029200"/>
            <a:ext cx="3694176" cy="1444752"/>
          </a:xfrm>
          <a:prstGeom prst="rect">
            <a:avLst/>
          </a:prstGeom>
          <a:solidFill>
            <a:srgbClr val="FBE9E7"/>
          </a:solidFill>
          <a:ln/>
        </p:spPr>
      </p:sp>
      <p:sp>
        <p:nvSpPr>
          <p:cNvPr id="67" name="Text 65"/>
          <p:cNvSpPr/>
          <p:nvPr/>
        </p:nvSpPr>
        <p:spPr>
          <a:xfrm>
            <a:off x="8348472" y="5074920"/>
            <a:ext cx="3602736" cy="237744"/>
          </a:xfrm>
          <a:prstGeom prst="rect">
            <a:avLst/>
          </a:prstGeom>
          <a:noFill/>
          <a:ln/>
        </p:spPr>
        <p:txBody>
          <a:bodyPr wrap="square" lIns="0" tIns="0" rIns="0" bIns="0" rtlCol="0" anchor="ctr"/>
          <a:lstStyle/>
          <a:p>
            <a:pPr indent="0" marL="0">
              <a:buNone/>
            </a:pPr>
            <a:r>
              <a:rPr lang="en-US" sz="820" b="1" dirty="0">
                <a:solidFill>
                  <a:srgbClr val="BF360C"/>
                </a:solidFill>
              </a:rPr>
              <a:t>Custom Z-tables &amp; Number Ranges</a:t>
            </a:r>
            <a:endParaRPr lang="en-US" sz="820" dirty="0"/>
          </a:p>
        </p:txBody>
      </p:sp>
      <p:sp>
        <p:nvSpPr>
          <p:cNvPr id="68" name="Shape 66"/>
          <p:cNvSpPr/>
          <p:nvPr/>
        </p:nvSpPr>
        <p:spPr>
          <a:xfrm>
            <a:off x="8348472" y="5330952"/>
            <a:ext cx="3602736" cy="201168"/>
          </a:xfrm>
          <a:prstGeom prst="rect">
            <a:avLst/>
          </a:prstGeom>
          <a:solidFill>
            <a:srgbClr val="BF360C">
              <a:alpha val="25000"/>
            </a:srgbClr>
          </a:solidFill>
          <a:ln/>
        </p:spPr>
      </p:sp>
      <p:sp>
        <p:nvSpPr>
          <p:cNvPr id="69" name="Text 67"/>
          <p:cNvSpPr/>
          <p:nvPr/>
        </p:nvSpPr>
        <p:spPr>
          <a:xfrm>
            <a:off x="8375904" y="5330952"/>
            <a:ext cx="3566160" cy="201168"/>
          </a:xfrm>
          <a:prstGeom prst="rect">
            <a:avLst/>
          </a:prstGeom>
          <a:noFill/>
          <a:ln/>
        </p:spPr>
        <p:txBody>
          <a:bodyPr wrap="square" lIns="0" tIns="0" rIns="0" bIns="0" rtlCol="0" anchor="ctr"/>
          <a:lstStyle/>
          <a:p>
            <a:pPr indent="0" marL="0">
              <a:buNone/>
            </a:pPr>
            <a:r>
              <a:rPr lang="en-US" sz="720" b="1" dirty="0">
                <a:solidFill>
                  <a:srgbClr val="BF360C"/>
                </a:solidFill>
              </a:rPr>
              <a:t>Method: SUM+DMO auto — validate manually</a:t>
            </a:r>
            <a:endParaRPr lang="en-US" sz="720" dirty="0"/>
          </a:p>
        </p:txBody>
      </p:sp>
      <p:sp>
        <p:nvSpPr>
          <p:cNvPr id="70" name="Text 68"/>
          <p:cNvSpPr/>
          <p:nvPr/>
        </p:nvSpPr>
        <p:spPr>
          <a:xfrm>
            <a:off x="8348472" y="5577840"/>
            <a:ext cx="3602736" cy="841248"/>
          </a:xfrm>
          <a:prstGeom prst="rect">
            <a:avLst/>
          </a:prstGeom>
          <a:noFill/>
          <a:ln/>
        </p:spPr>
        <p:txBody>
          <a:bodyPr wrap="square" lIns="0" tIns="0" rIns="0" bIns="0" rtlCol="0" anchor="ctr"/>
          <a:lstStyle/>
          <a:p>
            <a:pPr indent="0" marL="0">
              <a:buNone/>
            </a:pPr>
            <a:r>
              <a:rPr lang="en-US" sz="770" dirty="0">
                <a:solidFill>
                  <a:srgbClr val="37474F"/>
                </a:solidFill>
              </a:rPr>
              <a:t>Customer-created database tables migrate structurally via SUM+DMO but data inside them must be validated. Number ranges (which auto-number POs, invoices, etc.) must be checked post-conversion to ensure no gaps or duplicates.</a:t>
            </a:r>
            <a:endParaRPr lang="en-US" sz="77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D"/>
        </a:solidFill>
      </p:bgPr>
    </p:bg>
    <p:spTree>
      <p:nvGrpSpPr>
        <p:cNvPr id="1" name=""/>
        <p:cNvGrpSpPr/>
        <p:nvPr/>
      </p:nvGrpSpPr>
      <p:grpSpPr>
        <a:xfrm>
          <a:off x="0" y="0"/>
          <a:ext cx="0" cy="0"/>
          <a:chOff x="0" y="0"/>
          <a:chExt cx="0" cy="0"/>
        </a:xfrm>
      </p:grpSpPr>
      <p:sp>
        <p:nvSpPr>
          <p:cNvPr id="2" name="Shape 0"/>
          <p:cNvSpPr/>
          <p:nvPr/>
        </p:nvSpPr>
        <p:spPr>
          <a:xfrm>
            <a:off x="0" y="0"/>
            <a:ext cx="12161520" cy="749808"/>
          </a:xfrm>
          <a:prstGeom prst="rect">
            <a:avLst/>
          </a:prstGeom>
          <a:solidFill>
            <a:srgbClr val="0D1B2A"/>
          </a:solidFill>
          <a:ln/>
        </p:spPr>
      </p:sp>
      <p:sp>
        <p:nvSpPr>
          <p:cNvPr id="3" name="Shape 1"/>
          <p:cNvSpPr/>
          <p:nvPr/>
        </p:nvSpPr>
        <p:spPr>
          <a:xfrm>
            <a:off x="0" y="0"/>
            <a:ext cx="274320" cy="749808"/>
          </a:xfrm>
          <a:prstGeom prst="rect">
            <a:avLst/>
          </a:prstGeom>
          <a:solidFill>
            <a:srgbClr val="1565C0"/>
          </a:solidFill>
          <a:ln/>
        </p:spPr>
      </p:sp>
      <p:sp>
        <p:nvSpPr>
          <p:cNvPr id="4" name="Text 2"/>
          <p:cNvSpPr/>
          <p:nvPr/>
        </p:nvSpPr>
        <p:spPr>
          <a:xfrm>
            <a:off x="457200" y="0"/>
            <a:ext cx="11521440" cy="749808"/>
          </a:xfrm>
          <a:prstGeom prst="rect">
            <a:avLst/>
          </a:prstGeom>
          <a:noFill/>
          <a:ln/>
        </p:spPr>
        <p:txBody>
          <a:bodyPr wrap="square" lIns="0" tIns="0" rIns="0" bIns="0" rtlCol="0" anchor="ctr"/>
          <a:lstStyle/>
          <a:p>
            <a:pPr indent="0" marL="0">
              <a:buNone/>
            </a:pPr>
            <a:r>
              <a:rPr lang="en-US" sz="1350" b="1" spc="60" kern="0" dirty="0">
                <a:solidFill>
                  <a:srgbClr val="FFFFFF"/>
                </a:solidFill>
              </a:rPr>
              <a:t>PART 2  |  ALL SAP DATA MIGRATION TOOLS — DETAILED COMPARISON (OFFICIAL SAP TOOLS ONLY)</a:t>
            </a:r>
            <a:endParaRPr lang="en-US" sz="1350" dirty="0"/>
          </a:p>
        </p:txBody>
      </p:sp>
      <p:sp>
        <p:nvSpPr>
          <p:cNvPr id="5" name="Shape 3"/>
          <p:cNvSpPr/>
          <p:nvPr/>
        </p:nvSpPr>
        <p:spPr>
          <a:xfrm>
            <a:off x="182880" y="804672"/>
            <a:ext cx="1298448" cy="310896"/>
          </a:xfrm>
          <a:prstGeom prst="rect">
            <a:avLst/>
          </a:prstGeom>
          <a:solidFill>
            <a:srgbClr val="0D1B2A"/>
          </a:solidFill>
          <a:ln/>
        </p:spPr>
      </p:sp>
      <p:sp>
        <p:nvSpPr>
          <p:cNvPr id="6" name="Text 4"/>
          <p:cNvSpPr/>
          <p:nvPr/>
        </p:nvSpPr>
        <p:spPr>
          <a:xfrm>
            <a:off x="228600" y="804672"/>
            <a:ext cx="1225296" cy="310896"/>
          </a:xfrm>
          <a:prstGeom prst="rect">
            <a:avLst/>
          </a:prstGeom>
          <a:noFill/>
          <a:ln/>
        </p:spPr>
        <p:txBody>
          <a:bodyPr wrap="square" lIns="0" tIns="0" rIns="0" bIns="0" rtlCol="0" anchor="ctr"/>
          <a:lstStyle/>
          <a:p>
            <a:pPr indent="0" marL="0">
              <a:buNone/>
            </a:pPr>
            <a:r>
              <a:rPr lang="en-US" sz="750" b="1" dirty="0">
                <a:solidFill>
                  <a:srgbClr val="FFFFFF"/>
                </a:solidFill>
              </a:rPr>
              <a:t>TOOL</a:t>
            </a:r>
            <a:endParaRPr lang="en-US" sz="750" dirty="0"/>
          </a:p>
        </p:txBody>
      </p:sp>
      <p:sp>
        <p:nvSpPr>
          <p:cNvPr id="7" name="Shape 5"/>
          <p:cNvSpPr/>
          <p:nvPr/>
        </p:nvSpPr>
        <p:spPr>
          <a:xfrm>
            <a:off x="1572768" y="804672"/>
            <a:ext cx="2103120" cy="310896"/>
          </a:xfrm>
          <a:prstGeom prst="rect">
            <a:avLst/>
          </a:prstGeom>
          <a:solidFill>
            <a:srgbClr val="0D1B2A"/>
          </a:solidFill>
          <a:ln/>
        </p:spPr>
      </p:sp>
      <p:sp>
        <p:nvSpPr>
          <p:cNvPr id="8" name="Text 6"/>
          <p:cNvSpPr/>
          <p:nvPr/>
        </p:nvSpPr>
        <p:spPr>
          <a:xfrm>
            <a:off x="1618488" y="804672"/>
            <a:ext cx="2029968" cy="310896"/>
          </a:xfrm>
          <a:prstGeom prst="rect">
            <a:avLst/>
          </a:prstGeom>
          <a:noFill/>
          <a:ln/>
        </p:spPr>
        <p:txBody>
          <a:bodyPr wrap="square" lIns="0" tIns="0" rIns="0" bIns="0" rtlCol="0" anchor="ctr"/>
          <a:lstStyle/>
          <a:p>
            <a:pPr indent="0" marL="0">
              <a:buNone/>
            </a:pPr>
            <a:r>
              <a:rPr lang="en-US" sz="750" b="1" dirty="0">
                <a:solidFill>
                  <a:srgbClr val="FFFFFF"/>
                </a:solidFill>
              </a:rPr>
              <a:t>WHAT IT DOES</a:t>
            </a:r>
            <a:endParaRPr lang="en-US" sz="750" dirty="0"/>
          </a:p>
        </p:txBody>
      </p:sp>
      <p:sp>
        <p:nvSpPr>
          <p:cNvPr id="9" name="Shape 7"/>
          <p:cNvSpPr/>
          <p:nvPr/>
        </p:nvSpPr>
        <p:spPr>
          <a:xfrm>
            <a:off x="3767328" y="804672"/>
            <a:ext cx="1956816" cy="310896"/>
          </a:xfrm>
          <a:prstGeom prst="rect">
            <a:avLst/>
          </a:prstGeom>
          <a:solidFill>
            <a:srgbClr val="0D1B2A"/>
          </a:solidFill>
          <a:ln/>
        </p:spPr>
      </p:sp>
      <p:sp>
        <p:nvSpPr>
          <p:cNvPr id="10" name="Text 8"/>
          <p:cNvSpPr/>
          <p:nvPr/>
        </p:nvSpPr>
        <p:spPr>
          <a:xfrm>
            <a:off x="3813048" y="804672"/>
            <a:ext cx="1883664" cy="310896"/>
          </a:xfrm>
          <a:prstGeom prst="rect">
            <a:avLst/>
          </a:prstGeom>
          <a:noFill/>
          <a:ln/>
        </p:spPr>
        <p:txBody>
          <a:bodyPr wrap="square" lIns="0" tIns="0" rIns="0" bIns="0" rtlCol="0" anchor="ctr"/>
          <a:lstStyle/>
          <a:p>
            <a:pPr indent="0" marL="0">
              <a:buNone/>
            </a:pPr>
            <a:r>
              <a:rPr lang="en-US" sz="750" b="1" dirty="0">
                <a:solidFill>
                  <a:srgbClr val="FFFFFF"/>
                </a:solidFill>
              </a:rPr>
              <a:t>BEST USED FOR</a:t>
            </a:r>
            <a:endParaRPr lang="en-US" sz="750" dirty="0"/>
          </a:p>
        </p:txBody>
      </p:sp>
      <p:sp>
        <p:nvSpPr>
          <p:cNvPr id="11" name="Shape 9"/>
          <p:cNvSpPr/>
          <p:nvPr/>
        </p:nvSpPr>
        <p:spPr>
          <a:xfrm>
            <a:off x="5806440" y="804672"/>
            <a:ext cx="1408176" cy="310896"/>
          </a:xfrm>
          <a:prstGeom prst="rect">
            <a:avLst/>
          </a:prstGeom>
          <a:solidFill>
            <a:srgbClr val="0D1B2A"/>
          </a:solidFill>
          <a:ln/>
        </p:spPr>
      </p:sp>
      <p:sp>
        <p:nvSpPr>
          <p:cNvPr id="12" name="Text 10"/>
          <p:cNvSpPr/>
          <p:nvPr/>
        </p:nvSpPr>
        <p:spPr>
          <a:xfrm>
            <a:off x="5852160" y="804672"/>
            <a:ext cx="1335024" cy="310896"/>
          </a:xfrm>
          <a:prstGeom prst="rect">
            <a:avLst/>
          </a:prstGeom>
          <a:noFill/>
          <a:ln/>
        </p:spPr>
        <p:txBody>
          <a:bodyPr wrap="square" lIns="0" tIns="0" rIns="0" bIns="0" rtlCol="0" anchor="ctr"/>
          <a:lstStyle/>
          <a:p>
            <a:pPr indent="0" marL="0">
              <a:buNone/>
            </a:pPr>
            <a:r>
              <a:rPr lang="en-US" sz="750" b="1" dirty="0">
                <a:solidFill>
                  <a:srgbClr val="FFFFFF"/>
                </a:solidFill>
              </a:rPr>
              <a:t>SKILL NEEDED</a:t>
            </a:r>
            <a:endParaRPr lang="en-US" sz="750" dirty="0"/>
          </a:p>
        </p:txBody>
      </p:sp>
      <p:sp>
        <p:nvSpPr>
          <p:cNvPr id="13" name="Shape 11"/>
          <p:cNvSpPr/>
          <p:nvPr/>
        </p:nvSpPr>
        <p:spPr>
          <a:xfrm>
            <a:off x="7296912" y="804672"/>
            <a:ext cx="1024128" cy="310896"/>
          </a:xfrm>
          <a:prstGeom prst="rect">
            <a:avLst/>
          </a:prstGeom>
          <a:solidFill>
            <a:srgbClr val="0D1B2A"/>
          </a:solidFill>
          <a:ln/>
        </p:spPr>
      </p:sp>
      <p:sp>
        <p:nvSpPr>
          <p:cNvPr id="14" name="Text 12"/>
          <p:cNvSpPr/>
          <p:nvPr/>
        </p:nvSpPr>
        <p:spPr>
          <a:xfrm>
            <a:off x="7342632" y="804672"/>
            <a:ext cx="950976" cy="310896"/>
          </a:xfrm>
          <a:prstGeom prst="rect">
            <a:avLst/>
          </a:prstGeom>
          <a:noFill/>
          <a:ln/>
        </p:spPr>
        <p:txBody>
          <a:bodyPr wrap="square" lIns="0" tIns="0" rIns="0" bIns="0" rtlCol="0" anchor="ctr"/>
          <a:lstStyle/>
          <a:p>
            <a:pPr indent="0" marL="0">
              <a:buNone/>
            </a:pPr>
            <a:r>
              <a:rPr lang="en-US" sz="750" b="1" dirty="0">
                <a:solidFill>
                  <a:srgbClr val="FFFFFF"/>
                </a:solidFill>
              </a:rPr>
              <a:t>COST</a:t>
            </a:r>
            <a:endParaRPr lang="en-US" sz="750" dirty="0"/>
          </a:p>
        </p:txBody>
      </p:sp>
      <p:sp>
        <p:nvSpPr>
          <p:cNvPr id="15" name="Shape 13"/>
          <p:cNvSpPr/>
          <p:nvPr/>
        </p:nvSpPr>
        <p:spPr>
          <a:xfrm>
            <a:off x="8394192" y="804672"/>
            <a:ext cx="1261872" cy="310896"/>
          </a:xfrm>
          <a:prstGeom prst="rect">
            <a:avLst/>
          </a:prstGeom>
          <a:solidFill>
            <a:srgbClr val="0D1B2A"/>
          </a:solidFill>
          <a:ln/>
        </p:spPr>
      </p:sp>
      <p:sp>
        <p:nvSpPr>
          <p:cNvPr id="16" name="Text 14"/>
          <p:cNvSpPr/>
          <p:nvPr/>
        </p:nvSpPr>
        <p:spPr>
          <a:xfrm>
            <a:off x="8439912" y="804672"/>
            <a:ext cx="1188720" cy="310896"/>
          </a:xfrm>
          <a:prstGeom prst="rect">
            <a:avLst/>
          </a:prstGeom>
          <a:noFill/>
          <a:ln/>
        </p:spPr>
        <p:txBody>
          <a:bodyPr wrap="square" lIns="0" tIns="0" rIns="0" bIns="0" rtlCol="0" anchor="ctr"/>
          <a:lstStyle/>
          <a:p>
            <a:pPr indent="0" marL="0">
              <a:buNone/>
            </a:pPr>
            <a:r>
              <a:rPr lang="en-US" sz="750" b="1" dirty="0">
                <a:solidFill>
                  <a:srgbClr val="FFFFFF"/>
                </a:solidFill>
              </a:rPr>
              <a:t>LIMITATION</a:t>
            </a:r>
            <a:endParaRPr lang="en-US" sz="750" dirty="0"/>
          </a:p>
        </p:txBody>
      </p:sp>
      <p:sp>
        <p:nvSpPr>
          <p:cNvPr id="17" name="Shape 15"/>
          <p:cNvSpPr/>
          <p:nvPr/>
        </p:nvSpPr>
        <p:spPr>
          <a:xfrm>
            <a:off x="9738360" y="804672"/>
            <a:ext cx="2304288" cy="310896"/>
          </a:xfrm>
          <a:prstGeom prst="rect">
            <a:avLst/>
          </a:prstGeom>
          <a:solidFill>
            <a:srgbClr val="0D1B2A"/>
          </a:solidFill>
          <a:ln/>
        </p:spPr>
      </p:sp>
      <p:sp>
        <p:nvSpPr>
          <p:cNvPr id="18" name="Text 16"/>
          <p:cNvSpPr/>
          <p:nvPr/>
        </p:nvSpPr>
        <p:spPr>
          <a:xfrm>
            <a:off x="9784080" y="804672"/>
            <a:ext cx="2231136" cy="310896"/>
          </a:xfrm>
          <a:prstGeom prst="rect">
            <a:avLst/>
          </a:prstGeom>
          <a:noFill/>
          <a:ln/>
        </p:spPr>
        <p:txBody>
          <a:bodyPr wrap="square" lIns="0" tIns="0" rIns="0" bIns="0" rtlCol="0" anchor="ctr"/>
          <a:lstStyle/>
          <a:p>
            <a:pPr indent="0" marL="0">
              <a:buNone/>
            </a:pPr>
            <a:r>
              <a:rPr lang="en-US" sz="750" b="1" dirty="0">
                <a:solidFill>
                  <a:srgbClr val="FFFFFF"/>
                </a:solidFill>
              </a:rPr>
              <a:t>VERDICT</a:t>
            </a:r>
            <a:endParaRPr lang="en-US" sz="750" dirty="0"/>
          </a:p>
        </p:txBody>
      </p:sp>
      <p:sp>
        <p:nvSpPr>
          <p:cNvPr id="19" name="Shape 17"/>
          <p:cNvSpPr/>
          <p:nvPr/>
        </p:nvSpPr>
        <p:spPr>
          <a:xfrm>
            <a:off x="182880" y="1152144"/>
            <a:ext cx="1298448" cy="1069848"/>
          </a:xfrm>
          <a:prstGeom prst="rect">
            <a:avLst/>
          </a:prstGeom>
          <a:solidFill>
            <a:srgbClr val="1B5E20"/>
          </a:solidFill>
          <a:ln/>
        </p:spPr>
      </p:sp>
      <p:sp>
        <p:nvSpPr>
          <p:cNvPr id="20" name="Text 18"/>
          <p:cNvSpPr/>
          <p:nvPr/>
        </p:nvSpPr>
        <p:spPr>
          <a:xfrm>
            <a:off x="237744" y="1197864"/>
            <a:ext cx="1207008" cy="411480"/>
          </a:xfrm>
          <a:prstGeom prst="rect">
            <a:avLst/>
          </a:prstGeom>
          <a:noFill/>
          <a:ln/>
        </p:spPr>
        <p:txBody>
          <a:bodyPr wrap="square" lIns="0" tIns="0" rIns="0" bIns="0" rtlCol="0" anchor="t"/>
          <a:lstStyle/>
          <a:p>
            <a:pPr indent="0" marL="0">
              <a:buNone/>
            </a:pPr>
            <a:r>
              <a:rPr lang="en-US" sz="880" b="1" dirty="0">
                <a:solidFill>
                  <a:srgbClr val="FFFFFF"/>
                </a:solidFill>
              </a:rPr>
              <a:t>SUM+DMO</a:t>
            </a:r>
            <a:endParaRPr lang="en-US" sz="880" dirty="0"/>
          </a:p>
        </p:txBody>
      </p:sp>
      <p:sp>
        <p:nvSpPr>
          <p:cNvPr id="21" name="Shape 19"/>
          <p:cNvSpPr/>
          <p:nvPr/>
        </p:nvSpPr>
        <p:spPr>
          <a:xfrm>
            <a:off x="237744" y="1627632"/>
            <a:ext cx="1207008" cy="201168"/>
          </a:xfrm>
          <a:prstGeom prst="rect">
            <a:avLst/>
          </a:prstGeom>
          <a:solidFill>
            <a:srgbClr val="FFFFFF">
              <a:alpha val="72000"/>
            </a:srgbClr>
          </a:solidFill>
          <a:ln/>
        </p:spPr>
      </p:sp>
      <p:sp>
        <p:nvSpPr>
          <p:cNvPr id="22" name="Text 20"/>
          <p:cNvSpPr/>
          <p:nvPr/>
        </p:nvSpPr>
        <p:spPr>
          <a:xfrm>
            <a:off x="237744" y="1627632"/>
            <a:ext cx="1207008" cy="201168"/>
          </a:xfrm>
          <a:prstGeom prst="rect">
            <a:avLst/>
          </a:prstGeom>
          <a:noFill/>
          <a:ln/>
        </p:spPr>
        <p:txBody>
          <a:bodyPr wrap="square" lIns="0" tIns="0" rIns="0" bIns="0" rtlCol="0" anchor="ctr"/>
          <a:lstStyle/>
          <a:p>
            <a:pPr algn="ctr" indent="0" marL="0">
              <a:buNone/>
            </a:pPr>
            <a:r>
              <a:rPr lang="en-US" sz="700" b="1" dirty="0">
                <a:solidFill>
                  <a:srgbClr val="FFFFFF"/>
                </a:solidFill>
              </a:rPr>
              <a:t>PRIMARY</a:t>
            </a:r>
            <a:endParaRPr lang="en-US" sz="700" dirty="0"/>
          </a:p>
        </p:txBody>
      </p:sp>
      <p:sp>
        <p:nvSpPr>
          <p:cNvPr id="23" name="Text 21"/>
          <p:cNvSpPr/>
          <p:nvPr/>
        </p:nvSpPr>
        <p:spPr>
          <a:xfrm>
            <a:off x="237744" y="1865376"/>
            <a:ext cx="1207008" cy="329184"/>
          </a:xfrm>
          <a:prstGeom prst="rect">
            <a:avLst/>
          </a:prstGeom>
          <a:noFill/>
          <a:ln/>
        </p:spPr>
        <p:txBody>
          <a:bodyPr wrap="square" lIns="0" tIns="0" rIns="0" bIns="0" rtlCol="0" anchor="ctr"/>
          <a:lstStyle/>
          <a:p>
            <a:pPr indent="0" marL="0">
              <a:buNone/>
            </a:pPr>
            <a:r>
              <a:rPr lang="en-US" sz="650" i="1" dirty="0">
                <a:solidFill>
                  <a:srgbClr val="FFFFFF"/>
                </a:solidFill>
              </a:rPr>
              <a:t>Software Update Manager + Database Migration Option</a:t>
            </a:r>
            <a:endParaRPr lang="en-US" sz="650" dirty="0"/>
          </a:p>
        </p:txBody>
      </p:sp>
      <p:sp>
        <p:nvSpPr>
          <p:cNvPr id="24" name="Shape 22"/>
          <p:cNvSpPr/>
          <p:nvPr/>
        </p:nvSpPr>
        <p:spPr>
          <a:xfrm>
            <a:off x="1572768" y="1152144"/>
            <a:ext cx="2103120" cy="1069848"/>
          </a:xfrm>
          <a:prstGeom prst="rect">
            <a:avLst/>
          </a:prstGeom>
          <a:solidFill>
            <a:srgbClr val="FFFFFF"/>
          </a:solidFill>
          <a:ln/>
        </p:spPr>
      </p:sp>
      <p:sp>
        <p:nvSpPr>
          <p:cNvPr id="25" name="Text 23"/>
          <p:cNvSpPr/>
          <p:nvPr/>
        </p:nvSpPr>
        <p:spPr>
          <a:xfrm>
            <a:off x="1618488" y="1197864"/>
            <a:ext cx="2029968" cy="978408"/>
          </a:xfrm>
          <a:prstGeom prst="rect">
            <a:avLst/>
          </a:prstGeom>
          <a:noFill/>
          <a:ln/>
        </p:spPr>
        <p:txBody>
          <a:bodyPr wrap="square" lIns="0" tIns="0" rIns="0" bIns="0" rtlCol="0" anchor="ctr"/>
          <a:lstStyle/>
          <a:p>
            <a:pPr indent="0" marL="0">
              <a:buNone/>
            </a:pPr>
            <a:r>
              <a:rPr lang="en-US" sz="770" dirty="0">
                <a:solidFill>
                  <a:srgbClr val="37474F"/>
                </a:solidFill>
              </a:rPr>
              <a:t>SAP's core conversion engine. Automatically migrates the entire ECC database, software, configurations, transactional and historical data to S/4HANA during the conversion weekend. Handles ~90% of all data automatically.</a:t>
            </a:r>
            <a:endParaRPr lang="en-US" sz="770" dirty="0"/>
          </a:p>
        </p:txBody>
      </p:sp>
      <p:sp>
        <p:nvSpPr>
          <p:cNvPr id="26" name="Shape 24"/>
          <p:cNvSpPr/>
          <p:nvPr/>
        </p:nvSpPr>
        <p:spPr>
          <a:xfrm>
            <a:off x="3767328" y="1152144"/>
            <a:ext cx="1956816" cy="1069848"/>
          </a:xfrm>
          <a:prstGeom prst="rect">
            <a:avLst/>
          </a:prstGeom>
          <a:solidFill>
            <a:srgbClr val="FFFFFF"/>
          </a:solidFill>
          <a:ln/>
        </p:spPr>
      </p:sp>
      <p:sp>
        <p:nvSpPr>
          <p:cNvPr id="27" name="Text 25"/>
          <p:cNvSpPr/>
          <p:nvPr/>
        </p:nvSpPr>
        <p:spPr>
          <a:xfrm>
            <a:off x="3813048" y="1197864"/>
            <a:ext cx="1883664" cy="978408"/>
          </a:xfrm>
          <a:prstGeom prst="rect">
            <a:avLst/>
          </a:prstGeom>
          <a:noFill/>
          <a:ln/>
        </p:spPr>
        <p:txBody>
          <a:bodyPr wrap="square" lIns="0" tIns="0" rIns="0" bIns="0" rtlCol="0" anchor="ctr"/>
          <a:lstStyle/>
          <a:p>
            <a:pPr indent="0" marL="0">
              <a:buNone/>
            </a:pPr>
            <a:r>
              <a:rPr lang="en-US" sz="770" dirty="0">
                <a:solidFill>
                  <a:srgbClr val="37474F"/>
                </a:solidFill>
              </a:rPr>
              <a:t>Brownfield system conversion — always the first and primary tool. Used for both full-system conversion and DB migration.</a:t>
            </a:r>
            <a:endParaRPr lang="en-US" sz="770" dirty="0"/>
          </a:p>
        </p:txBody>
      </p:sp>
      <p:sp>
        <p:nvSpPr>
          <p:cNvPr id="28" name="Shape 26"/>
          <p:cNvSpPr/>
          <p:nvPr/>
        </p:nvSpPr>
        <p:spPr>
          <a:xfrm>
            <a:off x="5806440" y="1152144"/>
            <a:ext cx="1408176" cy="1069848"/>
          </a:xfrm>
          <a:prstGeom prst="rect">
            <a:avLst/>
          </a:prstGeom>
          <a:solidFill>
            <a:srgbClr val="FFFFFF"/>
          </a:solidFill>
          <a:ln/>
        </p:spPr>
      </p:sp>
      <p:sp>
        <p:nvSpPr>
          <p:cNvPr id="29" name="Text 27"/>
          <p:cNvSpPr/>
          <p:nvPr/>
        </p:nvSpPr>
        <p:spPr>
          <a:xfrm>
            <a:off x="5852160" y="1197864"/>
            <a:ext cx="1335024" cy="978408"/>
          </a:xfrm>
          <a:prstGeom prst="rect">
            <a:avLst/>
          </a:prstGeom>
          <a:noFill/>
          <a:ln/>
        </p:spPr>
        <p:txBody>
          <a:bodyPr wrap="square" lIns="0" tIns="0" rIns="0" bIns="0" rtlCol="0" anchor="ctr"/>
          <a:lstStyle/>
          <a:p>
            <a:pPr indent="0" marL="0">
              <a:buNone/>
            </a:pPr>
            <a:r>
              <a:rPr lang="en-US" sz="770" dirty="0">
                <a:solidFill>
                  <a:srgbClr val="37474F"/>
                </a:solidFill>
              </a:rPr>
              <a:t>SAP Basis consultants (specialised). Your team monitors; the tool runs itself.</a:t>
            </a:r>
            <a:endParaRPr lang="en-US" sz="770" dirty="0"/>
          </a:p>
        </p:txBody>
      </p:sp>
      <p:sp>
        <p:nvSpPr>
          <p:cNvPr id="30" name="Shape 28"/>
          <p:cNvSpPr/>
          <p:nvPr/>
        </p:nvSpPr>
        <p:spPr>
          <a:xfrm>
            <a:off x="7296912" y="1152144"/>
            <a:ext cx="1024128" cy="1069848"/>
          </a:xfrm>
          <a:prstGeom prst="rect">
            <a:avLst/>
          </a:prstGeom>
          <a:solidFill>
            <a:srgbClr val="FFFFFF"/>
          </a:solidFill>
          <a:ln/>
        </p:spPr>
      </p:sp>
      <p:sp>
        <p:nvSpPr>
          <p:cNvPr id="31" name="Text 29"/>
          <p:cNvSpPr/>
          <p:nvPr/>
        </p:nvSpPr>
        <p:spPr>
          <a:xfrm>
            <a:off x="7342632" y="1197864"/>
            <a:ext cx="950976" cy="978408"/>
          </a:xfrm>
          <a:prstGeom prst="rect">
            <a:avLst/>
          </a:prstGeom>
          <a:noFill/>
          <a:ln/>
        </p:spPr>
        <p:txBody>
          <a:bodyPr wrap="square" lIns="0" tIns="0" rIns="0" bIns="0" rtlCol="0" anchor="ctr"/>
          <a:lstStyle/>
          <a:p>
            <a:pPr indent="0" marL="0">
              <a:buNone/>
            </a:pPr>
            <a:r>
              <a:rPr lang="en-US" sz="770" dirty="0">
                <a:solidFill>
                  <a:srgbClr val="37474F"/>
                </a:solidFill>
              </a:rPr>
              <a:t>Included in RISE / S/4HANA licence. No extra cost.</a:t>
            </a:r>
            <a:endParaRPr lang="en-US" sz="770" dirty="0"/>
          </a:p>
        </p:txBody>
      </p:sp>
      <p:sp>
        <p:nvSpPr>
          <p:cNvPr id="32" name="Shape 30"/>
          <p:cNvSpPr/>
          <p:nvPr/>
        </p:nvSpPr>
        <p:spPr>
          <a:xfrm>
            <a:off x="8394192" y="1152144"/>
            <a:ext cx="1261872" cy="1069848"/>
          </a:xfrm>
          <a:prstGeom prst="rect">
            <a:avLst/>
          </a:prstGeom>
          <a:solidFill>
            <a:srgbClr val="FFFFFF"/>
          </a:solidFill>
          <a:ln/>
        </p:spPr>
      </p:sp>
      <p:sp>
        <p:nvSpPr>
          <p:cNvPr id="33" name="Text 31"/>
          <p:cNvSpPr/>
          <p:nvPr/>
        </p:nvSpPr>
        <p:spPr>
          <a:xfrm>
            <a:off x="8439912" y="1197864"/>
            <a:ext cx="1188720" cy="978408"/>
          </a:xfrm>
          <a:prstGeom prst="rect">
            <a:avLst/>
          </a:prstGeom>
          <a:noFill/>
          <a:ln/>
        </p:spPr>
        <p:txBody>
          <a:bodyPr wrap="square" lIns="0" tIns="0" rIns="0" bIns="0" rtlCol="0" anchor="ctr"/>
          <a:lstStyle/>
          <a:p>
            <a:pPr indent="0" marL="0">
              <a:buNone/>
            </a:pPr>
            <a:r>
              <a:rPr lang="en-US" sz="770" dirty="0">
                <a:solidFill>
                  <a:srgbClr val="37474F"/>
                </a:solidFill>
              </a:rPr>
              <a:t>Migrates everything — cannot selectively exclude data. Requires a downtime window. Data quality issues in ECC are carried across as-is.</a:t>
            </a:r>
            <a:endParaRPr lang="en-US" sz="770" dirty="0"/>
          </a:p>
        </p:txBody>
      </p:sp>
      <p:sp>
        <p:nvSpPr>
          <p:cNvPr id="34" name="Shape 32"/>
          <p:cNvSpPr/>
          <p:nvPr/>
        </p:nvSpPr>
        <p:spPr>
          <a:xfrm>
            <a:off x="9738360" y="1152144"/>
            <a:ext cx="2304288" cy="1069848"/>
          </a:xfrm>
          <a:prstGeom prst="rect">
            <a:avLst/>
          </a:prstGeom>
          <a:solidFill>
            <a:srgbClr val="FFFFFF"/>
          </a:solidFill>
          <a:ln/>
        </p:spPr>
      </p:sp>
      <p:sp>
        <p:nvSpPr>
          <p:cNvPr id="35" name="Text 33"/>
          <p:cNvSpPr/>
          <p:nvPr/>
        </p:nvSpPr>
        <p:spPr>
          <a:xfrm>
            <a:off x="9784080" y="1197864"/>
            <a:ext cx="2231136" cy="978408"/>
          </a:xfrm>
          <a:prstGeom prst="rect">
            <a:avLst/>
          </a:prstGeom>
          <a:noFill/>
          <a:ln/>
        </p:spPr>
        <p:txBody>
          <a:bodyPr wrap="square" lIns="0" tIns="0" rIns="0" bIns="0" rtlCol="0" anchor="ctr"/>
          <a:lstStyle/>
          <a:p>
            <a:pPr indent="0" marL="0">
              <a:buNone/>
            </a:pPr>
            <a:r>
              <a:rPr lang="en-US" sz="820" b="1" dirty="0">
                <a:solidFill>
                  <a:srgbClr val="1B5E20"/>
                </a:solidFill>
              </a:rPr>
              <a:t>Always use first. Foundation of every Brownfield migration.</a:t>
            </a:r>
            <a:endParaRPr lang="en-US" sz="820" dirty="0"/>
          </a:p>
        </p:txBody>
      </p:sp>
      <p:sp>
        <p:nvSpPr>
          <p:cNvPr id="36" name="Shape 34"/>
          <p:cNvSpPr/>
          <p:nvPr/>
        </p:nvSpPr>
        <p:spPr>
          <a:xfrm>
            <a:off x="182880" y="2267712"/>
            <a:ext cx="1298448" cy="1069848"/>
          </a:xfrm>
          <a:prstGeom prst="rect">
            <a:avLst/>
          </a:prstGeom>
          <a:solidFill>
            <a:srgbClr val="1565C0"/>
          </a:solidFill>
          <a:ln/>
        </p:spPr>
      </p:sp>
      <p:sp>
        <p:nvSpPr>
          <p:cNvPr id="37" name="Text 35"/>
          <p:cNvSpPr/>
          <p:nvPr/>
        </p:nvSpPr>
        <p:spPr>
          <a:xfrm>
            <a:off x="237744" y="2313432"/>
            <a:ext cx="1207008" cy="411480"/>
          </a:xfrm>
          <a:prstGeom prst="rect">
            <a:avLst/>
          </a:prstGeom>
          <a:noFill/>
          <a:ln/>
        </p:spPr>
        <p:txBody>
          <a:bodyPr wrap="square" lIns="0" tIns="0" rIns="0" bIns="0" rtlCol="0" anchor="t"/>
          <a:lstStyle/>
          <a:p>
            <a:pPr indent="0" marL="0">
              <a:buNone/>
            </a:pPr>
            <a:r>
              <a:rPr lang="en-US" sz="880" b="1" dirty="0">
                <a:solidFill>
                  <a:srgbClr val="FFFFFF"/>
                </a:solidFill>
              </a:rPr>
              <a:t>Migration Cockpit</a:t>
            </a:r>
            <a:endParaRPr lang="en-US" sz="880" dirty="0"/>
          </a:p>
          <a:p>
            <a:pPr indent="0" marL="0">
              <a:buNone/>
            </a:pPr>
            <a:r>
              <a:rPr lang="en-US" sz="880" b="1" dirty="0">
                <a:solidFill>
                  <a:srgbClr val="FFFFFF"/>
                </a:solidFill>
              </a:rPr>
              <a:t>(LTMC → 'Migrate Your</a:t>
            </a:r>
            <a:endParaRPr lang="en-US" sz="880" dirty="0"/>
          </a:p>
          <a:p>
            <a:pPr indent="0" marL="0">
              <a:buNone/>
            </a:pPr>
            <a:r>
              <a:rPr lang="en-US" sz="880" b="1" dirty="0">
                <a:solidFill>
                  <a:srgbClr val="FFFFFF"/>
                </a:solidFill>
              </a:rPr>
              <a:t>Data' app from 2021)</a:t>
            </a:r>
            <a:endParaRPr lang="en-US" sz="880" dirty="0"/>
          </a:p>
        </p:txBody>
      </p:sp>
      <p:sp>
        <p:nvSpPr>
          <p:cNvPr id="38" name="Shape 36"/>
          <p:cNvSpPr/>
          <p:nvPr/>
        </p:nvSpPr>
        <p:spPr>
          <a:xfrm>
            <a:off x="237744" y="2743200"/>
            <a:ext cx="1207008" cy="201168"/>
          </a:xfrm>
          <a:prstGeom prst="rect">
            <a:avLst/>
          </a:prstGeom>
          <a:solidFill>
            <a:srgbClr val="FFFFFF">
              <a:alpha val="72000"/>
            </a:srgbClr>
          </a:solidFill>
          <a:ln/>
        </p:spPr>
      </p:sp>
      <p:sp>
        <p:nvSpPr>
          <p:cNvPr id="39" name="Text 37"/>
          <p:cNvSpPr/>
          <p:nvPr/>
        </p:nvSpPr>
        <p:spPr>
          <a:xfrm>
            <a:off x="237744" y="2743200"/>
            <a:ext cx="1207008" cy="201168"/>
          </a:xfrm>
          <a:prstGeom prst="rect">
            <a:avLst/>
          </a:prstGeom>
          <a:noFill/>
          <a:ln/>
        </p:spPr>
        <p:txBody>
          <a:bodyPr wrap="square" lIns="0" tIns="0" rIns="0" bIns="0" rtlCol="0" anchor="ctr"/>
          <a:lstStyle/>
          <a:p>
            <a:pPr algn="ctr" indent="0" marL="0">
              <a:buNone/>
            </a:pPr>
            <a:r>
              <a:rPr lang="en-US" sz="700" b="1" dirty="0">
                <a:solidFill>
                  <a:srgbClr val="FFFFFF"/>
                </a:solidFill>
              </a:rPr>
              <a:t>PRIMARY</a:t>
            </a:r>
            <a:endParaRPr lang="en-US" sz="700" dirty="0"/>
          </a:p>
        </p:txBody>
      </p:sp>
      <p:sp>
        <p:nvSpPr>
          <p:cNvPr id="40" name="Text 38"/>
          <p:cNvSpPr/>
          <p:nvPr/>
        </p:nvSpPr>
        <p:spPr>
          <a:xfrm>
            <a:off x="237744" y="2980944"/>
            <a:ext cx="1207008" cy="329184"/>
          </a:xfrm>
          <a:prstGeom prst="rect">
            <a:avLst/>
          </a:prstGeom>
          <a:noFill/>
          <a:ln/>
        </p:spPr>
        <p:txBody>
          <a:bodyPr wrap="square" lIns="0" tIns="0" rIns="0" bIns="0" rtlCol="0" anchor="ctr"/>
          <a:lstStyle/>
          <a:p>
            <a:pPr indent="0" marL="0">
              <a:buNone/>
            </a:pPr>
            <a:r>
              <a:rPr lang="en-US" sz="650" i="1" dirty="0">
                <a:solidFill>
                  <a:srgbClr val="FFFFFF"/>
                </a:solidFill>
              </a:rPr>
              <a:t>SAP S/4HANA Migration Cockpit — replaced LSMW as official SAP migration tool</a:t>
            </a:r>
            <a:endParaRPr lang="en-US" sz="650" dirty="0"/>
          </a:p>
        </p:txBody>
      </p:sp>
      <p:sp>
        <p:nvSpPr>
          <p:cNvPr id="41" name="Shape 39"/>
          <p:cNvSpPr/>
          <p:nvPr/>
        </p:nvSpPr>
        <p:spPr>
          <a:xfrm>
            <a:off x="1572768" y="2267712"/>
            <a:ext cx="2103120" cy="1069848"/>
          </a:xfrm>
          <a:prstGeom prst="rect">
            <a:avLst/>
          </a:prstGeom>
          <a:solidFill>
            <a:srgbClr val="F1F5F9"/>
          </a:solidFill>
          <a:ln/>
        </p:spPr>
      </p:sp>
      <p:sp>
        <p:nvSpPr>
          <p:cNvPr id="42" name="Text 40"/>
          <p:cNvSpPr/>
          <p:nvPr/>
        </p:nvSpPr>
        <p:spPr>
          <a:xfrm>
            <a:off x="1618488" y="2313432"/>
            <a:ext cx="2029968" cy="978408"/>
          </a:xfrm>
          <a:prstGeom prst="rect">
            <a:avLst/>
          </a:prstGeom>
          <a:noFill/>
          <a:ln/>
        </p:spPr>
        <p:txBody>
          <a:bodyPr wrap="square" lIns="0" tIns="0" rIns="0" bIns="0" rtlCol="0" anchor="ctr"/>
          <a:lstStyle/>
          <a:p>
            <a:pPr indent="0" marL="0">
              <a:buNone/>
            </a:pPr>
            <a:r>
              <a:rPr lang="en-US" sz="770" dirty="0">
                <a:solidFill>
                  <a:srgbClr val="37474F"/>
                </a:solidFill>
              </a:rPr>
              <a:t>Browser-based Fiori tool with pre-built migration object templates (customers, vendors, materials, open items, etc.). Replaced the old LTMC transaction with a modern UI in S/4HANA 2021+. Also includes LTMOM (Migration Object Modeler) for custom objects.</a:t>
            </a:r>
            <a:endParaRPr lang="en-US" sz="770" dirty="0"/>
          </a:p>
        </p:txBody>
      </p:sp>
      <p:sp>
        <p:nvSpPr>
          <p:cNvPr id="43" name="Shape 41"/>
          <p:cNvSpPr/>
          <p:nvPr/>
        </p:nvSpPr>
        <p:spPr>
          <a:xfrm>
            <a:off x="3767328" y="2267712"/>
            <a:ext cx="1956816" cy="1069848"/>
          </a:xfrm>
          <a:prstGeom prst="rect">
            <a:avLst/>
          </a:prstGeom>
          <a:solidFill>
            <a:srgbClr val="F1F5F9"/>
          </a:solidFill>
          <a:ln/>
        </p:spPr>
      </p:sp>
      <p:sp>
        <p:nvSpPr>
          <p:cNvPr id="44" name="Text 42"/>
          <p:cNvSpPr/>
          <p:nvPr/>
        </p:nvSpPr>
        <p:spPr>
          <a:xfrm>
            <a:off x="3813048" y="2313432"/>
            <a:ext cx="1883664" cy="978408"/>
          </a:xfrm>
          <a:prstGeom prst="rect">
            <a:avLst/>
          </a:prstGeom>
          <a:noFill/>
          <a:ln/>
        </p:spPr>
        <p:txBody>
          <a:bodyPr wrap="square" lIns="0" tIns="0" rIns="0" bIns="0" rtlCol="0" anchor="ctr"/>
          <a:lstStyle/>
          <a:p>
            <a:pPr indent="0" marL="0">
              <a:buNone/>
            </a:pPr>
            <a:r>
              <a:rPr lang="en-US" sz="770" dirty="0">
                <a:solidFill>
                  <a:srgbClr val="37474F"/>
                </a:solidFill>
              </a:rPr>
              <a:t>Supplementary loads SUM+DMO doesn't fully handle: Business Partner CVI migration, initial stock loads, residual open items, custom migration objects. Two modes: File-based (CSV/Excel) or Direct Transfer (live connection to source ECC system).</a:t>
            </a:r>
            <a:endParaRPr lang="en-US" sz="770" dirty="0"/>
          </a:p>
        </p:txBody>
      </p:sp>
      <p:sp>
        <p:nvSpPr>
          <p:cNvPr id="45" name="Shape 43"/>
          <p:cNvSpPr/>
          <p:nvPr/>
        </p:nvSpPr>
        <p:spPr>
          <a:xfrm>
            <a:off x="5806440" y="2267712"/>
            <a:ext cx="1408176" cy="1069848"/>
          </a:xfrm>
          <a:prstGeom prst="rect">
            <a:avLst/>
          </a:prstGeom>
          <a:solidFill>
            <a:srgbClr val="F1F5F9"/>
          </a:solidFill>
          <a:ln/>
        </p:spPr>
      </p:sp>
      <p:sp>
        <p:nvSpPr>
          <p:cNvPr id="46" name="Text 44"/>
          <p:cNvSpPr/>
          <p:nvPr/>
        </p:nvSpPr>
        <p:spPr>
          <a:xfrm>
            <a:off x="5852160" y="2313432"/>
            <a:ext cx="1335024" cy="978408"/>
          </a:xfrm>
          <a:prstGeom prst="rect">
            <a:avLst/>
          </a:prstGeom>
          <a:noFill/>
          <a:ln/>
        </p:spPr>
        <p:txBody>
          <a:bodyPr wrap="square" lIns="0" tIns="0" rIns="0" bIns="0" rtlCol="0" anchor="ctr"/>
          <a:lstStyle/>
          <a:p>
            <a:pPr indent="0" marL="0">
              <a:buNone/>
            </a:pPr>
            <a:r>
              <a:rPr lang="en-US" sz="770" dirty="0">
                <a:solidFill>
                  <a:srgbClr val="37474F"/>
                </a:solidFill>
              </a:rPr>
              <a:t>Functional consultants (Finance, MM, SD) — no ABAP needed for standard objects. LTMOM requires Basis/dev for custom objects.</a:t>
            </a:r>
            <a:endParaRPr lang="en-US" sz="770" dirty="0"/>
          </a:p>
        </p:txBody>
      </p:sp>
      <p:sp>
        <p:nvSpPr>
          <p:cNvPr id="47" name="Shape 45"/>
          <p:cNvSpPr/>
          <p:nvPr/>
        </p:nvSpPr>
        <p:spPr>
          <a:xfrm>
            <a:off x="7296912" y="2267712"/>
            <a:ext cx="1024128" cy="1069848"/>
          </a:xfrm>
          <a:prstGeom prst="rect">
            <a:avLst/>
          </a:prstGeom>
          <a:solidFill>
            <a:srgbClr val="F1F5F9"/>
          </a:solidFill>
          <a:ln/>
        </p:spPr>
      </p:sp>
      <p:sp>
        <p:nvSpPr>
          <p:cNvPr id="48" name="Text 46"/>
          <p:cNvSpPr/>
          <p:nvPr/>
        </p:nvSpPr>
        <p:spPr>
          <a:xfrm>
            <a:off x="7342632" y="2313432"/>
            <a:ext cx="950976" cy="978408"/>
          </a:xfrm>
          <a:prstGeom prst="rect">
            <a:avLst/>
          </a:prstGeom>
          <a:noFill/>
          <a:ln/>
        </p:spPr>
        <p:txBody>
          <a:bodyPr wrap="square" lIns="0" tIns="0" rIns="0" bIns="0" rtlCol="0" anchor="ctr"/>
          <a:lstStyle/>
          <a:p>
            <a:pPr indent="0" marL="0">
              <a:buNone/>
            </a:pPr>
            <a:r>
              <a:rPr lang="en-US" sz="770" dirty="0">
                <a:solidFill>
                  <a:srgbClr val="37474F"/>
                </a:solidFill>
              </a:rPr>
              <a:t>Included with S/4HANA licence. No additional cost.</a:t>
            </a:r>
            <a:endParaRPr lang="en-US" sz="770" dirty="0"/>
          </a:p>
        </p:txBody>
      </p:sp>
      <p:sp>
        <p:nvSpPr>
          <p:cNvPr id="49" name="Shape 47"/>
          <p:cNvSpPr/>
          <p:nvPr/>
        </p:nvSpPr>
        <p:spPr>
          <a:xfrm>
            <a:off x="8394192" y="2267712"/>
            <a:ext cx="1261872" cy="1069848"/>
          </a:xfrm>
          <a:prstGeom prst="rect">
            <a:avLst/>
          </a:prstGeom>
          <a:solidFill>
            <a:srgbClr val="F1F5F9"/>
          </a:solidFill>
          <a:ln/>
        </p:spPr>
      </p:sp>
      <p:sp>
        <p:nvSpPr>
          <p:cNvPr id="50" name="Text 48"/>
          <p:cNvSpPr/>
          <p:nvPr/>
        </p:nvSpPr>
        <p:spPr>
          <a:xfrm>
            <a:off x="8439912" y="2313432"/>
            <a:ext cx="1188720" cy="978408"/>
          </a:xfrm>
          <a:prstGeom prst="rect">
            <a:avLst/>
          </a:prstGeom>
          <a:noFill/>
          <a:ln/>
        </p:spPr>
        <p:txBody>
          <a:bodyPr wrap="square" lIns="0" tIns="0" rIns="0" bIns="0" rtlCol="0" anchor="ctr"/>
          <a:lstStyle/>
          <a:p>
            <a:pPr indent="0" marL="0">
              <a:buNone/>
            </a:pPr>
            <a:r>
              <a:rPr lang="en-US" sz="770" dirty="0">
                <a:solidFill>
                  <a:srgbClr val="37474F"/>
                </a:solidFill>
              </a:rPr>
              <a:t>Designed for initial data creation, not updating existing records. Complex transformations need external staging (BODS/Syniti) before loading. Not all objects have pre-built templates.</a:t>
            </a:r>
            <a:endParaRPr lang="en-US" sz="770" dirty="0"/>
          </a:p>
        </p:txBody>
      </p:sp>
      <p:sp>
        <p:nvSpPr>
          <p:cNvPr id="51" name="Shape 49"/>
          <p:cNvSpPr/>
          <p:nvPr/>
        </p:nvSpPr>
        <p:spPr>
          <a:xfrm>
            <a:off x="9738360" y="2267712"/>
            <a:ext cx="2304288" cy="1069848"/>
          </a:xfrm>
          <a:prstGeom prst="rect">
            <a:avLst/>
          </a:prstGeom>
          <a:solidFill>
            <a:srgbClr val="F1F5F9"/>
          </a:solidFill>
          <a:ln/>
        </p:spPr>
      </p:sp>
      <p:sp>
        <p:nvSpPr>
          <p:cNvPr id="52" name="Text 50"/>
          <p:cNvSpPr/>
          <p:nvPr/>
        </p:nvSpPr>
        <p:spPr>
          <a:xfrm>
            <a:off x="9784080" y="2313432"/>
            <a:ext cx="2231136" cy="978408"/>
          </a:xfrm>
          <a:prstGeom prst="rect">
            <a:avLst/>
          </a:prstGeom>
          <a:noFill/>
          <a:ln/>
        </p:spPr>
        <p:txBody>
          <a:bodyPr wrap="square" lIns="0" tIns="0" rIns="0" bIns="0" rtlCol="0" anchor="ctr"/>
          <a:lstStyle/>
          <a:p>
            <a:pPr indent="0" marL="0">
              <a:buNone/>
            </a:pPr>
            <a:r>
              <a:rPr lang="en-US" sz="820" b="1" dirty="0">
                <a:solidFill>
                  <a:srgbClr val="1565C0"/>
                </a:solidFill>
              </a:rPr>
              <a:t>Your team's main manual migration tool alongside SUM+DMO.</a:t>
            </a:r>
            <a:endParaRPr lang="en-US" sz="820" dirty="0"/>
          </a:p>
        </p:txBody>
      </p:sp>
      <p:sp>
        <p:nvSpPr>
          <p:cNvPr id="53" name="Shape 51"/>
          <p:cNvSpPr/>
          <p:nvPr/>
        </p:nvSpPr>
        <p:spPr>
          <a:xfrm>
            <a:off x="182880" y="3383280"/>
            <a:ext cx="1298448" cy="1069848"/>
          </a:xfrm>
          <a:prstGeom prst="rect">
            <a:avLst/>
          </a:prstGeom>
          <a:solidFill>
            <a:srgbClr val="BF360C"/>
          </a:solidFill>
          <a:ln/>
        </p:spPr>
      </p:sp>
      <p:sp>
        <p:nvSpPr>
          <p:cNvPr id="54" name="Text 52"/>
          <p:cNvSpPr/>
          <p:nvPr/>
        </p:nvSpPr>
        <p:spPr>
          <a:xfrm>
            <a:off x="237744" y="3429000"/>
            <a:ext cx="1207008" cy="411480"/>
          </a:xfrm>
          <a:prstGeom prst="rect">
            <a:avLst/>
          </a:prstGeom>
          <a:noFill/>
          <a:ln/>
        </p:spPr>
        <p:txBody>
          <a:bodyPr wrap="square" lIns="0" tIns="0" rIns="0" bIns="0" rtlCol="0" anchor="t"/>
          <a:lstStyle/>
          <a:p>
            <a:pPr indent="0" marL="0">
              <a:buNone/>
            </a:pPr>
            <a:r>
              <a:rPr lang="en-US" sz="880" b="1" dirty="0">
                <a:solidFill>
                  <a:srgbClr val="FFFFFF"/>
                </a:solidFill>
              </a:rPr>
              <a:t>SAP BODS</a:t>
            </a:r>
            <a:endParaRPr lang="en-US" sz="880" dirty="0"/>
          </a:p>
          <a:p>
            <a:pPr indent="0" marL="0">
              <a:buNone/>
            </a:pPr>
            <a:r>
              <a:rPr lang="en-US" sz="880" b="1" dirty="0">
                <a:solidFill>
                  <a:srgbClr val="FFFFFF"/>
                </a:solidFill>
              </a:rPr>
              <a:t>(Business Objects</a:t>
            </a:r>
            <a:endParaRPr lang="en-US" sz="880" dirty="0"/>
          </a:p>
          <a:p>
            <a:pPr indent="0" marL="0">
              <a:buNone/>
            </a:pPr>
            <a:r>
              <a:rPr lang="en-US" sz="880" b="1" dirty="0">
                <a:solidFill>
                  <a:srgbClr val="FFFFFF"/>
                </a:solidFill>
              </a:rPr>
              <a:t>Data Services)</a:t>
            </a:r>
            <a:endParaRPr lang="en-US" sz="880" dirty="0"/>
          </a:p>
        </p:txBody>
      </p:sp>
      <p:sp>
        <p:nvSpPr>
          <p:cNvPr id="55" name="Shape 53"/>
          <p:cNvSpPr/>
          <p:nvPr/>
        </p:nvSpPr>
        <p:spPr>
          <a:xfrm>
            <a:off x="237744" y="3858768"/>
            <a:ext cx="1207008" cy="201168"/>
          </a:xfrm>
          <a:prstGeom prst="rect">
            <a:avLst/>
          </a:prstGeom>
          <a:solidFill>
            <a:srgbClr val="FFFFFF">
              <a:alpha val="72000"/>
            </a:srgbClr>
          </a:solidFill>
          <a:ln/>
        </p:spPr>
      </p:sp>
      <p:sp>
        <p:nvSpPr>
          <p:cNvPr id="56" name="Text 54"/>
          <p:cNvSpPr/>
          <p:nvPr/>
        </p:nvSpPr>
        <p:spPr>
          <a:xfrm>
            <a:off x="237744" y="3858768"/>
            <a:ext cx="1207008" cy="201168"/>
          </a:xfrm>
          <a:prstGeom prst="rect">
            <a:avLst/>
          </a:prstGeom>
          <a:noFill/>
          <a:ln/>
        </p:spPr>
        <p:txBody>
          <a:bodyPr wrap="square" lIns="0" tIns="0" rIns="0" bIns="0" rtlCol="0" anchor="ctr"/>
          <a:lstStyle/>
          <a:p>
            <a:pPr algn="ctr" indent="0" marL="0">
              <a:buNone/>
            </a:pPr>
            <a:r>
              <a:rPr lang="en-US" sz="700" b="1" dirty="0">
                <a:solidFill>
                  <a:srgbClr val="FFFFFF"/>
                </a:solidFill>
              </a:rPr>
              <a:t>SPECIALIST</a:t>
            </a:r>
            <a:endParaRPr lang="en-US" sz="700" dirty="0"/>
          </a:p>
        </p:txBody>
      </p:sp>
      <p:sp>
        <p:nvSpPr>
          <p:cNvPr id="57" name="Text 55"/>
          <p:cNvSpPr/>
          <p:nvPr/>
        </p:nvSpPr>
        <p:spPr>
          <a:xfrm>
            <a:off x="237744" y="4096512"/>
            <a:ext cx="1207008" cy="329184"/>
          </a:xfrm>
          <a:prstGeom prst="rect">
            <a:avLst/>
          </a:prstGeom>
          <a:noFill/>
          <a:ln/>
        </p:spPr>
        <p:txBody>
          <a:bodyPr wrap="square" lIns="0" tIns="0" rIns="0" bIns="0" rtlCol="0" anchor="ctr"/>
          <a:lstStyle/>
          <a:p>
            <a:pPr indent="0" marL="0">
              <a:buNone/>
            </a:pPr>
            <a:r>
              <a:rPr lang="en-US" sz="650" i="1" dirty="0">
                <a:solidFill>
                  <a:srgbClr val="FFFFFF"/>
                </a:solidFill>
              </a:rPr>
              <a:t>SAP's enterprise ETL (Extract, Transform, Load) platform</a:t>
            </a:r>
            <a:endParaRPr lang="en-US" sz="650" dirty="0"/>
          </a:p>
        </p:txBody>
      </p:sp>
      <p:sp>
        <p:nvSpPr>
          <p:cNvPr id="58" name="Shape 56"/>
          <p:cNvSpPr/>
          <p:nvPr/>
        </p:nvSpPr>
        <p:spPr>
          <a:xfrm>
            <a:off x="1572768" y="3383280"/>
            <a:ext cx="2103120" cy="1069848"/>
          </a:xfrm>
          <a:prstGeom prst="rect">
            <a:avLst/>
          </a:prstGeom>
          <a:solidFill>
            <a:srgbClr val="FFFFFF"/>
          </a:solidFill>
          <a:ln/>
        </p:spPr>
      </p:sp>
      <p:sp>
        <p:nvSpPr>
          <p:cNvPr id="59" name="Text 57"/>
          <p:cNvSpPr/>
          <p:nvPr/>
        </p:nvSpPr>
        <p:spPr>
          <a:xfrm>
            <a:off x="1618488" y="3429000"/>
            <a:ext cx="2029968" cy="978408"/>
          </a:xfrm>
          <a:prstGeom prst="rect">
            <a:avLst/>
          </a:prstGeom>
          <a:noFill/>
          <a:ln/>
        </p:spPr>
        <p:txBody>
          <a:bodyPr wrap="square" lIns="0" tIns="0" rIns="0" bIns="0" rtlCol="0" anchor="ctr"/>
          <a:lstStyle/>
          <a:p>
            <a:pPr indent="0" marL="0">
              <a:buNone/>
            </a:pPr>
            <a:r>
              <a:rPr lang="en-US" sz="770" dirty="0">
                <a:solidFill>
                  <a:srgbClr val="37474F"/>
                </a:solidFill>
              </a:rPr>
              <a:t>Full ETL platform. Connects to any source system (Oracle ERP, non-SAP), applies complex transformation rules, cleanses data, and loads into S/4HANA. Supports batch and real-time processing with centralised monitoring.</a:t>
            </a:r>
            <a:endParaRPr lang="en-US" sz="770" dirty="0"/>
          </a:p>
        </p:txBody>
      </p:sp>
      <p:sp>
        <p:nvSpPr>
          <p:cNvPr id="60" name="Shape 58"/>
          <p:cNvSpPr/>
          <p:nvPr/>
        </p:nvSpPr>
        <p:spPr>
          <a:xfrm>
            <a:off x="3767328" y="3383280"/>
            <a:ext cx="1956816" cy="1069848"/>
          </a:xfrm>
          <a:prstGeom prst="rect">
            <a:avLst/>
          </a:prstGeom>
          <a:solidFill>
            <a:srgbClr val="FFFFFF"/>
          </a:solidFill>
          <a:ln/>
        </p:spPr>
      </p:sp>
      <p:sp>
        <p:nvSpPr>
          <p:cNvPr id="61" name="Text 59"/>
          <p:cNvSpPr/>
          <p:nvPr/>
        </p:nvSpPr>
        <p:spPr>
          <a:xfrm>
            <a:off x="3813048" y="3429000"/>
            <a:ext cx="1883664" cy="978408"/>
          </a:xfrm>
          <a:prstGeom prst="rect">
            <a:avLst/>
          </a:prstGeom>
          <a:noFill/>
          <a:ln/>
        </p:spPr>
        <p:txBody>
          <a:bodyPr wrap="square" lIns="0" tIns="0" rIns="0" bIns="0" rtlCol="0" anchor="ctr"/>
          <a:lstStyle/>
          <a:p>
            <a:pPr indent="0" marL="0">
              <a:buNone/>
            </a:pPr>
            <a:r>
              <a:rPr lang="en-US" sz="770" dirty="0">
                <a:solidFill>
                  <a:srgbClr val="37474F"/>
                </a:solidFill>
              </a:rPr>
              <a:t>Complex data transformations before loading into Migration Cockpit staging tables. Multi-source migrations. Scenarios where data must be significantly reworked before it's ready for SAP.</a:t>
            </a:r>
            <a:endParaRPr lang="en-US" sz="770" dirty="0"/>
          </a:p>
        </p:txBody>
      </p:sp>
      <p:sp>
        <p:nvSpPr>
          <p:cNvPr id="62" name="Shape 60"/>
          <p:cNvSpPr/>
          <p:nvPr/>
        </p:nvSpPr>
        <p:spPr>
          <a:xfrm>
            <a:off x="5806440" y="3383280"/>
            <a:ext cx="1408176" cy="1069848"/>
          </a:xfrm>
          <a:prstGeom prst="rect">
            <a:avLst/>
          </a:prstGeom>
          <a:solidFill>
            <a:srgbClr val="FFFFFF"/>
          </a:solidFill>
          <a:ln/>
        </p:spPr>
      </p:sp>
      <p:sp>
        <p:nvSpPr>
          <p:cNvPr id="63" name="Text 61"/>
          <p:cNvSpPr/>
          <p:nvPr/>
        </p:nvSpPr>
        <p:spPr>
          <a:xfrm>
            <a:off x="5852160" y="3429000"/>
            <a:ext cx="1335024" cy="978408"/>
          </a:xfrm>
          <a:prstGeom prst="rect">
            <a:avLst/>
          </a:prstGeom>
          <a:noFill/>
          <a:ln/>
        </p:spPr>
        <p:txBody>
          <a:bodyPr wrap="square" lIns="0" tIns="0" rIns="0" bIns="0" rtlCol="0" anchor="ctr"/>
          <a:lstStyle/>
          <a:p>
            <a:pPr indent="0" marL="0">
              <a:buNone/>
            </a:pPr>
            <a:r>
              <a:rPr lang="en-US" sz="770" dirty="0">
                <a:solidFill>
                  <a:srgbClr val="37474F"/>
                </a:solidFill>
              </a:rPr>
              <a:t>BODS specialist developers — more technical, higher day rates. Requires dedicated server infrastructure.</a:t>
            </a:r>
            <a:endParaRPr lang="en-US" sz="770" dirty="0"/>
          </a:p>
        </p:txBody>
      </p:sp>
      <p:sp>
        <p:nvSpPr>
          <p:cNvPr id="64" name="Shape 62"/>
          <p:cNvSpPr/>
          <p:nvPr/>
        </p:nvSpPr>
        <p:spPr>
          <a:xfrm>
            <a:off x="7296912" y="3383280"/>
            <a:ext cx="1024128" cy="1069848"/>
          </a:xfrm>
          <a:prstGeom prst="rect">
            <a:avLst/>
          </a:prstGeom>
          <a:solidFill>
            <a:srgbClr val="FFFFFF"/>
          </a:solidFill>
          <a:ln/>
        </p:spPr>
      </p:sp>
      <p:sp>
        <p:nvSpPr>
          <p:cNvPr id="65" name="Text 63"/>
          <p:cNvSpPr/>
          <p:nvPr/>
        </p:nvSpPr>
        <p:spPr>
          <a:xfrm>
            <a:off x="7342632" y="3429000"/>
            <a:ext cx="950976" cy="978408"/>
          </a:xfrm>
          <a:prstGeom prst="rect">
            <a:avLst/>
          </a:prstGeom>
          <a:noFill/>
          <a:ln/>
        </p:spPr>
        <p:txBody>
          <a:bodyPr wrap="square" lIns="0" tIns="0" rIns="0" bIns="0" rtlCol="0" anchor="ctr"/>
          <a:lstStyle/>
          <a:p>
            <a:pPr indent="0" marL="0">
              <a:buNone/>
            </a:pPr>
            <a:r>
              <a:rPr lang="en-US" sz="770" dirty="0">
                <a:solidFill>
                  <a:srgbClr val="37474F"/>
                </a:solidFill>
              </a:rPr>
              <a:t>Included with SAP HANA licence (basic ETL key) but needs specialist hardware and resources.</a:t>
            </a:r>
            <a:endParaRPr lang="en-US" sz="770" dirty="0"/>
          </a:p>
        </p:txBody>
      </p:sp>
      <p:sp>
        <p:nvSpPr>
          <p:cNvPr id="66" name="Shape 64"/>
          <p:cNvSpPr/>
          <p:nvPr/>
        </p:nvSpPr>
        <p:spPr>
          <a:xfrm>
            <a:off x="8394192" y="3383280"/>
            <a:ext cx="1261872" cy="1069848"/>
          </a:xfrm>
          <a:prstGeom prst="rect">
            <a:avLst/>
          </a:prstGeom>
          <a:solidFill>
            <a:srgbClr val="FFFFFF"/>
          </a:solidFill>
          <a:ln/>
        </p:spPr>
      </p:sp>
      <p:sp>
        <p:nvSpPr>
          <p:cNvPr id="67" name="Text 65"/>
          <p:cNvSpPr/>
          <p:nvPr/>
        </p:nvSpPr>
        <p:spPr>
          <a:xfrm>
            <a:off x="8439912" y="3429000"/>
            <a:ext cx="1188720" cy="978408"/>
          </a:xfrm>
          <a:prstGeom prst="rect">
            <a:avLst/>
          </a:prstGeom>
          <a:noFill/>
          <a:ln/>
        </p:spPr>
        <p:txBody>
          <a:bodyPr wrap="square" lIns="0" tIns="0" rIns="0" bIns="0" rtlCol="0" anchor="ctr"/>
          <a:lstStyle/>
          <a:p>
            <a:pPr indent="0" marL="0">
              <a:buNone/>
            </a:pPr>
            <a:r>
              <a:rPr lang="en-US" sz="770" dirty="0">
                <a:solidFill>
                  <a:srgbClr val="37474F"/>
                </a:solidFill>
              </a:rPr>
              <a:t>Steep learning curve. More expensive to run than LTMC. Overkill for standard Brownfield if SUM+DMO covers most data. Requires SAP Basis to set up and maintain.</a:t>
            </a:r>
            <a:endParaRPr lang="en-US" sz="770" dirty="0"/>
          </a:p>
        </p:txBody>
      </p:sp>
      <p:sp>
        <p:nvSpPr>
          <p:cNvPr id="68" name="Shape 66"/>
          <p:cNvSpPr/>
          <p:nvPr/>
        </p:nvSpPr>
        <p:spPr>
          <a:xfrm>
            <a:off x="9738360" y="3383280"/>
            <a:ext cx="2304288" cy="1069848"/>
          </a:xfrm>
          <a:prstGeom prst="rect">
            <a:avLst/>
          </a:prstGeom>
          <a:solidFill>
            <a:srgbClr val="FFFFFF"/>
          </a:solidFill>
          <a:ln/>
        </p:spPr>
      </p:sp>
      <p:sp>
        <p:nvSpPr>
          <p:cNvPr id="69" name="Text 67"/>
          <p:cNvSpPr/>
          <p:nvPr/>
        </p:nvSpPr>
        <p:spPr>
          <a:xfrm>
            <a:off x="9784080" y="3429000"/>
            <a:ext cx="2231136" cy="978408"/>
          </a:xfrm>
          <a:prstGeom prst="rect">
            <a:avLst/>
          </a:prstGeom>
          <a:noFill/>
          <a:ln/>
        </p:spPr>
        <p:txBody>
          <a:bodyPr wrap="square" lIns="0" tIns="0" rIns="0" bIns="0" rtlCol="0" anchor="ctr"/>
          <a:lstStyle/>
          <a:p>
            <a:pPr indent="0" marL="0">
              <a:buNone/>
            </a:pPr>
            <a:r>
              <a:rPr lang="en-US" sz="820" b="1" dirty="0">
                <a:solidFill>
                  <a:srgbClr val="BF360C"/>
                </a:solidFill>
              </a:rPr>
              <a:t>Use for complex scenarios: multi-source, heavy transformation, major data quality issues.</a:t>
            </a:r>
            <a:endParaRPr lang="en-US" sz="820" dirty="0"/>
          </a:p>
        </p:txBody>
      </p:sp>
      <p:sp>
        <p:nvSpPr>
          <p:cNvPr id="70" name="Shape 68"/>
          <p:cNvSpPr/>
          <p:nvPr/>
        </p:nvSpPr>
        <p:spPr>
          <a:xfrm>
            <a:off x="182880" y="4498848"/>
            <a:ext cx="1298448" cy="1069848"/>
          </a:xfrm>
          <a:prstGeom prst="rect">
            <a:avLst/>
          </a:prstGeom>
          <a:solidFill>
            <a:srgbClr val="00695C"/>
          </a:solidFill>
          <a:ln/>
        </p:spPr>
      </p:sp>
      <p:sp>
        <p:nvSpPr>
          <p:cNvPr id="71" name="Text 69"/>
          <p:cNvSpPr/>
          <p:nvPr/>
        </p:nvSpPr>
        <p:spPr>
          <a:xfrm>
            <a:off x="237744" y="4544568"/>
            <a:ext cx="1207008" cy="411480"/>
          </a:xfrm>
          <a:prstGeom prst="rect">
            <a:avLst/>
          </a:prstGeom>
          <a:noFill/>
          <a:ln/>
        </p:spPr>
        <p:txBody>
          <a:bodyPr wrap="square" lIns="0" tIns="0" rIns="0" bIns="0" rtlCol="0" anchor="t"/>
          <a:lstStyle/>
          <a:p>
            <a:pPr indent="0" marL="0">
              <a:buNone/>
            </a:pPr>
            <a:r>
              <a:rPr lang="en-US" sz="880" b="1" dirty="0">
                <a:solidFill>
                  <a:srgbClr val="FFFFFF"/>
                </a:solidFill>
              </a:rPr>
              <a:t>SLT</a:t>
            </a:r>
            <a:endParaRPr lang="en-US" sz="880" dirty="0"/>
          </a:p>
          <a:p>
            <a:pPr indent="0" marL="0">
              <a:buNone/>
            </a:pPr>
            <a:r>
              <a:rPr lang="en-US" sz="880" b="1" dirty="0">
                <a:solidFill>
                  <a:srgbClr val="FFFFFF"/>
                </a:solidFill>
              </a:rPr>
              <a:t>(SAP Landscape</a:t>
            </a:r>
            <a:endParaRPr lang="en-US" sz="880" dirty="0"/>
          </a:p>
          <a:p>
            <a:pPr indent="0" marL="0">
              <a:buNone/>
            </a:pPr>
            <a:r>
              <a:rPr lang="en-US" sz="880" b="1" dirty="0">
                <a:solidFill>
                  <a:srgbClr val="FFFFFF"/>
                </a:solidFill>
              </a:rPr>
              <a:t>Transformation)</a:t>
            </a:r>
            <a:endParaRPr lang="en-US" sz="880" dirty="0"/>
          </a:p>
        </p:txBody>
      </p:sp>
      <p:sp>
        <p:nvSpPr>
          <p:cNvPr id="72" name="Shape 70"/>
          <p:cNvSpPr/>
          <p:nvPr/>
        </p:nvSpPr>
        <p:spPr>
          <a:xfrm>
            <a:off x="237744" y="4974336"/>
            <a:ext cx="1207008" cy="201168"/>
          </a:xfrm>
          <a:prstGeom prst="rect">
            <a:avLst/>
          </a:prstGeom>
          <a:solidFill>
            <a:srgbClr val="FFFFFF">
              <a:alpha val="72000"/>
            </a:srgbClr>
          </a:solidFill>
          <a:ln/>
        </p:spPr>
      </p:sp>
      <p:sp>
        <p:nvSpPr>
          <p:cNvPr id="73" name="Text 71"/>
          <p:cNvSpPr/>
          <p:nvPr/>
        </p:nvSpPr>
        <p:spPr>
          <a:xfrm>
            <a:off x="237744" y="4974336"/>
            <a:ext cx="1207008" cy="201168"/>
          </a:xfrm>
          <a:prstGeom prst="rect">
            <a:avLst/>
          </a:prstGeom>
          <a:noFill/>
          <a:ln/>
        </p:spPr>
        <p:txBody>
          <a:bodyPr wrap="square" lIns="0" tIns="0" rIns="0" bIns="0" rtlCol="0" anchor="ctr"/>
          <a:lstStyle/>
          <a:p>
            <a:pPr algn="ctr" indent="0" marL="0">
              <a:buNone/>
            </a:pPr>
            <a:r>
              <a:rPr lang="en-US" sz="700" b="1" dirty="0">
                <a:solidFill>
                  <a:srgbClr val="FFFFFF"/>
                </a:solidFill>
              </a:rPr>
              <a:t>SPECIALIST</a:t>
            </a:r>
            <a:endParaRPr lang="en-US" sz="700" dirty="0"/>
          </a:p>
        </p:txBody>
      </p:sp>
      <p:sp>
        <p:nvSpPr>
          <p:cNvPr id="74" name="Text 72"/>
          <p:cNvSpPr/>
          <p:nvPr/>
        </p:nvSpPr>
        <p:spPr>
          <a:xfrm>
            <a:off x="237744" y="5212080"/>
            <a:ext cx="1207008" cy="329184"/>
          </a:xfrm>
          <a:prstGeom prst="rect">
            <a:avLst/>
          </a:prstGeom>
          <a:noFill/>
          <a:ln/>
        </p:spPr>
        <p:txBody>
          <a:bodyPr wrap="square" lIns="0" tIns="0" rIns="0" bIns="0" rtlCol="0" anchor="ctr"/>
          <a:lstStyle/>
          <a:p>
            <a:pPr indent="0" marL="0">
              <a:buNone/>
            </a:pPr>
            <a:r>
              <a:rPr lang="en-US" sz="650" i="1" dirty="0">
                <a:solidFill>
                  <a:srgbClr val="FFFFFF"/>
                </a:solidFill>
              </a:rPr>
              <a:t>Trigger-based real-time database replication server</a:t>
            </a:r>
            <a:endParaRPr lang="en-US" sz="650" dirty="0"/>
          </a:p>
        </p:txBody>
      </p:sp>
      <p:sp>
        <p:nvSpPr>
          <p:cNvPr id="75" name="Shape 73"/>
          <p:cNvSpPr/>
          <p:nvPr/>
        </p:nvSpPr>
        <p:spPr>
          <a:xfrm>
            <a:off x="1572768" y="4498848"/>
            <a:ext cx="2103120" cy="1069848"/>
          </a:xfrm>
          <a:prstGeom prst="rect">
            <a:avLst/>
          </a:prstGeom>
          <a:solidFill>
            <a:srgbClr val="F1F5F9"/>
          </a:solidFill>
          <a:ln/>
        </p:spPr>
      </p:sp>
      <p:sp>
        <p:nvSpPr>
          <p:cNvPr id="76" name="Text 74"/>
          <p:cNvSpPr/>
          <p:nvPr/>
        </p:nvSpPr>
        <p:spPr>
          <a:xfrm>
            <a:off x="1618488" y="4544568"/>
            <a:ext cx="2029968" cy="978408"/>
          </a:xfrm>
          <a:prstGeom prst="rect">
            <a:avLst/>
          </a:prstGeom>
          <a:noFill/>
          <a:ln/>
        </p:spPr>
        <p:txBody>
          <a:bodyPr wrap="square" lIns="0" tIns="0" rIns="0" bIns="0" rtlCol="0" anchor="ctr"/>
          <a:lstStyle/>
          <a:p>
            <a:pPr indent="0" marL="0">
              <a:buNone/>
            </a:pPr>
            <a:r>
              <a:rPr lang="en-US" sz="770" dirty="0">
                <a:solidFill>
                  <a:srgbClr val="37474F"/>
                </a:solidFill>
              </a:rPr>
              <a:t>Uses database triggers to capture every insert/update/delete on the source system and replicate it in real time to the target. Unlike other tools, SLT provides continuous synchronisation — not just one-time loads.</a:t>
            </a:r>
            <a:endParaRPr lang="en-US" sz="770" dirty="0"/>
          </a:p>
        </p:txBody>
      </p:sp>
      <p:sp>
        <p:nvSpPr>
          <p:cNvPr id="77" name="Shape 75"/>
          <p:cNvSpPr/>
          <p:nvPr/>
        </p:nvSpPr>
        <p:spPr>
          <a:xfrm>
            <a:off x="3767328" y="4498848"/>
            <a:ext cx="1956816" cy="1069848"/>
          </a:xfrm>
          <a:prstGeom prst="rect">
            <a:avLst/>
          </a:prstGeom>
          <a:solidFill>
            <a:srgbClr val="F1F5F9"/>
          </a:solidFill>
          <a:ln/>
        </p:spPr>
      </p:sp>
      <p:sp>
        <p:nvSpPr>
          <p:cNvPr id="78" name="Text 76"/>
          <p:cNvSpPr/>
          <p:nvPr/>
        </p:nvSpPr>
        <p:spPr>
          <a:xfrm>
            <a:off x="3813048" y="4544568"/>
            <a:ext cx="1883664" cy="978408"/>
          </a:xfrm>
          <a:prstGeom prst="rect">
            <a:avLst/>
          </a:prstGeom>
          <a:noFill/>
          <a:ln/>
        </p:spPr>
        <p:txBody>
          <a:bodyPr wrap="square" lIns="0" tIns="0" rIns="0" bIns="0" rtlCol="0" anchor="ctr"/>
          <a:lstStyle/>
          <a:p>
            <a:pPr indent="0" marL="0">
              <a:buNone/>
            </a:pPr>
            <a:r>
              <a:rPr lang="en-US" sz="770" dirty="0">
                <a:solidFill>
                  <a:srgbClr val="37474F"/>
                </a:solidFill>
              </a:rPr>
              <a:t>Near-zero downtime migration scenarios. Extended parallel run periods where old ECC and new S/4HANA must stay in sync for months. Phased migrations (Bluefield).</a:t>
            </a:r>
            <a:endParaRPr lang="en-US" sz="770" dirty="0"/>
          </a:p>
        </p:txBody>
      </p:sp>
      <p:sp>
        <p:nvSpPr>
          <p:cNvPr id="79" name="Shape 77"/>
          <p:cNvSpPr/>
          <p:nvPr/>
        </p:nvSpPr>
        <p:spPr>
          <a:xfrm>
            <a:off x="5806440" y="4498848"/>
            <a:ext cx="1408176" cy="1069848"/>
          </a:xfrm>
          <a:prstGeom prst="rect">
            <a:avLst/>
          </a:prstGeom>
          <a:solidFill>
            <a:srgbClr val="F1F5F9"/>
          </a:solidFill>
          <a:ln/>
        </p:spPr>
      </p:sp>
      <p:sp>
        <p:nvSpPr>
          <p:cNvPr id="80" name="Text 78"/>
          <p:cNvSpPr/>
          <p:nvPr/>
        </p:nvSpPr>
        <p:spPr>
          <a:xfrm>
            <a:off x="5852160" y="4544568"/>
            <a:ext cx="1335024" cy="978408"/>
          </a:xfrm>
          <a:prstGeom prst="rect">
            <a:avLst/>
          </a:prstGeom>
          <a:noFill/>
          <a:ln/>
        </p:spPr>
        <p:txBody>
          <a:bodyPr wrap="square" lIns="0" tIns="0" rIns="0" bIns="0" rtlCol="0" anchor="ctr"/>
          <a:lstStyle/>
          <a:p>
            <a:pPr indent="0" marL="0">
              <a:buNone/>
            </a:pPr>
            <a:r>
              <a:rPr lang="en-US" sz="770" dirty="0">
                <a:solidFill>
                  <a:srgbClr val="37474F"/>
                </a:solidFill>
              </a:rPr>
              <a:t>SLT specialist (Basis/technical) — rare skill, high demand, higher cost.</a:t>
            </a:r>
            <a:endParaRPr lang="en-US" sz="770" dirty="0"/>
          </a:p>
        </p:txBody>
      </p:sp>
      <p:sp>
        <p:nvSpPr>
          <p:cNvPr id="81" name="Shape 79"/>
          <p:cNvSpPr/>
          <p:nvPr/>
        </p:nvSpPr>
        <p:spPr>
          <a:xfrm>
            <a:off x="7296912" y="4498848"/>
            <a:ext cx="1024128" cy="1069848"/>
          </a:xfrm>
          <a:prstGeom prst="rect">
            <a:avLst/>
          </a:prstGeom>
          <a:solidFill>
            <a:srgbClr val="F1F5F9"/>
          </a:solidFill>
          <a:ln/>
        </p:spPr>
      </p:sp>
      <p:sp>
        <p:nvSpPr>
          <p:cNvPr id="82" name="Text 80"/>
          <p:cNvSpPr/>
          <p:nvPr/>
        </p:nvSpPr>
        <p:spPr>
          <a:xfrm>
            <a:off x="7342632" y="4544568"/>
            <a:ext cx="950976" cy="978408"/>
          </a:xfrm>
          <a:prstGeom prst="rect">
            <a:avLst/>
          </a:prstGeom>
          <a:noFill/>
          <a:ln/>
        </p:spPr>
        <p:txBody>
          <a:bodyPr wrap="square" lIns="0" tIns="0" rIns="0" bIns="0" rtlCol="0" anchor="ctr"/>
          <a:lstStyle/>
          <a:p>
            <a:pPr indent="0" marL="0">
              <a:buNone/>
            </a:pPr>
            <a:r>
              <a:rPr lang="en-US" sz="770" dirty="0">
                <a:solidFill>
                  <a:srgbClr val="37474F"/>
                </a:solidFill>
              </a:rPr>
              <a:t>Separate licence required. Additional infrastructure needed.</a:t>
            </a:r>
            <a:endParaRPr lang="en-US" sz="770" dirty="0"/>
          </a:p>
        </p:txBody>
      </p:sp>
      <p:sp>
        <p:nvSpPr>
          <p:cNvPr id="83" name="Shape 81"/>
          <p:cNvSpPr/>
          <p:nvPr/>
        </p:nvSpPr>
        <p:spPr>
          <a:xfrm>
            <a:off x="8394192" y="4498848"/>
            <a:ext cx="1261872" cy="1069848"/>
          </a:xfrm>
          <a:prstGeom prst="rect">
            <a:avLst/>
          </a:prstGeom>
          <a:solidFill>
            <a:srgbClr val="F1F5F9"/>
          </a:solidFill>
          <a:ln/>
        </p:spPr>
      </p:sp>
      <p:sp>
        <p:nvSpPr>
          <p:cNvPr id="84" name="Text 82"/>
          <p:cNvSpPr/>
          <p:nvPr/>
        </p:nvSpPr>
        <p:spPr>
          <a:xfrm>
            <a:off x="8439912" y="4544568"/>
            <a:ext cx="1188720" cy="978408"/>
          </a:xfrm>
          <a:prstGeom prst="rect">
            <a:avLst/>
          </a:prstGeom>
          <a:noFill/>
          <a:ln/>
        </p:spPr>
        <p:txBody>
          <a:bodyPr wrap="square" lIns="0" tIns="0" rIns="0" bIns="0" rtlCol="0" anchor="ctr"/>
          <a:lstStyle/>
          <a:p>
            <a:pPr indent="0" marL="0">
              <a:buNone/>
            </a:pPr>
            <a:r>
              <a:rPr lang="en-US" sz="770" dirty="0">
                <a:solidFill>
                  <a:srgbClr val="37474F"/>
                </a:solidFill>
              </a:rPr>
              <a:t>Complex to configure and monitor. Not standard in a typical Brownfield. More relevant for Bluefield/selective scenarios or where zero downtime is a hard business requirement.</a:t>
            </a:r>
            <a:endParaRPr lang="en-US" sz="770" dirty="0"/>
          </a:p>
        </p:txBody>
      </p:sp>
      <p:sp>
        <p:nvSpPr>
          <p:cNvPr id="85" name="Shape 83"/>
          <p:cNvSpPr/>
          <p:nvPr/>
        </p:nvSpPr>
        <p:spPr>
          <a:xfrm>
            <a:off x="9738360" y="4498848"/>
            <a:ext cx="2304288" cy="1069848"/>
          </a:xfrm>
          <a:prstGeom prst="rect">
            <a:avLst/>
          </a:prstGeom>
          <a:solidFill>
            <a:srgbClr val="F1F5F9"/>
          </a:solidFill>
          <a:ln/>
        </p:spPr>
      </p:sp>
      <p:sp>
        <p:nvSpPr>
          <p:cNvPr id="86" name="Text 84"/>
          <p:cNvSpPr/>
          <p:nvPr/>
        </p:nvSpPr>
        <p:spPr>
          <a:xfrm>
            <a:off x="9784080" y="4544568"/>
            <a:ext cx="2231136" cy="978408"/>
          </a:xfrm>
          <a:prstGeom prst="rect">
            <a:avLst/>
          </a:prstGeom>
          <a:noFill/>
          <a:ln/>
        </p:spPr>
        <p:txBody>
          <a:bodyPr wrap="square" lIns="0" tIns="0" rIns="0" bIns="0" rtlCol="0" anchor="ctr"/>
          <a:lstStyle/>
          <a:p>
            <a:pPr indent="0" marL="0">
              <a:buNone/>
            </a:pPr>
            <a:r>
              <a:rPr lang="en-US" sz="820" b="1" dirty="0">
                <a:solidFill>
                  <a:srgbClr val="00695C"/>
                </a:solidFill>
              </a:rPr>
              <a:t>Only use when downtime window cannot exceed 2–4 hours or for extended parallel-run scenarios.</a:t>
            </a:r>
            <a:endParaRPr lang="en-US" sz="820" dirty="0"/>
          </a:p>
        </p:txBody>
      </p:sp>
      <p:sp>
        <p:nvSpPr>
          <p:cNvPr id="87" name="Shape 85"/>
          <p:cNvSpPr/>
          <p:nvPr/>
        </p:nvSpPr>
        <p:spPr>
          <a:xfrm>
            <a:off x="182880" y="5614416"/>
            <a:ext cx="1298448" cy="1069848"/>
          </a:xfrm>
          <a:prstGeom prst="rect">
            <a:avLst/>
          </a:prstGeom>
          <a:solidFill>
            <a:srgbClr val="B71C1C"/>
          </a:solidFill>
          <a:ln/>
        </p:spPr>
      </p:sp>
      <p:sp>
        <p:nvSpPr>
          <p:cNvPr id="88" name="Text 86"/>
          <p:cNvSpPr/>
          <p:nvPr/>
        </p:nvSpPr>
        <p:spPr>
          <a:xfrm>
            <a:off x="237744" y="5660136"/>
            <a:ext cx="1207008" cy="411480"/>
          </a:xfrm>
          <a:prstGeom prst="rect">
            <a:avLst/>
          </a:prstGeom>
          <a:noFill/>
          <a:ln/>
        </p:spPr>
        <p:txBody>
          <a:bodyPr wrap="square" lIns="0" tIns="0" rIns="0" bIns="0" rtlCol="0" anchor="t"/>
          <a:lstStyle/>
          <a:p>
            <a:pPr indent="0" marL="0">
              <a:buNone/>
            </a:pPr>
            <a:r>
              <a:rPr lang="en-US" sz="880" b="1" dirty="0">
                <a:solidFill>
                  <a:srgbClr val="FFFFFF"/>
                </a:solidFill>
              </a:rPr>
              <a:t>LSMW</a:t>
            </a:r>
            <a:endParaRPr lang="en-US" sz="880" dirty="0"/>
          </a:p>
          <a:p>
            <a:pPr indent="0" marL="0">
              <a:buNone/>
            </a:pPr>
            <a:r>
              <a:rPr lang="en-US" sz="880" b="1" dirty="0">
                <a:solidFill>
                  <a:srgbClr val="FFFFFF"/>
                </a:solidFill>
              </a:rPr>
              <a:t>(Legacy System</a:t>
            </a:r>
            <a:endParaRPr lang="en-US" sz="880" dirty="0"/>
          </a:p>
          <a:p>
            <a:pPr indent="0" marL="0">
              <a:buNone/>
            </a:pPr>
            <a:r>
              <a:rPr lang="en-US" sz="880" b="1" dirty="0">
                <a:solidFill>
                  <a:srgbClr val="FFFFFF"/>
                </a:solidFill>
              </a:rPr>
              <a:t>Migration Workbench)</a:t>
            </a:r>
            <a:endParaRPr lang="en-US" sz="880" dirty="0"/>
          </a:p>
        </p:txBody>
      </p:sp>
      <p:sp>
        <p:nvSpPr>
          <p:cNvPr id="89" name="Shape 87"/>
          <p:cNvSpPr/>
          <p:nvPr/>
        </p:nvSpPr>
        <p:spPr>
          <a:xfrm>
            <a:off x="237744" y="6089904"/>
            <a:ext cx="1207008" cy="201168"/>
          </a:xfrm>
          <a:prstGeom prst="rect">
            <a:avLst/>
          </a:prstGeom>
          <a:solidFill>
            <a:srgbClr val="FFFFFF">
              <a:alpha val="72000"/>
            </a:srgbClr>
          </a:solidFill>
          <a:ln/>
        </p:spPr>
      </p:sp>
      <p:sp>
        <p:nvSpPr>
          <p:cNvPr id="90" name="Text 88"/>
          <p:cNvSpPr/>
          <p:nvPr/>
        </p:nvSpPr>
        <p:spPr>
          <a:xfrm>
            <a:off x="237744" y="6089904"/>
            <a:ext cx="1207008" cy="201168"/>
          </a:xfrm>
          <a:prstGeom prst="rect">
            <a:avLst/>
          </a:prstGeom>
          <a:noFill/>
          <a:ln/>
        </p:spPr>
        <p:txBody>
          <a:bodyPr wrap="square" lIns="0" tIns="0" rIns="0" bIns="0" rtlCol="0" anchor="ctr"/>
          <a:lstStyle/>
          <a:p>
            <a:pPr algn="ctr" indent="0" marL="0">
              <a:buNone/>
            </a:pPr>
            <a:r>
              <a:rPr lang="en-US" sz="700" b="1" dirty="0">
                <a:solidFill>
                  <a:srgbClr val="FFFFFF"/>
                </a:solidFill>
              </a:rPr>
              <a:t>AVOID</a:t>
            </a:r>
            <a:endParaRPr lang="en-US" sz="700" dirty="0"/>
          </a:p>
        </p:txBody>
      </p:sp>
      <p:sp>
        <p:nvSpPr>
          <p:cNvPr id="91" name="Text 89"/>
          <p:cNvSpPr/>
          <p:nvPr/>
        </p:nvSpPr>
        <p:spPr>
          <a:xfrm>
            <a:off x="237744" y="6327648"/>
            <a:ext cx="1207008" cy="329184"/>
          </a:xfrm>
          <a:prstGeom prst="rect">
            <a:avLst/>
          </a:prstGeom>
          <a:noFill/>
          <a:ln/>
        </p:spPr>
        <p:txBody>
          <a:bodyPr wrap="square" lIns="0" tIns="0" rIns="0" bIns="0" rtlCol="0" anchor="ctr"/>
          <a:lstStyle/>
          <a:p>
            <a:pPr indent="0" marL="0">
              <a:buNone/>
            </a:pPr>
            <a:r>
              <a:rPr lang="en-US" sz="650" i="1" dirty="0">
                <a:solidFill>
                  <a:srgbClr val="FFFFFF"/>
                </a:solidFill>
              </a:rPr>
              <a:t>Original SAP migration tool built for R/2→R/3 migrations — now legacy</a:t>
            </a:r>
            <a:endParaRPr lang="en-US" sz="650" dirty="0"/>
          </a:p>
        </p:txBody>
      </p:sp>
      <p:sp>
        <p:nvSpPr>
          <p:cNvPr id="92" name="Shape 90"/>
          <p:cNvSpPr/>
          <p:nvPr/>
        </p:nvSpPr>
        <p:spPr>
          <a:xfrm>
            <a:off x="1572768" y="5614416"/>
            <a:ext cx="2103120" cy="1069848"/>
          </a:xfrm>
          <a:prstGeom prst="rect">
            <a:avLst/>
          </a:prstGeom>
          <a:solidFill>
            <a:srgbClr val="FFFFFF"/>
          </a:solidFill>
          <a:ln/>
        </p:spPr>
      </p:sp>
      <p:sp>
        <p:nvSpPr>
          <p:cNvPr id="93" name="Text 91"/>
          <p:cNvSpPr/>
          <p:nvPr/>
        </p:nvSpPr>
        <p:spPr>
          <a:xfrm>
            <a:off x="1618488" y="5660136"/>
            <a:ext cx="2029968" cy="978408"/>
          </a:xfrm>
          <a:prstGeom prst="rect">
            <a:avLst/>
          </a:prstGeom>
          <a:noFill/>
          <a:ln/>
        </p:spPr>
        <p:txBody>
          <a:bodyPr wrap="square" lIns="0" tIns="0" rIns="0" bIns="0" rtlCol="0" anchor="ctr"/>
          <a:lstStyle/>
          <a:p>
            <a:pPr indent="0" marL="0">
              <a:buNone/>
            </a:pPr>
            <a:r>
              <a:rPr lang="en-US" sz="770" dirty="0">
                <a:solidFill>
                  <a:srgbClr val="37474F"/>
                </a:solidFill>
              </a:rPr>
              <a:t>SAP's original file-based migration workbench. Uses BAPIs, IDocs, batch input recordings, and direct input to load data. Still present in S/4HANA on-premise but officially not SAP's recommended migration tool for S/4HANA projects.</a:t>
            </a:r>
            <a:endParaRPr lang="en-US" sz="770" dirty="0"/>
          </a:p>
        </p:txBody>
      </p:sp>
      <p:sp>
        <p:nvSpPr>
          <p:cNvPr id="94" name="Shape 92"/>
          <p:cNvSpPr/>
          <p:nvPr/>
        </p:nvSpPr>
        <p:spPr>
          <a:xfrm>
            <a:off x="3767328" y="5614416"/>
            <a:ext cx="1956816" cy="1069848"/>
          </a:xfrm>
          <a:prstGeom prst="rect">
            <a:avLst/>
          </a:prstGeom>
          <a:solidFill>
            <a:srgbClr val="FFFFFF"/>
          </a:solidFill>
          <a:ln/>
        </p:spPr>
      </p:sp>
      <p:sp>
        <p:nvSpPr>
          <p:cNvPr id="95" name="Text 93"/>
          <p:cNvSpPr/>
          <p:nvPr/>
        </p:nvSpPr>
        <p:spPr>
          <a:xfrm>
            <a:off x="3813048" y="5660136"/>
            <a:ext cx="1883664" cy="978408"/>
          </a:xfrm>
          <a:prstGeom prst="rect">
            <a:avLst/>
          </a:prstGeom>
          <a:noFill/>
          <a:ln/>
        </p:spPr>
        <p:txBody>
          <a:bodyPr wrap="square" lIns="0" tIns="0" rIns="0" bIns="0" rtlCol="0" anchor="ctr"/>
          <a:lstStyle/>
          <a:p>
            <a:pPr indent="0" marL="0">
              <a:buNone/>
            </a:pPr>
            <a:r>
              <a:rPr lang="en-US" sz="770" dirty="0">
                <a:solidFill>
                  <a:srgbClr val="37474F"/>
                </a:solidFill>
              </a:rPr>
              <a:t>Only valid for niche objects where no Migration Cockpit template exists and after checking SAP Note 2287723. Post-go-live minor data corrections as a last resort.</a:t>
            </a:r>
            <a:endParaRPr lang="en-US" sz="770" dirty="0"/>
          </a:p>
        </p:txBody>
      </p:sp>
      <p:sp>
        <p:nvSpPr>
          <p:cNvPr id="96" name="Shape 94"/>
          <p:cNvSpPr/>
          <p:nvPr/>
        </p:nvSpPr>
        <p:spPr>
          <a:xfrm>
            <a:off x="5806440" y="5614416"/>
            <a:ext cx="1408176" cy="1069848"/>
          </a:xfrm>
          <a:prstGeom prst="rect">
            <a:avLst/>
          </a:prstGeom>
          <a:solidFill>
            <a:srgbClr val="FFFFFF"/>
          </a:solidFill>
          <a:ln/>
        </p:spPr>
      </p:sp>
      <p:sp>
        <p:nvSpPr>
          <p:cNvPr id="97" name="Text 95"/>
          <p:cNvSpPr/>
          <p:nvPr/>
        </p:nvSpPr>
        <p:spPr>
          <a:xfrm>
            <a:off x="5852160" y="5660136"/>
            <a:ext cx="1335024" cy="978408"/>
          </a:xfrm>
          <a:prstGeom prst="rect">
            <a:avLst/>
          </a:prstGeom>
          <a:noFill/>
          <a:ln/>
        </p:spPr>
        <p:txBody>
          <a:bodyPr wrap="square" lIns="0" tIns="0" rIns="0" bIns="0" rtlCol="0" anchor="ctr"/>
          <a:lstStyle/>
          <a:p>
            <a:pPr indent="0" marL="0">
              <a:buNone/>
            </a:pPr>
            <a:r>
              <a:rPr lang="en-US" sz="770" dirty="0">
                <a:solidFill>
                  <a:srgbClr val="37474F"/>
                </a:solidFill>
              </a:rPr>
              <a:t>ABAP developers familiar with BAPIs and IDocs.</a:t>
            </a:r>
            <a:endParaRPr lang="en-US" sz="770" dirty="0"/>
          </a:p>
        </p:txBody>
      </p:sp>
      <p:sp>
        <p:nvSpPr>
          <p:cNvPr id="98" name="Shape 96"/>
          <p:cNvSpPr/>
          <p:nvPr/>
        </p:nvSpPr>
        <p:spPr>
          <a:xfrm>
            <a:off x="7296912" y="5614416"/>
            <a:ext cx="1024128" cy="1069848"/>
          </a:xfrm>
          <a:prstGeom prst="rect">
            <a:avLst/>
          </a:prstGeom>
          <a:solidFill>
            <a:srgbClr val="FFFFFF"/>
          </a:solidFill>
          <a:ln/>
        </p:spPr>
      </p:sp>
      <p:sp>
        <p:nvSpPr>
          <p:cNvPr id="99" name="Text 97"/>
          <p:cNvSpPr/>
          <p:nvPr/>
        </p:nvSpPr>
        <p:spPr>
          <a:xfrm>
            <a:off x="7342632" y="5660136"/>
            <a:ext cx="950976" cy="978408"/>
          </a:xfrm>
          <a:prstGeom prst="rect">
            <a:avLst/>
          </a:prstGeom>
          <a:noFill/>
          <a:ln/>
        </p:spPr>
        <p:txBody>
          <a:bodyPr wrap="square" lIns="0" tIns="0" rIns="0" bIns="0" rtlCol="0" anchor="ctr"/>
          <a:lstStyle/>
          <a:p>
            <a:pPr indent="0" marL="0">
              <a:buNone/>
            </a:pPr>
            <a:r>
              <a:rPr lang="en-US" sz="770" dirty="0">
                <a:solidFill>
                  <a:srgbClr val="37474F"/>
                </a:solidFill>
              </a:rPr>
              <a:t>Included in system (legacy tool), but deprecated.</a:t>
            </a:r>
            <a:endParaRPr lang="en-US" sz="770" dirty="0"/>
          </a:p>
        </p:txBody>
      </p:sp>
      <p:sp>
        <p:nvSpPr>
          <p:cNvPr id="100" name="Shape 98"/>
          <p:cNvSpPr/>
          <p:nvPr/>
        </p:nvSpPr>
        <p:spPr>
          <a:xfrm>
            <a:off x="8394192" y="5614416"/>
            <a:ext cx="1261872" cy="1069848"/>
          </a:xfrm>
          <a:prstGeom prst="rect">
            <a:avLst/>
          </a:prstGeom>
          <a:solidFill>
            <a:srgbClr val="FFFFFF"/>
          </a:solidFill>
          <a:ln/>
        </p:spPr>
      </p:sp>
      <p:sp>
        <p:nvSpPr>
          <p:cNvPr id="101" name="Text 99"/>
          <p:cNvSpPr/>
          <p:nvPr/>
        </p:nvSpPr>
        <p:spPr>
          <a:xfrm>
            <a:off x="8439912" y="5660136"/>
            <a:ext cx="1188720" cy="978408"/>
          </a:xfrm>
          <a:prstGeom prst="rect">
            <a:avLst/>
          </a:prstGeom>
          <a:noFill/>
          <a:ln/>
        </p:spPr>
        <p:txBody>
          <a:bodyPr wrap="square" lIns="0" tIns="0" rIns="0" bIns="0" rtlCol="0" anchor="ctr"/>
          <a:lstStyle/>
          <a:p>
            <a:pPr indent="0" marL="0">
              <a:buNone/>
            </a:pPr>
            <a:r>
              <a:rPr lang="en-US" sz="770" dirty="0">
                <a:solidFill>
                  <a:srgbClr val="37474F"/>
                </a:solidFill>
              </a:rPr>
              <a:t>SAP explicitly does not recommend LSMW for S/4HANA. Old interfaces may have changed. No simulation capability for batch input. Cannot load hierarchical data. Very slow for large volumes. Risk of data corruption if wrong interface used.</a:t>
            </a:r>
            <a:endParaRPr lang="en-US" sz="770" dirty="0"/>
          </a:p>
        </p:txBody>
      </p:sp>
      <p:sp>
        <p:nvSpPr>
          <p:cNvPr id="102" name="Shape 100"/>
          <p:cNvSpPr/>
          <p:nvPr/>
        </p:nvSpPr>
        <p:spPr>
          <a:xfrm>
            <a:off x="9738360" y="5614416"/>
            <a:ext cx="2304288" cy="1069848"/>
          </a:xfrm>
          <a:prstGeom prst="rect">
            <a:avLst/>
          </a:prstGeom>
          <a:solidFill>
            <a:srgbClr val="FFFFFF"/>
          </a:solidFill>
          <a:ln/>
        </p:spPr>
      </p:sp>
      <p:sp>
        <p:nvSpPr>
          <p:cNvPr id="103" name="Text 101"/>
          <p:cNvSpPr/>
          <p:nvPr/>
        </p:nvSpPr>
        <p:spPr>
          <a:xfrm>
            <a:off x="9784080" y="5660136"/>
            <a:ext cx="2231136" cy="978408"/>
          </a:xfrm>
          <a:prstGeom prst="rect">
            <a:avLst/>
          </a:prstGeom>
          <a:noFill/>
          <a:ln/>
        </p:spPr>
        <p:txBody>
          <a:bodyPr wrap="square" lIns="0" tIns="0" rIns="0" bIns="0" rtlCol="0" anchor="ctr"/>
          <a:lstStyle/>
          <a:p>
            <a:pPr indent="0" marL="0">
              <a:buNone/>
            </a:pPr>
            <a:r>
              <a:rPr lang="en-US" sz="820" b="1" dirty="0">
                <a:solidFill>
                  <a:srgbClr val="B71C1C"/>
                </a:solidFill>
              </a:rPr>
              <a:t>AVOID for main migration. Check SAP Note 2287723 before any use in S/4HANA.</a:t>
            </a:r>
            <a:endParaRPr lang="en-US" sz="8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D"/>
        </a:solidFill>
      </p:bgPr>
    </p:bg>
    <p:spTree>
      <p:nvGrpSpPr>
        <p:cNvPr id="1" name=""/>
        <p:cNvGrpSpPr/>
        <p:nvPr/>
      </p:nvGrpSpPr>
      <p:grpSpPr>
        <a:xfrm>
          <a:off x="0" y="0"/>
          <a:ext cx="0" cy="0"/>
          <a:chOff x="0" y="0"/>
          <a:chExt cx="0" cy="0"/>
        </a:xfrm>
      </p:grpSpPr>
      <p:sp>
        <p:nvSpPr>
          <p:cNvPr id="2" name="Shape 0"/>
          <p:cNvSpPr/>
          <p:nvPr/>
        </p:nvSpPr>
        <p:spPr>
          <a:xfrm>
            <a:off x="0" y="0"/>
            <a:ext cx="12161520" cy="749808"/>
          </a:xfrm>
          <a:prstGeom prst="rect">
            <a:avLst/>
          </a:prstGeom>
          <a:solidFill>
            <a:srgbClr val="0D1B2A"/>
          </a:solidFill>
          <a:ln/>
        </p:spPr>
      </p:sp>
      <p:sp>
        <p:nvSpPr>
          <p:cNvPr id="3" name="Shape 1"/>
          <p:cNvSpPr/>
          <p:nvPr/>
        </p:nvSpPr>
        <p:spPr>
          <a:xfrm>
            <a:off x="0" y="0"/>
            <a:ext cx="274320" cy="749808"/>
          </a:xfrm>
          <a:prstGeom prst="rect">
            <a:avLst/>
          </a:prstGeom>
          <a:solidFill>
            <a:srgbClr val="4527A0"/>
          </a:solidFill>
          <a:ln/>
        </p:spPr>
      </p:sp>
      <p:sp>
        <p:nvSpPr>
          <p:cNvPr id="4" name="Text 2"/>
          <p:cNvSpPr/>
          <p:nvPr/>
        </p:nvSpPr>
        <p:spPr>
          <a:xfrm>
            <a:off x="457200" y="0"/>
            <a:ext cx="11521440" cy="749808"/>
          </a:xfrm>
          <a:prstGeom prst="rect">
            <a:avLst/>
          </a:prstGeom>
          <a:noFill/>
          <a:ln/>
        </p:spPr>
        <p:txBody>
          <a:bodyPr wrap="square" lIns="0" tIns="0" rIns="0" bIns="0" rtlCol="0" anchor="ctr"/>
          <a:lstStyle/>
          <a:p>
            <a:pPr indent="0" marL="0">
              <a:buNone/>
            </a:pPr>
            <a:r>
              <a:rPr lang="en-US" sz="1350" b="1" spc="60" kern="0" dirty="0">
                <a:solidFill>
                  <a:srgbClr val="FFFFFF"/>
                </a:solidFill>
              </a:rPr>
              <a:t>PART 2  |  THIRD-PARTY MIGRATION TOOLS — WHEN ARE THEY BETTER THAN SAP'S OWN TOOLS?</a:t>
            </a:r>
            <a:endParaRPr lang="en-US" sz="1350" dirty="0"/>
          </a:p>
        </p:txBody>
      </p:sp>
      <p:sp>
        <p:nvSpPr>
          <p:cNvPr id="5" name="Shape 3"/>
          <p:cNvSpPr/>
          <p:nvPr/>
        </p:nvSpPr>
        <p:spPr>
          <a:xfrm>
            <a:off x="201168" y="822960"/>
            <a:ext cx="11750040" cy="274320"/>
          </a:xfrm>
          <a:prstGeom prst="rect">
            <a:avLst/>
          </a:prstGeom>
          <a:solidFill>
            <a:srgbClr val="EDE7F6"/>
          </a:solidFill>
          <a:ln/>
        </p:spPr>
      </p:sp>
      <p:sp>
        <p:nvSpPr>
          <p:cNvPr id="6" name="Shape 4"/>
          <p:cNvSpPr/>
          <p:nvPr/>
        </p:nvSpPr>
        <p:spPr>
          <a:xfrm>
            <a:off x="201168" y="822960"/>
            <a:ext cx="54864" cy="274320"/>
          </a:xfrm>
          <a:prstGeom prst="rect">
            <a:avLst/>
          </a:prstGeom>
          <a:solidFill>
            <a:srgbClr val="4527A0"/>
          </a:solidFill>
          <a:ln/>
        </p:spPr>
      </p:sp>
      <p:sp>
        <p:nvSpPr>
          <p:cNvPr id="7" name="Text 5"/>
          <p:cNvSpPr/>
          <p:nvPr/>
        </p:nvSpPr>
        <p:spPr>
          <a:xfrm>
            <a:off x="329184" y="822960"/>
            <a:ext cx="11521440" cy="274320"/>
          </a:xfrm>
          <a:prstGeom prst="rect">
            <a:avLst/>
          </a:prstGeom>
          <a:noFill/>
          <a:ln/>
        </p:spPr>
        <p:txBody>
          <a:bodyPr wrap="square" lIns="0" tIns="0" rIns="0" bIns="0" rtlCol="0" anchor="ctr"/>
          <a:lstStyle/>
          <a:p>
            <a:pPr indent="0" marL="0">
              <a:buNone/>
            </a:pPr>
            <a:r>
              <a:rPr lang="en-US" sz="880" dirty="0">
                <a:solidFill>
                  <a:srgbClr val="1E293B"/>
                </a:solidFill>
              </a:rPr>
              <a:t>SAP's own tools handle ~95% of migrations well. Third-party tools add real value in 4 scenarios: severe data quality problems · non-SAP source systems · complex transformations · Bluefield/selective migrations.</a:t>
            </a:r>
            <a:endParaRPr lang="en-US" sz="880" dirty="0"/>
          </a:p>
        </p:txBody>
      </p:sp>
      <p:sp>
        <p:nvSpPr>
          <p:cNvPr id="8" name="Shape 6"/>
          <p:cNvSpPr/>
          <p:nvPr/>
        </p:nvSpPr>
        <p:spPr>
          <a:xfrm>
            <a:off x="201168" y="1161288"/>
            <a:ext cx="5760720" cy="2633472"/>
          </a:xfrm>
          <a:prstGeom prst="rect">
            <a:avLst/>
          </a:prstGeom>
          <a:solidFill>
            <a:srgbClr val="FFFFFF"/>
          </a:solidFill>
          <a:ln/>
          <a:effectLst>
            <a:outerShdw sx="100000" sy="100000" kx="0" ky="0" algn="bl" rotWithShape="0" blurRad="101600" dist="25400" dir="8100000">
              <a:srgbClr val="000000">
                <a:alpha val="9000"/>
              </a:srgbClr>
            </a:outerShdw>
          </a:effectLst>
        </p:spPr>
      </p:sp>
      <p:sp>
        <p:nvSpPr>
          <p:cNvPr id="9" name="Shape 7"/>
          <p:cNvSpPr/>
          <p:nvPr/>
        </p:nvSpPr>
        <p:spPr>
          <a:xfrm>
            <a:off x="201168" y="1161288"/>
            <a:ext cx="5760720" cy="420624"/>
          </a:xfrm>
          <a:prstGeom prst="rect">
            <a:avLst/>
          </a:prstGeom>
          <a:solidFill>
            <a:srgbClr val="1565C0"/>
          </a:solidFill>
          <a:ln/>
        </p:spPr>
      </p:sp>
      <p:sp>
        <p:nvSpPr>
          <p:cNvPr id="10" name="Text 8"/>
          <p:cNvSpPr/>
          <p:nvPr/>
        </p:nvSpPr>
        <p:spPr>
          <a:xfrm>
            <a:off x="310896" y="1161288"/>
            <a:ext cx="4663440" cy="420624"/>
          </a:xfrm>
          <a:prstGeom prst="rect">
            <a:avLst/>
          </a:prstGeom>
          <a:noFill/>
          <a:ln/>
        </p:spPr>
        <p:txBody>
          <a:bodyPr wrap="square" lIns="0" tIns="0" rIns="0" bIns="0" rtlCol="0" anchor="ctr"/>
          <a:lstStyle/>
          <a:p>
            <a:pPr indent="0" marL="0">
              <a:buNone/>
            </a:pPr>
            <a:r>
              <a:rPr lang="en-US" sz="1050" b="1" dirty="0">
                <a:solidFill>
                  <a:srgbClr val="FFFFFF"/>
                </a:solidFill>
              </a:rPr>
              <a:t>Syniti (formerly BackOffice Associates)</a:t>
            </a:r>
            <a:endParaRPr lang="en-US" sz="1050" dirty="0"/>
          </a:p>
        </p:txBody>
      </p:sp>
      <p:sp>
        <p:nvSpPr>
          <p:cNvPr id="11" name="Shape 9"/>
          <p:cNvSpPr/>
          <p:nvPr/>
        </p:nvSpPr>
        <p:spPr>
          <a:xfrm>
            <a:off x="5001768" y="1234440"/>
            <a:ext cx="896112" cy="274320"/>
          </a:xfrm>
          <a:prstGeom prst="rect">
            <a:avLst/>
          </a:prstGeom>
          <a:solidFill>
            <a:srgbClr val="FFFFFF">
              <a:alpha val="78000"/>
            </a:srgbClr>
          </a:solidFill>
          <a:ln/>
        </p:spPr>
      </p:sp>
      <p:sp>
        <p:nvSpPr>
          <p:cNvPr id="12" name="Text 10"/>
          <p:cNvSpPr/>
          <p:nvPr/>
        </p:nvSpPr>
        <p:spPr>
          <a:xfrm>
            <a:off x="5001768" y="1234440"/>
            <a:ext cx="896112" cy="274320"/>
          </a:xfrm>
          <a:prstGeom prst="rect">
            <a:avLst/>
          </a:prstGeom>
          <a:noFill/>
          <a:ln/>
        </p:spPr>
        <p:txBody>
          <a:bodyPr wrap="square" lIns="0" tIns="0" rIns="0" bIns="0" rtlCol="0" anchor="ctr"/>
          <a:lstStyle/>
          <a:p>
            <a:pPr algn="ctr" indent="0" marL="0">
              <a:buNone/>
            </a:pPr>
            <a:r>
              <a:rPr lang="en-US" sz="630" dirty="0">
                <a:solidFill>
                  <a:srgbClr val="FFFFFF"/>
                </a:solidFill>
              </a:rPr>
              <a:t>Data Quality + Migration Platform</a:t>
            </a:r>
            <a:endParaRPr lang="en-US" sz="630" dirty="0"/>
          </a:p>
        </p:txBody>
      </p:sp>
      <p:sp>
        <p:nvSpPr>
          <p:cNvPr id="13" name="Text 11"/>
          <p:cNvSpPr/>
          <p:nvPr/>
        </p:nvSpPr>
        <p:spPr>
          <a:xfrm>
            <a:off x="310896" y="1636776"/>
            <a:ext cx="5559552" cy="658368"/>
          </a:xfrm>
          <a:prstGeom prst="rect">
            <a:avLst/>
          </a:prstGeom>
          <a:noFill/>
          <a:ln/>
        </p:spPr>
        <p:txBody>
          <a:bodyPr wrap="square" lIns="0" tIns="0" rIns="0" bIns="0" rtlCol="0" anchor="ctr"/>
          <a:lstStyle/>
          <a:p>
            <a:pPr indent="0" marL="0">
              <a:buNone/>
            </a:pPr>
            <a:r>
              <a:rPr lang="en-US" sz="780" dirty="0">
                <a:solidFill>
                  <a:srgbClr val="37474F"/>
                </a:solidFill>
              </a:rPr>
              <a:t>Industry-leading data quality and migration platform with direct SAP Migration Cockpit (LTMC) integration. Syniti acts as the intelligent staging layer between extraction and loading — it cleanses, deduplicates, validates, and transforms data before it reaches LTMC's staging tables.</a:t>
            </a:r>
            <a:endParaRPr lang="en-US" sz="780" dirty="0"/>
          </a:p>
        </p:txBody>
      </p:sp>
      <p:sp>
        <p:nvSpPr>
          <p:cNvPr id="14" name="Text 12"/>
          <p:cNvSpPr/>
          <p:nvPr/>
        </p:nvSpPr>
        <p:spPr>
          <a:xfrm>
            <a:off x="310896" y="2331720"/>
            <a:ext cx="1005840" cy="182880"/>
          </a:xfrm>
          <a:prstGeom prst="rect">
            <a:avLst/>
          </a:prstGeom>
          <a:noFill/>
          <a:ln/>
        </p:spPr>
        <p:txBody>
          <a:bodyPr wrap="square" lIns="0" tIns="0" rIns="0" bIns="0" rtlCol="0" anchor="ctr"/>
          <a:lstStyle/>
          <a:p>
            <a:pPr indent="0" marL="0">
              <a:buNone/>
            </a:pPr>
            <a:r>
              <a:rPr lang="en-US" sz="750" b="1" dirty="0">
                <a:solidFill>
                  <a:srgbClr val="1565C0"/>
                </a:solidFill>
              </a:rPr>
              <a:t>USE WHEN:</a:t>
            </a:r>
            <a:endParaRPr lang="en-US" sz="750" dirty="0"/>
          </a:p>
        </p:txBody>
      </p:sp>
      <p:sp>
        <p:nvSpPr>
          <p:cNvPr id="15" name="Text 13"/>
          <p:cNvSpPr/>
          <p:nvPr/>
        </p:nvSpPr>
        <p:spPr>
          <a:xfrm>
            <a:off x="347472" y="2532888"/>
            <a:ext cx="5504688" cy="256032"/>
          </a:xfrm>
          <a:prstGeom prst="rect">
            <a:avLst/>
          </a:prstGeom>
          <a:noFill/>
          <a:ln/>
        </p:spPr>
        <p:txBody>
          <a:bodyPr wrap="square" lIns="0" tIns="0" rIns="0" bIns="0" rtlCol="0" anchor="ctr"/>
          <a:lstStyle/>
          <a:p>
            <a:pPr indent="0" marL="0">
              <a:buNone/>
            </a:pPr>
            <a:r>
              <a:rPr lang="en-US" sz="760" dirty="0">
                <a:solidFill>
                  <a:srgbClr val="1E293B"/>
                </a:solidFill>
              </a:rPr>
              <a:t>›  Customer has severe data quality issues: duplicate vendor records, missing mandatory fields, incorrect formats</a:t>
            </a:r>
            <a:endParaRPr lang="en-US" sz="760" dirty="0"/>
          </a:p>
        </p:txBody>
      </p:sp>
      <p:sp>
        <p:nvSpPr>
          <p:cNvPr id="16" name="Text 14"/>
          <p:cNvSpPr/>
          <p:nvPr/>
        </p:nvSpPr>
        <p:spPr>
          <a:xfrm>
            <a:off x="347472" y="2807208"/>
            <a:ext cx="5504688" cy="256032"/>
          </a:xfrm>
          <a:prstGeom prst="rect">
            <a:avLst/>
          </a:prstGeom>
          <a:noFill/>
          <a:ln/>
        </p:spPr>
        <p:txBody>
          <a:bodyPr wrap="square" lIns="0" tIns="0" rIns="0" bIns="0" rtlCol="0" anchor="ctr"/>
          <a:lstStyle/>
          <a:p>
            <a:pPr indent="0" marL="0">
              <a:buNone/>
            </a:pPr>
            <a:r>
              <a:rPr lang="en-US" sz="760" dirty="0">
                <a:solidFill>
                  <a:srgbClr val="1E293B"/>
                </a:solidFill>
              </a:rPr>
              <a:t>›  Need to extract from multiple sources simultaneously and harmonise before loading into S/4HANA</a:t>
            </a:r>
            <a:endParaRPr lang="en-US" sz="760" dirty="0"/>
          </a:p>
        </p:txBody>
      </p:sp>
      <p:sp>
        <p:nvSpPr>
          <p:cNvPr id="17" name="Text 15"/>
          <p:cNvSpPr/>
          <p:nvPr/>
        </p:nvSpPr>
        <p:spPr>
          <a:xfrm>
            <a:off x="347472" y="3081528"/>
            <a:ext cx="5504688" cy="256032"/>
          </a:xfrm>
          <a:prstGeom prst="rect">
            <a:avLst/>
          </a:prstGeom>
          <a:noFill/>
          <a:ln/>
        </p:spPr>
        <p:txBody>
          <a:bodyPr wrap="square" lIns="0" tIns="0" rIns="0" bIns="0" rtlCol="0" anchor="ctr"/>
          <a:lstStyle/>
          <a:p>
            <a:pPr indent="0" marL="0">
              <a:buNone/>
            </a:pPr>
            <a:r>
              <a:rPr lang="en-US" sz="760" dirty="0">
                <a:solidFill>
                  <a:srgbClr val="1E293B"/>
                </a:solidFill>
              </a:rPr>
              <a:t>›  Large migrations where automation of field mapping and validation saves hundreds of consulting hours</a:t>
            </a:r>
            <a:endParaRPr lang="en-US" sz="760" dirty="0"/>
          </a:p>
        </p:txBody>
      </p:sp>
      <p:sp>
        <p:nvSpPr>
          <p:cNvPr id="18" name="Shape 16"/>
          <p:cNvSpPr/>
          <p:nvPr/>
        </p:nvSpPr>
        <p:spPr>
          <a:xfrm>
            <a:off x="310896" y="3392424"/>
            <a:ext cx="5559552" cy="320040"/>
          </a:xfrm>
          <a:prstGeom prst="rect">
            <a:avLst/>
          </a:prstGeom>
          <a:solidFill>
            <a:srgbClr val="1565C0">
              <a:alpha val="88000"/>
            </a:srgbClr>
          </a:solidFill>
          <a:ln/>
        </p:spPr>
      </p:sp>
      <p:sp>
        <p:nvSpPr>
          <p:cNvPr id="19" name="Text 17"/>
          <p:cNvSpPr/>
          <p:nvPr/>
        </p:nvSpPr>
        <p:spPr>
          <a:xfrm>
            <a:off x="365760" y="3392424"/>
            <a:ext cx="5486400" cy="320040"/>
          </a:xfrm>
          <a:prstGeom prst="rect">
            <a:avLst/>
          </a:prstGeom>
          <a:noFill/>
          <a:ln/>
        </p:spPr>
        <p:txBody>
          <a:bodyPr wrap="square" lIns="0" tIns="0" rIns="0" bIns="0" rtlCol="0" anchor="ctr"/>
          <a:lstStyle/>
          <a:p>
            <a:pPr indent="0" marL="0">
              <a:buNone/>
            </a:pPr>
            <a:r>
              <a:rPr lang="en-US" sz="750" b="1" dirty="0">
                <a:solidFill>
                  <a:srgbClr val="1565C0"/>
                </a:solidFill>
              </a:rPr>
              <a:t>Verdict: Best-in-class when data quality is a major risk. Often paired with SAP Migration Cockpit for the load step.</a:t>
            </a:r>
            <a:endParaRPr lang="en-US" sz="750" dirty="0"/>
          </a:p>
        </p:txBody>
      </p:sp>
      <p:sp>
        <p:nvSpPr>
          <p:cNvPr id="20" name="Shape 18"/>
          <p:cNvSpPr/>
          <p:nvPr/>
        </p:nvSpPr>
        <p:spPr>
          <a:xfrm>
            <a:off x="6190488" y="1161288"/>
            <a:ext cx="5760720" cy="2633472"/>
          </a:xfrm>
          <a:prstGeom prst="rect">
            <a:avLst/>
          </a:prstGeom>
          <a:solidFill>
            <a:srgbClr val="FFFFFF"/>
          </a:solidFill>
          <a:ln/>
          <a:effectLst>
            <a:outerShdw sx="100000" sy="100000" kx="0" ky="0" algn="bl" rotWithShape="0" blurRad="101600" dist="25400" dir="8100000">
              <a:srgbClr val="000000">
                <a:alpha val="9000"/>
              </a:srgbClr>
            </a:outerShdw>
          </a:effectLst>
        </p:spPr>
      </p:sp>
      <p:sp>
        <p:nvSpPr>
          <p:cNvPr id="21" name="Shape 19"/>
          <p:cNvSpPr/>
          <p:nvPr/>
        </p:nvSpPr>
        <p:spPr>
          <a:xfrm>
            <a:off x="6190488" y="1161288"/>
            <a:ext cx="5760720" cy="420624"/>
          </a:xfrm>
          <a:prstGeom prst="rect">
            <a:avLst/>
          </a:prstGeom>
          <a:solidFill>
            <a:srgbClr val="00695C"/>
          </a:solidFill>
          <a:ln/>
        </p:spPr>
      </p:sp>
      <p:sp>
        <p:nvSpPr>
          <p:cNvPr id="22" name="Text 20"/>
          <p:cNvSpPr/>
          <p:nvPr/>
        </p:nvSpPr>
        <p:spPr>
          <a:xfrm>
            <a:off x="6300216" y="1161288"/>
            <a:ext cx="4663440" cy="420624"/>
          </a:xfrm>
          <a:prstGeom prst="rect">
            <a:avLst/>
          </a:prstGeom>
          <a:noFill/>
          <a:ln/>
        </p:spPr>
        <p:txBody>
          <a:bodyPr wrap="square" lIns="0" tIns="0" rIns="0" bIns="0" rtlCol="0" anchor="ctr"/>
          <a:lstStyle/>
          <a:p>
            <a:pPr indent="0" marL="0">
              <a:buNone/>
            </a:pPr>
            <a:r>
              <a:rPr lang="en-US" sz="1050" b="1" dirty="0">
                <a:solidFill>
                  <a:srgbClr val="FFFFFF"/>
                </a:solidFill>
              </a:rPr>
              <a:t>Informatica IDMC</a:t>
            </a:r>
            <a:endParaRPr lang="en-US" sz="1050" dirty="0"/>
          </a:p>
        </p:txBody>
      </p:sp>
      <p:sp>
        <p:nvSpPr>
          <p:cNvPr id="23" name="Shape 21"/>
          <p:cNvSpPr/>
          <p:nvPr/>
        </p:nvSpPr>
        <p:spPr>
          <a:xfrm>
            <a:off x="10991088" y="1234440"/>
            <a:ext cx="896112" cy="274320"/>
          </a:xfrm>
          <a:prstGeom prst="rect">
            <a:avLst/>
          </a:prstGeom>
          <a:solidFill>
            <a:srgbClr val="FFFFFF">
              <a:alpha val="78000"/>
            </a:srgbClr>
          </a:solidFill>
          <a:ln/>
        </p:spPr>
      </p:sp>
      <p:sp>
        <p:nvSpPr>
          <p:cNvPr id="24" name="Text 22"/>
          <p:cNvSpPr/>
          <p:nvPr/>
        </p:nvSpPr>
        <p:spPr>
          <a:xfrm>
            <a:off x="10991088" y="1234440"/>
            <a:ext cx="896112" cy="274320"/>
          </a:xfrm>
          <a:prstGeom prst="rect">
            <a:avLst/>
          </a:prstGeom>
          <a:noFill/>
          <a:ln/>
        </p:spPr>
        <p:txBody>
          <a:bodyPr wrap="square" lIns="0" tIns="0" rIns="0" bIns="0" rtlCol="0" anchor="ctr"/>
          <a:lstStyle/>
          <a:p>
            <a:pPr algn="ctr" indent="0" marL="0">
              <a:buNone/>
            </a:pPr>
            <a:r>
              <a:rPr lang="en-US" sz="630" dirty="0">
                <a:solidFill>
                  <a:srgbClr val="FFFFFF"/>
                </a:solidFill>
              </a:rPr>
              <a:t>Enterprise ETL + Data Quality Cloud</a:t>
            </a:r>
            <a:endParaRPr lang="en-US" sz="630" dirty="0"/>
          </a:p>
        </p:txBody>
      </p:sp>
      <p:sp>
        <p:nvSpPr>
          <p:cNvPr id="25" name="Text 23"/>
          <p:cNvSpPr/>
          <p:nvPr/>
        </p:nvSpPr>
        <p:spPr>
          <a:xfrm>
            <a:off x="6300216" y="1636776"/>
            <a:ext cx="5559552" cy="658368"/>
          </a:xfrm>
          <a:prstGeom prst="rect">
            <a:avLst/>
          </a:prstGeom>
          <a:noFill/>
          <a:ln/>
        </p:spPr>
        <p:txBody>
          <a:bodyPr wrap="square" lIns="0" tIns="0" rIns="0" bIns="0" rtlCol="0" anchor="ctr"/>
          <a:lstStyle/>
          <a:p>
            <a:pPr indent="0" marL="0">
              <a:buNone/>
            </a:pPr>
            <a:r>
              <a:rPr lang="en-US" sz="780" dirty="0">
                <a:solidFill>
                  <a:srgbClr val="37474F"/>
                </a:solidFill>
              </a:rPr>
              <a:t>Market leader in enterprise data integration. Connects to any source system (Oracle EBS, JD Edwards, Microsoft Dynamics, SAP ECC), applies AI-powered data quality rules, and loads into S/4HANA via BAPIs, IDocs, or direct DB connections. Cloud-native platform.</a:t>
            </a:r>
            <a:endParaRPr lang="en-US" sz="780" dirty="0"/>
          </a:p>
        </p:txBody>
      </p:sp>
      <p:sp>
        <p:nvSpPr>
          <p:cNvPr id="26" name="Text 24"/>
          <p:cNvSpPr/>
          <p:nvPr/>
        </p:nvSpPr>
        <p:spPr>
          <a:xfrm>
            <a:off x="6300216" y="2331720"/>
            <a:ext cx="1005840" cy="182880"/>
          </a:xfrm>
          <a:prstGeom prst="rect">
            <a:avLst/>
          </a:prstGeom>
          <a:noFill/>
          <a:ln/>
        </p:spPr>
        <p:txBody>
          <a:bodyPr wrap="square" lIns="0" tIns="0" rIns="0" bIns="0" rtlCol="0" anchor="ctr"/>
          <a:lstStyle/>
          <a:p>
            <a:pPr indent="0" marL="0">
              <a:buNone/>
            </a:pPr>
            <a:r>
              <a:rPr lang="en-US" sz="750" b="1" dirty="0">
                <a:solidFill>
                  <a:srgbClr val="00695C"/>
                </a:solidFill>
              </a:rPr>
              <a:t>USE WHEN:</a:t>
            </a:r>
            <a:endParaRPr lang="en-US" sz="750" dirty="0"/>
          </a:p>
        </p:txBody>
      </p:sp>
      <p:sp>
        <p:nvSpPr>
          <p:cNvPr id="27" name="Text 25"/>
          <p:cNvSpPr/>
          <p:nvPr/>
        </p:nvSpPr>
        <p:spPr>
          <a:xfrm>
            <a:off x="6336792" y="2532888"/>
            <a:ext cx="5504688" cy="256032"/>
          </a:xfrm>
          <a:prstGeom prst="rect">
            <a:avLst/>
          </a:prstGeom>
          <a:noFill/>
          <a:ln/>
        </p:spPr>
        <p:txBody>
          <a:bodyPr wrap="square" lIns="0" tIns="0" rIns="0" bIns="0" rtlCol="0" anchor="ctr"/>
          <a:lstStyle/>
          <a:p>
            <a:pPr indent="0" marL="0">
              <a:buNone/>
            </a:pPr>
            <a:r>
              <a:rPr lang="en-US" sz="760" dirty="0">
                <a:solidFill>
                  <a:srgbClr val="1E293B"/>
                </a:solidFill>
              </a:rPr>
              <a:t>›  Customer has non-SAP source systems alongside SAP ECC that must all feed into one S/4HANA</a:t>
            </a:r>
            <a:endParaRPr lang="en-US" sz="760" dirty="0"/>
          </a:p>
        </p:txBody>
      </p:sp>
      <p:sp>
        <p:nvSpPr>
          <p:cNvPr id="28" name="Text 26"/>
          <p:cNvSpPr/>
          <p:nvPr/>
        </p:nvSpPr>
        <p:spPr>
          <a:xfrm>
            <a:off x="6336792" y="2807208"/>
            <a:ext cx="5504688" cy="256032"/>
          </a:xfrm>
          <a:prstGeom prst="rect">
            <a:avLst/>
          </a:prstGeom>
          <a:noFill/>
          <a:ln/>
        </p:spPr>
        <p:txBody>
          <a:bodyPr wrap="square" lIns="0" tIns="0" rIns="0" bIns="0" rtlCol="0" anchor="ctr"/>
          <a:lstStyle/>
          <a:p>
            <a:pPr indent="0" marL="0">
              <a:buNone/>
            </a:pPr>
            <a:r>
              <a:rPr lang="en-US" sz="760" dirty="0">
                <a:solidFill>
                  <a:srgbClr val="1E293B"/>
                </a:solidFill>
              </a:rPr>
              <a:t>›  Need ongoing data synchronisation during an extended parallel run period (months)</a:t>
            </a:r>
            <a:endParaRPr lang="en-US" sz="760" dirty="0"/>
          </a:p>
        </p:txBody>
      </p:sp>
      <p:sp>
        <p:nvSpPr>
          <p:cNvPr id="29" name="Text 27"/>
          <p:cNvSpPr/>
          <p:nvPr/>
        </p:nvSpPr>
        <p:spPr>
          <a:xfrm>
            <a:off x="6336792" y="3081528"/>
            <a:ext cx="5504688" cy="256032"/>
          </a:xfrm>
          <a:prstGeom prst="rect">
            <a:avLst/>
          </a:prstGeom>
          <a:noFill/>
          <a:ln/>
        </p:spPr>
        <p:txBody>
          <a:bodyPr wrap="square" lIns="0" tIns="0" rIns="0" bIns="0" rtlCol="0" anchor="ctr"/>
          <a:lstStyle/>
          <a:p>
            <a:pPr indent="0" marL="0">
              <a:buNone/>
            </a:pPr>
            <a:r>
              <a:rPr lang="en-US" sz="760" dirty="0">
                <a:solidFill>
                  <a:srgbClr val="1E293B"/>
                </a:solidFill>
              </a:rPr>
              <a:t>›  Enterprise-grade data governance requirements with full audit trails and lineage</a:t>
            </a:r>
            <a:endParaRPr lang="en-US" sz="760" dirty="0"/>
          </a:p>
        </p:txBody>
      </p:sp>
      <p:sp>
        <p:nvSpPr>
          <p:cNvPr id="30" name="Shape 28"/>
          <p:cNvSpPr/>
          <p:nvPr/>
        </p:nvSpPr>
        <p:spPr>
          <a:xfrm>
            <a:off x="6300216" y="3392424"/>
            <a:ext cx="5559552" cy="320040"/>
          </a:xfrm>
          <a:prstGeom prst="rect">
            <a:avLst/>
          </a:prstGeom>
          <a:solidFill>
            <a:srgbClr val="00695C">
              <a:alpha val="88000"/>
            </a:srgbClr>
          </a:solidFill>
          <a:ln/>
        </p:spPr>
      </p:sp>
      <p:sp>
        <p:nvSpPr>
          <p:cNvPr id="31" name="Text 29"/>
          <p:cNvSpPr/>
          <p:nvPr/>
        </p:nvSpPr>
        <p:spPr>
          <a:xfrm>
            <a:off x="6355080" y="3392424"/>
            <a:ext cx="5486400" cy="320040"/>
          </a:xfrm>
          <a:prstGeom prst="rect">
            <a:avLst/>
          </a:prstGeom>
          <a:noFill/>
          <a:ln/>
        </p:spPr>
        <p:txBody>
          <a:bodyPr wrap="square" lIns="0" tIns="0" rIns="0" bIns="0" rtlCol="0" anchor="ctr"/>
          <a:lstStyle/>
          <a:p>
            <a:pPr indent="0" marL="0">
              <a:buNone/>
            </a:pPr>
            <a:r>
              <a:rPr lang="en-US" sz="750" b="1" dirty="0">
                <a:solidFill>
                  <a:srgbClr val="00695C"/>
                </a:solidFill>
              </a:rPr>
              <a:t>Verdict: Preferred when migration involves non-SAP sources or customer needs enterprise data governance beyond just the migration project.</a:t>
            </a:r>
            <a:endParaRPr lang="en-US" sz="750" dirty="0"/>
          </a:p>
        </p:txBody>
      </p:sp>
      <p:sp>
        <p:nvSpPr>
          <p:cNvPr id="32" name="Shape 30"/>
          <p:cNvSpPr/>
          <p:nvPr/>
        </p:nvSpPr>
        <p:spPr>
          <a:xfrm>
            <a:off x="201168" y="3922776"/>
            <a:ext cx="5760720" cy="2633472"/>
          </a:xfrm>
          <a:prstGeom prst="rect">
            <a:avLst/>
          </a:prstGeom>
          <a:solidFill>
            <a:srgbClr val="FFFFFF"/>
          </a:solidFill>
          <a:ln/>
          <a:effectLst>
            <a:outerShdw sx="100000" sy="100000" kx="0" ky="0" algn="bl" rotWithShape="0" blurRad="101600" dist="25400" dir="8100000">
              <a:srgbClr val="000000">
                <a:alpha val="9000"/>
              </a:srgbClr>
            </a:outerShdw>
          </a:effectLst>
        </p:spPr>
      </p:sp>
      <p:sp>
        <p:nvSpPr>
          <p:cNvPr id="33" name="Shape 31"/>
          <p:cNvSpPr/>
          <p:nvPr/>
        </p:nvSpPr>
        <p:spPr>
          <a:xfrm>
            <a:off x="201168" y="3922776"/>
            <a:ext cx="5760720" cy="420624"/>
          </a:xfrm>
          <a:prstGeom prst="rect">
            <a:avLst/>
          </a:prstGeom>
          <a:solidFill>
            <a:srgbClr val="4527A0"/>
          </a:solidFill>
          <a:ln/>
        </p:spPr>
      </p:sp>
      <p:sp>
        <p:nvSpPr>
          <p:cNvPr id="34" name="Text 32"/>
          <p:cNvSpPr/>
          <p:nvPr/>
        </p:nvSpPr>
        <p:spPr>
          <a:xfrm>
            <a:off x="310896" y="3922776"/>
            <a:ext cx="4663440" cy="420624"/>
          </a:xfrm>
          <a:prstGeom prst="rect">
            <a:avLst/>
          </a:prstGeom>
          <a:noFill/>
          <a:ln/>
        </p:spPr>
        <p:txBody>
          <a:bodyPr wrap="square" lIns="0" tIns="0" rIns="0" bIns="0" rtlCol="0" anchor="ctr"/>
          <a:lstStyle/>
          <a:p>
            <a:pPr indent="0" marL="0">
              <a:buNone/>
            </a:pPr>
            <a:r>
              <a:rPr lang="en-US" sz="1050" b="1" dirty="0">
                <a:solidFill>
                  <a:srgbClr val="FFFFFF"/>
                </a:solidFill>
              </a:rPr>
              <a:t>SNP CrystalBridge</a:t>
            </a:r>
            <a:endParaRPr lang="en-US" sz="1050" dirty="0"/>
          </a:p>
        </p:txBody>
      </p:sp>
      <p:sp>
        <p:nvSpPr>
          <p:cNvPr id="35" name="Shape 33"/>
          <p:cNvSpPr/>
          <p:nvPr/>
        </p:nvSpPr>
        <p:spPr>
          <a:xfrm>
            <a:off x="5001768" y="3995928"/>
            <a:ext cx="896112" cy="274320"/>
          </a:xfrm>
          <a:prstGeom prst="rect">
            <a:avLst/>
          </a:prstGeom>
          <a:solidFill>
            <a:srgbClr val="FFFFFF">
              <a:alpha val="78000"/>
            </a:srgbClr>
          </a:solidFill>
          <a:ln/>
        </p:spPr>
      </p:sp>
      <p:sp>
        <p:nvSpPr>
          <p:cNvPr id="36" name="Text 34"/>
          <p:cNvSpPr/>
          <p:nvPr/>
        </p:nvSpPr>
        <p:spPr>
          <a:xfrm>
            <a:off x="5001768" y="3995928"/>
            <a:ext cx="896112" cy="274320"/>
          </a:xfrm>
          <a:prstGeom prst="rect">
            <a:avLst/>
          </a:prstGeom>
          <a:noFill/>
          <a:ln/>
        </p:spPr>
        <p:txBody>
          <a:bodyPr wrap="square" lIns="0" tIns="0" rIns="0" bIns="0" rtlCol="0" anchor="ctr"/>
          <a:lstStyle/>
          <a:p>
            <a:pPr algn="ctr" indent="0" marL="0">
              <a:buNone/>
            </a:pPr>
            <a:r>
              <a:rPr lang="en-US" sz="630" dirty="0">
                <a:solidFill>
                  <a:srgbClr val="FFFFFF"/>
                </a:solidFill>
              </a:rPr>
              <a:t>SAP Landscape Transformation (Bluefield Engine)</a:t>
            </a:r>
            <a:endParaRPr lang="en-US" sz="630" dirty="0"/>
          </a:p>
        </p:txBody>
      </p:sp>
      <p:sp>
        <p:nvSpPr>
          <p:cNvPr id="37" name="Text 35"/>
          <p:cNvSpPr/>
          <p:nvPr/>
        </p:nvSpPr>
        <p:spPr>
          <a:xfrm>
            <a:off x="310896" y="4398264"/>
            <a:ext cx="5559552" cy="658368"/>
          </a:xfrm>
          <a:prstGeom prst="rect">
            <a:avLst/>
          </a:prstGeom>
          <a:noFill/>
          <a:ln/>
        </p:spPr>
        <p:txBody>
          <a:bodyPr wrap="square" lIns="0" tIns="0" rIns="0" bIns="0" rtlCol="0" anchor="ctr"/>
          <a:lstStyle/>
          <a:p>
            <a:pPr indent="0" marL="0">
              <a:buNone/>
            </a:pPr>
            <a:r>
              <a:rPr lang="en-US" sz="780" dirty="0">
                <a:solidFill>
                  <a:srgbClr val="37474F"/>
                </a:solidFill>
              </a:rPr>
              <a:t>SNP invented the Bluefield approach and built CrystalBridge specifically for complex SAP landscape transformations. Can extract, transform, and selectively load SAP data — including company code splits/merges, currency conversions, and org restructuring during migration. Goes far beyond what standard SAP tools can do.</a:t>
            </a:r>
            <a:endParaRPr lang="en-US" sz="780" dirty="0"/>
          </a:p>
        </p:txBody>
      </p:sp>
      <p:sp>
        <p:nvSpPr>
          <p:cNvPr id="38" name="Text 36"/>
          <p:cNvSpPr/>
          <p:nvPr/>
        </p:nvSpPr>
        <p:spPr>
          <a:xfrm>
            <a:off x="310896" y="5093208"/>
            <a:ext cx="1005840" cy="182880"/>
          </a:xfrm>
          <a:prstGeom prst="rect">
            <a:avLst/>
          </a:prstGeom>
          <a:noFill/>
          <a:ln/>
        </p:spPr>
        <p:txBody>
          <a:bodyPr wrap="square" lIns="0" tIns="0" rIns="0" bIns="0" rtlCol="0" anchor="ctr"/>
          <a:lstStyle/>
          <a:p>
            <a:pPr indent="0" marL="0">
              <a:buNone/>
            </a:pPr>
            <a:r>
              <a:rPr lang="en-US" sz="750" b="1" dirty="0">
                <a:solidFill>
                  <a:srgbClr val="4527A0"/>
                </a:solidFill>
              </a:rPr>
              <a:t>USE WHEN:</a:t>
            </a:r>
            <a:endParaRPr lang="en-US" sz="750" dirty="0"/>
          </a:p>
        </p:txBody>
      </p:sp>
      <p:sp>
        <p:nvSpPr>
          <p:cNvPr id="39" name="Text 37"/>
          <p:cNvSpPr/>
          <p:nvPr/>
        </p:nvSpPr>
        <p:spPr>
          <a:xfrm>
            <a:off x="347472" y="5294376"/>
            <a:ext cx="5504688" cy="256032"/>
          </a:xfrm>
          <a:prstGeom prst="rect">
            <a:avLst/>
          </a:prstGeom>
          <a:noFill/>
          <a:ln/>
        </p:spPr>
        <p:txBody>
          <a:bodyPr wrap="square" lIns="0" tIns="0" rIns="0" bIns="0" rtlCol="0" anchor="ctr"/>
          <a:lstStyle/>
          <a:p>
            <a:pPr indent="0" marL="0">
              <a:buNone/>
            </a:pPr>
            <a:r>
              <a:rPr lang="en-US" sz="760" dirty="0">
                <a:solidFill>
                  <a:srgbClr val="1E293B"/>
                </a:solidFill>
              </a:rPr>
              <a:t>›  Bluefield approach — selectively migrating data from specific company codes or legal entities only</a:t>
            </a:r>
            <a:endParaRPr lang="en-US" sz="760" dirty="0"/>
          </a:p>
        </p:txBody>
      </p:sp>
      <p:sp>
        <p:nvSpPr>
          <p:cNvPr id="40" name="Text 38"/>
          <p:cNvSpPr/>
          <p:nvPr/>
        </p:nvSpPr>
        <p:spPr>
          <a:xfrm>
            <a:off x="347472" y="5568696"/>
            <a:ext cx="5504688" cy="256032"/>
          </a:xfrm>
          <a:prstGeom prst="rect">
            <a:avLst/>
          </a:prstGeom>
          <a:noFill/>
          <a:ln/>
        </p:spPr>
        <p:txBody>
          <a:bodyPr wrap="square" lIns="0" tIns="0" rIns="0" bIns="0" rtlCol="0" anchor="ctr"/>
          <a:lstStyle/>
          <a:p>
            <a:pPr indent="0" marL="0">
              <a:buNone/>
            </a:pPr>
            <a:r>
              <a:rPr lang="en-US" sz="760" dirty="0">
                <a:solidFill>
                  <a:srgbClr val="1E293B"/>
                </a:solidFill>
              </a:rPr>
              <a:t>›  Mergers &amp; Acquisitions: merging two separate SAP ECC systems into one S/4HANA</a:t>
            </a:r>
            <a:endParaRPr lang="en-US" sz="760" dirty="0"/>
          </a:p>
        </p:txBody>
      </p:sp>
      <p:sp>
        <p:nvSpPr>
          <p:cNvPr id="41" name="Text 39"/>
          <p:cNvSpPr/>
          <p:nvPr/>
        </p:nvSpPr>
        <p:spPr>
          <a:xfrm>
            <a:off x="347472" y="5843016"/>
            <a:ext cx="5504688" cy="256032"/>
          </a:xfrm>
          <a:prstGeom prst="rect">
            <a:avLst/>
          </a:prstGeom>
          <a:noFill/>
          <a:ln/>
        </p:spPr>
        <p:txBody>
          <a:bodyPr wrap="square" lIns="0" tIns="0" rIns="0" bIns="0" rtlCol="0" anchor="ctr"/>
          <a:lstStyle/>
          <a:p>
            <a:pPr indent="0" marL="0">
              <a:buNone/>
            </a:pPr>
            <a:r>
              <a:rPr lang="en-US" sz="760" dirty="0">
                <a:solidFill>
                  <a:srgbClr val="1E293B"/>
                </a:solidFill>
              </a:rPr>
              <a:t>›  Carve-outs: splitting one large SAP system into two separate S/4HANA instances</a:t>
            </a:r>
            <a:endParaRPr lang="en-US" sz="760" dirty="0"/>
          </a:p>
        </p:txBody>
      </p:sp>
      <p:sp>
        <p:nvSpPr>
          <p:cNvPr id="42" name="Shape 40"/>
          <p:cNvSpPr/>
          <p:nvPr/>
        </p:nvSpPr>
        <p:spPr>
          <a:xfrm>
            <a:off x="310896" y="6153912"/>
            <a:ext cx="5559552" cy="320040"/>
          </a:xfrm>
          <a:prstGeom prst="rect">
            <a:avLst/>
          </a:prstGeom>
          <a:solidFill>
            <a:srgbClr val="4527A0">
              <a:alpha val="88000"/>
            </a:srgbClr>
          </a:solidFill>
          <a:ln/>
        </p:spPr>
      </p:sp>
      <p:sp>
        <p:nvSpPr>
          <p:cNvPr id="43" name="Text 41"/>
          <p:cNvSpPr/>
          <p:nvPr/>
        </p:nvSpPr>
        <p:spPr>
          <a:xfrm>
            <a:off x="365760" y="6153912"/>
            <a:ext cx="5486400" cy="320040"/>
          </a:xfrm>
          <a:prstGeom prst="rect">
            <a:avLst/>
          </a:prstGeom>
          <a:noFill/>
          <a:ln/>
        </p:spPr>
        <p:txBody>
          <a:bodyPr wrap="square" lIns="0" tIns="0" rIns="0" bIns="0" rtlCol="0" anchor="ctr"/>
          <a:lstStyle/>
          <a:p>
            <a:pPr indent="0" marL="0">
              <a:buNone/>
            </a:pPr>
            <a:r>
              <a:rPr lang="en-US" sz="750" b="1" dirty="0">
                <a:solidFill>
                  <a:srgbClr val="4527A0"/>
                </a:solidFill>
              </a:rPr>
              <a:t>Verdict: The go-to tool if the migration involves org restructuring, M&amp;A, or carve-outs. Beyond the capability of any standard SAP tool.</a:t>
            </a:r>
            <a:endParaRPr lang="en-US" sz="750" dirty="0"/>
          </a:p>
        </p:txBody>
      </p:sp>
      <p:sp>
        <p:nvSpPr>
          <p:cNvPr id="44" name="Shape 42"/>
          <p:cNvSpPr/>
          <p:nvPr/>
        </p:nvSpPr>
        <p:spPr>
          <a:xfrm>
            <a:off x="6190488" y="3922776"/>
            <a:ext cx="5760720" cy="2633472"/>
          </a:xfrm>
          <a:prstGeom prst="rect">
            <a:avLst/>
          </a:prstGeom>
          <a:solidFill>
            <a:srgbClr val="FFFFFF"/>
          </a:solidFill>
          <a:ln/>
          <a:effectLst>
            <a:outerShdw sx="100000" sy="100000" kx="0" ky="0" algn="bl" rotWithShape="0" blurRad="101600" dist="25400" dir="8100000">
              <a:srgbClr val="000000">
                <a:alpha val="9000"/>
              </a:srgbClr>
            </a:outerShdw>
          </a:effectLst>
        </p:spPr>
      </p:sp>
      <p:sp>
        <p:nvSpPr>
          <p:cNvPr id="45" name="Shape 43"/>
          <p:cNvSpPr/>
          <p:nvPr/>
        </p:nvSpPr>
        <p:spPr>
          <a:xfrm>
            <a:off x="6190488" y="3922776"/>
            <a:ext cx="5760720" cy="420624"/>
          </a:xfrm>
          <a:prstGeom prst="rect">
            <a:avLst/>
          </a:prstGeom>
          <a:solidFill>
            <a:srgbClr val="1B5E20"/>
          </a:solidFill>
          <a:ln/>
        </p:spPr>
      </p:sp>
      <p:sp>
        <p:nvSpPr>
          <p:cNvPr id="46" name="Text 44"/>
          <p:cNvSpPr/>
          <p:nvPr/>
        </p:nvSpPr>
        <p:spPr>
          <a:xfrm>
            <a:off x="6300216" y="3922776"/>
            <a:ext cx="4663440" cy="420624"/>
          </a:xfrm>
          <a:prstGeom prst="rect">
            <a:avLst/>
          </a:prstGeom>
          <a:noFill/>
          <a:ln/>
        </p:spPr>
        <p:txBody>
          <a:bodyPr wrap="square" lIns="0" tIns="0" rIns="0" bIns="0" rtlCol="0" anchor="ctr"/>
          <a:lstStyle/>
          <a:p>
            <a:pPr indent="0" marL="0">
              <a:buNone/>
            </a:pPr>
            <a:r>
              <a:rPr lang="en-US" sz="1050" b="1" dirty="0">
                <a:solidFill>
                  <a:srgbClr val="FFFFFF"/>
                </a:solidFill>
              </a:rPr>
              <a:t>Precisely Automate (Winshuttle)</a:t>
            </a:r>
            <a:endParaRPr lang="en-US" sz="1050" dirty="0"/>
          </a:p>
        </p:txBody>
      </p:sp>
      <p:sp>
        <p:nvSpPr>
          <p:cNvPr id="47" name="Shape 45"/>
          <p:cNvSpPr/>
          <p:nvPr/>
        </p:nvSpPr>
        <p:spPr>
          <a:xfrm>
            <a:off x="10991088" y="3995928"/>
            <a:ext cx="896112" cy="274320"/>
          </a:xfrm>
          <a:prstGeom prst="rect">
            <a:avLst/>
          </a:prstGeom>
          <a:solidFill>
            <a:srgbClr val="FFFFFF">
              <a:alpha val="78000"/>
            </a:srgbClr>
          </a:solidFill>
          <a:ln/>
        </p:spPr>
      </p:sp>
      <p:sp>
        <p:nvSpPr>
          <p:cNvPr id="48" name="Text 46"/>
          <p:cNvSpPr/>
          <p:nvPr/>
        </p:nvSpPr>
        <p:spPr>
          <a:xfrm>
            <a:off x="10991088" y="3995928"/>
            <a:ext cx="896112" cy="274320"/>
          </a:xfrm>
          <a:prstGeom prst="rect">
            <a:avLst/>
          </a:prstGeom>
          <a:noFill/>
          <a:ln/>
        </p:spPr>
        <p:txBody>
          <a:bodyPr wrap="square" lIns="0" tIns="0" rIns="0" bIns="0" rtlCol="0" anchor="ctr"/>
          <a:lstStyle/>
          <a:p>
            <a:pPr algn="ctr" indent="0" marL="0">
              <a:buNone/>
            </a:pPr>
            <a:r>
              <a:rPr lang="en-US" sz="630" dirty="0">
                <a:solidFill>
                  <a:srgbClr val="FFFFFF"/>
                </a:solidFill>
              </a:rPr>
              <a:t>Excel-Based Template Loading</a:t>
            </a:r>
            <a:endParaRPr lang="en-US" sz="630" dirty="0"/>
          </a:p>
        </p:txBody>
      </p:sp>
      <p:sp>
        <p:nvSpPr>
          <p:cNvPr id="49" name="Text 47"/>
          <p:cNvSpPr/>
          <p:nvPr/>
        </p:nvSpPr>
        <p:spPr>
          <a:xfrm>
            <a:off x="6300216" y="4398264"/>
            <a:ext cx="5559552" cy="658368"/>
          </a:xfrm>
          <a:prstGeom prst="rect">
            <a:avLst/>
          </a:prstGeom>
          <a:noFill/>
          <a:ln/>
        </p:spPr>
        <p:txBody>
          <a:bodyPr wrap="square" lIns="0" tIns="0" rIns="0" bIns="0" rtlCol="0" anchor="ctr"/>
          <a:lstStyle/>
          <a:p>
            <a:pPr indent="0" marL="0">
              <a:buNone/>
            </a:pPr>
            <a:r>
              <a:rPr lang="en-US" sz="780" dirty="0">
                <a:solidFill>
                  <a:srgbClr val="37474F"/>
                </a:solidFill>
              </a:rPr>
              <a:t>Excel-based data migration tooling allowing business users (not IT) to prepare data in Excel templates that are then automatically validated and loaded into SAP via BAPIs. Lower technical barrier than LTMC. Widely used for post-go-live data corrections and smaller supplementary loads.</a:t>
            </a:r>
            <a:endParaRPr lang="en-US" sz="780" dirty="0"/>
          </a:p>
        </p:txBody>
      </p:sp>
      <p:sp>
        <p:nvSpPr>
          <p:cNvPr id="50" name="Text 48"/>
          <p:cNvSpPr/>
          <p:nvPr/>
        </p:nvSpPr>
        <p:spPr>
          <a:xfrm>
            <a:off x="6300216" y="5093208"/>
            <a:ext cx="1005840" cy="182880"/>
          </a:xfrm>
          <a:prstGeom prst="rect">
            <a:avLst/>
          </a:prstGeom>
          <a:noFill/>
          <a:ln/>
        </p:spPr>
        <p:txBody>
          <a:bodyPr wrap="square" lIns="0" tIns="0" rIns="0" bIns="0" rtlCol="0" anchor="ctr"/>
          <a:lstStyle/>
          <a:p>
            <a:pPr indent="0" marL="0">
              <a:buNone/>
            </a:pPr>
            <a:r>
              <a:rPr lang="en-US" sz="750" b="1" dirty="0">
                <a:solidFill>
                  <a:srgbClr val="1B5E20"/>
                </a:solidFill>
              </a:rPr>
              <a:t>USE WHEN:</a:t>
            </a:r>
            <a:endParaRPr lang="en-US" sz="750" dirty="0"/>
          </a:p>
        </p:txBody>
      </p:sp>
      <p:sp>
        <p:nvSpPr>
          <p:cNvPr id="51" name="Text 49"/>
          <p:cNvSpPr/>
          <p:nvPr/>
        </p:nvSpPr>
        <p:spPr>
          <a:xfrm>
            <a:off x="6336792" y="5294376"/>
            <a:ext cx="5504688" cy="256032"/>
          </a:xfrm>
          <a:prstGeom prst="rect">
            <a:avLst/>
          </a:prstGeom>
          <a:noFill/>
          <a:ln/>
        </p:spPr>
        <p:txBody>
          <a:bodyPr wrap="square" lIns="0" tIns="0" rIns="0" bIns="0" rtlCol="0" anchor="ctr"/>
          <a:lstStyle/>
          <a:p>
            <a:pPr indent="0" marL="0">
              <a:buNone/>
            </a:pPr>
            <a:r>
              <a:rPr lang="en-US" sz="760" dirty="0">
                <a:solidFill>
                  <a:srgbClr val="1E293B"/>
                </a:solidFill>
              </a:rPr>
              <a:t>›  Smaller master data loads where business subject-matter experts (not IT) must prepare the data themselves</a:t>
            </a:r>
            <a:endParaRPr lang="en-US" sz="760" dirty="0"/>
          </a:p>
        </p:txBody>
      </p:sp>
      <p:sp>
        <p:nvSpPr>
          <p:cNvPr id="52" name="Text 50"/>
          <p:cNvSpPr/>
          <p:nvPr/>
        </p:nvSpPr>
        <p:spPr>
          <a:xfrm>
            <a:off x="6336792" y="5568696"/>
            <a:ext cx="5504688" cy="256032"/>
          </a:xfrm>
          <a:prstGeom prst="rect">
            <a:avLst/>
          </a:prstGeom>
          <a:noFill/>
          <a:ln/>
        </p:spPr>
        <p:txBody>
          <a:bodyPr wrap="square" lIns="0" tIns="0" rIns="0" bIns="0" rtlCol="0" anchor="ctr"/>
          <a:lstStyle/>
          <a:p>
            <a:pPr indent="0" marL="0">
              <a:buNone/>
            </a:pPr>
            <a:r>
              <a:rPr lang="en-US" sz="760" dirty="0">
                <a:solidFill>
                  <a:srgbClr val="1E293B"/>
                </a:solidFill>
              </a:rPr>
              <a:t>›  Post-go-live data corrections — small, targeted updates to specific records</a:t>
            </a:r>
            <a:endParaRPr lang="en-US" sz="760" dirty="0"/>
          </a:p>
        </p:txBody>
      </p:sp>
      <p:sp>
        <p:nvSpPr>
          <p:cNvPr id="53" name="Text 51"/>
          <p:cNvSpPr/>
          <p:nvPr/>
        </p:nvSpPr>
        <p:spPr>
          <a:xfrm>
            <a:off x="6336792" y="5843016"/>
            <a:ext cx="5504688" cy="256032"/>
          </a:xfrm>
          <a:prstGeom prst="rect">
            <a:avLst/>
          </a:prstGeom>
          <a:noFill/>
          <a:ln/>
        </p:spPr>
        <p:txBody>
          <a:bodyPr wrap="square" lIns="0" tIns="0" rIns="0" bIns="0" rtlCol="0" anchor="ctr"/>
          <a:lstStyle/>
          <a:p>
            <a:pPr indent="0" marL="0">
              <a:buNone/>
            </a:pPr>
            <a:r>
              <a:rPr lang="en-US" sz="760" dirty="0">
                <a:solidFill>
                  <a:srgbClr val="1E293B"/>
                </a:solidFill>
              </a:rPr>
              <a:t>›  Teams already comfortable with Excel wanting minimal IT dependency for data preparation</a:t>
            </a:r>
            <a:endParaRPr lang="en-US" sz="760" dirty="0"/>
          </a:p>
        </p:txBody>
      </p:sp>
      <p:sp>
        <p:nvSpPr>
          <p:cNvPr id="54" name="Shape 52"/>
          <p:cNvSpPr/>
          <p:nvPr/>
        </p:nvSpPr>
        <p:spPr>
          <a:xfrm>
            <a:off x="6300216" y="6153912"/>
            <a:ext cx="5559552" cy="320040"/>
          </a:xfrm>
          <a:prstGeom prst="rect">
            <a:avLst/>
          </a:prstGeom>
          <a:solidFill>
            <a:srgbClr val="1B5E20">
              <a:alpha val="88000"/>
            </a:srgbClr>
          </a:solidFill>
          <a:ln/>
        </p:spPr>
      </p:sp>
      <p:sp>
        <p:nvSpPr>
          <p:cNvPr id="55" name="Text 53"/>
          <p:cNvSpPr/>
          <p:nvPr/>
        </p:nvSpPr>
        <p:spPr>
          <a:xfrm>
            <a:off x="6355080" y="6153912"/>
            <a:ext cx="5486400" cy="320040"/>
          </a:xfrm>
          <a:prstGeom prst="rect">
            <a:avLst/>
          </a:prstGeom>
          <a:noFill/>
          <a:ln/>
        </p:spPr>
        <p:txBody>
          <a:bodyPr wrap="square" lIns="0" tIns="0" rIns="0" bIns="0" rtlCol="0" anchor="ctr"/>
          <a:lstStyle/>
          <a:p>
            <a:pPr indent="0" marL="0">
              <a:buNone/>
            </a:pPr>
            <a:r>
              <a:rPr lang="en-US" sz="750" b="1" dirty="0">
                <a:solidFill>
                  <a:srgbClr val="1B5E20"/>
                </a:solidFill>
              </a:rPr>
              <a:t>Verdict: Good for supplementary loads and post-go-live corrections. Not a primary tool for large-scale ECC Brownfield migration.</a:t>
            </a:r>
            <a:endParaRPr lang="en-US" sz="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D"/>
        </a:solidFill>
      </p:bgPr>
    </p:bg>
    <p:spTree>
      <p:nvGrpSpPr>
        <p:cNvPr id="1" name=""/>
        <p:cNvGrpSpPr/>
        <p:nvPr/>
      </p:nvGrpSpPr>
      <p:grpSpPr>
        <a:xfrm>
          <a:off x="0" y="0"/>
          <a:ext cx="0" cy="0"/>
          <a:chOff x="0" y="0"/>
          <a:chExt cx="0" cy="0"/>
        </a:xfrm>
      </p:grpSpPr>
      <p:sp>
        <p:nvSpPr>
          <p:cNvPr id="2" name="Shape 0"/>
          <p:cNvSpPr/>
          <p:nvPr/>
        </p:nvSpPr>
        <p:spPr>
          <a:xfrm>
            <a:off x="0" y="0"/>
            <a:ext cx="12161520" cy="749808"/>
          </a:xfrm>
          <a:prstGeom prst="rect">
            <a:avLst/>
          </a:prstGeom>
          <a:solidFill>
            <a:srgbClr val="0D1B2A"/>
          </a:solidFill>
          <a:ln/>
        </p:spPr>
      </p:sp>
      <p:sp>
        <p:nvSpPr>
          <p:cNvPr id="3" name="Shape 1"/>
          <p:cNvSpPr/>
          <p:nvPr/>
        </p:nvSpPr>
        <p:spPr>
          <a:xfrm>
            <a:off x="0" y="0"/>
            <a:ext cx="274320" cy="749808"/>
          </a:xfrm>
          <a:prstGeom prst="rect">
            <a:avLst/>
          </a:prstGeom>
          <a:solidFill>
            <a:srgbClr val="00695C"/>
          </a:solidFill>
          <a:ln/>
        </p:spPr>
      </p:sp>
      <p:sp>
        <p:nvSpPr>
          <p:cNvPr id="4" name="Text 2"/>
          <p:cNvSpPr/>
          <p:nvPr/>
        </p:nvSpPr>
        <p:spPr>
          <a:xfrm>
            <a:off x="457200" y="0"/>
            <a:ext cx="11521440" cy="749808"/>
          </a:xfrm>
          <a:prstGeom prst="rect">
            <a:avLst/>
          </a:prstGeom>
          <a:noFill/>
          <a:ln/>
        </p:spPr>
        <p:txBody>
          <a:bodyPr wrap="square" lIns="0" tIns="0" rIns="0" bIns="0" rtlCol="0" anchor="ctr"/>
          <a:lstStyle/>
          <a:p>
            <a:pPr indent="0" marL="0">
              <a:buNone/>
            </a:pPr>
            <a:r>
              <a:rPr lang="en-US" sz="1350" b="1" spc="60" kern="0" dirty="0">
                <a:solidFill>
                  <a:srgbClr val="FFFFFF"/>
                </a:solidFill>
              </a:rPr>
              <a:t>PART 2  |  THE DATA MIGRATION PROCESS — 8 STEPS YOUR TEAM OWNS</a:t>
            </a:r>
            <a:endParaRPr lang="en-US" sz="1350" dirty="0"/>
          </a:p>
        </p:txBody>
      </p:sp>
      <p:sp>
        <p:nvSpPr>
          <p:cNvPr id="5" name="Shape 3"/>
          <p:cNvSpPr/>
          <p:nvPr/>
        </p:nvSpPr>
        <p:spPr>
          <a:xfrm>
            <a:off x="182880" y="804672"/>
            <a:ext cx="274320" cy="274320"/>
          </a:xfrm>
          <a:prstGeom prst="rect">
            <a:avLst/>
          </a:prstGeom>
          <a:solidFill>
            <a:srgbClr val="0D1B2A"/>
          </a:solidFill>
          <a:ln/>
        </p:spPr>
      </p:sp>
      <p:sp>
        <p:nvSpPr>
          <p:cNvPr id="6" name="Text 4"/>
          <p:cNvSpPr/>
          <p:nvPr/>
        </p:nvSpPr>
        <p:spPr>
          <a:xfrm>
            <a:off x="219456" y="804672"/>
            <a:ext cx="219456" cy="274320"/>
          </a:xfrm>
          <a:prstGeom prst="rect">
            <a:avLst/>
          </a:prstGeom>
          <a:noFill/>
          <a:ln/>
        </p:spPr>
        <p:txBody>
          <a:bodyPr wrap="square" lIns="0" tIns="0" rIns="0" bIns="0" rtlCol="0" anchor="ctr"/>
          <a:lstStyle/>
          <a:p>
            <a:pPr indent="0" marL="0">
              <a:buNone/>
            </a:pPr>
            <a:r>
              <a:rPr lang="en-US" sz="750" b="1" dirty="0">
                <a:solidFill>
                  <a:srgbClr val="FFFFFF"/>
                </a:solidFill>
              </a:rPr>
              <a:t>#</a:t>
            </a:r>
            <a:endParaRPr lang="en-US" sz="750" dirty="0"/>
          </a:p>
        </p:txBody>
      </p:sp>
      <p:sp>
        <p:nvSpPr>
          <p:cNvPr id="7" name="Shape 5"/>
          <p:cNvSpPr/>
          <p:nvPr/>
        </p:nvSpPr>
        <p:spPr>
          <a:xfrm>
            <a:off x="512064" y="804672"/>
            <a:ext cx="1243584" cy="274320"/>
          </a:xfrm>
          <a:prstGeom prst="rect">
            <a:avLst/>
          </a:prstGeom>
          <a:solidFill>
            <a:srgbClr val="0D1B2A"/>
          </a:solidFill>
          <a:ln/>
        </p:spPr>
      </p:sp>
      <p:sp>
        <p:nvSpPr>
          <p:cNvPr id="8" name="Text 6"/>
          <p:cNvSpPr/>
          <p:nvPr/>
        </p:nvSpPr>
        <p:spPr>
          <a:xfrm>
            <a:off x="548640" y="804672"/>
            <a:ext cx="1188720" cy="274320"/>
          </a:xfrm>
          <a:prstGeom prst="rect">
            <a:avLst/>
          </a:prstGeom>
          <a:noFill/>
          <a:ln/>
        </p:spPr>
        <p:txBody>
          <a:bodyPr wrap="square" lIns="0" tIns="0" rIns="0" bIns="0" rtlCol="0" anchor="ctr"/>
          <a:lstStyle/>
          <a:p>
            <a:pPr indent="0" marL="0">
              <a:buNone/>
            </a:pPr>
            <a:r>
              <a:rPr lang="en-US" sz="750" b="1" dirty="0">
                <a:solidFill>
                  <a:srgbClr val="FFFFFF"/>
                </a:solidFill>
              </a:rPr>
              <a:t>STEP</a:t>
            </a:r>
            <a:endParaRPr lang="en-US" sz="750" dirty="0"/>
          </a:p>
        </p:txBody>
      </p:sp>
      <p:sp>
        <p:nvSpPr>
          <p:cNvPr id="9" name="Shape 7"/>
          <p:cNvSpPr/>
          <p:nvPr/>
        </p:nvSpPr>
        <p:spPr>
          <a:xfrm>
            <a:off x="1810512" y="804672"/>
            <a:ext cx="3401568" cy="274320"/>
          </a:xfrm>
          <a:prstGeom prst="rect">
            <a:avLst/>
          </a:prstGeom>
          <a:solidFill>
            <a:srgbClr val="0D1B2A"/>
          </a:solidFill>
          <a:ln/>
        </p:spPr>
      </p:sp>
      <p:sp>
        <p:nvSpPr>
          <p:cNvPr id="10" name="Text 8"/>
          <p:cNvSpPr/>
          <p:nvPr/>
        </p:nvSpPr>
        <p:spPr>
          <a:xfrm>
            <a:off x="1847088" y="804672"/>
            <a:ext cx="3346704" cy="274320"/>
          </a:xfrm>
          <a:prstGeom prst="rect">
            <a:avLst/>
          </a:prstGeom>
          <a:noFill/>
          <a:ln/>
        </p:spPr>
        <p:txBody>
          <a:bodyPr wrap="square" lIns="0" tIns="0" rIns="0" bIns="0" rtlCol="0" anchor="ctr"/>
          <a:lstStyle/>
          <a:p>
            <a:pPr indent="0" marL="0">
              <a:buNone/>
            </a:pPr>
            <a:r>
              <a:rPr lang="en-US" sz="750" b="1" dirty="0">
                <a:solidFill>
                  <a:srgbClr val="FFFFFF"/>
                </a:solidFill>
              </a:rPr>
              <a:t>SAP'S ROLE &amp; TOOL PROVIDED</a:t>
            </a:r>
            <a:endParaRPr lang="en-US" sz="750" dirty="0"/>
          </a:p>
        </p:txBody>
      </p:sp>
      <p:sp>
        <p:nvSpPr>
          <p:cNvPr id="11" name="Shape 9"/>
          <p:cNvSpPr/>
          <p:nvPr/>
        </p:nvSpPr>
        <p:spPr>
          <a:xfrm>
            <a:off x="5266944" y="804672"/>
            <a:ext cx="3474720" cy="274320"/>
          </a:xfrm>
          <a:prstGeom prst="rect">
            <a:avLst/>
          </a:prstGeom>
          <a:solidFill>
            <a:srgbClr val="0D1B2A"/>
          </a:solidFill>
          <a:ln/>
        </p:spPr>
      </p:sp>
      <p:sp>
        <p:nvSpPr>
          <p:cNvPr id="12" name="Text 10"/>
          <p:cNvSpPr/>
          <p:nvPr/>
        </p:nvSpPr>
        <p:spPr>
          <a:xfrm>
            <a:off x="5303520" y="804672"/>
            <a:ext cx="3419856" cy="274320"/>
          </a:xfrm>
          <a:prstGeom prst="rect">
            <a:avLst/>
          </a:prstGeom>
          <a:noFill/>
          <a:ln/>
        </p:spPr>
        <p:txBody>
          <a:bodyPr wrap="square" lIns="0" tIns="0" rIns="0" bIns="0" rtlCol="0" anchor="ctr"/>
          <a:lstStyle/>
          <a:p>
            <a:pPr indent="0" marL="0">
              <a:buNone/>
            </a:pPr>
            <a:r>
              <a:rPr lang="en-US" sz="750" b="1" dirty="0">
                <a:solidFill>
                  <a:srgbClr val="FFFFFF"/>
                </a:solidFill>
              </a:rPr>
              <a:t>WHAT YOUR TEAM DOES</a:t>
            </a:r>
            <a:endParaRPr lang="en-US" sz="750" dirty="0"/>
          </a:p>
        </p:txBody>
      </p:sp>
      <p:sp>
        <p:nvSpPr>
          <p:cNvPr id="13" name="Shape 11"/>
          <p:cNvSpPr/>
          <p:nvPr/>
        </p:nvSpPr>
        <p:spPr>
          <a:xfrm>
            <a:off x="8796528" y="804672"/>
            <a:ext cx="3200400" cy="274320"/>
          </a:xfrm>
          <a:prstGeom prst="rect">
            <a:avLst/>
          </a:prstGeom>
          <a:solidFill>
            <a:srgbClr val="0D1B2A"/>
          </a:solidFill>
          <a:ln/>
        </p:spPr>
      </p:sp>
      <p:sp>
        <p:nvSpPr>
          <p:cNvPr id="14" name="Text 12"/>
          <p:cNvSpPr/>
          <p:nvPr/>
        </p:nvSpPr>
        <p:spPr>
          <a:xfrm>
            <a:off x="8833104" y="804672"/>
            <a:ext cx="3145536" cy="274320"/>
          </a:xfrm>
          <a:prstGeom prst="rect">
            <a:avLst/>
          </a:prstGeom>
          <a:noFill/>
          <a:ln/>
        </p:spPr>
        <p:txBody>
          <a:bodyPr wrap="square" lIns="0" tIns="0" rIns="0" bIns="0" rtlCol="0" anchor="ctr"/>
          <a:lstStyle/>
          <a:p>
            <a:pPr indent="0" marL="0">
              <a:buNone/>
            </a:pPr>
            <a:r>
              <a:rPr lang="en-US" sz="750" b="1" dirty="0">
                <a:solidFill>
                  <a:srgbClr val="FFFFFF"/>
                </a:solidFill>
              </a:rPr>
              <a:t>TOOLS USED</a:t>
            </a:r>
            <a:endParaRPr lang="en-US" sz="750" dirty="0"/>
          </a:p>
        </p:txBody>
      </p:sp>
      <p:sp>
        <p:nvSpPr>
          <p:cNvPr id="15" name="Shape 13"/>
          <p:cNvSpPr/>
          <p:nvPr/>
        </p:nvSpPr>
        <p:spPr>
          <a:xfrm>
            <a:off x="182880" y="1115568"/>
            <a:ext cx="274320" cy="667512"/>
          </a:xfrm>
          <a:prstGeom prst="rect">
            <a:avLst/>
          </a:prstGeom>
          <a:solidFill>
            <a:srgbClr val="1565C0"/>
          </a:solidFill>
          <a:ln/>
        </p:spPr>
      </p:sp>
      <p:sp>
        <p:nvSpPr>
          <p:cNvPr id="16" name="Text 14"/>
          <p:cNvSpPr/>
          <p:nvPr/>
        </p:nvSpPr>
        <p:spPr>
          <a:xfrm>
            <a:off x="182880" y="1115568"/>
            <a:ext cx="274320" cy="667512"/>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17" name="Shape 15"/>
          <p:cNvSpPr/>
          <p:nvPr/>
        </p:nvSpPr>
        <p:spPr>
          <a:xfrm>
            <a:off x="512064" y="1115568"/>
            <a:ext cx="1243584" cy="667512"/>
          </a:xfrm>
          <a:prstGeom prst="rect">
            <a:avLst/>
          </a:prstGeom>
          <a:solidFill>
            <a:srgbClr val="FFFFFF"/>
          </a:solidFill>
          <a:ln/>
        </p:spPr>
      </p:sp>
      <p:sp>
        <p:nvSpPr>
          <p:cNvPr id="18" name="Text 16"/>
          <p:cNvSpPr/>
          <p:nvPr/>
        </p:nvSpPr>
        <p:spPr>
          <a:xfrm>
            <a:off x="557784" y="1115568"/>
            <a:ext cx="1179576" cy="667512"/>
          </a:xfrm>
          <a:prstGeom prst="rect">
            <a:avLst/>
          </a:prstGeom>
          <a:noFill/>
          <a:ln/>
        </p:spPr>
        <p:txBody>
          <a:bodyPr wrap="square" lIns="0" tIns="0" rIns="0" bIns="0" rtlCol="0" anchor="ctr"/>
          <a:lstStyle/>
          <a:p>
            <a:pPr indent="0" marL="0">
              <a:buNone/>
            </a:pPr>
            <a:r>
              <a:rPr lang="en-US" sz="850" b="1" dirty="0">
                <a:solidFill>
                  <a:srgbClr val="1565C0"/>
                </a:solidFill>
              </a:rPr>
              <a:t>SCOPE</a:t>
            </a:r>
            <a:endParaRPr lang="en-US" sz="850" dirty="0"/>
          </a:p>
        </p:txBody>
      </p:sp>
      <p:sp>
        <p:nvSpPr>
          <p:cNvPr id="19" name="Shape 17"/>
          <p:cNvSpPr/>
          <p:nvPr/>
        </p:nvSpPr>
        <p:spPr>
          <a:xfrm>
            <a:off x="1810512" y="1115568"/>
            <a:ext cx="3401568" cy="667512"/>
          </a:xfrm>
          <a:prstGeom prst="rect">
            <a:avLst/>
          </a:prstGeom>
          <a:solidFill>
            <a:srgbClr val="FFFFFF"/>
          </a:solidFill>
          <a:ln/>
        </p:spPr>
      </p:sp>
      <p:sp>
        <p:nvSpPr>
          <p:cNvPr id="20" name="Text 18"/>
          <p:cNvSpPr/>
          <p:nvPr/>
        </p:nvSpPr>
        <p:spPr>
          <a:xfrm>
            <a:off x="1865376" y="1115568"/>
            <a:ext cx="3319272" cy="667512"/>
          </a:xfrm>
          <a:prstGeom prst="rect">
            <a:avLst/>
          </a:prstGeom>
          <a:noFill/>
          <a:ln/>
        </p:spPr>
        <p:txBody>
          <a:bodyPr wrap="square" lIns="0" tIns="0" rIns="0" bIns="0" rtlCol="0" anchor="ctr"/>
          <a:lstStyle/>
          <a:p>
            <a:pPr indent="0" marL="0">
              <a:buNone/>
            </a:pPr>
            <a:r>
              <a:rPr lang="en-US" sz="780" dirty="0">
                <a:solidFill>
                  <a:srgbClr val="0D47A1"/>
                </a:solidFill>
              </a:rPr>
              <a:t>Readiness Check provides full object inventory &amp; data volumes</a:t>
            </a:r>
            <a:endParaRPr lang="en-US" sz="780" dirty="0"/>
          </a:p>
        </p:txBody>
      </p:sp>
      <p:sp>
        <p:nvSpPr>
          <p:cNvPr id="21" name="Shape 19"/>
          <p:cNvSpPr/>
          <p:nvPr/>
        </p:nvSpPr>
        <p:spPr>
          <a:xfrm>
            <a:off x="5266944" y="1115568"/>
            <a:ext cx="3474720" cy="667512"/>
          </a:xfrm>
          <a:prstGeom prst="rect">
            <a:avLst/>
          </a:prstGeom>
          <a:solidFill>
            <a:srgbClr val="FFFFFF"/>
          </a:solidFill>
          <a:ln/>
        </p:spPr>
      </p:sp>
      <p:sp>
        <p:nvSpPr>
          <p:cNvPr id="22" name="Text 20"/>
          <p:cNvSpPr/>
          <p:nvPr/>
        </p:nvSpPr>
        <p:spPr>
          <a:xfrm>
            <a:off x="5321808" y="1115568"/>
            <a:ext cx="3392424" cy="667512"/>
          </a:xfrm>
          <a:prstGeom prst="rect">
            <a:avLst/>
          </a:prstGeom>
          <a:noFill/>
          <a:ln/>
        </p:spPr>
        <p:txBody>
          <a:bodyPr wrap="square" lIns="0" tIns="0" rIns="0" bIns="0" rtlCol="0" anchor="ctr"/>
          <a:lstStyle/>
          <a:p>
            <a:pPr indent="0" marL="0">
              <a:buNone/>
            </a:pPr>
            <a:r>
              <a:rPr lang="en-US" sz="780" dirty="0">
                <a:solidFill>
                  <a:srgbClr val="37474F"/>
                </a:solidFill>
              </a:rPr>
              <a:t>Identify every data object in scope. Classify: SUM+DMO handles automatically vs your team migrates manually. Define quality rules for each object.</a:t>
            </a:r>
            <a:endParaRPr lang="en-US" sz="780" dirty="0"/>
          </a:p>
        </p:txBody>
      </p:sp>
      <p:sp>
        <p:nvSpPr>
          <p:cNvPr id="23" name="Shape 21"/>
          <p:cNvSpPr/>
          <p:nvPr/>
        </p:nvSpPr>
        <p:spPr>
          <a:xfrm>
            <a:off x="8796528" y="1115568"/>
            <a:ext cx="3200400" cy="667512"/>
          </a:xfrm>
          <a:prstGeom prst="rect">
            <a:avLst/>
          </a:prstGeom>
          <a:solidFill>
            <a:srgbClr val="FFFFFF"/>
          </a:solidFill>
          <a:ln/>
        </p:spPr>
      </p:sp>
      <p:sp>
        <p:nvSpPr>
          <p:cNvPr id="24" name="Text 22"/>
          <p:cNvSpPr/>
          <p:nvPr/>
        </p:nvSpPr>
        <p:spPr>
          <a:xfrm>
            <a:off x="8851392" y="1115568"/>
            <a:ext cx="3118104" cy="667512"/>
          </a:xfrm>
          <a:prstGeom prst="rect">
            <a:avLst/>
          </a:prstGeom>
          <a:noFill/>
          <a:ln/>
        </p:spPr>
        <p:txBody>
          <a:bodyPr wrap="square" lIns="0" tIns="0" rIns="0" bIns="0" rtlCol="0" anchor="ctr"/>
          <a:lstStyle/>
          <a:p>
            <a:pPr indent="0" marL="0">
              <a:buNone/>
            </a:pPr>
            <a:r>
              <a:rPr lang="en-US" sz="750" dirty="0">
                <a:solidFill>
                  <a:srgbClr val="00695C"/>
                </a:solidFill>
              </a:rPr>
              <a:t>SAP Readiness Check · Migration Object Modeler (LTMOM)</a:t>
            </a:r>
            <a:endParaRPr lang="en-US" sz="750" dirty="0"/>
          </a:p>
        </p:txBody>
      </p:sp>
      <p:sp>
        <p:nvSpPr>
          <p:cNvPr id="25" name="Shape 23"/>
          <p:cNvSpPr/>
          <p:nvPr/>
        </p:nvSpPr>
        <p:spPr>
          <a:xfrm>
            <a:off x="182880" y="1828800"/>
            <a:ext cx="274320" cy="667512"/>
          </a:xfrm>
          <a:prstGeom prst="rect">
            <a:avLst/>
          </a:prstGeom>
          <a:solidFill>
            <a:srgbClr val="0277BD"/>
          </a:solidFill>
          <a:ln/>
        </p:spPr>
      </p:sp>
      <p:sp>
        <p:nvSpPr>
          <p:cNvPr id="26" name="Text 24"/>
          <p:cNvSpPr/>
          <p:nvPr/>
        </p:nvSpPr>
        <p:spPr>
          <a:xfrm>
            <a:off x="182880" y="1828800"/>
            <a:ext cx="274320" cy="667512"/>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27" name="Shape 25"/>
          <p:cNvSpPr/>
          <p:nvPr/>
        </p:nvSpPr>
        <p:spPr>
          <a:xfrm>
            <a:off x="512064" y="1828800"/>
            <a:ext cx="1243584" cy="667512"/>
          </a:xfrm>
          <a:prstGeom prst="rect">
            <a:avLst/>
          </a:prstGeom>
          <a:solidFill>
            <a:srgbClr val="F1F5F9"/>
          </a:solidFill>
          <a:ln/>
        </p:spPr>
      </p:sp>
      <p:sp>
        <p:nvSpPr>
          <p:cNvPr id="28" name="Text 26"/>
          <p:cNvSpPr/>
          <p:nvPr/>
        </p:nvSpPr>
        <p:spPr>
          <a:xfrm>
            <a:off x="557784" y="1828800"/>
            <a:ext cx="1179576" cy="667512"/>
          </a:xfrm>
          <a:prstGeom prst="rect">
            <a:avLst/>
          </a:prstGeom>
          <a:noFill/>
          <a:ln/>
        </p:spPr>
        <p:txBody>
          <a:bodyPr wrap="square" lIns="0" tIns="0" rIns="0" bIns="0" rtlCol="0" anchor="ctr"/>
          <a:lstStyle/>
          <a:p>
            <a:pPr indent="0" marL="0">
              <a:buNone/>
            </a:pPr>
            <a:r>
              <a:rPr lang="en-US" sz="850" b="1" dirty="0">
                <a:solidFill>
                  <a:srgbClr val="0277BD"/>
                </a:solidFill>
              </a:rPr>
              <a:t>EXTRACT</a:t>
            </a:r>
            <a:endParaRPr lang="en-US" sz="850" dirty="0"/>
          </a:p>
        </p:txBody>
      </p:sp>
      <p:sp>
        <p:nvSpPr>
          <p:cNvPr id="29" name="Shape 27"/>
          <p:cNvSpPr/>
          <p:nvPr/>
        </p:nvSpPr>
        <p:spPr>
          <a:xfrm>
            <a:off x="1810512" y="1828800"/>
            <a:ext cx="3401568" cy="667512"/>
          </a:xfrm>
          <a:prstGeom prst="rect">
            <a:avLst/>
          </a:prstGeom>
          <a:solidFill>
            <a:srgbClr val="F1F5F9"/>
          </a:solidFill>
          <a:ln/>
        </p:spPr>
      </p:sp>
      <p:sp>
        <p:nvSpPr>
          <p:cNvPr id="30" name="Text 28"/>
          <p:cNvSpPr/>
          <p:nvPr/>
        </p:nvSpPr>
        <p:spPr>
          <a:xfrm>
            <a:off x="1865376" y="1828800"/>
            <a:ext cx="3319272" cy="667512"/>
          </a:xfrm>
          <a:prstGeom prst="rect">
            <a:avLst/>
          </a:prstGeom>
          <a:noFill/>
          <a:ln/>
        </p:spPr>
        <p:txBody>
          <a:bodyPr wrap="square" lIns="0" tIns="0" rIns="0" bIns="0" rtlCol="0" anchor="ctr"/>
          <a:lstStyle/>
          <a:p>
            <a:pPr indent="0" marL="0">
              <a:buNone/>
            </a:pPr>
            <a:r>
              <a:rPr lang="en-US" sz="780" dirty="0">
                <a:solidFill>
                  <a:srgbClr val="0D47A1"/>
                </a:solidFill>
              </a:rPr>
              <a:t>SUM+DMO auto-extracts all ECC data during conversion run</a:t>
            </a:r>
            <a:endParaRPr lang="en-US" sz="780" dirty="0"/>
          </a:p>
        </p:txBody>
      </p:sp>
      <p:sp>
        <p:nvSpPr>
          <p:cNvPr id="31" name="Shape 29"/>
          <p:cNvSpPr/>
          <p:nvPr/>
        </p:nvSpPr>
        <p:spPr>
          <a:xfrm>
            <a:off x="5266944" y="1828800"/>
            <a:ext cx="3474720" cy="667512"/>
          </a:xfrm>
          <a:prstGeom prst="rect">
            <a:avLst/>
          </a:prstGeom>
          <a:solidFill>
            <a:srgbClr val="F1F5F9"/>
          </a:solidFill>
          <a:ln/>
        </p:spPr>
      </p:sp>
      <p:sp>
        <p:nvSpPr>
          <p:cNvPr id="32" name="Text 30"/>
          <p:cNvSpPr/>
          <p:nvPr/>
        </p:nvSpPr>
        <p:spPr>
          <a:xfrm>
            <a:off x="5321808" y="1828800"/>
            <a:ext cx="3392424" cy="667512"/>
          </a:xfrm>
          <a:prstGeom prst="rect">
            <a:avLst/>
          </a:prstGeom>
          <a:noFill/>
          <a:ln/>
        </p:spPr>
        <p:txBody>
          <a:bodyPr wrap="square" lIns="0" tIns="0" rIns="0" bIns="0" rtlCol="0" anchor="ctr"/>
          <a:lstStyle/>
          <a:p>
            <a:pPr indent="0" marL="0">
              <a:buNone/>
            </a:pPr>
            <a:r>
              <a:rPr lang="en-US" sz="780" dirty="0">
                <a:solidFill>
                  <a:srgbClr val="37474F"/>
                </a:solidFill>
              </a:rPr>
              <a:t>For manual objects: write ABAP extraction programs or BODS jobs to pull data from ECC source tables into staging files or staging tables ready for transformation.</a:t>
            </a:r>
            <a:endParaRPr lang="en-US" sz="780" dirty="0"/>
          </a:p>
        </p:txBody>
      </p:sp>
      <p:sp>
        <p:nvSpPr>
          <p:cNvPr id="33" name="Shape 31"/>
          <p:cNvSpPr/>
          <p:nvPr/>
        </p:nvSpPr>
        <p:spPr>
          <a:xfrm>
            <a:off x="8796528" y="1828800"/>
            <a:ext cx="3200400" cy="667512"/>
          </a:xfrm>
          <a:prstGeom prst="rect">
            <a:avLst/>
          </a:prstGeom>
          <a:solidFill>
            <a:srgbClr val="F1F5F9"/>
          </a:solidFill>
          <a:ln/>
        </p:spPr>
      </p:sp>
      <p:sp>
        <p:nvSpPr>
          <p:cNvPr id="34" name="Text 32"/>
          <p:cNvSpPr/>
          <p:nvPr/>
        </p:nvSpPr>
        <p:spPr>
          <a:xfrm>
            <a:off x="8851392" y="1828800"/>
            <a:ext cx="3118104" cy="667512"/>
          </a:xfrm>
          <a:prstGeom prst="rect">
            <a:avLst/>
          </a:prstGeom>
          <a:noFill/>
          <a:ln/>
        </p:spPr>
        <p:txBody>
          <a:bodyPr wrap="square" lIns="0" tIns="0" rIns="0" bIns="0" rtlCol="0" anchor="ctr"/>
          <a:lstStyle/>
          <a:p>
            <a:pPr indent="0" marL="0">
              <a:buNone/>
            </a:pPr>
            <a:r>
              <a:rPr lang="en-US" sz="750" dirty="0">
                <a:solidFill>
                  <a:srgbClr val="00695C"/>
                </a:solidFill>
              </a:rPr>
              <a:t>Custom ABAP extraction reports · SAP BODS · Direct SQL queries on ECC tables</a:t>
            </a:r>
            <a:endParaRPr lang="en-US" sz="750" dirty="0"/>
          </a:p>
        </p:txBody>
      </p:sp>
      <p:sp>
        <p:nvSpPr>
          <p:cNvPr id="35" name="Shape 33"/>
          <p:cNvSpPr/>
          <p:nvPr/>
        </p:nvSpPr>
        <p:spPr>
          <a:xfrm>
            <a:off x="182880" y="2542032"/>
            <a:ext cx="274320" cy="667512"/>
          </a:xfrm>
          <a:prstGeom prst="rect">
            <a:avLst/>
          </a:prstGeom>
          <a:solidFill>
            <a:srgbClr val="00695C"/>
          </a:solidFill>
          <a:ln/>
        </p:spPr>
      </p:sp>
      <p:sp>
        <p:nvSpPr>
          <p:cNvPr id="36" name="Text 34"/>
          <p:cNvSpPr/>
          <p:nvPr/>
        </p:nvSpPr>
        <p:spPr>
          <a:xfrm>
            <a:off x="182880" y="2542032"/>
            <a:ext cx="274320" cy="667512"/>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37" name="Shape 35"/>
          <p:cNvSpPr/>
          <p:nvPr/>
        </p:nvSpPr>
        <p:spPr>
          <a:xfrm>
            <a:off x="512064" y="2542032"/>
            <a:ext cx="1243584" cy="667512"/>
          </a:xfrm>
          <a:prstGeom prst="rect">
            <a:avLst/>
          </a:prstGeom>
          <a:solidFill>
            <a:srgbClr val="FFFFFF"/>
          </a:solidFill>
          <a:ln/>
        </p:spPr>
      </p:sp>
      <p:sp>
        <p:nvSpPr>
          <p:cNvPr id="38" name="Text 36"/>
          <p:cNvSpPr/>
          <p:nvPr/>
        </p:nvSpPr>
        <p:spPr>
          <a:xfrm>
            <a:off x="557784" y="2542032"/>
            <a:ext cx="1179576" cy="667512"/>
          </a:xfrm>
          <a:prstGeom prst="rect">
            <a:avLst/>
          </a:prstGeom>
          <a:noFill/>
          <a:ln/>
        </p:spPr>
        <p:txBody>
          <a:bodyPr wrap="square" lIns="0" tIns="0" rIns="0" bIns="0" rtlCol="0" anchor="ctr"/>
          <a:lstStyle/>
          <a:p>
            <a:pPr indent="0" marL="0">
              <a:buNone/>
            </a:pPr>
            <a:r>
              <a:rPr lang="en-US" sz="850" b="1" dirty="0">
                <a:solidFill>
                  <a:srgbClr val="00695C"/>
                </a:solidFill>
              </a:rPr>
              <a:t>PROFILE &amp; ANALYSE</a:t>
            </a:r>
            <a:endParaRPr lang="en-US" sz="850" dirty="0"/>
          </a:p>
        </p:txBody>
      </p:sp>
      <p:sp>
        <p:nvSpPr>
          <p:cNvPr id="39" name="Shape 37"/>
          <p:cNvSpPr/>
          <p:nvPr/>
        </p:nvSpPr>
        <p:spPr>
          <a:xfrm>
            <a:off x="1810512" y="2542032"/>
            <a:ext cx="3401568" cy="667512"/>
          </a:xfrm>
          <a:prstGeom prst="rect">
            <a:avLst/>
          </a:prstGeom>
          <a:solidFill>
            <a:srgbClr val="FFFFFF"/>
          </a:solidFill>
          <a:ln/>
        </p:spPr>
      </p:sp>
      <p:sp>
        <p:nvSpPr>
          <p:cNvPr id="40" name="Text 38"/>
          <p:cNvSpPr/>
          <p:nvPr/>
        </p:nvSpPr>
        <p:spPr>
          <a:xfrm>
            <a:off x="1865376" y="2542032"/>
            <a:ext cx="3319272" cy="667512"/>
          </a:xfrm>
          <a:prstGeom prst="rect">
            <a:avLst/>
          </a:prstGeom>
          <a:noFill/>
          <a:ln/>
        </p:spPr>
        <p:txBody>
          <a:bodyPr wrap="square" lIns="0" tIns="0" rIns="0" bIns="0" rtlCol="0" anchor="ctr"/>
          <a:lstStyle/>
          <a:p>
            <a:pPr indent="0" marL="0">
              <a:buNone/>
            </a:pPr>
            <a:r>
              <a:rPr lang="en-US" sz="780" dirty="0">
                <a:solidFill>
                  <a:srgbClr val="0D47A1"/>
                </a:solidFill>
              </a:rPr>
              <a:t>SICheck flags data-level incompatibilities. ATC flags code issues.</a:t>
            </a:r>
            <a:endParaRPr lang="en-US" sz="780" dirty="0"/>
          </a:p>
        </p:txBody>
      </p:sp>
      <p:sp>
        <p:nvSpPr>
          <p:cNvPr id="41" name="Shape 39"/>
          <p:cNvSpPr/>
          <p:nvPr/>
        </p:nvSpPr>
        <p:spPr>
          <a:xfrm>
            <a:off x="5266944" y="2542032"/>
            <a:ext cx="3474720" cy="667512"/>
          </a:xfrm>
          <a:prstGeom prst="rect">
            <a:avLst/>
          </a:prstGeom>
          <a:solidFill>
            <a:srgbClr val="FFFFFF"/>
          </a:solidFill>
          <a:ln/>
        </p:spPr>
      </p:sp>
      <p:sp>
        <p:nvSpPr>
          <p:cNvPr id="42" name="Text 40"/>
          <p:cNvSpPr/>
          <p:nvPr/>
        </p:nvSpPr>
        <p:spPr>
          <a:xfrm>
            <a:off x="5321808" y="2542032"/>
            <a:ext cx="3392424" cy="667512"/>
          </a:xfrm>
          <a:prstGeom prst="rect">
            <a:avLst/>
          </a:prstGeom>
          <a:noFill/>
          <a:ln/>
        </p:spPr>
        <p:txBody>
          <a:bodyPr wrap="square" lIns="0" tIns="0" rIns="0" bIns="0" rtlCol="0" anchor="ctr"/>
          <a:lstStyle/>
          <a:p>
            <a:pPr indent="0" marL="0">
              <a:buNone/>
            </a:pPr>
            <a:r>
              <a:rPr lang="en-US" sz="780" dirty="0">
                <a:solidFill>
                  <a:srgbClr val="37474F"/>
                </a:solidFill>
              </a:rPr>
              <a:t>Profile all extracted data — find duplicates (same vendor 3 times), nulls (vendor with no bank details), format mismatches (date formats), orphan records (open PO with missing material). Document every issue found.</a:t>
            </a:r>
            <a:endParaRPr lang="en-US" sz="780" dirty="0"/>
          </a:p>
        </p:txBody>
      </p:sp>
      <p:sp>
        <p:nvSpPr>
          <p:cNvPr id="43" name="Shape 41"/>
          <p:cNvSpPr/>
          <p:nvPr/>
        </p:nvSpPr>
        <p:spPr>
          <a:xfrm>
            <a:off x="8796528" y="2542032"/>
            <a:ext cx="3200400" cy="667512"/>
          </a:xfrm>
          <a:prstGeom prst="rect">
            <a:avLst/>
          </a:prstGeom>
          <a:solidFill>
            <a:srgbClr val="FFFFFF"/>
          </a:solidFill>
          <a:ln/>
        </p:spPr>
      </p:sp>
      <p:sp>
        <p:nvSpPr>
          <p:cNvPr id="44" name="Text 42"/>
          <p:cNvSpPr/>
          <p:nvPr/>
        </p:nvSpPr>
        <p:spPr>
          <a:xfrm>
            <a:off x="8851392" y="2542032"/>
            <a:ext cx="3118104" cy="667512"/>
          </a:xfrm>
          <a:prstGeom prst="rect">
            <a:avLst/>
          </a:prstGeom>
          <a:noFill/>
          <a:ln/>
        </p:spPr>
        <p:txBody>
          <a:bodyPr wrap="square" lIns="0" tIns="0" rIns="0" bIns="0" rtlCol="0" anchor="ctr"/>
          <a:lstStyle/>
          <a:p>
            <a:pPr indent="0" marL="0">
              <a:buNone/>
            </a:pPr>
            <a:r>
              <a:rPr lang="en-US" sz="750" dirty="0">
                <a:solidFill>
                  <a:srgbClr val="00695C"/>
                </a:solidFill>
              </a:rPr>
              <a:t>Syniti / Informatica data profiling · Excel pivot analysis · SAP Data Quality Management</a:t>
            </a:r>
            <a:endParaRPr lang="en-US" sz="750" dirty="0"/>
          </a:p>
        </p:txBody>
      </p:sp>
      <p:sp>
        <p:nvSpPr>
          <p:cNvPr id="45" name="Shape 43"/>
          <p:cNvSpPr/>
          <p:nvPr/>
        </p:nvSpPr>
        <p:spPr>
          <a:xfrm>
            <a:off x="182880" y="3255264"/>
            <a:ext cx="274320" cy="667512"/>
          </a:xfrm>
          <a:prstGeom prst="rect">
            <a:avLst/>
          </a:prstGeom>
          <a:solidFill>
            <a:srgbClr val="4527A0"/>
          </a:solidFill>
          <a:ln/>
        </p:spPr>
      </p:sp>
      <p:sp>
        <p:nvSpPr>
          <p:cNvPr id="46" name="Text 44"/>
          <p:cNvSpPr/>
          <p:nvPr/>
        </p:nvSpPr>
        <p:spPr>
          <a:xfrm>
            <a:off x="182880" y="3255264"/>
            <a:ext cx="274320" cy="667512"/>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47" name="Shape 45"/>
          <p:cNvSpPr/>
          <p:nvPr/>
        </p:nvSpPr>
        <p:spPr>
          <a:xfrm>
            <a:off x="512064" y="3255264"/>
            <a:ext cx="1243584" cy="667512"/>
          </a:xfrm>
          <a:prstGeom prst="rect">
            <a:avLst/>
          </a:prstGeom>
          <a:solidFill>
            <a:srgbClr val="F1F5F9"/>
          </a:solidFill>
          <a:ln/>
        </p:spPr>
      </p:sp>
      <p:sp>
        <p:nvSpPr>
          <p:cNvPr id="48" name="Text 46"/>
          <p:cNvSpPr/>
          <p:nvPr/>
        </p:nvSpPr>
        <p:spPr>
          <a:xfrm>
            <a:off x="557784" y="3255264"/>
            <a:ext cx="1179576" cy="667512"/>
          </a:xfrm>
          <a:prstGeom prst="rect">
            <a:avLst/>
          </a:prstGeom>
          <a:noFill/>
          <a:ln/>
        </p:spPr>
        <p:txBody>
          <a:bodyPr wrap="square" lIns="0" tIns="0" rIns="0" bIns="0" rtlCol="0" anchor="ctr"/>
          <a:lstStyle/>
          <a:p>
            <a:pPr indent="0" marL="0">
              <a:buNone/>
            </a:pPr>
            <a:r>
              <a:rPr lang="en-US" sz="850" b="1" dirty="0">
                <a:solidFill>
                  <a:srgbClr val="4527A0"/>
                </a:solidFill>
              </a:rPr>
              <a:t>CLEANSE &amp; TRANSFORM</a:t>
            </a:r>
            <a:endParaRPr lang="en-US" sz="850" dirty="0"/>
          </a:p>
        </p:txBody>
      </p:sp>
      <p:sp>
        <p:nvSpPr>
          <p:cNvPr id="49" name="Shape 47"/>
          <p:cNvSpPr/>
          <p:nvPr/>
        </p:nvSpPr>
        <p:spPr>
          <a:xfrm>
            <a:off x="1810512" y="3255264"/>
            <a:ext cx="3401568" cy="667512"/>
          </a:xfrm>
          <a:prstGeom prst="rect">
            <a:avLst/>
          </a:prstGeom>
          <a:solidFill>
            <a:srgbClr val="F1F5F9"/>
          </a:solidFill>
          <a:ln/>
        </p:spPr>
      </p:sp>
      <p:sp>
        <p:nvSpPr>
          <p:cNvPr id="50" name="Text 48"/>
          <p:cNvSpPr/>
          <p:nvPr/>
        </p:nvSpPr>
        <p:spPr>
          <a:xfrm>
            <a:off x="1865376" y="3255264"/>
            <a:ext cx="3319272" cy="667512"/>
          </a:xfrm>
          <a:prstGeom prst="rect">
            <a:avLst/>
          </a:prstGeom>
          <a:noFill/>
          <a:ln/>
        </p:spPr>
        <p:txBody>
          <a:bodyPr wrap="square" lIns="0" tIns="0" rIns="0" bIns="0" rtlCol="0" anchor="ctr"/>
          <a:lstStyle/>
          <a:p>
            <a:pPr indent="0" marL="0">
              <a:buNone/>
            </a:pPr>
            <a:r>
              <a:rPr lang="en-US" sz="780" dirty="0">
                <a:solidFill>
                  <a:srgbClr val="0D47A1"/>
                </a:solidFill>
              </a:rPr>
              <a:t>SAP MDG (Master Data Governance) provides cleansing workflow approvals</a:t>
            </a:r>
            <a:endParaRPr lang="en-US" sz="780" dirty="0"/>
          </a:p>
        </p:txBody>
      </p:sp>
      <p:sp>
        <p:nvSpPr>
          <p:cNvPr id="51" name="Shape 49"/>
          <p:cNvSpPr/>
          <p:nvPr/>
        </p:nvSpPr>
        <p:spPr>
          <a:xfrm>
            <a:off x="5266944" y="3255264"/>
            <a:ext cx="3474720" cy="667512"/>
          </a:xfrm>
          <a:prstGeom prst="rect">
            <a:avLst/>
          </a:prstGeom>
          <a:solidFill>
            <a:srgbClr val="F1F5F9"/>
          </a:solidFill>
          <a:ln/>
        </p:spPr>
      </p:sp>
      <p:sp>
        <p:nvSpPr>
          <p:cNvPr id="52" name="Text 50"/>
          <p:cNvSpPr/>
          <p:nvPr/>
        </p:nvSpPr>
        <p:spPr>
          <a:xfrm>
            <a:off x="5321808" y="3255264"/>
            <a:ext cx="3392424" cy="667512"/>
          </a:xfrm>
          <a:prstGeom prst="rect">
            <a:avLst/>
          </a:prstGeom>
          <a:noFill/>
          <a:ln/>
        </p:spPr>
        <p:txBody>
          <a:bodyPr wrap="square" lIns="0" tIns="0" rIns="0" bIns="0" rtlCol="0" anchor="ctr"/>
          <a:lstStyle/>
          <a:p>
            <a:pPr indent="0" marL="0">
              <a:buNone/>
            </a:pPr>
            <a:r>
              <a:rPr lang="en-US" sz="780" dirty="0">
                <a:solidFill>
                  <a:srgbClr val="37474F"/>
                </a:solidFill>
              </a:rPr>
              <a:t>Fix all identified issues: deduplicate, fill mandatory fields, convert formats, map old G/L codes → new chart of accounts, convert ECC Customers+Vendors → Business Partners (CVI program). Business users must approve cleansed data.</a:t>
            </a:r>
            <a:endParaRPr lang="en-US" sz="780" dirty="0"/>
          </a:p>
        </p:txBody>
      </p:sp>
      <p:sp>
        <p:nvSpPr>
          <p:cNvPr id="53" name="Shape 51"/>
          <p:cNvSpPr/>
          <p:nvPr/>
        </p:nvSpPr>
        <p:spPr>
          <a:xfrm>
            <a:off x="8796528" y="3255264"/>
            <a:ext cx="3200400" cy="667512"/>
          </a:xfrm>
          <a:prstGeom prst="rect">
            <a:avLst/>
          </a:prstGeom>
          <a:solidFill>
            <a:srgbClr val="F1F5F9"/>
          </a:solidFill>
          <a:ln/>
        </p:spPr>
      </p:sp>
      <p:sp>
        <p:nvSpPr>
          <p:cNvPr id="54" name="Text 52"/>
          <p:cNvSpPr/>
          <p:nvPr/>
        </p:nvSpPr>
        <p:spPr>
          <a:xfrm>
            <a:off x="8851392" y="3255264"/>
            <a:ext cx="3118104" cy="667512"/>
          </a:xfrm>
          <a:prstGeom prst="rect">
            <a:avLst/>
          </a:prstGeom>
          <a:noFill/>
          <a:ln/>
        </p:spPr>
        <p:txBody>
          <a:bodyPr wrap="square" lIns="0" tIns="0" rIns="0" bIns="0" rtlCol="0" anchor="ctr"/>
          <a:lstStyle/>
          <a:p>
            <a:pPr indent="0" marL="0">
              <a:buNone/>
            </a:pPr>
            <a:r>
              <a:rPr lang="en-US" sz="750" dirty="0">
                <a:solidFill>
                  <a:srgbClr val="00695C"/>
                </a:solidFill>
              </a:rPr>
              <a:t>SAP BODS · Syniti · SAP MDG · CVI Customising program · Custom ABAP transformation</a:t>
            </a:r>
            <a:endParaRPr lang="en-US" sz="750" dirty="0"/>
          </a:p>
        </p:txBody>
      </p:sp>
      <p:sp>
        <p:nvSpPr>
          <p:cNvPr id="55" name="Shape 53"/>
          <p:cNvSpPr/>
          <p:nvPr/>
        </p:nvSpPr>
        <p:spPr>
          <a:xfrm>
            <a:off x="182880" y="3968496"/>
            <a:ext cx="274320" cy="667512"/>
          </a:xfrm>
          <a:prstGeom prst="rect">
            <a:avLst/>
          </a:prstGeom>
          <a:solidFill>
            <a:srgbClr val="BF360C"/>
          </a:solidFill>
          <a:ln/>
        </p:spPr>
      </p:sp>
      <p:sp>
        <p:nvSpPr>
          <p:cNvPr id="56" name="Text 54"/>
          <p:cNvSpPr/>
          <p:nvPr/>
        </p:nvSpPr>
        <p:spPr>
          <a:xfrm>
            <a:off x="182880" y="3968496"/>
            <a:ext cx="274320" cy="667512"/>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57" name="Shape 55"/>
          <p:cNvSpPr/>
          <p:nvPr/>
        </p:nvSpPr>
        <p:spPr>
          <a:xfrm>
            <a:off x="512064" y="3968496"/>
            <a:ext cx="1243584" cy="667512"/>
          </a:xfrm>
          <a:prstGeom prst="rect">
            <a:avLst/>
          </a:prstGeom>
          <a:solidFill>
            <a:srgbClr val="FFFFFF"/>
          </a:solidFill>
          <a:ln/>
        </p:spPr>
      </p:sp>
      <p:sp>
        <p:nvSpPr>
          <p:cNvPr id="58" name="Text 56"/>
          <p:cNvSpPr/>
          <p:nvPr/>
        </p:nvSpPr>
        <p:spPr>
          <a:xfrm>
            <a:off x="557784" y="3968496"/>
            <a:ext cx="1179576" cy="667512"/>
          </a:xfrm>
          <a:prstGeom prst="rect">
            <a:avLst/>
          </a:prstGeom>
          <a:noFill/>
          <a:ln/>
        </p:spPr>
        <p:txBody>
          <a:bodyPr wrap="square" lIns="0" tIns="0" rIns="0" bIns="0" rtlCol="0" anchor="ctr"/>
          <a:lstStyle/>
          <a:p>
            <a:pPr indent="0" marL="0">
              <a:buNone/>
            </a:pPr>
            <a:r>
              <a:rPr lang="en-US" sz="850" b="1" dirty="0">
                <a:solidFill>
                  <a:srgbClr val="BF360C"/>
                </a:solidFill>
              </a:rPr>
              <a:t>MAP</a:t>
            </a:r>
            <a:endParaRPr lang="en-US" sz="850" dirty="0"/>
          </a:p>
        </p:txBody>
      </p:sp>
      <p:sp>
        <p:nvSpPr>
          <p:cNvPr id="59" name="Shape 57"/>
          <p:cNvSpPr/>
          <p:nvPr/>
        </p:nvSpPr>
        <p:spPr>
          <a:xfrm>
            <a:off x="1810512" y="3968496"/>
            <a:ext cx="3401568" cy="667512"/>
          </a:xfrm>
          <a:prstGeom prst="rect">
            <a:avLst/>
          </a:prstGeom>
          <a:solidFill>
            <a:srgbClr val="FFFFFF"/>
          </a:solidFill>
          <a:ln/>
        </p:spPr>
      </p:sp>
      <p:sp>
        <p:nvSpPr>
          <p:cNvPr id="60" name="Text 58"/>
          <p:cNvSpPr/>
          <p:nvPr/>
        </p:nvSpPr>
        <p:spPr>
          <a:xfrm>
            <a:off x="1865376" y="3968496"/>
            <a:ext cx="3319272" cy="667512"/>
          </a:xfrm>
          <a:prstGeom prst="rect">
            <a:avLst/>
          </a:prstGeom>
          <a:noFill/>
          <a:ln/>
        </p:spPr>
        <p:txBody>
          <a:bodyPr wrap="square" lIns="0" tIns="0" rIns="0" bIns="0" rtlCol="0" anchor="ctr"/>
          <a:lstStyle/>
          <a:p>
            <a:pPr indent="0" marL="0">
              <a:buNone/>
            </a:pPr>
            <a:r>
              <a:rPr lang="en-US" sz="780" dirty="0">
                <a:solidFill>
                  <a:srgbClr val="0D47A1"/>
                </a:solidFill>
              </a:rPr>
              <a:t>Migration Cockpit provides field mapping templates for each migration object</a:t>
            </a:r>
            <a:endParaRPr lang="en-US" sz="780" dirty="0"/>
          </a:p>
        </p:txBody>
      </p:sp>
      <p:sp>
        <p:nvSpPr>
          <p:cNvPr id="61" name="Shape 59"/>
          <p:cNvSpPr/>
          <p:nvPr/>
        </p:nvSpPr>
        <p:spPr>
          <a:xfrm>
            <a:off x="5266944" y="3968496"/>
            <a:ext cx="3474720" cy="667512"/>
          </a:xfrm>
          <a:prstGeom prst="rect">
            <a:avLst/>
          </a:prstGeom>
          <a:solidFill>
            <a:srgbClr val="FFFFFF"/>
          </a:solidFill>
          <a:ln/>
        </p:spPr>
      </p:sp>
      <p:sp>
        <p:nvSpPr>
          <p:cNvPr id="62" name="Text 60"/>
          <p:cNvSpPr/>
          <p:nvPr/>
        </p:nvSpPr>
        <p:spPr>
          <a:xfrm>
            <a:off x="5321808" y="3968496"/>
            <a:ext cx="3392424" cy="667512"/>
          </a:xfrm>
          <a:prstGeom prst="rect">
            <a:avLst/>
          </a:prstGeom>
          <a:noFill/>
          <a:ln/>
        </p:spPr>
        <p:txBody>
          <a:bodyPr wrap="square" lIns="0" tIns="0" rIns="0" bIns="0" rtlCol="0" anchor="ctr"/>
          <a:lstStyle/>
          <a:p>
            <a:pPr indent="0" marL="0">
              <a:buNone/>
            </a:pPr>
            <a:r>
              <a:rPr lang="en-US" sz="780" dirty="0">
                <a:solidFill>
                  <a:srgbClr val="37474F"/>
                </a:solidFill>
              </a:rPr>
              <a:t>Create field-by-field mapping: every source ECC field mapped to its S/4HANA equivalent. Example: ECC BSEG.DMBTR (amount) → ACDOCA.DMBTR. Value translations: old plant codes → new GCP plant codes. Approved by functional leads.</a:t>
            </a:r>
            <a:endParaRPr lang="en-US" sz="780" dirty="0"/>
          </a:p>
        </p:txBody>
      </p:sp>
      <p:sp>
        <p:nvSpPr>
          <p:cNvPr id="63" name="Shape 61"/>
          <p:cNvSpPr/>
          <p:nvPr/>
        </p:nvSpPr>
        <p:spPr>
          <a:xfrm>
            <a:off x="8796528" y="3968496"/>
            <a:ext cx="3200400" cy="667512"/>
          </a:xfrm>
          <a:prstGeom prst="rect">
            <a:avLst/>
          </a:prstGeom>
          <a:solidFill>
            <a:srgbClr val="FFFFFF"/>
          </a:solidFill>
          <a:ln/>
        </p:spPr>
      </p:sp>
      <p:sp>
        <p:nvSpPr>
          <p:cNvPr id="64" name="Text 62"/>
          <p:cNvSpPr/>
          <p:nvPr/>
        </p:nvSpPr>
        <p:spPr>
          <a:xfrm>
            <a:off x="8851392" y="3968496"/>
            <a:ext cx="3118104" cy="667512"/>
          </a:xfrm>
          <a:prstGeom prst="rect">
            <a:avLst/>
          </a:prstGeom>
          <a:noFill/>
          <a:ln/>
        </p:spPr>
        <p:txBody>
          <a:bodyPr wrap="square" lIns="0" tIns="0" rIns="0" bIns="0" rtlCol="0" anchor="ctr"/>
          <a:lstStyle/>
          <a:p>
            <a:pPr indent="0" marL="0">
              <a:buNone/>
            </a:pPr>
            <a:r>
              <a:rPr lang="en-US" sz="750" dirty="0">
                <a:solidFill>
                  <a:srgbClr val="00695C"/>
                </a:solidFill>
              </a:rPr>
              <a:t>Migration Cockpit mapping editor · LTMOM for custom objects · Syniti mapping workbench</a:t>
            </a:r>
            <a:endParaRPr lang="en-US" sz="750" dirty="0"/>
          </a:p>
        </p:txBody>
      </p:sp>
      <p:sp>
        <p:nvSpPr>
          <p:cNvPr id="65" name="Shape 63"/>
          <p:cNvSpPr/>
          <p:nvPr/>
        </p:nvSpPr>
        <p:spPr>
          <a:xfrm>
            <a:off x="182880" y="4681728"/>
            <a:ext cx="274320" cy="667512"/>
          </a:xfrm>
          <a:prstGeom prst="rect">
            <a:avLst/>
          </a:prstGeom>
          <a:solidFill>
            <a:srgbClr val="00695C"/>
          </a:solidFill>
          <a:ln/>
        </p:spPr>
      </p:sp>
      <p:sp>
        <p:nvSpPr>
          <p:cNvPr id="66" name="Text 64"/>
          <p:cNvSpPr/>
          <p:nvPr/>
        </p:nvSpPr>
        <p:spPr>
          <a:xfrm>
            <a:off x="182880" y="4681728"/>
            <a:ext cx="274320" cy="667512"/>
          </a:xfrm>
          <a:prstGeom prst="rect">
            <a:avLst/>
          </a:prstGeom>
          <a:noFill/>
          <a:ln/>
        </p:spPr>
        <p:txBody>
          <a:bodyPr wrap="square" lIns="0" tIns="0" rIns="0" bIns="0" rtlCol="0" anchor="ctr"/>
          <a:lstStyle/>
          <a:p>
            <a:pPr algn="ctr" indent="0" marL="0">
              <a:buNone/>
            </a:pPr>
            <a:r>
              <a:rPr lang="en-US" sz="1400" b="1" dirty="0">
                <a:solidFill>
                  <a:srgbClr val="FFFFFF"/>
                </a:solidFill>
              </a:rPr>
              <a:t>6</a:t>
            </a:r>
            <a:endParaRPr lang="en-US" sz="1400" dirty="0"/>
          </a:p>
        </p:txBody>
      </p:sp>
      <p:sp>
        <p:nvSpPr>
          <p:cNvPr id="67" name="Shape 65"/>
          <p:cNvSpPr/>
          <p:nvPr/>
        </p:nvSpPr>
        <p:spPr>
          <a:xfrm>
            <a:off x="512064" y="4681728"/>
            <a:ext cx="1243584" cy="667512"/>
          </a:xfrm>
          <a:prstGeom prst="rect">
            <a:avLst/>
          </a:prstGeom>
          <a:solidFill>
            <a:srgbClr val="F1F5F9"/>
          </a:solidFill>
          <a:ln/>
        </p:spPr>
      </p:sp>
      <p:sp>
        <p:nvSpPr>
          <p:cNvPr id="68" name="Text 66"/>
          <p:cNvSpPr/>
          <p:nvPr/>
        </p:nvSpPr>
        <p:spPr>
          <a:xfrm>
            <a:off x="557784" y="4681728"/>
            <a:ext cx="1179576" cy="667512"/>
          </a:xfrm>
          <a:prstGeom prst="rect">
            <a:avLst/>
          </a:prstGeom>
          <a:noFill/>
          <a:ln/>
        </p:spPr>
        <p:txBody>
          <a:bodyPr wrap="square" lIns="0" tIns="0" rIns="0" bIns="0" rtlCol="0" anchor="ctr"/>
          <a:lstStyle/>
          <a:p>
            <a:pPr indent="0" marL="0">
              <a:buNone/>
            </a:pPr>
            <a:r>
              <a:rPr lang="en-US" sz="850" b="1" dirty="0">
                <a:solidFill>
                  <a:srgbClr val="00695C"/>
                </a:solidFill>
              </a:rPr>
              <a:t>TEST LOADS</a:t>
            </a:r>
            <a:endParaRPr lang="en-US" sz="850" dirty="0"/>
          </a:p>
          <a:p>
            <a:pPr indent="0" marL="0">
              <a:buNone/>
            </a:pPr>
            <a:r>
              <a:rPr lang="en-US" sz="850" b="1" dirty="0">
                <a:solidFill>
                  <a:srgbClr val="00695C"/>
                </a:solidFill>
              </a:rPr>
              <a:t>(3–5 cycles)</a:t>
            </a:r>
            <a:endParaRPr lang="en-US" sz="850" dirty="0"/>
          </a:p>
        </p:txBody>
      </p:sp>
      <p:sp>
        <p:nvSpPr>
          <p:cNvPr id="69" name="Shape 67"/>
          <p:cNvSpPr/>
          <p:nvPr/>
        </p:nvSpPr>
        <p:spPr>
          <a:xfrm>
            <a:off x="1810512" y="4681728"/>
            <a:ext cx="3401568" cy="667512"/>
          </a:xfrm>
          <a:prstGeom prst="rect">
            <a:avLst/>
          </a:prstGeom>
          <a:solidFill>
            <a:srgbClr val="F1F5F9"/>
          </a:solidFill>
          <a:ln/>
        </p:spPr>
      </p:sp>
      <p:sp>
        <p:nvSpPr>
          <p:cNvPr id="70" name="Text 68"/>
          <p:cNvSpPr/>
          <p:nvPr/>
        </p:nvSpPr>
        <p:spPr>
          <a:xfrm>
            <a:off x="1865376" y="4681728"/>
            <a:ext cx="3319272" cy="667512"/>
          </a:xfrm>
          <a:prstGeom prst="rect">
            <a:avLst/>
          </a:prstGeom>
          <a:noFill/>
          <a:ln/>
        </p:spPr>
        <p:txBody>
          <a:bodyPr wrap="square" lIns="0" tIns="0" rIns="0" bIns="0" rtlCol="0" anchor="ctr"/>
          <a:lstStyle/>
          <a:p>
            <a:pPr indent="0" marL="0">
              <a:buNone/>
            </a:pPr>
            <a:r>
              <a:rPr lang="en-US" sz="780" dirty="0">
                <a:solidFill>
                  <a:srgbClr val="0D47A1"/>
                </a:solidFill>
              </a:rPr>
              <a:t>Migration Cockpit staging tables receive data and auto-validate against S/4HANA rules</a:t>
            </a:r>
            <a:endParaRPr lang="en-US" sz="780" dirty="0"/>
          </a:p>
        </p:txBody>
      </p:sp>
      <p:sp>
        <p:nvSpPr>
          <p:cNvPr id="71" name="Shape 69"/>
          <p:cNvSpPr/>
          <p:nvPr/>
        </p:nvSpPr>
        <p:spPr>
          <a:xfrm>
            <a:off x="5266944" y="4681728"/>
            <a:ext cx="3474720" cy="667512"/>
          </a:xfrm>
          <a:prstGeom prst="rect">
            <a:avLst/>
          </a:prstGeom>
          <a:solidFill>
            <a:srgbClr val="F1F5F9"/>
          </a:solidFill>
          <a:ln/>
        </p:spPr>
      </p:sp>
      <p:sp>
        <p:nvSpPr>
          <p:cNvPr id="72" name="Text 70"/>
          <p:cNvSpPr/>
          <p:nvPr/>
        </p:nvSpPr>
        <p:spPr>
          <a:xfrm>
            <a:off x="5321808" y="4681728"/>
            <a:ext cx="3392424" cy="667512"/>
          </a:xfrm>
          <a:prstGeom prst="rect">
            <a:avLst/>
          </a:prstGeom>
          <a:noFill/>
          <a:ln/>
        </p:spPr>
        <p:txBody>
          <a:bodyPr wrap="square" lIns="0" tIns="0" rIns="0" bIns="0" rtlCol="0" anchor="ctr"/>
          <a:lstStyle/>
          <a:p>
            <a:pPr indent="0" marL="0">
              <a:buNone/>
            </a:pPr>
            <a:r>
              <a:rPr lang="en-US" sz="780" dirty="0">
                <a:solidFill>
                  <a:srgbClr val="37474F"/>
                </a:solidFill>
              </a:rPr>
              <a:t>Run 3–5 full test migration cycles: load data into the test S/4HANA system, review the error log, fix root causes, reload. Target: error rate below 0.5% before final production load. Each cycle improves quality.</a:t>
            </a:r>
            <a:endParaRPr lang="en-US" sz="780" dirty="0"/>
          </a:p>
        </p:txBody>
      </p:sp>
      <p:sp>
        <p:nvSpPr>
          <p:cNvPr id="73" name="Shape 71"/>
          <p:cNvSpPr/>
          <p:nvPr/>
        </p:nvSpPr>
        <p:spPr>
          <a:xfrm>
            <a:off x="8796528" y="4681728"/>
            <a:ext cx="3200400" cy="667512"/>
          </a:xfrm>
          <a:prstGeom prst="rect">
            <a:avLst/>
          </a:prstGeom>
          <a:solidFill>
            <a:srgbClr val="F1F5F9"/>
          </a:solidFill>
          <a:ln/>
        </p:spPr>
      </p:sp>
      <p:sp>
        <p:nvSpPr>
          <p:cNvPr id="74" name="Text 72"/>
          <p:cNvSpPr/>
          <p:nvPr/>
        </p:nvSpPr>
        <p:spPr>
          <a:xfrm>
            <a:off x="8851392" y="4681728"/>
            <a:ext cx="3118104" cy="667512"/>
          </a:xfrm>
          <a:prstGeom prst="rect">
            <a:avLst/>
          </a:prstGeom>
          <a:noFill/>
          <a:ln/>
        </p:spPr>
        <p:txBody>
          <a:bodyPr wrap="square" lIns="0" tIns="0" rIns="0" bIns="0" rtlCol="0" anchor="ctr"/>
          <a:lstStyle/>
          <a:p>
            <a:pPr indent="0" marL="0">
              <a:buNone/>
            </a:pPr>
            <a:r>
              <a:rPr lang="en-US" sz="750" dirty="0">
                <a:solidFill>
                  <a:srgbClr val="00695C"/>
                </a:solidFill>
              </a:rPr>
              <a:t>SAP Migration Cockpit (LTMC / 'Migrate Your Data' app) · Migration error log · Custom ABAP load programs</a:t>
            </a:r>
            <a:endParaRPr lang="en-US" sz="750" dirty="0"/>
          </a:p>
        </p:txBody>
      </p:sp>
      <p:sp>
        <p:nvSpPr>
          <p:cNvPr id="75" name="Shape 73"/>
          <p:cNvSpPr/>
          <p:nvPr/>
        </p:nvSpPr>
        <p:spPr>
          <a:xfrm>
            <a:off x="182880" y="5394960"/>
            <a:ext cx="274320" cy="667512"/>
          </a:xfrm>
          <a:prstGeom prst="rect">
            <a:avLst/>
          </a:prstGeom>
          <a:solidFill>
            <a:srgbClr val="1565C0"/>
          </a:solidFill>
          <a:ln/>
        </p:spPr>
      </p:sp>
      <p:sp>
        <p:nvSpPr>
          <p:cNvPr id="76" name="Text 74"/>
          <p:cNvSpPr/>
          <p:nvPr/>
        </p:nvSpPr>
        <p:spPr>
          <a:xfrm>
            <a:off x="182880" y="5394960"/>
            <a:ext cx="274320" cy="667512"/>
          </a:xfrm>
          <a:prstGeom prst="rect">
            <a:avLst/>
          </a:prstGeom>
          <a:noFill/>
          <a:ln/>
        </p:spPr>
        <p:txBody>
          <a:bodyPr wrap="square" lIns="0" tIns="0" rIns="0" bIns="0" rtlCol="0" anchor="ctr"/>
          <a:lstStyle/>
          <a:p>
            <a:pPr algn="ctr" indent="0" marL="0">
              <a:buNone/>
            </a:pPr>
            <a:r>
              <a:rPr lang="en-US" sz="1400" b="1" dirty="0">
                <a:solidFill>
                  <a:srgbClr val="FFFFFF"/>
                </a:solidFill>
              </a:rPr>
              <a:t>7</a:t>
            </a:r>
            <a:endParaRPr lang="en-US" sz="1400" dirty="0"/>
          </a:p>
        </p:txBody>
      </p:sp>
      <p:sp>
        <p:nvSpPr>
          <p:cNvPr id="77" name="Shape 75"/>
          <p:cNvSpPr/>
          <p:nvPr/>
        </p:nvSpPr>
        <p:spPr>
          <a:xfrm>
            <a:off x="512064" y="5394960"/>
            <a:ext cx="1243584" cy="667512"/>
          </a:xfrm>
          <a:prstGeom prst="rect">
            <a:avLst/>
          </a:prstGeom>
          <a:solidFill>
            <a:srgbClr val="FFFFFF"/>
          </a:solidFill>
          <a:ln/>
        </p:spPr>
      </p:sp>
      <p:sp>
        <p:nvSpPr>
          <p:cNvPr id="78" name="Text 76"/>
          <p:cNvSpPr/>
          <p:nvPr/>
        </p:nvSpPr>
        <p:spPr>
          <a:xfrm>
            <a:off x="557784" y="5394960"/>
            <a:ext cx="1179576" cy="667512"/>
          </a:xfrm>
          <a:prstGeom prst="rect">
            <a:avLst/>
          </a:prstGeom>
          <a:noFill/>
          <a:ln/>
        </p:spPr>
        <p:txBody>
          <a:bodyPr wrap="square" lIns="0" tIns="0" rIns="0" bIns="0" rtlCol="0" anchor="ctr"/>
          <a:lstStyle/>
          <a:p>
            <a:pPr indent="0" marL="0">
              <a:buNone/>
            </a:pPr>
            <a:r>
              <a:rPr lang="en-US" sz="850" b="1" dirty="0">
                <a:solidFill>
                  <a:srgbClr val="1565C0"/>
                </a:solidFill>
              </a:rPr>
              <a:t>VALIDATE</a:t>
            </a:r>
            <a:endParaRPr lang="en-US" sz="850" dirty="0"/>
          </a:p>
        </p:txBody>
      </p:sp>
      <p:sp>
        <p:nvSpPr>
          <p:cNvPr id="79" name="Shape 77"/>
          <p:cNvSpPr/>
          <p:nvPr/>
        </p:nvSpPr>
        <p:spPr>
          <a:xfrm>
            <a:off x="1810512" y="5394960"/>
            <a:ext cx="3401568" cy="667512"/>
          </a:xfrm>
          <a:prstGeom prst="rect">
            <a:avLst/>
          </a:prstGeom>
          <a:solidFill>
            <a:srgbClr val="FFFFFF"/>
          </a:solidFill>
          <a:ln/>
        </p:spPr>
      </p:sp>
      <p:sp>
        <p:nvSpPr>
          <p:cNvPr id="80" name="Text 78"/>
          <p:cNvSpPr/>
          <p:nvPr/>
        </p:nvSpPr>
        <p:spPr>
          <a:xfrm>
            <a:off x="1865376" y="5394960"/>
            <a:ext cx="3319272" cy="667512"/>
          </a:xfrm>
          <a:prstGeom prst="rect">
            <a:avLst/>
          </a:prstGeom>
          <a:noFill/>
          <a:ln/>
        </p:spPr>
        <p:txBody>
          <a:bodyPr wrap="square" lIns="0" tIns="0" rIns="0" bIns="0" rtlCol="0" anchor="ctr"/>
          <a:lstStyle/>
          <a:p>
            <a:pPr indent="0" marL="0">
              <a:buNone/>
            </a:pPr>
            <a:r>
              <a:rPr lang="en-US" sz="780" dirty="0">
                <a:solidFill>
                  <a:srgbClr val="0D47A1"/>
                </a:solidFill>
              </a:rPr>
              <a:t>S/4HANA built-in reconciliation reports compare source vs target balances</a:t>
            </a:r>
            <a:endParaRPr lang="en-US" sz="780" dirty="0"/>
          </a:p>
        </p:txBody>
      </p:sp>
      <p:sp>
        <p:nvSpPr>
          <p:cNvPr id="81" name="Shape 79"/>
          <p:cNvSpPr/>
          <p:nvPr/>
        </p:nvSpPr>
        <p:spPr>
          <a:xfrm>
            <a:off x="5266944" y="5394960"/>
            <a:ext cx="3474720" cy="667512"/>
          </a:xfrm>
          <a:prstGeom prst="rect">
            <a:avLst/>
          </a:prstGeom>
          <a:solidFill>
            <a:srgbClr val="FFFFFF"/>
          </a:solidFill>
          <a:ln/>
        </p:spPr>
      </p:sp>
      <p:sp>
        <p:nvSpPr>
          <p:cNvPr id="82" name="Text 80"/>
          <p:cNvSpPr/>
          <p:nvPr/>
        </p:nvSpPr>
        <p:spPr>
          <a:xfrm>
            <a:off x="5321808" y="5394960"/>
            <a:ext cx="3392424" cy="667512"/>
          </a:xfrm>
          <a:prstGeom prst="rect">
            <a:avLst/>
          </a:prstGeom>
          <a:noFill/>
          <a:ln/>
        </p:spPr>
        <p:txBody>
          <a:bodyPr wrap="square" lIns="0" tIns="0" rIns="0" bIns="0" rtlCol="0" anchor="ctr"/>
          <a:lstStyle/>
          <a:p>
            <a:pPr indent="0" marL="0">
              <a:buNone/>
            </a:pPr>
            <a:r>
              <a:rPr lang="en-US" sz="780" dirty="0">
                <a:solidFill>
                  <a:srgbClr val="37474F"/>
                </a:solidFill>
              </a:rPr>
              <a:t>Business users validate loaded data in the test system: does my vendor list look correct? Do my open POs match? Does the trial balance match to the cent? Any discrepancy is a defect that must be fixed and retested before go-live.</a:t>
            </a:r>
            <a:endParaRPr lang="en-US" sz="780" dirty="0"/>
          </a:p>
        </p:txBody>
      </p:sp>
      <p:sp>
        <p:nvSpPr>
          <p:cNvPr id="83" name="Shape 81"/>
          <p:cNvSpPr/>
          <p:nvPr/>
        </p:nvSpPr>
        <p:spPr>
          <a:xfrm>
            <a:off x="8796528" y="5394960"/>
            <a:ext cx="3200400" cy="667512"/>
          </a:xfrm>
          <a:prstGeom prst="rect">
            <a:avLst/>
          </a:prstGeom>
          <a:solidFill>
            <a:srgbClr val="FFFFFF"/>
          </a:solidFill>
          <a:ln/>
        </p:spPr>
      </p:sp>
      <p:sp>
        <p:nvSpPr>
          <p:cNvPr id="84" name="Text 82"/>
          <p:cNvSpPr/>
          <p:nvPr/>
        </p:nvSpPr>
        <p:spPr>
          <a:xfrm>
            <a:off x="8851392" y="5394960"/>
            <a:ext cx="3118104" cy="667512"/>
          </a:xfrm>
          <a:prstGeom prst="rect">
            <a:avLst/>
          </a:prstGeom>
          <a:noFill/>
          <a:ln/>
        </p:spPr>
        <p:txBody>
          <a:bodyPr wrap="square" lIns="0" tIns="0" rIns="0" bIns="0" rtlCol="0" anchor="ctr"/>
          <a:lstStyle/>
          <a:p>
            <a:pPr indent="0" marL="0">
              <a:buNone/>
            </a:pPr>
            <a:r>
              <a:rPr lang="en-US" sz="750" dirty="0">
                <a:solidFill>
                  <a:srgbClr val="00695C"/>
                </a:solidFill>
              </a:rPr>
              <a:t>SAP standard reconciliation reports · Finance balance validation · Business user sign-off checklist</a:t>
            </a:r>
            <a:endParaRPr lang="en-US" sz="750" dirty="0"/>
          </a:p>
        </p:txBody>
      </p:sp>
      <p:sp>
        <p:nvSpPr>
          <p:cNvPr id="85" name="Shape 83"/>
          <p:cNvSpPr/>
          <p:nvPr/>
        </p:nvSpPr>
        <p:spPr>
          <a:xfrm>
            <a:off x="182880" y="6108192"/>
            <a:ext cx="274320" cy="667512"/>
          </a:xfrm>
          <a:prstGeom prst="rect">
            <a:avLst/>
          </a:prstGeom>
          <a:solidFill>
            <a:srgbClr val="1B5E20"/>
          </a:solidFill>
          <a:ln/>
        </p:spPr>
      </p:sp>
      <p:sp>
        <p:nvSpPr>
          <p:cNvPr id="86" name="Text 84"/>
          <p:cNvSpPr/>
          <p:nvPr/>
        </p:nvSpPr>
        <p:spPr>
          <a:xfrm>
            <a:off x="182880" y="6108192"/>
            <a:ext cx="274320" cy="667512"/>
          </a:xfrm>
          <a:prstGeom prst="rect">
            <a:avLst/>
          </a:prstGeom>
          <a:noFill/>
          <a:ln/>
        </p:spPr>
        <p:txBody>
          <a:bodyPr wrap="square" lIns="0" tIns="0" rIns="0" bIns="0" rtlCol="0" anchor="ctr"/>
          <a:lstStyle/>
          <a:p>
            <a:pPr algn="ctr" indent="0" marL="0">
              <a:buNone/>
            </a:pPr>
            <a:r>
              <a:rPr lang="en-US" sz="1400" b="1" dirty="0">
                <a:solidFill>
                  <a:srgbClr val="FFFFFF"/>
                </a:solidFill>
              </a:rPr>
              <a:t>8</a:t>
            </a:r>
            <a:endParaRPr lang="en-US" sz="1400" dirty="0"/>
          </a:p>
        </p:txBody>
      </p:sp>
      <p:sp>
        <p:nvSpPr>
          <p:cNvPr id="87" name="Shape 85"/>
          <p:cNvSpPr/>
          <p:nvPr/>
        </p:nvSpPr>
        <p:spPr>
          <a:xfrm>
            <a:off x="512064" y="6108192"/>
            <a:ext cx="1243584" cy="667512"/>
          </a:xfrm>
          <a:prstGeom prst="rect">
            <a:avLst/>
          </a:prstGeom>
          <a:solidFill>
            <a:srgbClr val="F1F5F9"/>
          </a:solidFill>
          <a:ln/>
        </p:spPr>
      </p:sp>
      <p:sp>
        <p:nvSpPr>
          <p:cNvPr id="88" name="Text 86"/>
          <p:cNvSpPr/>
          <p:nvPr/>
        </p:nvSpPr>
        <p:spPr>
          <a:xfrm>
            <a:off x="557784" y="6108192"/>
            <a:ext cx="1179576" cy="667512"/>
          </a:xfrm>
          <a:prstGeom prst="rect">
            <a:avLst/>
          </a:prstGeom>
          <a:noFill/>
          <a:ln/>
        </p:spPr>
        <p:txBody>
          <a:bodyPr wrap="square" lIns="0" tIns="0" rIns="0" bIns="0" rtlCol="0" anchor="ctr"/>
          <a:lstStyle/>
          <a:p>
            <a:pPr indent="0" marL="0">
              <a:buNone/>
            </a:pPr>
            <a:r>
              <a:rPr lang="en-US" sz="850" b="1" dirty="0">
                <a:solidFill>
                  <a:srgbClr val="1B5E20"/>
                </a:solidFill>
              </a:rPr>
              <a:t>PRODUCTION LOAD</a:t>
            </a:r>
            <a:endParaRPr lang="en-US" sz="850" dirty="0"/>
          </a:p>
          <a:p>
            <a:pPr indent="0" marL="0">
              <a:buNone/>
            </a:pPr>
            <a:r>
              <a:rPr lang="en-US" sz="850" b="1" dirty="0">
                <a:solidFill>
                  <a:srgbClr val="1B5E20"/>
                </a:solidFill>
              </a:rPr>
              <a:t>&amp; GO-LIVE</a:t>
            </a:r>
            <a:endParaRPr lang="en-US" sz="850" dirty="0"/>
          </a:p>
        </p:txBody>
      </p:sp>
      <p:sp>
        <p:nvSpPr>
          <p:cNvPr id="89" name="Shape 87"/>
          <p:cNvSpPr/>
          <p:nvPr/>
        </p:nvSpPr>
        <p:spPr>
          <a:xfrm>
            <a:off x="1810512" y="6108192"/>
            <a:ext cx="3401568" cy="667512"/>
          </a:xfrm>
          <a:prstGeom prst="rect">
            <a:avLst/>
          </a:prstGeom>
          <a:solidFill>
            <a:srgbClr val="F1F5F9"/>
          </a:solidFill>
          <a:ln/>
        </p:spPr>
      </p:sp>
      <p:sp>
        <p:nvSpPr>
          <p:cNvPr id="90" name="Text 88"/>
          <p:cNvSpPr/>
          <p:nvPr/>
        </p:nvSpPr>
        <p:spPr>
          <a:xfrm>
            <a:off x="1865376" y="6108192"/>
            <a:ext cx="3319272" cy="667512"/>
          </a:xfrm>
          <a:prstGeom prst="rect">
            <a:avLst/>
          </a:prstGeom>
          <a:noFill/>
          <a:ln/>
        </p:spPr>
        <p:txBody>
          <a:bodyPr wrap="square" lIns="0" tIns="0" rIns="0" bIns="0" rtlCol="0" anchor="ctr"/>
          <a:lstStyle/>
          <a:p>
            <a:pPr indent="0" marL="0">
              <a:buNone/>
            </a:pPr>
            <a:r>
              <a:rPr lang="en-US" sz="780" dirty="0">
                <a:solidFill>
                  <a:srgbClr val="0D47A1"/>
                </a:solidFill>
              </a:rPr>
              <a:t>SAP manages HANA DB performance; scales GCP infra during final load if needed</a:t>
            </a:r>
            <a:endParaRPr lang="en-US" sz="780" dirty="0"/>
          </a:p>
        </p:txBody>
      </p:sp>
      <p:sp>
        <p:nvSpPr>
          <p:cNvPr id="91" name="Shape 89"/>
          <p:cNvSpPr/>
          <p:nvPr/>
        </p:nvSpPr>
        <p:spPr>
          <a:xfrm>
            <a:off x="5266944" y="6108192"/>
            <a:ext cx="3474720" cy="667512"/>
          </a:xfrm>
          <a:prstGeom prst="rect">
            <a:avLst/>
          </a:prstGeom>
          <a:solidFill>
            <a:srgbClr val="F1F5F9"/>
          </a:solidFill>
          <a:ln/>
        </p:spPr>
      </p:sp>
      <p:sp>
        <p:nvSpPr>
          <p:cNvPr id="92" name="Text 90"/>
          <p:cNvSpPr/>
          <p:nvPr/>
        </p:nvSpPr>
        <p:spPr>
          <a:xfrm>
            <a:off x="5321808" y="6108192"/>
            <a:ext cx="3392424" cy="667512"/>
          </a:xfrm>
          <a:prstGeom prst="rect">
            <a:avLst/>
          </a:prstGeom>
          <a:noFill/>
          <a:ln/>
        </p:spPr>
        <p:txBody>
          <a:bodyPr wrap="square" lIns="0" tIns="0" rIns="0" bIns="0" rtlCol="0" anchor="ctr"/>
          <a:lstStyle/>
          <a:p>
            <a:pPr indent="0" marL="0">
              <a:buNone/>
            </a:pPr>
            <a:r>
              <a:rPr lang="en-US" sz="780" dirty="0">
                <a:solidFill>
                  <a:srgbClr val="37474F"/>
                </a:solidFill>
              </a:rPr>
              <a:t>Cutover weekend: execute the final production data load using fully validated, clean data. Immediately reconcile every total. Any error goes to war room. CFO / procurement head signs off final data before DNS switch to go-live.</a:t>
            </a:r>
            <a:endParaRPr lang="en-US" sz="780" dirty="0"/>
          </a:p>
        </p:txBody>
      </p:sp>
      <p:sp>
        <p:nvSpPr>
          <p:cNvPr id="93" name="Shape 91"/>
          <p:cNvSpPr/>
          <p:nvPr/>
        </p:nvSpPr>
        <p:spPr>
          <a:xfrm>
            <a:off x="8796528" y="6108192"/>
            <a:ext cx="3200400" cy="667512"/>
          </a:xfrm>
          <a:prstGeom prst="rect">
            <a:avLst/>
          </a:prstGeom>
          <a:solidFill>
            <a:srgbClr val="F1F5F9"/>
          </a:solidFill>
          <a:ln/>
        </p:spPr>
      </p:sp>
      <p:sp>
        <p:nvSpPr>
          <p:cNvPr id="94" name="Text 92"/>
          <p:cNvSpPr/>
          <p:nvPr/>
        </p:nvSpPr>
        <p:spPr>
          <a:xfrm>
            <a:off x="8851392" y="6108192"/>
            <a:ext cx="3118104" cy="667512"/>
          </a:xfrm>
          <a:prstGeom prst="rect">
            <a:avLst/>
          </a:prstGeom>
          <a:noFill/>
          <a:ln/>
        </p:spPr>
        <p:txBody>
          <a:bodyPr wrap="square" lIns="0" tIns="0" rIns="0" bIns="0" rtlCol="0" anchor="ctr"/>
          <a:lstStyle/>
          <a:p>
            <a:pPr indent="0" marL="0">
              <a:buNone/>
            </a:pPr>
            <a:r>
              <a:rPr lang="en-US" sz="750" dirty="0">
                <a:solidFill>
                  <a:srgbClr val="00695C"/>
                </a:solidFill>
              </a:rPr>
              <a:t>Migration Cockpit production run · War room monitoring dashboard · Final reconciliation sign-off checklist</a:t>
            </a:r>
            <a:endParaRPr lang="en-US" sz="7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D"/>
        </a:solidFill>
      </p:bgPr>
    </p:bg>
    <p:spTree>
      <p:nvGrpSpPr>
        <p:cNvPr id="1" name=""/>
        <p:cNvGrpSpPr/>
        <p:nvPr/>
      </p:nvGrpSpPr>
      <p:grpSpPr>
        <a:xfrm>
          <a:off x="0" y="0"/>
          <a:ext cx="0" cy="0"/>
          <a:chOff x="0" y="0"/>
          <a:chExt cx="0" cy="0"/>
        </a:xfrm>
      </p:grpSpPr>
      <p:sp>
        <p:nvSpPr>
          <p:cNvPr id="2" name="Shape 0"/>
          <p:cNvSpPr/>
          <p:nvPr/>
        </p:nvSpPr>
        <p:spPr>
          <a:xfrm>
            <a:off x="0" y="0"/>
            <a:ext cx="12161520" cy="749808"/>
          </a:xfrm>
          <a:prstGeom prst="rect">
            <a:avLst/>
          </a:prstGeom>
          <a:solidFill>
            <a:srgbClr val="0D1B2A"/>
          </a:solidFill>
          <a:ln/>
        </p:spPr>
      </p:sp>
      <p:sp>
        <p:nvSpPr>
          <p:cNvPr id="3" name="Shape 1"/>
          <p:cNvSpPr/>
          <p:nvPr/>
        </p:nvSpPr>
        <p:spPr>
          <a:xfrm>
            <a:off x="0" y="0"/>
            <a:ext cx="274320" cy="749808"/>
          </a:xfrm>
          <a:prstGeom prst="rect">
            <a:avLst/>
          </a:prstGeom>
          <a:solidFill>
            <a:srgbClr val="1B5E20"/>
          </a:solidFill>
          <a:ln/>
        </p:spPr>
      </p:sp>
      <p:sp>
        <p:nvSpPr>
          <p:cNvPr id="4" name="Text 2"/>
          <p:cNvSpPr/>
          <p:nvPr/>
        </p:nvSpPr>
        <p:spPr>
          <a:xfrm>
            <a:off x="457200" y="0"/>
            <a:ext cx="11521440" cy="749808"/>
          </a:xfrm>
          <a:prstGeom prst="rect">
            <a:avLst/>
          </a:prstGeom>
          <a:noFill/>
          <a:ln/>
        </p:spPr>
        <p:txBody>
          <a:bodyPr wrap="square" lIns="0" tIns="0" rIns="0" bIns="0" rtlCol="0" anchor="ctr"/>
          <a:lstStyle/>
          <a:p>
            <a:pPr indent="0" marL="0">
              <a:buNone/>
            </a:pPr>
            <a:r>
              <a:rPr lang="en-US" sz="1350" b="1" spc="60" kern="0" dirty="0">
                <a:solidFill>
                  <a:srgbClr val="FFFFFF"/>
                </a:solidFill>
              </a:rPr>
              <a:t>PART 2  |  WHICH TOOL TO USE WHEN — THE QUICK DECISION REFERENCE</a:t>
            </a:r>
            <a:endParaRPr lang="en-US" sz="1350" dirty="0"/>
          </a:p>
        </p:txBody>
      </p:sp>
      <p:sp>
        <p:nvSpPr>
          <p:cNvPr id="5" name="Text 3"/>
          <p:cNvSpPr/>
          <p:nvPr/>
        </p:nvSpPr>
        <p:spPr>
          <a:xfrm>
            <a:off x="256032" y="822960"/>
            <a:ext cx="11704320" cy="237744"/>
          </a:xfrm>
          <a:prstGeom prst="rect">
            <a:avLst/>
          </a:prstGeom>
          <a:noFill/>
          <a:ln/>
        </p:spPr>
        <p:txBody>
          <a:bodyPr wrap="square" lIns="0" tIns="0" rIns="0" bIns="0" rtlCol="0" anchor="ctr"/>
          <a:lstStyle/>
          <a:p>
            <a:pPr indent="0" marL="0">
              <a:buNone/>
            </a:pPr>
            <a:r>
              <a:rPr lang="en-US" sz="950" i="1" dirty="0">
                <a:solidFill>
                  <a:srgbClr val="37474F"/>
                </a:solidFill>
              </a:rPr>
              <a:t>Use this reference card to answer any tool question in the meeting without hesitation:</a:t>
            </a:r>
            <a:endParaRPr lang="en-US" sz="950" dirty="0"/>
          </a:p>
        </p:txBody>
      </p:sp>
      <p:sp>
        <p:nvSpPr>
          <p:cNvPr id="6" name="Shape 4"/>
          <p:cNvSpPr/>
          <p:nvPr/>
        </p:nvSpPr>
        <p:spPr>
          <a:xfrm>
            <a:off x="201168" y="1115568"/>
            <a:ext cx="3858768" cy="1298448"/>
          </a:xfrm>
          <a:prstGeom prst="rect">
            <a:avLst/>
          </a:prstGeom>
          <a:solidFill>
            <a:srgbClr val="FFFFFF"/>
          </a:solidFill>
          <a:ln/>
          <a:effectLst>
            <a:outerShdw sx="100000" sy="100000" kx="0" ky="0" algn="bl" rotWithShape="0" blurRad="101600" dist="25400" dir="8100000">
              <a:srgbClr val="000000">
                <a:alpha val="9000"/>
              </a:srgbClr>
            </a:outerShdw>
          </a:effectLst>
        </p:spPr>
      </p:sp>
      <p:sp>
        <p:nvSpPr>
          <p:cNvPr id="7" name="Shape 5"/>
          <p:cNvSpPr/>
          <p:nvPr/>
        </p:nvSpPr>
        <p:spPr>
          <a:xfrm>
            <a:off x="201168" y="1115568"/>
            <a:ext cx="3858768" cy="36576"/>
          </a:xfrm>
          <a:prstGeom prst="rect">
            <a:avLst/>
          </a:prstGeom>
          <a:solidFill>
            <a:srgbClr val="1B5E20"/>
          </a:solidFill>
          <a:ln/>
        </p:spPr>
      </p:sp>
      <p:sp>
        <p:nvSpPr>
          <p:cNvPr id="8" name="Text 6"/>
          <p:cNvSpPr/>
          <p:nvPr/>
        </p:nvSpPr>
        <p:spPr>
          <a:xfrm>
            <a:off x="292608" y="1207008"/>
            <a:ext cx="3694176" cy="475488"/>
          </a:xfrm>
          <a:prstGeom prst="rect">
            <a:avLst/>
          </a:prstGeom>
          <a:noFill/>
          <a:ln/>
        </p:spPr>
        <p:txBody>
          <a:bodyPr wrap="square" lIns="0" tIns="0" rIns="0" bIns="0" rtlCol="0" anchor="ctr"/>
          <a:lstStyle/>
          <a:p>
            <a:pPr indent="0" marL="0">
              <a:buNone/>
            </a:pPr>
            <a:r>
              <a:rPr lang="en-US" sz="800" dirty="0">
                <a:solidFill>
                  <a:srgbClr val="1E293B"/>
                </a:solidFill>
              </a:rPr>
              <a:t>IF: Converting full ECC landscape to S/4HANA?</a:t>
            </a:r>
            <a:endParaRPr lang="en-US" sz="800" dirty="0"/>
          </a:p>
        </p:txBody>
      </p:sp>
      <p:sp>
        <p:nvSpPr>
          <p:cNvPr id="9" name="Shape 7"/>
          <p:cNvSpPr/>
          <p:nvPr/>
        </p:nvSpPr>
        <p:spPr>
          <a:xfrm>
            <a:off x="292608" y="1709928"/>
            <a:ext cx="3694176" cy="274320"/>
          </a:xfrm>
          <a:prstGeom prst="rect">
            <a:avLst/>
          </a:prstGeom>
          <a:solidFill>
            <a:srgbClr val="1B5E20"/>
          </a:solidFill>
          <a:ln/>
        </p:spPr>
      </p:sp>
      <p:sp>
        <p:nvSpPr>
          <p:cNvPr id="10" name="Text 8"/>
          <p:cNvSpPr/>
          <p:nvPr/>
        </p:nvSpPr>
        <p:spPr>
          <a:xfrm>
            <a:off x="329184" y="1709928"/>
            <a:ext cx="3639312" cy="274320"/>
          </a:xfrm>
          <a:prstGeom prst="rect">
            <a:avLst/>
          </a:prstGeom>
          <a:noFill/>
          <a:ln/>
        </p:spPr>
        <p:txBody>
          <a:bodyPr wrap="square" lIns="0" tIns="0" rIns="0" bIns="0" rtlCol="0" anchor="ctr"/>
          <a:lstStyle/>
          <a:p>
            <a:pPr indent="0" marL="0">
              <a:buNone/>
            </a:pPr>
            <a:r>
              <a:rPr lang="en-US" sz="850" b="1" dirty="0">
                <a:solidFill>
                  <a:srgbClr val="FFFFFF"/>
                </a:solidFill>
              </a:rPr>
              <a:t>USE:  SUM+DMO</a:t>
            </a:r>
            <a:endParaRPr lang="en-US" sz="850" dirty="0"/>
          </a:p>
        </p:txBody>
      </p:sp>
      <p:sp>
        <p:nvSpPr>
          <p:cNvPr id="11" name="Text 9"/>
          <p:cNvSpPr/>
          <p:nvPr/>
        </p:nvSpPr>
        <p:spPr>
          <a:xfrm>
            <a:off x="292608" y="2029968"/>
            <a:ext cx="3694176" cy="347472"/>
          </a:xfrm>
          <a:prstGeom prst="rect">
            <a:avLst/>
          </a:prstGeom>
          <a:noFill/>
          <a:ln/>
        </p:spPr>
        <p:txBody>
          <a:bodyPr wrap="square" lIns="0" tIns="0" rIns="0" bIns="0" rtlCol="0" anchor="ctr"/>
          <a:lstStyle/>
          <a:p>
            <a:pPr indent="0" marL="0">
              <a:buNone/>
            </a:pPr>
            <a:r>
              <a:rPr lang="en-US" sz="760" dirty="0">
                <a:solidFill>
                  <a:srgbClr val="37474F"/>
                </a:solidFill>
              </a:rPr>
              <a:t>Always first — handles 90% automatically.</a:t>
            </a:r>
            <a:endParaRPr lang="en-US" sz="760" dirty="0"/>
          </a:p>
        </p:txBody>
      </p:sp>
      <p:sp>
        <p:nvSpPr>
          <p:cNvPr id="12" name="Shape 10"/>
          <p:cNvSpPr/>
          <p:nvPr/>
        </p:nvSpPr>
        <p:spPr>
          <a:xfrm>
            <a:off x="4206240" y="1115568"/>
            <a:ext cx="3858768" cy="1298448"/>
          </a:xfrm>
          <a:prstGeom prst="rect">
            <a:avLst/>
          </a:prstGeom>
          <a:solidFill>
            <a:srgbClr val="FFFFFF"/>
          </a:solidFill>
          <a:ln/>
          <a:effectLst>
            <a:outerShdw sx="100000" sy="100000" kx="0" ky="0" algn="bl" rotWithShape="0" blurRad="101600" dist="25400" dir="8100000">
              <a:srgbClr val="000000">
                <a:alpha val="9000"/>
              </a:srgbClr>
            </a:outerShdw>
          </a:effectLst>
        </p:spPr>
      </p:sp>
      <p:sp>
        <p:nvSpPr>
          <p:cNvPr id="13" name="Shape 11"/>
          <p:cNvSpPr/>
          <p:nvPr/>
        </p:nvSpPr>
        <p:spPr>
          <a:xfrm>
            <a:off x="4206240" y="1115568"/>
            <a:ext cx="3858768" cy="36576"/>
          </a:xfrm>
          <a:prstGeom prst="rect">
            <a:avLst/>
          </a:prstGeom>
          <a:solidFill>
            <a:srgbClr val="1565C0"/>
          </a:solidFill>
          <a:ln/>
        </p:spPr>
      </p:sp>
      <p:sp>
        <p:nvSpPr>
          <p:cNvPr id="14" name="Text 12"/>
          <p:cNvSpPr/>
          <p:nvPr/>
        </p:nvSpPr>
        <p:spPr>
          <a:xfrm>
            <a:off x="4297680" y="1207008"/>
            <a:ext cx="3694176" cy="475488"/>
          </a:xfrm>
          <a:prstGeom prst="rect">
            <a:avLst/>
          </a:prstGeom>
          <a:noFill/>
          <a:ln/>
        </p:spPr>
        <p:txBody>
          <a:bodyPr wrap="square" lIns="0" tIns="0" rIns="0" bIns="0" rtlCol="0" anchor="ctr"/>
          <a:lstStyle/>
          <a:p>
            <a:pPr indent="0" marL="0">
              <a:buNone/>
            </a:pPr>
            <a:r>
              <a:rPr lang="en-US" sz="800" dirty="0">
                <a:solidFill>
                  <a:srgbClr val="1E293B"/>
                </a:solidFill>
              </a:rPr>
              <a:t>IF: Business Partner migration (Customer/Vendor)?</a:t>
            </a:r>
            <a:endParaRPr lang="en-US" sz="800" dirty="0"/>
          </a:p>
        </p:txBody>
      </p:sp>
      <p:sp>
        <p:nvSpPr>
          <p:cNvPr id="15" name="Shape 13"/>
          <p:cNvSpPr/>
          <p:nvPr/>
        </p:nvSpPr>
        <p:spPr>
          <a:xfrm>
            <a:off x="4297680" y="1709928"/>
            <a:ext cx="3694176" cy="274320"/>
          </a:xfrm>
          <a:prstGeom prst="rect">
            <a:avLst/>
          </a:prstGeom>
          <a:solidFill>
            <a:srgbClr val="1565C0"/>
          </a:solidFill>
          <a:ln/>
        </p:spPr>
      </p:sp>
      <p:sp>
        <p:nvSpPr>
          <p:cNvPr id="16" name="Text 14"/>
          <p:cNvSpPr/>
          <p:nvPr/>
        </p:nvSpPr>
        <p:spPr>
          <a:xfrm>
            <a:off x="4334256" y="1709928"/>
            <a:ext cx="3639312" cy="274320"/>
          </a:xfrm>
          <a:prstGeom prst="rect">
            <a:avLst/>
          </a:prstGeom>
          <a:noFill/>
          <a:ln/>
        </p:spPr>
        <p:txBody>
          <a:bodyPr wrap="square" lIns="0" tIns="0" rIns="0" bIns="0" rtlCol="0" anchor="ctr"/>
          <a:lstStyle/>
          <a:p>
            <a:pPr indent="0" marL="0">
              <a:buNone/>
            </a:pPr>
            <a:r>
              <a:rPr lang="en-US" sz="850" b="1" dirty="0">
                <a:solidFill>
                  <a:srgbClr val="FFFFFF"/>
                </a:solidFill>
              </a:rPr>
              <a:t>USE:  CVI Program + Migration Cockpit</a:t>
            </a:r>
            <a:endParaRPr lang="en-US" sz="850" dirty="0"/>
          </a:p>
        </p:txBody>
      </p:sp>
      <p:sp>
        <p:nvSpPr>
          <p:cNvPr id="17" name="Text 15"/>
          <p:cNvSpPr/>
          <p:nvPr/>
        </p:nvSpPr>
        <p:spPr>
          <a:xfrm>
            <a:off x="4297680" y="2029968"/>
            <a:ext cx="3694176" cy="347472"/>
          </a:xfrm>
          <a:prstGeom prst="rect">
            <a:avLst/>
          </a:prstGeom>
          <a:noFill/>
          <a:ln/>
        </p:spPr>
        <p:txBody>
          <a:bodyPr wrap="square" lIns="0" tIns="0" rIns="0" bIns="0" rtlCol="0" anchor="ctr"/>
          <a:lstStyle/>
          <a:p>
            <a:pPr indent="0" marL="0">
              <a:buNone/>
            </a:pPr>
            <a:r>
              <a:rPr lang="en-US" sz="760" dirty="0">
                <a:solidFill>
                  <a:srgbClr val="37474F"/>
                </a:solidFill>
              </a:rPr>
              <a:t>Activate CVI in ECC first, then load BPs via LTMC.</a:t>
            </a:r>
            <a:endParaRPr lang="en-US" sz="760" dirty="0"/>
          </a:p>
        </p:txBody>
      </p:sp>
      <p:sp>
        <p:nvSpPr>
          <p:cNvPr id="18" name="Shape 16"/>
          <p:cNvSpPr/>
          <p:nvPr/>
        </p:nvSpPr>
        <p:spPr>
          <a:xfrm>
            <a:off x="8211312" y="1115568"/>
            <a:ext cx="3858768" cy="1298448"/>
          </a:xfrm>
          <a:prstGeom prst="rect">
            <a:avLst/>
          </a:prstGeom>
          <a:solidFill>
            <a:srgbClr val="FFFFFF"/>
          </a:solidFill>
          <a:ln/>
          <a:effectLst>
            <a:outerShdw sx="100000" sy="100000" kx="0" ky="0" algn="bl" rotWithShape="0" blurRad="101600" dist="25400" dir="8100000">
              <a:srgbClr val="000000">
                <a:alpha val="9000"/>
              </a:srgbClr>
            </a:outerShdw>
          </a:effectLst>
        </p:spPr>
      </p:sp>
      <p:sp>
        <p:nvSpPr>
          <p:cNvPr id="19" name="Shape 17"/>
          <p:cNvSpPr/>
          <p:nvPr/>
        </p:nvSpPr>
        <p:spPr>
          <a:xfrm>
            <a:off x="8211312" y="1115568"/>
            <a:ext cx="3858768" cy="36576"/>
          </a:xfrm>
          <a:prstGeom prst="rect">
            <a:avLst/>
          </a:prstGeom>
          <a:solidFill>
            <a:srgbClr val="1565C0"/>
          </a:solidFill>
          <a:ln/>
        </p:spPr>
      </p:sp>
      <p:sp>
        <p:nvSpPr>
          <p:cNvPr id="20" name="Text 18"/>
          <p:cNvSpPr/>
          <p:nvPr/>
        </p:nvSpPr>
        <p:spPr>
          <a:xfrm>
            <a:off x="8302752" y="1207008"/>
            <a:ext cx="3694176" cy="475488"/>
          </a:xfrm>
          <a:prstGeom prst="rect">
            <a:avLst/>
          </a:prstGeom>
          <a:noFill/>
          <a:ln/>
        </p:spPr>
        <p:txBody>
          <a:bodyPr wrap="square" lIns="0" tIns="0" rIns="0" bIns="0" rtlCol="0" anchor="ctr"/>
          <a:lstStyle/>
          <a:p>
            <a:pPr indent="0" marL="0">
              <a:buNone/>
            </a:pPr>
            <a:r>
              <a:rPr lang="en-US" sz="800" dirty="0">
                <a:solidFill>
                  <a:srgbClr val="1E293B"/>
                </a:solidFill>
              </a:rPr>
              <a:t>IF: Loading materials, open POs, G/L accounts?</a:t>
            </a:r>
            <a:endParaRPr lang="en-US" sz="800" dirty="0"/>
          </a:p>
        </p:txBody>
      </p:sp>
      <p:sp>
        <p:nvSpPr>
          <p:cNvPr id="21" name="Shape 19"/>
          <p:cNvSpPr/>
          <p:nvPr/>
        </p:nvSpPr>
        <p:spPr>
          <a:xfrm>
            <a:off x="8302752" y="1709928"/>
            <a:ext cx="3694176" cy="274320"/>
          </a:xfrm>
          <a:prstGeom prst="rect">
            <a:avLst/>
          </a:prstGeom>
          <a:solidFill>
            <a:srgbClr val="1565C0"/>
          </a:solidFill>
          <a:ln/>
        </p:spPr>
      </p:sp>
      <p:sp>
        <p:nvSpPr>
          <p:cNvPr id="22" name="Text 20"/>
          <p:cNvSpPr/>
          <p:nvPr/>
        </p:nvSpPr>
        <p:spPr>
          <a:xfrm>
            <a:off x="8339328" y="1709928"/>
            <a:ext cx="3639312" cy="274320"/>
          </a:xfrm>
          <a:prstGeom prst="rect">
            <a:avLst/>
          </a:prstGeom>
          <a:noFill/>
          <a:ln/>
        </p:spPr>
        <p:txBody>
          <a:bodyPr wrap="square" lIns="0" tIns="0" rIns="0" bIns="0" rtlCol="0" anchor="ctr"/>
          <a:lstStyle/>
          <a:p>
            <a:pPr indent="0" marL="0">
              <a:buNone/>
            </a:pPr>
            <a:r>
              <a:rPr lang="en-US" sz="850" b="1" dirty="0">
                <a:solidFill>
                  <a:srgbClr val="FFFFFF"/>
                </a:solidFill>
              </a:rPr>
              <a:t>USE:  Migration Cockpit (LTMC)</a:t>
            </a:r>
            <a:endParaRPr lang="en-US" sz="850" dirty="0"/>
          </a:p>
        </p:txBody>
      </p:sp>
      <p:sp>
        <p:nvSpPr>
          <p:cNvPr id="23" name="Text 21"/>
          <p:cNvSpPr/>
          <p:nvPr/>
        </p:nvSpPr>
        <p:spPr>
          <a:xfrm>
            <a:off x="8302752" y="2029968"/>
            <a:ext cx="3694176" cy="347472"/>
          </a:xfrm>
          <a:prstGeom prst="rect">
            <a:avLst/>
          </a:prstGeom>
          <a:noFill/>
          <a:ln/>
        </p:spPr>
        <p:txBody>
          <a:bodyPr wrap="square" lIns="0" tIns="0" rIns="0" bIns="0" rtlCol="0" anchor="ctr"/>
          <a:lstStyle/>
          <a:p>
            <a:pPr indent="0" marL="0">
              <a:buNone/>
            </a:pPr>
            <a:r>
              <a:rPr lang="en-US" sz="760" dirty="0">
                <a:solidFill>
                  <a:srgbClr val="37474F"/>
                </a:solidFill>
              </a:rPr>
              <a:t>Pre-built templates. Functional team, no ABAP.</a:t>
            </a:r>
            <a:endParaRPr lang="en-US" sz="760" dirty="0"/>
          </a:p>
        </p:txBody>
      </p:sp>
      <p:sp>
        <p:nvSpPr>
          <p:cNvPr id="24" name="Shape 22"/>
          <p:cNvSpPr/>
          <p:nvPr/>
        </p:nvSpPr>
        <p:spPr>
          <a:xfrm>
            <a:off x="201168" y="2532888"/>
            <a:ext cx="3858768" cy="1298448"/>
          </a:xfrm>
          <a:prstGeom prst="rect">
            <a:avLst/>
          </a:prstGeom>
          <a:solidFill>
            <a:srgbClr val="FFFFFF"/>
          </a:solidFill>
          <a:ln/>
          <a:effectLst>
            <a:outerShdw sx="100000" sy="100000" kx="0" ky="0" algn="bl" rotWithShape="0" blurRad="101600" dist="25400" dir="8100000">
              <a:srgbClr val="000000">
                <a:alpha val="9000"/>
              </a:srgbClr>
            </a:outerShdw>
          </a:effectLst>
        </p:spPr>
      </p:sp>
      <p:sp>
        <p:nvSpPr>
          <p:cNvPr id="25" name="Shape 23"/>
          <p:cNvSpPr/>
          <p:nvPr/>
        </p:nvSpPr>
        <p:spPr>
          <a:xfrm>
            <a:off x="201168" y="2532888"/>
            <a:ext cx="3858768" cy="36576"/>
          </a:xfrm>
          <a:prstGeom prst="rect">
            <a:avLst/>
          </a:prstGeom>
          <a:solidFill>
            <a:srgbClr val="4527A0"/>
          </a:solidFill>
          <a:ln/>
        </p:spPr>
      </p:sp>
      <p:sp>
        <p:nvSpPr>
          <p:cNvPr id="26" name="Text 24"/>
          <p:cNvSpPr/>
          <p:nvPr/>
        </p:nvSpPr>
        <p:spPr>
          <a:xfrm>
            <a:off x="292608" y="2624328"/>
            <a:ext cx="3694176" cy="475488"/>
          </a:xfrm>
          <a:prstGeom prst="rect">
            <a:avLst/>
          </a:prstGeom>
          <a:noFill/>
          <a:ln/>
        </p:spPr>
        <p:txBody>
          <a:bodyPr wrap="square" lIns="0" tIns="0" rIns="0" bIns="0" rtlCol="0" anchor="ctr"/>
          <a:lstStyle/>
          <a:p>
            <a:pPr indent="0" marL="0">
              <a:buNone/>
            </a:pPr>
            <a:r>
              <a:rPr lang="en-US" sz="800" dirty="0">
                <a:solidFill>
                  <a:srgbClr val="1E293B"/>
                </a:solidFill>
              </a:rPr>
              <a:t>IF: Custom ABAP code breaks post-conversion?</a:t>
            </a:r>
            <a:endParaRPr lang="en-US" sz="800" dirty="0"/>
          </a:p>
        </p:txBody>
      </p:sp>
      <p:sp>
        <p:nvSpPr>
          <p:cNvPr id="27" name="Shape 25"/>
          <p:cNvSpPr/>
          <p:nvPr/>
        </p:nvSpPr>
        <p:spPr>
          <a:xfrm>
            <a:off x="292608" y="3127248"/>
            <a:ext cx="3694176" cy="274320"/>
          </a:xfrm>
          <a:prstGeom prst="rect">
            <a:avLst/>
          </a:prstGeom>
          <a:solidFill>
            <a:srgbClr val="4527A0"/>
          </a:solidFill>
          <a:ln/>
        </p:spPr>
      </p:sp>
      <p:sp>
        <p:nvSpPr>
          <p:cNvPr id="28" name="Text 26"/>
          <p:cNvSpPr/>
          <p:nvPr/>
        </p:nvSpPr>
        <p:spPr>
          <a:xfrm>
            <a:off x="329184" y="3127248"/>
            <a:ext cx="3639312" cy="274320"/>
          </a:xfrm>
          <a:prstGeom prst="rect">
            <a:avLst/>
          </a:prstGeom>
          <a:noFill/>
          <a:ln/>
        </p:spPr>
        <p:txBody>
          <a:bodyPr wrap="square" lIns="0" tIns="0" rIns="0" bIns="0" rtlCol="0" anchor="ctr"/>
          <a:lstStyle/>
          <a:p>
            <a:pPr indent="0" marL="0">
              <a:buNone/>
            </a:pPr>
            <a:r>
              <a:rPr lang="en-US" sz="850" b="1" dirty="0">
                <a:solidFill>
                  <a:srgbClr val="FFFFFF"/>
                </a:solidFill>
              </a:rPr>
              <a:t>USE:  ABAP Test Cockpit (ATC)</a:t>
            </a:r>
            <a:endParaRPr lang="en-US" sz="850" dirty="0"/>
          </a:p>
        </p:txBody>
      </p:sp>
      <p:sp>
        <p:nvSpPr>
          <p:cNvPr id="29" name="Text 27"/>
          <p:cNvSpPr/>
          <p:nvPr/>
        </p:nvSpPr>
        <p:spPr>
          <a:xfrm>
            <a:off x="292608" y="3447288"/>
            <a:ext cx="3694176" cy="347472"/>
          </a:xfrm>
          <a:prstGeom prst="rect">
            <a:avLst/>
          </a:prstGeom>
          <a:noFill/>
          <a:ln/>
        </p:spPr>
        <p:txBody>
          <a:bodyPr wrap="square" lIns="0" tIns="0" rIns="0" bIns="0" rtlCol="0" anchor="ctr"/>
          <a:lstStyle/>
          <a:p>
            <a:pPr indent="0" marL="0">
              <a:buNone/>
            </a:pPr>
            <a:r>
              <a:rPr lang="en-US" sz="760" dirty="0">
                <a:solidFill>
                  <a:srgbClr val="37474F"/>
                </a:solidFill>
              </a:rPr>
              <a:t>Run ATC scan → ABAP developers fix each issue.</a:t>
            </a:r>
            <a:endParaRPr lang="en-US" sz="760" dirty="0"/>
          </a:p>
        </p:txBody>
      </p:sp>
      <p:sp>
        <p:nvSpPr>
          <p:cNvPr id="30" name="Shape 28"/>
          <p:cNvSpPr/>
          <p:nvPr/>
        </p:nvSpPr>
        <p:spPr>
          <a:xfrm>
            <a:off x="4206240" y="2532888"/>
            <a:ext cx="3858768" cy="1298448"/>
          </a:xfrm>
          <a:prstGeom prst="rect">
            <a:avLst/>
          </a:prstGeom>
          <a:solidFill>
            <a:srgbClr val="FFFFFF"/>
          </a:solidFill>
          <a:ln/>
          <a:effectLst>
            <a:outerShdw sx="100000" sy="100000" kx="0" ky="0" algn="bl" rotWithShape="0" blurRad="101600" dist="25400" dir="8100000">
              <a:srgbClr val="000000">
                <a:alpha val="9000"/>
              </a:srgbClr>
            </a:outerShdw>
          </a:effectLst>
        </p:spPr>
      </p:sp>
      <p:sp>
        <p:nvSpPr>
          <p:cNvPr id="31" name="Shape 29"/>
          <p:cNvSpPr/>
          <p:nvPr/>
        </p:nvSpPr>
        <p:spPr>
          <a:xfrm>
            <a:off x="4206240" y="2532888"/>
            <a:ext cx="3858768" cy="36576"/>
          </a:xfrm>
          <a:prstGeom prst="rect">
            <a:avLst/>
          </a:prstGeom>
          <a:solidFill>
            <a:srgbClr val="BF360C"/>
          </a:solidFill>
          <a:ln/>
        </p:spPr>
      </p:sp>
      <p:sp>
        <p:nvSpPr>
          <p:cNvPr id="32" name="Text 30"/>
          <p:cNvSpPr/>
          <p:nvPr/>
        </p:nvSpPr>
        <p:spPr>
          <a:xfrm>
            <a:off x="4297680" y="2624328"/>
            <a:ext cx="3694176" cy="475488"/>
          </a:xfrm>
          <a:prstGeom prst="rect">
            <a:avLst/>
          </a:prstGeom>
          <a:noFill/>
          <a:ln/>
        </p:spPr>
        <p:txBody>
          <a:bodyPr wrap="square" lIns="0" tIns="0" rIns="0" bIns="0" rtlCol="0" anchor="ctr"/>
          <a:lstStyle/>
          <a:p>
            <a:pPr indent="0" marL="0">
              <a:buNone/>
            </a:pPr>
            <a:r>
              <a:rPr lang="en-US" sz="800" dirty="0">
                <a:solidFill>
                  <a:srgbClr val="1E293B"/>
                </a:solidFill>
              </a:rPr>
              <a:t>IF: Severe data quality issues (duplicates, nulls)?</a:t>
            </a:r>
            <a:endParaRPr lang="en-US" sz="800" dirty="0"/>
          </a:p>
        </p:txBody>
      </p:sp>
      <p:sp>
        <p:nvSpPr>
          <p:cNvPr id="33" name="Shape 31"/>
          <p:cNvSpPr/>
          <p:nvPr/>
        </p:nvSpPr>
        <p:spPr>
          <a:xfrm>
            <a:off x="4297680" y="3127248"/>
            <a:ext cx="3694176" cy="274320"/>
          </a:xfrm>
          <a:prstGeom prst="rect">
            <a:avLst/>
          </a:prstGeom>
          <a:solidFill>
            <a:srgbClr val="BF360C"/>
          </a:solidFill>
          <a:ln/>
        </p:spPr>
      </p:sp>
      <p:sp>
        <p:nvSpPr>
          <p:cNvPr id="34" name="Text 32"/>
          <p:cNvSpPr/>
          <p:nvPr/>
        </p:nvSpPr>
        <p:spPr>
          <a:xfrm>
            <a:off x="4334256" y="3127248"/>
            <a:ext cx="3639312" cy="274320"/>
          </a:xfrm>
          <a:prstGeom prst="rect">
            <a:avLst/>
          </a:prstGeom>
          <a:noFill/>
          <a:ln/>
        </p:spPr>
        <p:txBody>
          <a:bodyPr wrap="square" lIns="0" tIns="0" rIns="0" bIns="0" rtlCol="0" anchor="ctr"/>
          <a:lstStyle/>
          <a:p>
            <a:pPr indent="0" marL="0">
              <a:buNone/>
            </a:pPr>
            <a:r>
              <a:rPr lang="en-US" sz="850" b="1" dirty="0">
                <a:solidFill>
                  <a:srgbClr val="FFFFFF"/>
                </a:solidFill>
              </a:rPr>
              <a:t>USE:  Syniti → then Migration Cockpit</a:t>
            </a:r>
            <a:endParaRPr lang="en-US" sz="850" dirty="0"/>
          </a:p>
        </p:txBody>
      </p:sp>
      <p:sp>
        <p:nvSpPr>
          <p:cNvPr id="35" name="Text 33"/>
          <p:cNvSpPr/>
          <p:nvPr/>
        </p:nvSpPr>
        <p:spPr>
          <a:xfrm>
            <a:off x="4297680" y="3447288"/>
            <a:ext cx="3694176" cy="347472"/>
          </a:xfrm>
          <a:prstGeom prst="rect">
            <a:avLst/>
          </a:prstGeom>
          <a:noFill/>
          <a:ln/>
        </p:spPr>
        <p:txBody>
          <a:bodyPr wrap="square" lIns="0" tIns="0" rIns="0" bIns="0" rtlCol="0" anchor="ctr"/>
          <a:lstStyle/>
          <a:p>
            <a:pPr indent="0" marL="0">
              <a:buNone/>
            </a:pPr>
            <a:r>
              <a:rPr lang="en-US" sz="760" dirty="0">
                <a:solidFill>
                  <a:srgbClr val="37474F"/>
                </a:solidFill>
              </a:rPr>
              <a:t>Cleanse in Syniti, load clean data via LTMC.</a:t>
            </a:r>
            <a:endParaRPr lang="en-US" sz="760" dirty="0"/>
          </a:p>
        </p:txBody>
      </p:sp>
      <p:sp>
        <p:nvSpPr>
          <p:cNvPr id="36" name="Shape 34"/>
          <p:cNvSpPr/>
          <p:nvPr/>
        </p:nvSpPr>
        <p:spPr>
          <a:xfrm>
            <a:off x="8211312" y="2532888"/>
            <a:ext cx="3858768" cy="1298448"/>
          </a:xfrm>
          <a:prstGeom prst="rect">
            <a:avLst/>
          </a:prstGeom>
          <a:solidFill>
            <a:srgbClr val="FFFFFF"/>
          </a:solidFill>
          <a:ln/>
          <a:effectLst>
            <a:outerShdw sx="100000" sy="100000" kx="0" ky="0" algn="bl" rotWithShape="0" blurRad="101600" dist="25400" dir="8100000">
              <a:srgbClr val="000000">
                <a:alpha val="9000"/>
              </a:srgbClr>
            </a:outerShdw>
          </a:effectLst>
        </p:spPr>
      </p:sp>
      <p:sp>
        <p:nvSpPr>
          <p:cNvPr id="37" name="Shape 35"/>
          <p:cNvSpPr/>
          <p:nvPr/>
        </p:nvSpPr>
        <p:spPr>
          <a:xfrm>
            <a:off x="8211312" y="2532888"/>
            <a:ext cx="3858768" cy="36576"/>
          </a:xfrm>
          <a:prstGeom prst="rect">
            <a:avLst/>
          </a:prstGeom>
          <a:solidFill>
            <a:srgbClr val="BF360C"/>
          </a:solidFill>
          <a:ln/>
        </p:spPr>
      </p:sp>
      <p:sp>
        <p:nvSpPr>
          <p:cNvPr id="38" name="Text 36"/>
          <p:cNvSpPr/>
          <p:nvPr/>
        </p:nvSpPr>
        <p:spPr>
          <a:xfrm>
            <a:off x="8302752" y="2624328"/>
            <a:ext cx="3694176" cy="475488"/>
          </a:xfrm>
          <a:prstGeom prst="rect">
            <a:avLst/>
          </a:prstGeom>
          <a:noFill/>
          <a:ln/>
        </p:spPr>
        <p:txBody>
          <a:bodyPr wrap="square" lIns="0" tIns="0" rIns="0" bIns="0" rtlCol="0" anchor="ctr"/>
          <a:lstStyle/>
          <a:p>
            <a:pPr indent="0" marL="0">
              <a:buNone/>
            </a:pPr>
            <a:r>
              <a:rPr lang="en-US" sz="800" dirty="0">
                <a:solidFill>
                  <a:srgbClr val="1E293B"/>
                </a:solidFill>
              </a:rPr>
              <a:t>IF: Source includes non-SAP systems (Oracle EBS)?</a:t>
            </a:r>
            <a:endParaRPr lang="en-US" sz="800" dirty="0"/>
          </a:p>
        </p:txBody>
      </p:sp>
      <p:sp>
        <p:nvSpPr>
          <p:cNvPr id="39" name="Shape 37"/>
          <p:cNvSpPr/>
          <p:nvPr/>
        </p:nvSpPr>
        <p:spPr>
          <a:xfrm>
            <a:off x="8302752" y="3127248"/>
            <a:ext cx="3694176" cy="274320"/>
          </a:xfrm>
          <a:prstGeom prst="rect">
            <a:avLst/>
          </a:prstGeom>
          <a:solidFill>
            <a:srgbClr val="BF360C"/>
          </a:solidFill>
          <a:ln/>
        </p:spPr>
      </p:sp>
      <p:sp>
        <p:nvSpPr>
          <p:cNvPr id="40" name="Text 38"/>
          <p:cNvSpPr/>
          <p:nvPr/>
        </p:nvSpPr>
        <p:spPr>
          <a:xfrm>
            <a:off x="8339328" y="3127248"/>
            <a:ext cx="3639312" cy="274320"/>
          </a:xfrm>
          <a:prstGeom prst="rect">
            <a:avLst/>
          </a:prstGeom>
          <a:noFill/>
          <a:ln/>
        </p:spPr>
        <p:txBody>
          <a:bodyPr wrap="square" lIns="0" tIns="0" rIns="0" bIns="0" rtlCol="0" anchor="ctr"/>
          <a:lstStyle/>
          <a:p>
            <a:pPr indent="0" marL="0">
              <a:buNone/>
            </a:pPr>
            <a:r>
              <a:rPr lang="en-US" sz="850" b="1" dirty="0">
                <a:solidFill>
                  <a:srgbClr val="FFFFFF"/>
                </a:solidFill>
              </a:rPr>
              <a:t>USE:  Informatica or SAP BODS</a:t>
            </a:r>
            <a:endParaRPr lang="en-US" sz="850" dirty="0"/>
          </a:p>
        </p:txBody>
      </p:sp>
      <p:sp>
        <p:nvSpPr>
          <p:cNvPr id="41" name="Text 39"/>
          <p:cNvSpPr/>
          <p:nvPr/>
        </p:nvSpPr>
        <p:spPr>
          <a:xfrm>
            <a:off x="8302752" y="3447288"/>
            <a:ext cx="3694176" cy="347472"/>
          </a:xfrm>
          <a:prstGeom prst="rect">
            <a:avLst/>
          </a:prstGeom>
          <a:noFill/>
          <a:ln/>
        </p:spPr>
        <p:txBody>
          <a:bodyPr wrap="square" lIns="0" tIns="0" rIns="0" bIns="0" rtlCol="0" anchor="ctr"/>
          <a:lstStyle/>
          <a:p>
            <a:pPr indent="0" marL="0">
              <a:buNone/>
            </a:pPr>
            <a:r>
              <a:rPr lang="en-US" sz="760" dirty="0">
                <a:solidFill>
                  <a:srgbClr val="37474F"/>
                </a:solidFill>
              </a:rPr>
              <a:t>Extract from any source, transform, then load.</a:t>
            </a:r>
            <a:endParaRPr lang="en-US" sz="760" dirty="0"/>
          </a:p>
        </p:txBody>
      </p:sp>
      <p:sp>
        <p:nvSpPr>
          <p:cNvPr id="42" name="Shape 40"/>
          <p:cNvSpPr/>
          <p:nvPr/>
        </p:nvSpPr>
        <p:spPr>
          <a:xfrm>
            <a:off x="201168" y="3950208"/>
            <a:ext cx="3858768" cy="1298448"/>
          </a:xfrm>
          <a:prstGeom prst="rect">
            <a:avLst/>
          </a:prstGeom>
          <a:solidFill>
            <a:srgbClr val="FFFFFF"/>
          </a:solidFill>
          <a:ln/>
          <a:effectLst>
            <a:outerShdw sx="100000" sy="100000" kx="0" ky="0" algn="bl" rotWithShape="0" blurRad="101600" dist="25400" dir="8100000">
              <a:srgbClr val="000000">
                <a:alpha val="9000"/>
              </a:srgbClr>
            </a:outerShdw>
          </a:effectLst>
        </p:spPr>
      </p:sp>
      <p:sp>
        <p:nvSpPr>
          <p:cNvPr id="43" name="Shape 41"/>
          <p:cNvSpPr/>
          <p:nvPr/>
        </p:nvSpPr>
        <p:spPr>
          <a:xfrm>
            <a:off x="201168" y="3950208"/>
            <a:ext cx="3858768" cy="36576"/>
          </a:xfrm>
          <a:prstGeom prst="rect">
            <a:avLst/>
          </a:prstGeom>
          <a:solidFill>
            <a:srgbClr val="4527A0"/>
          </a:solidFill>
          <a:ln/>
        </p:spPr>
      </p:sp>
      <p:sp>
        <p:nvSpPr>
          <p:cNvPr id="44" name="Text 42"/>
          <p:cNvSpPr/>
          <p:nvPr/>
        </p:nvSpPr>
        <p:spPr>
          <a:xfrm>
            <a:off x="292608" y="4041648"/>
            <a:ext cx="3694176" cy="475488"/>
          </a:xfrm>
          <a:prstGeom prst="rect">
            <a:avLst/>
          </a:prstGeom>
          <a:noFill/>
          <a:ln/>
        </p:spPr>
        <p:txBody>
          <a:bodyPr wrap="square" lIns="0" tIns="0" rIns="0" bIns="0" rtlCol="0" anchor="ctr"/>
          <a:lstStyle/>
          <a:p>
            <a:pPr indent="0" marL="0">
              <a:buNone/>
            </a:pPr>
            <a:r>
              <a:rPr lang="en-US" sz="800" dirty="0">
                <a:solidFill>
                  <a:srgbClr val="1E293B"/>
                </a:solidFill>
              </a:rPr>
              <a:t>IF: Near-zero downtime (&lt; 4hr window)?</a:t>
            </a:r>
            <a:endParaRPr lang="en-US" sz="800" dirty="0"/>
          </a:p>
        </p:txBody>
      </p:sp>
      <p:sp>
        <p:nvSpPr>
          <p:cNvPr id="45" name="Shape 43"/>
          <p:cNvSpPr/>
          <p:nvPr/>
        </p:nvSpPr>
        <p:spPr>
          <a:xfrm>
            <a:off x="292608" y="4544568"/>
            <a:ext cx="3694176" cy="274320"/>
          </a:xfrm>
          <a:prstGeom prst="rect">
            <a:avLst/>
          </a:prstGeom>
          <a:solidFill>
            <a:srgbClr val="4527A0"/>
          </a:solidFill>
          <a:ln/>
        </p:spPr>
      </p:sp>
      <p:sp>
        <p:nvSpPr>
          <p:cNvPr id="46" name="Text 44"/>
          <p:cNvSpPr/>
          <p:nvPr/>
        </p:nvSpPr>
        <p:spPr>
          <a:xfrm>
            <a:off x="329184" y="4544568"/>
            <a:ext cx="3639312" cy="274320"/>
          </a:xfrm>
          <a:prstGeom prst="rect">
            <a:avLst/>
          </a:prstGeom>
          <a:noFill/>
          <a:ln/>
        </p:spPr>
        <p:txBody>
          <a:bodyPr wrap="square" lIns="0" tIns="0" rIns="0" bIns="0" rtlCol="0" anchor="ctr"/>
          <a:lstStyle/>
          <a:p>
            <a:pPr indent="0" marL="0">
              <a:buNone/>
            </a:pPr>
            <a:r>
              <a:rPr lang="en-US" sz="850" b="1" dirty="0">
                <a:solidFill>
                  <a:srgbClr val="FFFFFF"/>
                </a:solidFill>
              </a:rPr>
              <a:t>USE:  SLT + Downtime-Optimised DMO</a:t>
            </a:r>
            <a:endParaRPr lang="en-US" sz="850" dirty="0"/>
          </a:p>
        </p:txBody>
      </p:sp>
      <p:sp>
        <p:nvSpPr>
          <p:cNvPr id="47" name="Text 45"/>
          <p:cNvSpPr/>
          <p:nvPr/>
        </p:nvSpPr>
        <p:spPr>
          <a:xfrm>
            <a:off x="292608" y="4864608"/>
            <a:ext cx="3694176" cy="347472"/>
          </a:xfrm>
          <a:prstGeom prst="rect">
            <a:avLst/>
          </a:prstGeom>
          <a:noFill/>
          <a:ln/>
        </p:spPr>
        <p:txBody>
          <a:bodyPr wrap="square" lIns="0" tIns="0" rIns="0" bIns="0" rtlCol="0" anchor="ctr"/>
          <a:lstStyle/>
          <a:p>
            <a:pPr indent="0" marL="0">
              <a:buNone/>
            </a:pPr>
            <a:r>
              <a:rPr lang="en-US" sz="760" dirty="0">
                <a:solidFill>
                  <a:srgbClr val="37474F"/>
                </a:solidFill>
              </a:rPr>
              <a:t>SLT replicates live changes during conversion.</a:t>
            </a:r>
            <a:endParaRPr lang="en-US" sz="760" dirty="0"/>
          </a:p>
        </p:txBody>
      </p:sp>
      <p:sp>
        <p:nvSpPr>
          <p:cNvPr id="48" name="Shape 46"/>
          <p:cNvSpPr/>
          <p:nvPr/>
        </p:nvSpPr>
        <p:spPr>
          <a:xfrm>
            <a:off x="4206240" y="3950208"/>
            <a:ext cx="3858768" cy="1298448"/>
          </a:xfrm>
          <a:prstGeom prst="rect">
            <a:avLst/>
          </a:prstGeom>
          <a:solidFill>
            <a:srgbClr val="FFFFFF"/>
          </a:solidFill>
          <a:ln/>
          <a:effectLst>
            <a:outerShdw sx="100000" sy="100000" kx="0" ky="0" algn="bl" rotWithShape="0" blurRad="101600" dist="25400" dir="8100000">
              <a:srgbClr val="000000">
                <a:alpha val="9000"/>
              </a:srgbClr>
            </a:outerShdw>
          </a:effectLst>
        </p:spPr>
      </p:sp>
      <p:sp>
        <p:nvSpPr>
          <p:cNvPr id="49" name="Shape 47"/>
          <p:cNvSpPr/>
          <p:nvPr/>
        </p:nvSpPr>
        <p:spPr>
          <a:xfrm>
            <a:off x="4206240" y="3950208"/>
            <a:ext cx="3858768" cy="36576"/>
          </a:xfrm>
          <a:prstGeom prst="rect">
            <a:avLst/>
          </a:prstGeom>
          <a:solidFill>
            <a:srgbClr val="B71C1C"/>
          </a:solidFill>
          <a:ln/>
        </p:spPr>
      </p:sp>
      <p:sp>
        <p:nvSpPr>
          <p:cNvPr id="50" name="Text 48"/>
          <p:cNvSpPr/>
          <p:nvPr/>
        </p:nvSpPr>
        <p:spPr>
          <a:xfrm>
            <a:off x="4297680" y="4041648"/>
            <a:ext cx="3694176" cy="475488"/>
          </a:xfrm>
          <a:prstGeom prst="rect">
            <a:avLst/>
          </a:prstGeom>
          <a:noFill/>
          <a:ln/>
        </p:spPr>
        <p:txBody>
          <a:bodyPr wrap="square" lIns="0" tIns="0" rIns="0" bIns="0" rtlCol="0" anchor="ctr"/>
          <a:lstStyle/>
          <a:p>
            <a:pPr indent="0" marL="0">
              <a:buNone/>
            </a:pPr>
            <a:r>
              <a:rPr lang="en-US" sz="800" dirty="0">
                <a:solidFill>
                  <a:srgbClr val="1E293B"/>
                </a:solidFill>
              </a:rPr>
              <a:t>IF: Bluefield — migrating only some company codes?</a:t>
            </a:r>
            <a:endParaRPr lang="en-US" sz="800" dirty="0"/>
          </a:p>
        </p:txBody>
      </p:sp>
      <p:sp>
        <p:nvSpPr>
          <p:cNvPr id="51" name="Shape 49"/>
          <p:cNvSpPr/>
          <p:nvPr/>
        </p:nvSpPr>
        <p:spPr>
          <a:xfrm>
            <a:off x="4297680" y="4544568"/>
            <a:ext cx="3694176" cy="274320"/>
          </a:xfrm>
          <a:prstGeom prst="rect">
            <a:avLst/>
          </a:prstGeom>
          <a:solidFill>
            <a:srgbClr val="B71C1C"/>
          </a:solidFill>
          <a:ln/>
        </p:spPr>
      </p:sp>
      <p:sp>
        <p:nvSpPr>
          <p:cNvPr id="52" name="Text 50"/>
          <p:cNvSpPr/>
          <p:nvPr/>
        </p:nvSpPr>
        <p:spPr>
          <a:xfrm>
            <a:off x="4334256" y="4544568"/>
            <a:ext cx="3639312" cy="274320"/>
          </a:xfrm>
          <a:prstGeom prst="rect">
            <a:avLst/>
          </a:prstGeom>
          <a:noFill/>
          <a:ln/>
        </p:spPr>
        <p:txBody>
          <a:bodyPr wrap="square" lIns="0" tIns="0" rIns="0" bIns="0" rtlCol="0" anchor="ctr"/>
          <a:lstStyle/>
          <a:p>
            <a:pPr indent="0" marL="0">
              <a:buNone/>
            </a:pPr>
            <a:r>
              <a:rPr lang="en-US" sz="850" b="1" dirty="0">
                <a:solidFill>
                  <a:srgbClr val="FFFFFF"/>
                </a:solidFill>
              </a:rPr>
              <a:t>USE:  SNP CrystalBridge</a:t>
            </a:r>
            <a:endParaRPr lang="en-US" sz="850" dirty="0"/>
          </a:p>
        </p:txBody>
      </p:sp>
      <p:sp>
        <p:nvSpPr>
          <p:cNvPr id="53" name="Text 51"/>
          <p:cNvSpPr/>
          <p:nvPr/>
        </p:nvSpPr>
        <p:spPr>
          <a:xfrm>
            <a:off x="4297680" y="4864608"/>
            <a:ext cx="3694176" cy="347472"/>
          </a:xfrm>
          <a:prstGeom prst="rect">
            <a:avLst/>
          </a:prstGeom>
          <a:noFill/>
          <a:ln/>
        </p:spPr>
        <p:txBody>
          <a:bodyPr wrap="square" lIns="0" tIns="0" rIns="0" bIns="0" rtlCol="0" anchor="ctr"/>
          <a:lstStyle/>
          <a:p>
            <a:pPr indent="0" marL="0">
              <a:buNone/>
            </a:pPr>
            <a:r>
              <a:rPr lang="en-US" sz="760" dirty="0">
                <a:solidFill>
                  <a:srgbClr val="37474F"/>
                </a:solidFill>
              </a:rPr>
              <a:t>Only tool designed for selective data transition.</a:t>
            </a:r>
            <a:endParaRPr lang="en-US" sz="760" dirty="0"/>
          </a:p>
        </p:txBody>
      </p:sp>
      <p:sp>
        <p:nvSpPr>
          <p:cNvPr id="54" name="Shape 52"/>
          <p:cNvSpPr/>
          <p:nvPr/>
        </p:nvSpPr>
        <p:spPr>
          <a:xfrm>
            <a:off x="8211312" y="3950208"/>
            <a:ext cx="3858768" cy="1298448"/>
          </a:xfrm>
          <a:prstGeom prst="rect">
            <a:avLst/>
          </a:prstGeom>
          <a:solidFill>
            <a:srgbClr val="FFFFFF"/>
          </a:solidFill>
          <a:ln/>
          <a:effectLst>
            <a:outerShdw sx="100000" sy="100000" kx="0" ky="0" algn="bl" rotWithShape="0" blurRad="101600" dist="25400" dir="8100000">
              <a:srgbClr val="000000">
                <a:alpha val="9000"/>
              </a:srgbClr>
            </a:outerShdw>
          </a:effectLst>
        </p:spPr>
      </p:sp>
      <p:sp>
        <p:nvSpPr>
          <p:cNvPr id="55" name="Shape 53"/>
          <p:cNvSpPr/>
          <p:nvPr/>
        </p:nvSpPr>
        <p:spPr>
          <a:xfrm>
            <a:off x="8211312" y="3950208"/>
            <a:ext cx="3858768" cy="36576"/>
          </a:xfrm>
          <a:prstGeom prst="rect">
            <a:avLst/>
          </a:prstGeom>
          <a:solidFill>
            <a:srgbClr val="B71C1C"/>
          </a:solidFill>
          <a:ln/>
        </p:spPr>
      </p:sp>
      <p:sp>
        <p:nvSpPr>
          <p:cNvPr id="56" name="Text 54"/>
          <p:cNvSpPr/>
          <p:nvPr/>
        </p:nvSpPr>
        <p:spPr>
          <a:xfrm>
            <a:off x="8302752" y="4041648"/>
            <a:ext cx="3694176" cy="475488"/>
          </a:xfrm>
          <a:prstGeom prst="rect">
            <a:avLst/>
          </a:prstGeom>
          <a:noFill/>
          <a:ln/>
        </p:spPr>
        <p:txBody>
          <a:bodyPr wrap="square" lIns="0" tIns="0" rIns="0" bIns="0" rtlCol="0" anchor="ctr"/>
          <a:lstStyle/>
          <a:p>
            <a:pPr indent="0" marL="0">
              <a:buNone/>
            </a:pPr>
            <a:r>
              <a:rPr lang="en-US" sz="800" dirty="0">
                <a:solidFill>
                  <a:srgbClr val="1E293B"/>
                </a:solidFill>
              </a:rPr>
              <a:t>IF: M&amp;A — merging two SAP systems into one S/4HANA?</a:t>
            </a:r>
            <a:endParaRPr lang="en-US" sz="800" dirty="0"/>
          </a:p>
        </p:txBody>
      </p:sp>
      <p:sp>
        <p:nvSpPr>
          <p:cNvPr id="57" name="Shape 55"/>
          <p:cNvSpPr/>
          <p:nvPr/>
        </p:nvSpPr>
        <p:spPr>
          <a:xfrm>
            <a:off x="8302752" y="4544568"/>
            <a:ext cx="3694176" cy="274320"/>
          </a:xfrm>
          <a:prstGeom prst="rect">
            <a:avLst/>
          </a:prstGeom>
          <a:solidFill>
            <a:srgbClr val="B71C1C"/>
          </a:solidFill>
          <a:ln/>
        </p:spPr>
      </p:sp>
      <p:sp>
        <p:nvSpPr>
          <p:cNvPr id="58" name="Text 56"/>
          <p:cNvSpPr/>
          <p:nvPr/>
        </p:nvSpPr>
        <p:spPr>
          <a:xfrm>
            <a:off x="8339328" y="4544568"/>
            <a:ext cx="3639312" cy="274320"/>
          </a:xfrm>
          <a:prstGeom prst="rect">
            <a:avLst/>
          </a:prstGeom>
          <a:noFill/>
          <a:ln/>
        </p:spPr>
        <p:txBody>
          <a:bodyPr wrap="square" lIns="0" tIns="0" rIns="0" bIns="0" rtlCol="0" anchor="ctr"/>
          <a:lstStyle/>
          <a:p>
            <a:pPr indent="0" marL="0">
              <a:buNone/>
            </a:pPr>
            <a:r>
              <a:rPr lang="en-US" sz="850" b="1" dirty="0">
                <a:solidFill>
                  <a:srgbClr val="FFFFFF"/>
                </a:solidFill>
              </a:rPr>
              <a:t>USE:  SNP CrystalBridge</a:t>
            </a:r>
            <a:endParaRPr lang="en-US" sz="850" dirty="0"/>
          </a:p>
        </p:txBody>
      </p:sp>
      <p:sp>
        <p:nvSpPr>
          <p:cNvPr id="59" name="Text 57"/>
          <p:cNvSpPr/>
          <p:nvPr/>
        </p:nvSpPr>
        <p:spPr>
          <a:xfrm>
            <a:off x="8302752" y="4864608"/>
            <a:ext cx="3694176" cy="347472"/>
          </a:xfrm>
          <a:prstGeom prst="rect">
            <a:avLst/>
          </a:prstGeom>
          <a:noFill/>
          <a:ln/>
        </p:spPr>
        <p:txBody>
          <a:bodyPr wrap="square" lIns="0" tIns="0" rIns="0" bIns="0" rtlCol="0" anchor="ctr"/>
          <a:lstStyle/>
          <a:p>
            <a:pPr indent="0" marL="0">
              <a:buNone/>
            </a:pPr>
            <a:r>
              <a:rPr lang="en-US" sz="760" dirty="0">
                <a:solidFill>
                  <a:srgbClr val="37474F"/>
                </a:solidFill>
              </a:rPr>
              <a:t>CrystalBridge handles complex landscape consolidation.</a:t>
            </a:r>
            <a:endParaRPr lang="en-US" sz="760" dirty="0"/>
          </a:p>
        </p:txBody>
      </p:sp>
      <p:sp>
        <p:nvSpPr>
          <p:cNvPr id="60" name="Shape 58"/>
          <p:cNvSpPr/>
          <p:nvPr/>
        </p:nvSpPr>
        <p:spPr>
          <a:xfrm>
            <a:off x="201168" y="5367528"/>
            <a:ext cx="3858768" cy="1298448"/>
          </a:xfrm>
          <a:prstGeom prst="rect">
            <a:avLst/>
          </a:prstGeom>
          <a:solidFill>
            <a:srgbClr val="FFFFFF"/>
          </a:solidFill>
          <a:ln/>
          <a:effectLst>
            <a:outerShdw sx="100000" sy="100000" kx="0" ky="0" algn="bl" rotWithShape="0" blurRad="101600" dist="25400" dir="8100000">
              <a:srgbClr val="000000">
                <a:alpha val="9000"/>
              </a:srgbClr>
            </a:outerShdw>
          </a:effectLst>
        </p:spPr>
      </p:sp>
      <p:sp>
        <p:nvSpPr>
          <p:cNvPr id="61" name="Shape 59"/>
          <p:cNvSpPr/>
          <p:nvPr/>
        </p:nvSpPr>
        <p:spPr>
          <a:xfrm>
            <a:off x="201168" y="5367528"/>
            <a:ext cx="3858768" cy="36576"/>
          </a:xfrm>
          <a:prstGeom prst="rect">
            <a:avLst/>
          </a:prstGeom>
          <a:solidFill>
            <a:srgbClr val="00695C"/>
          </a:solidFill>
          <a:ln/>
        </p:spPr>
      </p:sp>
      <p:sp>
        <p:nvSpPr>
          <p:cNvPr id="62" name="Text 60"/>
          <p:cNvSpPr/>
          <p:nvPr/>
        </p:nvSpPr>
        <p:spPr>
          <a:xfrm>
            <a:off x="292608" y="5458968"/>
            <a:ext cx="3694176" cy="475488"/>
          </a:xfrm>
          <a:prstGeom prst="rect">
            <a:avLst/>
          </a:prstGeom>
          <a:noFill/>
          <a:ln/>
        </p:spPr>
        <p:txBody>
          <a:bodyPr wrap="square" lIns="0" tIns="0" rIns="0" bIns="0" rtlCol="0" anchor="ctr"/>
          <a:lstStyle/>
          <a:p>
            <a:pPr indent="0" marL="0">
              <a:buNone/>
            </a:pPr>
            <a:r>
              <a:rPr lang="en-US" sz="800" dirty="0">
                <a:solidFill>
                  <a:srgbClr val="1E293B"/>
                </a:solidFill>
              </a:rPr>
              <a:t>IF: Extended parallel run — old ECC + new S/4HANA?</a:t>
            </a:r>
            <a:endParaRPr lang="en-US" sz="800" dirty="0"/>
          </a:p>
        </p:txBody>
      </p:sp>
      <p:sp>
        <p:nvSpPr>
          <p:cNvPr id="63" name="Shape 61"/>
          <p:cNvSpPr/>
          <p:nvPr/>
        </p:nvSpPr>
        <p:spPr>
          <a:xfrm>
            <a:off x="292608" y="5961888"/>
            <a:ext cx="3694176" cy="274320"/>
          </a:xfrm>
          <a:prstGeom prst="rect">
            <a:avLst/>
          </a:prstGeom>
          <a:solidFill>
            <a:srgbClr val="00695C"/>
          </a:solidFill>
          <a:ln/>
        </p:spPr>
      </p:sp>
      <p:sp>
        <p:nvSpPr>
          <p:cNvPr id="64" name="Text 62"/>
          <p:cNvSpPr/>
          <p:nvPr/>
        </p:nvSpPr>
        <p:spPr>
          <a:xfrm>
            <a:off x="329184" y="5961888"/>
            <a:ext cx="3639312" cy="274320"/>
          </a:xfrm>
          <a:prstGeom prst="rect">
            <a:avLst/>
          </a:prstGeom>
          <a:noFill/>
          <a:ln/>
        </p:spPr>
        <p:txBody>
          <a:bodyPr wrap="square" lIns="0" tIns="0" rIns="0" bIns="0" rtlCol="0" anchor="ctr"/>
          <a:lstStyle/>
          <a:p>
            <a:pPr indent="0" marL="0">
              <a:buNone/>
            </a:pPr>
            <a:r>
              <a:rPr lang="en-US" sz="850" b="1" dirty="0">
                <a:solidFill>
                  <a:srgbClr val="FFFFFF"/>
                </a:solidFill>
              </a:rPr>
              <a:t>USE:  SLT Replication Server</a:t>
            </a:r>
            <a:endParaRPr lang="en-US" sz="850" dirty="0"/>
          </a:p>
        </p:txBody>
      </p:sp>
      <p:sp>
        <p:nvSpPr>
          <p:cNvPr id="65" name="Text 63"/>
          <p:cNvSpPr/>
          <p:nvPr/>
        </p:nvSpPr>
        <p:spPr>
          <a:xfrm>
            <a:off x="292608" y="6281928"/>
            <a:ext cx="3694176" cy="347472"/>
          </a:xfrm>
          <a:prstGeom prst="rect">
            <a:avLst/>
          </a:prstGeom>
          <a:noFill/>
          <a:ln/>
        </p:spPr>
        <p:txBody>
          <a:bodyPr wrap="square" lIns="0" tIns="0" rIns="0" bIns="0" rtlCol="0" anchor="ctr"/>
          <a:lstStyle/>
          <a:p>
            <a:pPr indent="0" marL="0">
              <a:buNone/>
            </a:pPr>
            <a:r>
              <a:rPr lang="en-US" sz="760" dirty="0">
                <a:solidFill>
                  <a:srgbClr val="37474F"/>
                </a:solidFill>
              </a:rPr>
              <a:t>Real-time sync keeps both systems aligned.</a:t>
            </a:r>
            <a:endParaRPr lang="en-US" sz="760" dirty="0"/>
          </a:p>
        </p:txBody>
      </p:sp>
      <p:sp>
        <p:nvSpPr>
          <p:cNvPr id="66" name="Shape 64"/>
          <p:cNvSpPr/>
          <p:nvPr/>
        </p:nvSpPr>
        <p:spPr>
          <a:xfrm>
            <a:off x="4206240" y="5367528"/>
            <a:ext cx="3858768" cy="1298448"/>
          </a:xfrm>
          <a:prstGeom prst="rect">
            <a:avLst/>
          </a:prstGeom>
          <a:solidFill>
            <a:srgbClr val="FFFFFF"/>
          </a:solidFill>
          <a:ln/>
          <a:effectLst>
            <a:outerShdw sx="100000" sy="100000" kx="0" ky="0" algn="bl" rotWithShape="0" blurRad="101600" dist="25400" dir="8100000">
              <a:srgbClr val="000000">
                <a:alpha val="9000"/>
              </a:srgbClr>
            </a:outerShdw>
          </a:effectLst>
        </p:spPr>
      </p:sp>
      <p:sp>
        <p:nvSpPr>
          <p:cNvPr id="67" name="Shape 65"/>
          <p:cNvSpPr/>
          <p:nvPr/>
        </p:nvSpPr>
        <p:spPr>
          <a:xfrm>
            <a:off x="4206240" y="5367528"/>
            <a:ext cx="3858768" cy="36576"/>
          </a:xfrm>
          <a:prstGeom prst="rect">
            <a:avLst/>
          </a:prstGeom>
          <a:solidFill>
            <a:srgbClr val="B71C1C"/>
          </a:solidFill>
          <a:ln/>
        </p:spPr>
      </p:sp>
      <p:sp>
        <p:nvSpPr>
          <p:cNvPr id="68" name="Text 66"/>
          <p:cNvSpPr/>
          <p:nvPr/>
        </p:nvSpPr>
        <p:spPr>
          <a:xfrm>
            <a:off x="4297680" y="5458968"/>
            <a:ext cx="3694176" cy="475488"/>
          </a:xfrm>
          <a:prstGeom prst="rect">
            <a:avLst/>
          </a:prstGeom>
          <a:noFill/>
          <a:ln/>
        </p:spPr>
        <p:txBody>
          <a:bodyPr wrap="square" lIns="0" tIns="0" rIns="0" bIns="0" rtlCol="0" anchor="ctr"/>
          <a:lstStyle/>
          <a:p>
            <a:pPr indent="0" marL="0">
              <a:buNone/>
            </a:pPr>
            <a:r>
              <a:rPr lang="en-US" sz="800" dirty="0">
                <a:solidFill>
                  <a:srgbClr val="1E293B"/>
                </a:solidFill>
              </a:rPr>
              <a:t>IF: Should we still use LSMW for S/4HANA?</a:t>
            </a:r>
            <a:endParaRPr lang="en-US" sz="800" dirty="0"/>
          </a:p>
        </p:txBody>
      </p:sp>
      <p:sp>
        <p:nvSpPr>
          <p:cNvPr id="69" name="Shape 67"/>
          <p:cNvSpPr/>
          <p:nvPr/>
        </p:nvSpPr>
        <p:spPr>
          <a:xfrm>
            <a:off x="4297680" y="5961888"/>
            <a:ext cx="3694176" cy="274320"/>
          </a:xfrm>
          <a:prstGeom prst="rect">
            <a:avLst/>
          </a:prstGeom>
          <a:solidFill>
            <a:srgbClr val="B71C1C"/>
          </a:solidFill>
          <a:ln/>
        </p:spPr>
      </p:sp>
      <p:sp>
        <p:nvSpPr>
          <p:cNvPr id="70" name="Text 68"/>
          <p:cNvSpPr/>
          <p:nvPr/>
        </p:nvSpPr>
        <p:spPr>
          <a:xfrm>
            <a:off x="4334256" y="5961888"/>
            <a:ext cx="3639312" cy="274320"/>
          </a:xfrm>
          <a:prstGeom prst="rect">
            <a:avLst/>
          </a:prstGeom>
          <a:noFill/>
          <a:ln/>
        </p:spPr>
        <p:txBody>
          <a:bodyPr wrap="square" lIns="0" tIns="0" rIns="0" bIns="0" rtlCol="0" anchor="ctr"/>
          <a:lstStyle/>
          <a:p>
            <a:pPr indent="0" marL="0">
              <a:buNone/>
            </a:pPr>
            <a:r>
              <a:rPr lang="en-US" sz="850" b="1" dirty="0">
                <a:solidFill>
                  <a:srgbClr val="FFFFFF"/>
                </a:solidFill>
              </a:rPr>
              <a:t>USE:  NO — use Migration Cockpit</a:t>
            </a:r>
            <a:endParaRPr lang="en-US" sz="850" dirty="0"/>
          </a:p>
        </p:txBody>
      </p:sp>
      <p:sp>
        <p:nvSpPr>
          <p:cNvPr id="71" name="Text 69"/>
          <p:cNvSpPr/>
          <p:nvPr/>
        </p:nvSpPr>
        <p:spPr>
          <a:xfrm>
            <a:off x="4297680" y="6281928"/>
            <a:ext cx="3694176" cy="347472"/>
          </a:xfrm>
          <a:prstGeom prst="rect">
            <a:avLst/>
          </a:prstGeom>
          <a:noFill/>
          <a:ln/>
        </p:spPr>
        <p:txBody>
          <a:bodyPr wrap="square" lIns="0" tIns="0" rIns="0" bIns="0" rtlCol="0" anchor="ctr"/>
          <a:lstStyle/>
          <a:p>
            <a:pPr indent="0" marL="0">
              <a:buNone/>
            </a:pPr>
            <a:r>
              <a:rPr lang="en-US" sz="760" dirty="0">
                <a:solidFill>
                  <a:srgbClr val="37474F"/>
                </a:solidFill>
              </a:rPr>
              <a:t>LSMW not recommended. Check SAP Note 2287723.</a:t>
            </a:r>
            <a:endParaRPr lang="en-US" sz="760" dirty="0"/>
          </a:p>
        </p:txBody>
      </p:sp>
      <p:sp>
        <p:nvSpPr>
          <p:cNvPr id="72" name="Shape 70"/>
          <p:cNvSpPr/>
          <p:nvPr/>
        </p:nvSpPr>
        <p:spPr>
          <a:xfrm>
            <a:off x="8211312" y="5367528"/>
            <a:ext cx="3858768" cy="1298448"/>
          </a:xfrm>
          <a:prstGeom prst="rect">
            <a:avLst/>
          </a:prstGeom>
          <a:solidFill>
            <a:srgbClr val="FFFFFF"/>
          </a:solidFill>
          <a:ln/>
          <a:effectLst>
            <a:outerShdw sx="100000" sy="100000" kx="0" ky="0" algn="bl" rotWithShape="0" blurRad="101600" dist="25400" dir="8100000">
              <a:srgbClr val="000000">
                <a:alpha val="9000"/>
              </a:srgbClr>
            </a:outerShdw>
          </a:effectLst>
        </p:spPr>
      </p:sp>
      <p:sp>
        <p:nvSpPr>
          <p:cNvPr id="73" name="Shape 71"/>
          <p:cNvSpPr/>
          <p:nvPr/>
        </p:nvSpPr>
        <p:spPr>
          <a:xfrm>
            <a:off x="8211312" y="5367528"/>
            <a:ext cx="3858768" cy="36576"/>
          </a:xfrm>
          <a:prstGeom prst="rect">
            <a:avLst/>
          </a:prstGeom>
          <a:solidFill>
            <a:srgbClr val="1B5E20"/>
          </a:solidFill>
          <a:ln/>
        </p:spPr>
      </p:sp>
      <p:sp>
        <p:nvSpPr>
          <p:cNvPr id="74" name="Text 72"/>
          <p:cNvSpPr/>
          <p:nvPr/>
        </p:nvSpPr>
        <p:spPr>
          <a:xfrm>
            <a:off x="8302752" y="5458968"/>
            <a:ext cx="3694176" cy="475488"/>
          </a:xfrm>
          <a:prstGeom prst="rect">
            <a:avLst/>
          </a:prstGeom>
          <a:noFill/>
          <a:ln/>
        </p:spPr>
        <p:txBody>
          <a:bodyPr wrap="square" lIns="0" tIns="0" rIns="0" bIns="0" rtlCol="0" anchor="ctr"/>
          <a:lstStyle/>
          <a:p>
            <a:pPr indent="0" marL="0">
              <a:buNone/>
            </a:pPr>
            <a:r>
              <a:rPr lang="en-US" sz="800" dirty="0">
                <a:solidFill>
                  <a:srgbClr val="1E293B"/>
                </a:solidFill>
              </a:rPr>
              <a:t>IF: Small structured data load / post-go-live fixes?</a:t>
            </a:r>
            <a:endParaRPr lang="en-US" sz="800" dirty="0"/>
          </a:p>
        </p:txBody>
      </p:sp>
      <p:sp>
        <p:nvSpPr>
          <p:cNvPr id="75" name="Shape 73"/>
          <p:cNvSpPr/>
          <p:nvPr/>
        </p:nvSpPr>
        <p:spPr>
          <a:xfrm>
            <a:off x="8302752" y="5961888"/>
            <a:ext cx="3694176" cy="274320"/>
          </a:xfrm>
          <a:prstGeom prst="rect">
            <a:avLst/>
          </a:prstGeom>
          <a:solidFill>
            <a:srgbClr val="1B5E20"/>
          </a:solidFill>
          <a:ln/>
        </p:spPr>
      </p:sp>
      <p:sp>
        <p:nvSpPr>
          <p:cNvPr id="76" name="Text 74"/>
          <p:cNvSpPr/>
          <p:nvPr/>
        </p:nvSpPr>
        <p:spPr>
          <a:xfrm>
            <a:off x="8339328" y="5961888"/>
            <a:ext cx="3639312" cy="274320"/>
          </a:xfrm>
          <a:prstGeom prst="rect">
            <a:avLst/>
          </a:prstGeom>
          <a:noFill/>
          <a:ln/>
        </p:spPr>
        <p:txBody>
          <a:bodyPr wrap="square" lIns="0" tIns="0" rIns="0" bIns="0" rtlCol="0" anchor="ctr"/>
          <a:lstStyle/>
          <a:p>
            <a:pPr indent="0" marL="0">
              <a:buNone/>
            </a:pPr>
            <a:r>
              <a:rPr lang="en-US" sz="850" b="1" dirty="0">
                <a:solidFill>
                  <a:srgbClr val="FFFFFF"/>
                </a:solidFill>
              </a:rPr>
              <a:t>USE:  Migration Cockpit (File Upload)</a:t>
            </a:r>
            <a:endParaRPr lang="en-US" sz="850" dirty="0"/>
          </a:p>
        </p:txBody>
      </p:sp>
      <p:sp>
        <p:nvSpPr>
          <p:cNvPr id="77" name="Text 75"/>
          <p:cNvSpPr/>
          <p:nvPr/>
        </p:nvSpPr>
        <p:spPr>
          <a:xfrm>
            <a:off x="8302752" y="6281928"/>
            <a:ext cx="3694176" cy="347472"/>
          </a:xfrm>
          <a:prstGeom prst="rect">
            <a:avLst/>
          </a:prstGeom>
          <a:noFill/>
          <a:ln/>
        </p:spPr>
        <p:txBody>
          <a:bodyPr wrap="square" lIns="0" tIns="0" rIns="0" bIns="0" rtlCol="0" anchor="ctr"/>
          <a:lstStyle/>
          <a:p>
            <a:pPr indent="0" marL="0">
              <a:buNone/>
            </a:pPr>
            <a:r>
              <a:rPr lang="en-US" sz="760" dirty="0">
                <a:solidFill>
                  <a:srgbClr val="37474F"/>
                </a:solidFill>
              </a:rPr>
              <a:t>Excel/CSV file upload mode — fast for small volumes.</a:t>
            </a:r>
            <a:endParaRPr lang="en-US" sz="76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ECC On-Prem to S/4HANA on GCP — Deep Dive</dc:title>
  <dc:subject>PptxGenJS Presentation</dc:subject>
  <dc:creator>PptxGenJS</dc:creator>
  <cp:lastModifiedBy>PptxGenJS</cp:lastModifiedBy>
  <cp:revision>1</cp:revision>
  <dcterms:created xsi:type="dcterms:W3CDTF">2026-03-09T17:31:33Z</dcterms:created>
  <dcterms:modified xsi:type="dcterms:W3CDTF">2026-03-09T17:31:33Z</dcterms:modified>
</cp:coreProperties>
</file>