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457200" cy="6858000"/>
          </a:xfrm>
          <a:prstGeom prst="rect">
            <a:avLst/>
          </a:prstGeom>
          <a:solidFill>
            <a:srgbClr val="1565C0"/>
          </a:solidFill>
          <a:ln/>
        </p:spPr>
      </p:sp>
      <p:sp>
        <p:nvSpPr>
          <p:cNvPr id="3" name="Shape 1"/>
          <p:cNvSpPr/>
          <p:nvPr/>
        </p:nvSpPr>
        <p:spPr>
          <a:xfrm>
            <a:off x="457200" y="0"/>
            <a:ext cx="137160" cy="6858000"/>
          </a:xfrm>
          <a:prstGeom prst="rect">
            <a:avLst/>
          </a:prstGeom>
          <a:solidFill>
            <a:srgbClr val="1E88E5">
              <a:alpha val="60000"/>
            </a:srgbClr>
          </a:solidFill>
          <a:ln/>
        </p:spPr>
      </p:sp>
      <p:sp>
        <p:nvSpPr>
          <p:cNvPr id="4" name="Shape 2"/>
          <p:cNvSpPr/>
          <p:nvPr/>
        </p:nvSpPr>
        <p:spPr>
          <a:xfrm>
            <a:off x="8961120" y="0"/>
            <a:ext cx="3200400" cy="3200400"/>
          </a:xfrm>
          <a:prstGeom prst="rect">
            <a:avLst/>
          </a:prstGeom>
          <a:solidFill>
            <a:srgbClr val="1565C0">
              <a:alpha val="25000"/>
            </a:srgbClr>
          </a:solidFill>
          <a:ln/>
        </p:spPr>
      </p:sp>
      <p:sp>
        <p:nvSpPr>
          <p:cNvPr id="5" name="Shape 3"/>
          <p:cNvSpPr/>
          <p:nvPr/>
        </p:nvSpPr>
        <p:spPr>
          <a:xfrm>
            <a:off x="9875520" y="3200400"/>
            <a:ext cx="2286000" cy="3657600"/>
          </a:xfrm>
          <a:prstGeom prst="rect">
            <a:avLst/>
          </a:prstGeom>
          <a:solidFill>
            <a:srgbClr val="1E88E5">
              <a:alpha val="20000"/>
            </a:srgbClr>
          </a:solidFill>
          <a:ln/>
        </p:spPr>
      </p:sp>
      <p:sp>
        <p:nvSpPr>
          <p:cNvPr id="6" name="Shape 4"/>
          <p:cNvSpPr/>
          <p:nvPr/>
        </p:nvSpPr>
        <p:spPr>
          <a:xfrm>
            <a:off x="822960" y="822960"/>
            <a:ext cx="2926080" cy="347472"/>
          </a:xfrm>
          <a:prstGeom prst="rect">
            <a:avLst/>
          </a:prstGeom>
          <a:solidFill>
            <a:srgbClr val="1E88E5"/>
          </a:solidFill>
          <a:ln/>
        </p:spPr>
      </p:sp>
      <p:sp>
        <p:nvSpPr>
          <p:cNvPr id="7" name="Text 5"/>
          <p:cNvSpPr/>
          <p:nvPr/>
        </p:nvSpPr>
        <p:spPr>
          <a:xfrm>
            <a:off x="822960" y="822960"/>
            <a:ext cx="2926080" cy="347472"/>
          </a:xfrm>
          <a:prstGeom prst="rect">
            <a:avLst/>
          </a:prstGeom>
          <a:noFill/>
          <a:ln/>
        </p:spPr>
        <p:txBody>
          <a:bodyPr wrap="square" lIns="0" tIns="0" rIns="0" bIns="0" rtlCol="0" anchor="ctr"/>
          <a:lstStyle/>
          <a:p>
            <a:pPr algn="ctr" indent="0" marL="0">
              <a:buNone/>
            </a:pPr>
            <a:r>
              <a:rPr lang="en-US" sz="850" b="1" spc="150" kern="0" dirty="0">
                <a:solidFill>
                  <a:srgbClr val="FFFFFF"/>
                </a:solidFill>
              </a:rPr>
              <a:t>LEADERSHIP BRIEFING  |  CONFIDENTIAL</a:t>
            </a:r>
            <a:endParaRPr lang="en-US" sz="850" dirty="0"/>
          </a:p>
        </p:txBody>
      </p:sp>
      <p:sp>
        <p:nvSpPr>
          <p:cNvPr id="8" name="Text 6"/>
          <p:cNvSpPr/>
          <p:nvPr/>
        </p:nvSpPr>
        <p:spPr>
          <a:xfrm>
            <a:off x="777240" y="1325880"/>
            <a:ext cx="8046720" cy="1828800"/>
          </a:xfrm>
          <a:prstGeom prst="rect">
            <a:avLst/>
          </a:prstGeom>
          <a:noFill/>
          <a:ln/>
        </p:spPr>
        <p:txBody>
          <a:bodyPr wrap="square" lIns="0" tIns="0" rIns="0" bIns="0" rtlCol="0" anchor="ctr"/>
          <a:lstStyle/>
          <a:p>
            <a:pPr indent="0" marL="0">
              <a:buNone/>
            </a:pPr>
            <a:r>
              <a:rPr lang="en-US" sz="4000" b="1" dirty="0">
                <a:solidFill>
                  <a:srgbClr val="FFFFFF"/>
                </a:solidFill>
              </a:rPr>
              <a:t>RISE with SAP &amp;</a:t>
            </a:r>
            <a:endParaRPr lang="en-US" sz="4000" dirty="0"/>
          </a:p>
          <a:p>
            <a:pPr indent="0" marL="0">
              <a:buNone/>
            </a:pPr>
            <a:r>
              <a:rPr lang="en-US" sz="4000" b="1" dirty="0">
                <a:solidFill>
                  <a:srgbClr val="FFFFFF"/>
                </a:solidFill>
              </a:rPr>
              <a:t>Brownfield Migration</a:t>
            </a:r>
            <a:endParaRPr lang="en-US" sz="4000" dirty="0"/>
          </a:p>
        </p:txBody>
      </p:sp>
      <p:sp>
        <p:nvSpPr>
          <p:cNvPr id="9" name="Text 7"/>
          <p:cNvSpPr/>
          <p:nvPr/>
        </p:nvSpPr>
        <p:spPr>
          <a:xfrm>
            <a:off x="777240" y="3246120"/>
            <a:ext cx="8046720" cy="457200"/>
          </a:xfrm>
          <a:prstGeom prst="rect">
            <a:avLst/>
          </a:prstGeom>
          <a:noFill/>
          <a:ln/>
        </p:spPr>
        <p:txBody>
          <a:bodyPr wrap="square" lIns="0" tIns="0" rIns="0" bIns="0" rtlCol="0" anchor="ctr"/>
          <a:lstStyle/>
          <a:p>
            <a:pPr indent="0" marL="0">
              <a:buNone/>
            </a:pPr>
            <a:r>
              <a:rPr lang="en-US" sz="1300" i="1" dirty="0">
                <a:solidFill>
                  <a:srgbClr val="90CAF9"/>
                </a:solidFill>
              </a:rPr>
              <a:t>Who Does What · How It Works · Step-by-Step Explained for Business Leaders</a:t>
            </a:r>
            <a:endParaRPr lang="en-US" sz="1300" dirty="0"/>
          </a:p>
        </p:txBody>
      </p:sp>
      <p:sp>
        <p:nvSpPr>
          <p:cNvPr id="10" name="Shape 8"/>
          <p:cNvSpPr/>
          <p:nvPr/>
        </p:nvSpPr>
        <p:spPr>
          <a:xfrm>
            <a:off x="777240" y="4160520"/>
            <a:ext cx="10515600" cy="1005840"/>
          </a:xfrm>
          <a:prstGeom prst="rect">
            <a:avLst/>
          </a:prstGeom>
          <a:solidFill>
            <a:srgbClr val="1565C0">
              <a:alpha val="45000"/>
            </a:srgbClr>
          </a:solidFill>
          <a:ln/>
        </p:spPr>
      </p:sp>
      <p:sp>
        <p:nvSpPr>
          <p:cNvPr id="11" name="Shape 9"/>
          <p:cNvSpPr/>
          <p:nvPr/>
        </p:nvSpPr>
        <p:spPr>
          <a:xfrm>
            <a:off x="777240" y="4160520"/>
            <a:ext cx="73152" cy="1005840"/>
          </a:xfrm>
          <a:prstGeom prst="rect">
            <a:avLst/>
          </a:prstGeom>
          <a:solidFill>
            <a:srgbClr val="1E88E5"/>
          </a:solidFill>
          <a:ln/>
        </p:spPr>
      </p:sp>
      <p:sp>
        <p:nvSpPr>
          <p:cNvPr id="12" name="Text 10"/>
          <p:cNvSpPr/>
          <p:nvPr/>
        </p:nvSpPr>
        <p:spPr>
          <a:xfrm>
            <a:off x="1005840" y="4251960"/>
            <a:ext cx="1371600" cy="320040"/>
          </a:xfrm>
          <a:prstGeom prst="rect">
            <a:avLst/>
          </a:prstGeom>
          <a:noFill/>
          <a:ln/>
        </p:spPr>
        <p:txBody>
          <a:bodyPr wrap="square" lIns="0" tIns="0" rIns="0" bIns="0" rtlCol="0" anchor="ctr"/>
          <a:lstStyle/>
          <a:p>
            <a:pPr indent="0" marL="0">
              <a:buNone/>
            </a:pPr>
            <a:r>
              <a:rPr lang="en-US" sz="900" b="1" spc="100" kern="0" dirty="0">
                <a:solidFill>
                  <a:srgbClr val="90CAF9"/>
                </a:solidFill>
              </a:rPr>
              <a:t>PART  1</a:t>
            </a:r>
            <a:endParaRPr lang="en-US" sz="900" dirty="0"/>
          </a:p>
        </p:txBody>
      </p:sp>
      <p:sp>
        <p:nvSpPr>
          <p:cNvPr id="13" name="Text 11"/>
          <p:cNvSpPr/>
          <p:nvPr/>
        </p:nvSpPr>
        <p:spPr>
          <a:xfrm>
            <a:off x="1005840" y="4507992"/>
            <a:ext cx="9144000" cy="320040"/>
          </a:xfrm>
          <a:prstGeom prst="rect">
            <a:avLst/>
          </a:prstGeom>
          <a:noFill/>
          <a:ln/>
        </p:spPr>
        <p:txBody>
          <a:bodyPr wrap="square" lIns="0" tIns="0" rIns="0" bIns="0" rtlCol="0" anchor="ctr"/>
          <a:lstStyle/>
          <a:p>
            <a:pPr indent="0" marL="0">
              <a:buNone/>
            </a:pPr>
            <a:r>
              <a:rPr lang="en-US" sz="1400" b="1" dirty="0">
                <a:solidFill>
                  <a:srgbClr val="FFFFFF"/>
                </a:solidFill>
              </a:rPr>
              <a:t>RISE with SAP — Responsibility Model</a:t>
            </a:r>
            <a:endParaRPr lang="en-US" sz="1400" dirty="0"/>
          </a:p>
        </p:txBody>
      </p:sp>
      <p:sp>
        <p:nvSpPr>
          <p:cNvPr id="14" name="Text 12"/>
          <p:cNvSpPr/>
          <p:nvPr/>
        </p:nvSpPr>
        <p:spPr>
          <a:xfrm>
            <a:off x="1005840" y="4828032"/>
            <a:ext cx="9144000" cy="256032"/>
          </a:xfrm>
          <a:prstGeom prst="rect">
            <a:avLst/>
          </a:prstGeom>
          <a:noFill/>
          <a:ln/>
        </p:spPr>
        <p:txBody>
          <a:bodyPr wrap="square" lIns="0" tIns="0" rIns="0" bIns="0" rtlCol="0" anchor="ctr"/>
          <a:lstStyle/>
          <a:p>
            <a:pPr indent="0" marL="0">
              <a:buNone/>
            </a:pPr>
            <a:r>
              <a:rPr lang="en-US" sz="900" i="1" dirty="0">
                <a:solidFill>
                  <a:srgbClr val="90CAF9"/>
                </a:solidFill>
              </a:rPr>
              <a:t>What SAP does · What your SI partner does · Explained in plain language</a:t>
            </a:r>
            <a:endParaRPr lang="en-US" sz="900" dirty="0"/>
          </a:p>
        </p:txBody>
      </p:sp>
      <p:sp>
        <p:nvSpPr>
          <p:cNvPr id="15" name="Shape 13"/>
          <p:cNvSpPr/>
          <p:nvPr/>
        </p:nvSpPr>
        <p:spPr>
          <a:xfrm>
            <a:off x="777240" y="5303520"/>
            <a:ext cx="10515600" cy="1005840"/>
          </a:xfrm>
          <a:prstGeom prst="rect">
            <a:avLst/>
          </a:prstGeom>
          <a:solidFill>
            <a:srgbClr val="1565C0">
              <a:alpha val="45000"/>
            </a:srgbClr>
          </a:solidFill>
          <a:ln/>
        </p:spPr>
      </p:sp>
      <p:sp>
        <p:nvSpPr>
          <p:cNvPr id="16" name="Shape 14"/>
          <p:cNvSpPr/>
          <p:nvPr/>
        </p:nvSpPr>
        <p:spPr>
          <a:xfrm>
            <a:off x="777240" y="5303520"/>
            <a:ext cx="73152" cy="1005840"/>
          </a:xfrm>
          <a:prstGeom prst="rect">
            <a:avLst/>
          </a:prstGeom>
          <a:solidFill>
            <a:srgbClr val="1E88E5"/>
          </a:solidFill>
          <a:ln/>
        </p:spPr>
      </p:sp>
      <p:sp>
        <p:nvSpPr>
          <p:cNvPr id="17" name="Text 15"/>
          <p:cNvSpPr/>
          <p:nvPr/>
        </p:nvSpPr>
        <p:spPr>
          <a:xfrm>
            <a:off x="1005840" y="5394960"/>
            <a:ext cx="1371600" cy="320040"/>
          </a:xfrm>
          <a:prstGeom prst="rect">
            <a:avLst/>
          </a:prstGeom>
          <a:noFill/>
          <a:ln/>
        </p:spPr>
        <p:txBody>
          <a:bodyPr wrap="square" lIns="0" tIns="0" rIns="0" bIns="0" rtlCol="0" anchor="ctr"/>
          <a:lstStyle/>
          <a:p>
            <a:pPr indent="0" marL="0">
              <a:buNone/>
            </a:pPr>
            <a:r>
              <a:rPr lang="en-US" sz="900" b="1" spc="100" kern="0" dirty="0">
                <a:solidFill>
                  <a:srgbClr val="90CAF9"/>
                </a:solidFill>
              </a:rPr>
              <a:t>PART  2</a:t>
            </a:r>
            <a:endParaRPr lang="en-US" sz="900" dirty="0"/>
          </a:p>
        </p:txBody>
      </p:sp>
      <p:sp>
        <p:nvSpPr>
          <p:cNvPr id="18" name="Text 16"/>
          <p:cNvSpPr/>
          <p:nvPr/>
        </p:nvSpPr>
        <p:spPr>
          <a:xfrm>
            <a:off x="1005840" y="5650992"/>
            <a:ext cx="9144000" cy="320040"/>
          </a:xfrm>
          <a:prstGeom prst="rect">
            <a:avLst/>
          </a:prstGeom>
          <a:noFill/>
          <a:ln/>
        </p:spPr>
        <p:txBody>
          <a:bodyPr wrap="square" lIns="0" tIns="0" rIns="0" bIns="0" rtlCol="0" anchor="ctr"/>
          <a:lstStyle/>
          <a:p>
            <a:pPr indent="0" marL="0">
              <a:buNone/>
            </a:pPr>
            <a:r>
              <a:rPr lang="en-US" sz="1400" b="1" dirty="0">
                <a:solidFill>
                  <a:srgbClr val="FFFFFF"/>
                </a:solidFill>
              </a:rPr>
              <a:t>Brownfield Migration — Step by Step</a:t>
            </a:r>
            <a:endParaRPr lang="en-US" sz="1400" dirty="0"/>
          </a:p>
        </p:txBody>
      </p:sp>
      <p:sp>
        <p:nvSpPr>
          <p:cNvPr id="19" name="Text 17"/>
          <p:cNvSpPr/>
          <p:nvPr/>
        </p:nvSpPr>
        <p:spPr>
          <a:xfrm>
            <a:off x="1005840" y="5971032"/>
            <a:ext cx="9144000" cy="256032"/>
          </a:xfrm>
          <a:prstGeom prst="rect">
            <a:avLst/>
          </a:prstGeom>
          <a:noFill/>
          <a:ln/>
        </p:spPr>
        <p:txBody>
          <a:bodyPr wrap="square" lIns="0" tIns="0" rIns="0" bIns="0" rtlCol="0" anchor="ctr"/>
          <a:lstStyle/>
          <a:p>
            <a:pPr indent="0" marL="0">
              <a:buNone/>
            </a:pPr>
            <a:r>
              <a:rPr lang="en-US" sz="900" i="1" dirty="0">
                <a:solidFill>
                  <a:srgbClr val="90CAF9"/>
                </a:solidFill>
              </a:rPr>
              <a:t>5 detailed phases · SAP's role · Your team's role at every stage</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565C0"/>
        </a:solidFill>
      </p:bgPr>
    </p:bg>
    <p:spTree>
      <p:nvGrpSpPr>
        <p:cNvPr id="1" name=""/>
        <p:cNvGrpSpPr/>
        <p:nvPr/>
      </p:nvGrpSpPr>
      <p:grpSpPr>
        <a:xfrm>
          <a:off x="0" y="0"/>
          <a:ext cx="0" cy="0"/>
          <a:chOff x="0" y="0"/>
          <a:chExt cx="0" cy="0"/>
        </a:xfrm>
      </p:grpSpPr>
      <p:sp>
        <p:nvSpPr>
          <p:cNvPr id="2" name="Shape 0"/>
          <p:cNvSpPr/>
          <p:nvPr/>
        </p:nvSpPr>
        <p:spPr>
          <a:xfrm>
            <a:off x="0" y="0"/>
            <a:ext cx="12161520" cy="73152"/>
          </a:xfrm>
          <a:prstGeom prst="rect">
            <a:avLst/>
          </a:prstGeom>
          <a:solidFill>
            <a:srgbClr val="1E88E5"/>
          </a:solidFill>
          <a:ln/>
        </p:spPr>
      </p:sp>
      <p:sp>
        <p:nvSpPr>
          <p:cNvPr id="3" name="Shape 1"/>
          <p:cNvSpPr/>
          <p:nvPr/>
        </p:nvSpPr>
        <p:spPr>
          <a:xfrm>
            <a:off x="0" y="6784848"/>
            <a:ext cx="12161520" cy="73152"/>
          </a:xfrm>
          <a:prstGeom prst="rect">
            <a:avLst/>
          </a:prstGeom>
          <a:solidFill>
            <a:srgbClr val="1E88E5"/>
          </a:solidFill>
          <a:ln/>
        </p:spPr>
      </p:sp>
      <p:sp>
        <p:nvSpPr>
          <p:cNvPr id="4" name="Shape 2"/>
          <p:cNvSpPr/>
          <p:nvPr/>
        </p:nvSpPr>
        <p:spPr>
          <a:xfrm>
            <a:off x="7772400" y="0"/>
            <a:ext cx="4389120" cy="6858000"/>
          </a:xfrm>
          <a:prstGeom prst="rect">
            <a:avLst/>
          </a:prstGeom>
          <a:solidFill>
            <a:srgbClr val="0D1B2A">
              <a:alpha val="50000"/>
            </a:srgbClr>
          </a:solidFill>
          <a:ln/>
        </p:spPr>
      </p:sp>
      <p:sp>
        <p:nvSpPr>
          <p:cNvPr id="5" name="Text 3"/>
          <p:cNvSpPr/>
          <p:nvPr/>
        </p:nvSpPr>
        <p:spPr>
          <a:xfrm>
            <a:off x="640080" y="1371600"/>
            <a:ext cx="5486400" cy="457200"/>
          </a:xfrm>
          <a:prstGeom prst="rect">
            <a:avLst/>
          </a:prstGeom>
          <a:noFill/>
          <a:ln/>
        </p:spPr>
        <p:txBody>
          <a:bodyPr wrap="square" lIns="0" tIns="0" rIns="0" bIns="0" rtlCol="0" anchor="ctr"/>
          <a:lstStyle/>
          <a:p>
            <a:pPr indent="0" marL="0">
              <a:buNone/>
            </a:pPr>
            <a:r>
              <a:rPr lang="en-US" sz="1400" b="1" spc="400" kern="0" dirty="0">
                <a:solidFill>
                  <a:srgbClr val="90CAF9"/>
                </a:solidFill>
              </a:rPr>
              <a:t>PART 1</a:t>
            </a:r>
            <a:endParaRPr lang="en-US" sz="1400" dirty="0"/>
          </a:p>
        </p:txBody>
      </p:sp>
      <p:sp>
        <p:nvSpPr>
          <p:cNvPr id="6" name="Text 4"/>
          <p:cNvSpPr/>
          <p:nvPr/>
        </p:nvSpPr>
        <p:spPr>
          <a:xfrm>
            <a:off x="640080" y="1920240"/>
            <a:ext cx="7315200" cy="2011680"/>
          </a:xfrm>
          <a:prstGeom prst="rect">
            <a:avLst/>
          </a:prstGeom>
          <a:noFill/>
          <a:ln/>
        </p:spPr>
        <p:txBody>
          <a:bodyPr wrap="square" lIns="0" tIns="0" rIns="0" bIns="0" rtlCol="0" anchor="ctr"/>
          <a:lstStyle/>
          <a:p>
            <a:pPr indent="0" marL="0">
              <a:buNone/>
            </a:pPr>
            <a:r>
              <a:rPr lang="en-US" sz="4200" b="1" dirty="0">
                <a:solidFill>
                  <a:srgbClr val="FFFFFF"/>
                </a:solidFill>
              </a:rPr>
              <a:t>RISE with SAP</a:t>
            </a:r>
            <a:endParaRPr lang="en-US" sz="4200" dirty="0"/>
          </a:p>
          <a:p>
            <a:pPr indent="0" marL="0">
              <a:buNone/>
            </a:pPr>
            <a:r>
              <a:rPr lang="en-US" sz="4200" b="1" dirty="0">
                <a:solidFill>
                  <a:srgbClr val="FFFFFF"/>
                </a:solidFill>
              </a:rPr>
              <a:t>Responsibility Model</a:t>
            </a:r>
            <a:endParaRPr lang="en-US" sz="4200" dirty="0"/>
          </a:p>
        </p:txBody>
      </p:sp>
      <p:sp>
        <p:nvSpPr>
          <p:cNvPr id="7" name="Text 5"/>
          <p:cNvSpPr/>
          <p:nvPr/>
        </p:nvSpPr>
        <p:spPr>
          <a:xfrm>
            <a:off x="640080" y="4023360"/>
            <a:ext cx="7132320" cy="914400"/>
          </a:xfrm>
          <a:prstGeom prst="rect">
            <a:avLst/>
          </a:prstGeom>
          <a:noFill/>
          <a:ln/>
        </p:spPr>
        <p:txBody>
          <a:bodyPr wrap="square" lIns="0" tIns="0" rIns="0" bIns="0" rtlCol="0" anchor="ctr"/>
          <a:lstStyle/>
          <a:p>
            <a:pPr indent="0" marL="0">
              <a:buNone/>
            </a:pPr>
            <a:r>
              <a:rPr lang="en-US" sz="1400" i="1" dirty="0">
                <a:solidFill>
                  <a:srgbClr val="BBDEFB"/>
                </a:solidFill>
              </a:rPr>
              <a:t>Understanding exactly what SAP manages on Google Cloud</a:t>
            </a:r>
            <a:endParaRPr lang="en-US" sz="1400" dirty="0"/>
          </a:p>
          <a:p>
            <a:pPr indent="0" marL="0">
              <a:buNone/>
            </a:pPr>
            <a:r>
              <a:rPr lang="en-US" sz="1400" i="1" dirty="0">
                <a:solidFill>
                  <a:srgbClr val="BBDEFB"/>
                </a:solidFill>
              </a:rPr>
              <a:t>and what your SI partner does — explained for business leaders.</a:t>
            </a:r>
            <a:endParaRPr lang="en-US" sz="1400" dirty="0"/>
          </a:p>
        </p:txBody>
      </p:sp>
      <p:sp>
        <p:nvSpPr>
          <p:cNvPr id="8" name="Shape 6"/>
          <p:cNvSpPr/>
          <p:nvPr/>
        </p:nvSpPr>
        <p:spPr>
          <a:xfrm>
            <a:off x="8046720" y="1371600"/>
            <a:ext cx="3749040" cy="1097280"/>
          </a:xfrm>
          <a:prstGeom prst="rect">
            <a:avLst/>
          </a:prstGeom>
          <a:solidFill>
            <a:srgbClr val="FFFFFF">
              <a:alpha val="15000"/>
            </a:srgbClr>
          </a:solidFill>
          <a:ln/>
        </p:spPr>
      </p:sp>
      <p:sp>
        <p:nvSpPr>
          <p:cNvPr id="9" name="Text 7"/>
          <p:cNvSpPr/>
          <p:nvPr/>
        </p:nvSpPr>
        <p:spPr>
          <a:xfrm>
            <a:off x="8138160" y="1417320"/>
            <a:ext cx="457200" cy="365760"/>
          </a:xfrm>
          <a:prstGeom prst="rect">
            <a:avLst/>
          </a:prstGeom>
          <a:noFill/>
          <a:ln/>
        </p:spPr>
        <p:txBody>
          <a:bodyPr wrap="square" lIns="0" tIns="0" rIns="0" bIns="0" rtlCol="0" anchor="ctr"/>
          <a:lstStyle/>
          <a:p>
            <a:pPr indent="0" marL="0">
              <a:buNone/>
            </a:pPr>
            <a:r>
              <a:rPr lang="en-US" sz="1100" b="1" dirty="0">
                <a:solidFill>
                  <a:srgbClr val="90CAF9"/>
                </a:solidFill>
              </a:rPr>
              <a:t>Q1</a:t>
            </a:r>
            <a:endParaRPr lang="en-US" sz="1100" dirty="0"/>
          </a:p>
        </p:txBody>
      </p:sp>
      <p:sp>
        <p:nvSpPr>
          <p:cNvPr id="10" name="Text 8"/>
          <p:cNvSpPr/>
          <p:nvPr/>
        </p:nvSpPr>
        <p:spPr>
          <a:xfrm>
            <a:off x="8229600" y="1737360"/>
            <a:ext cx="3383280" cy="457200"/>
          </a:xfrm>
          <a:prstGeom prst="rect">
            <a:avLst/>
          </a:prstGeom>
          <a:noFill/>
          <a:ln/>
        </p:spPr>
        <p:txBody>
          <a:bodyPr wrap="square" lIns="0" tIns="0" rIns="0" bIns="0" rtlCol="0" anchor="ctr"/>
          <a:lstStyle/>
          <a:p>
            <a:pPr indent="0" marL="0">
              <a:buNone/>
            </a:pPr>
            <a:r>
              <a:rPr lang="en-US" sz="1050" dirty="0">
                <a:solidFill>
                  <a:srgbClr val="FFFFFF"/>
                </a:solidFill>
              </a:rPr>
              <a:t>Who provisions the cloud servers?</a:t>
            </a:r>
            <a:endParaRPr lang="en-US" sz="1050" dirty="0"/>
          </a:p>
        </p:txBody>
      </p:sp>
      <p:sp>
        <p:nvSpPr>
          <p:cNvPr id="11" name="Shape 9"/>
          <p:cNvSpPr/>
          <p:nvPr/>
        </p:nvSpPr>
        <p:spPr>
          <a:xfrm>
            <a:off x="8046720" y="2743200"/>
            <a:ext cx="3749040" cy="1097280"/>
          </a:xfrm>
          <a:prstGeom prst="rect">
            <a:avLst/>
          </a:prstGeom>
          <a:solidFill>
            <a:srgbClr val="FFFFFF">
              <a:alpha val="15000"/>
            </a:srgbClr>
          </a:solidFill>
          <a:ln/>
        </p:spPr>
      </p:sp>
      <p:sp>
        <p:nvSpPr>
          <p:cNvPr id="12" name="Text 10"/>
          <p:cNvSpPr/>
          <p:nvPr/>
        </p:nvSpPr>
        <p:spPr>
          <a:xfrm>
            <a:off x="8138160" y="2788920"/>
            <a:ext cx="457200" cy="365760"/>
          </a:xfrm>
          <a:prstGeom prst="rect">
            <a:avLst/>
          </a:prstGeom>
          <a:noFill/>
          <a:ln/>
        </p:spPr>
        <p:txBody>
          <a:bodyPr wrap="square" lIns="0" tIns="0" rIns="0" bIns="0" rtlCol="0" anchor="ctr"/>
          <a:lstStyle/>
          <a:p>
            <a:pPr indent="0" marL="0">
              <a:buNone/>
            </a:pPr>
            <a:r>
              <a:rPr lang="en-US" sz="1100" b="1" dirty="0">
                <a:solidFill>
                  <a:srgbClr val="90CAF9"/>
                </a:solidFill>
              </a:rPr>
              <a:t>Q2</a:t>
            </a:r>
            <a:endParaRPr lang="en-US" sz="1100" dirty="0"/>
          </a:p>
        </p:txBody>
      </p:sp>
      <p:sp>
        <p:nvSpPr>
          <p:cNvPr id="13" name="Text 11"/>
          <p:cNvSpPr/>
          <p:nvPr/>
        </p:nvSpPr>
        <p:spPr>
          <a:xfrm>
            <a:off x="8229600" y="3108960"/>
            <a:ext cx="3383280" cy="457200"/>
          </a:xfrm>
          <a:prstGeom prst="rect">
            <a:avLst/>
          </a:prstGeom>
          <a:noFill/>
          <a:ln/>
        </p:spPr>
        <p:txBody>
          <a:bodyPr wrap="square" lIns="0" tIns="0" rIns="0" bIns="0" rtlCol="0" anchor="ctr"/>
          <a:lstStyle/>
          <a:p>
            <a:pPr indent="0" marL="0">
              <a:buNone/>
            </a:pPr>
            <a:r>
              <a:rPr lang="en-US" sz="1050" dirty="0">
                <a:solidFill>
                  <a:srgbClr val="FFFFFF"/>
                </a:solidFill>
              </a:rPr>
              <a:t>Who configures the business software?</a:t>
            </a:r>
            <a:endParaRPr lang="en-US" sz="1050" dirty="0"/>
          </a:p>
        </p:txBody>
      </p:sp>
      <p:sp>
        <p:nvSpPr>
          <p:cNvPr id="14" name="Shape 12"/>
          <p:cNvSpPr/>
          <p:nvPr/>
        </p:nvSpPr>
        <p:spPr>
          <a:xfrm>
            <a:off x="8046720" y="4114800"/>
            <a:ext cx="3749040" cy="1097280"/>
          </a:xfrm>
          <a:prstGeom prst="rect">
            <a:avLst/>
          </a:prstGeom>
          <a:solidFill>
            <a:srgbClr val="FFFFFF">
              <a:alpha val="15000"/>
            </a:srgbClr>
          </a:solidFill>
          <a:ln/>
        </p:spPr>
      </p:sp>
      <p:sp>
        <p:nvSpPr>
          <p:cNvPr id="15" name="Text 13"/>
          <p:cNvSpPr/>
          <p:nvPr/>
        </p:nvSpPr>
        <p:spPr>
          <a:xfrm>
            <a:off x="8138160" y="4160520"/>
            <a:ext cx="457200" cy="365760"/>
          </a:xfrm>
          <a:prstGeom prst="rect">
            <a:avLst/>
          </a:prstGeom>
          <a:noFill/>
          <a:ln/>
        </p:spPr>
        <p:txBody>
          <a:bodyPr wrap="square" lIns="0" tIns="0" rIns="0" bIns="0" rtlCol="0" anchor="ctr"/>
          <a:lstStyle/>
          <a:p>
            <a:pPr indent="0" marL="0">
              <a:buNone/>
            </a:pPr>
            <a:r>
              <a:rPr lang="en-US" sz="1100" b="1" dirty="0">
                <a:solidFill>
                  <a:srgbClr val="90CAF9"/>
                </a:solidFill>
              </a:rPr>
              <a:t>Q3</a:t>
            </a:r>
            <a:endParaRPr lang="en-US" sz="1100" dirty="0"/>
          </a:p>
        </p:txBody>
      </p:sp>
      <p:sp>
        <p:nvSpPr>
          <p:cNvPr id="16" name="Text 14"/>
          <p:cNvSpPr/>
          <p:nvPr/>
        </p:nvSpPr>
        <p:spPr>
          <a:xfrm>
            <a:off x="8229600" y="4480560"/>
            <a:ext cx="3383280" cy="457200"/>
          </a:xfrm>
          <a:prstGeom prst="rect">
            <a:avLst/>
          </a:prstGeom>
          <a:noFill/>
          <a:ln/>
        </p:spPr>
        <p:txBody>
          <a:bodyPr wrap="square" lIns="0" tIns="0" rIns="0" bIns="0" rtlCol="0" anchor="ctr"/>
          <a:lstStyle/>
          <a:p>
            <a:pPr indent="0" marL="0">
              <a:buNone/>
            </a:pPr>
            <a:r>
              <a:rPr lang="en-US" sz="1050" dirty="0">
                <a:solidFill>
                  <a:srgbClr val="FFFFFF"/>
                </a:solidFill>
              </a:rPr>
              <a:t>Who is accountable when something breaks?</a:t>
            </a:r>
            <a:endParaRPr lang="en-US" sz="10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8FAFD"/>
        </a:solidFill>
      </p:bgPr>
    </p:bg>
    <p:spTree>
      <p:nvGrpSpPr>
        <p:cNvPr id="1" name=""/>
        <p:cNvGrpSpPr/>
        <p:nvPr/>
      </p:nvGrpSpPr>
      <p:grpSpPr>
        <a:xfrm>
          <a:off x="0" y="0"/>
          <a:ext cx="0" cy="0"/>
          <a:chOff x="0" y="0"/>
          <a:chExt cx="0" cy="0"/>
        </a:xfrm>
      </p:grpSpPr>
      <p:sp>
        <p:nvSpPr>
          <p:cNvPr id="2" name="Shape 0"/>
          <p:cNvSpPr/>
          <p:nvPr/>
        </p:nvSpPr>
        <p:spPr>
          <a:xfrm>
            <a:off x="0" y="0"/>
            <a:ext cx="12161520" cy="749808"/>
          </a:xfrm>
          <a:prstGeom prst="rect">
            <a:avLst/>
          </a:prstGeom>
          <a:solidFill>
            <a:srgbClr val="0D1B2A"/>
          </a:solidFill>
          <a:ln/>
        </p:spPr>
      </p:sp>
      <p:sp>
        <p:nvSpPr>
          <p:cNvPr id="3" name="Shape 1"/>
          <p:cNvSpPr/>
          <p:nvPr/>
        </p:nvSpPr>
        <p:spPr>
          <a:xfrm>
            <a:off x="0" y="0"/>
            <a:ext cx="274320" cy="749808"/>
          </a:xfrm>
          <a:prstGeom prst="rect">
            <a:avLst/>
          </a:prstGeom>
          <a:solidFill>
            <a:srgbClr val="1E88E5"/>
          </a:solidFill>
          <a:ln/>
        </p:spPr>
      </p:sp>
      <p:sp>
        <p:nvSpPr>
          <p:cNvPr id="4" name="Text 2"/>
          <p:cNvSpPr/>
          <p:nvPr/>
        </p:nvSpPr>
        <p:spPr>
          <a:xfrm>
            <a:off x="502920" y="0"/>
            <a:ext cx="11430000" cy="749808"/>
          </a:xfrm>
          <a:prstGeom prst="rect">
            <a:avLst/>
          </a:prstGeom>
          <a:noFill/>
          <a:ln/>
        </p:spPr>
        <p:txBody>
          <a:bodyPr wrap="square" lIns="0" tIns="0" rIns="0" bIns="0" rtlCol="0" anchor="ctr"/>
          <a:lstStyle/>
          <a:p>
            <a:pPr indent="0" marL="0">
              <a:buNone/>
            </a:pPr>
            <a:r>
              <a:rPr lang="en-US" sz="1400" b="1" spc="80" kern="0" dirty="0">
                <a:solidFill>
                  <a:srgbClr val="FFFFFF"/>
                </a:solidFill>
              </a:rPr>
              <a:t>PART 1  |  THE CORE CONCEPT: RISE vs NON-RISE IN PLAIN LANGUAGE</a:t>
            </a:r>
            <a:endParaRPr lang="en-US" sz="1400" dirty="0"/>
          </a:p>
        </p:txBody>
      </p:sp>
      <p:sp>
        <p:nvSpPr>
          <p:cNvPr id="5" name="Text 3"/>
          <p:cNvSpPr/>
          <p:nvPr/>
        </p:nvSpPr>
        <p:spPr>
          <a:xfrm>
            <a:off x="320040" y="868680"/>
            <a:ext cx="11430000" cy="320040"/>
          </a:xfrm>
          <a:prstGeom prst="rect">
            <a:avLst/>
          </a:prstGeom>
          <a:noFill/>
          <a:ln/>
        </p:spPr>
        <p:txBody>
          <a:bodyPr wrap="square" lIns="0" tIns="0" rIns="0" bIns="0" rtlCol="0" anchor="ctr"/>
          <a:lstStyle/>
          <a:p>
            <a:pPr indent="0" marL="0">
              <a:buNone/>
            </a:pPr>
            <a:r>
              <a:rPr lang="en-US" sz="1100" i="1" dirty="0">
                <a:solidFill>
                  <a:srgbClr val="37474F"/>
                </a:solidFill>
              </a:rPr>
              <a:t>Think of it this way — before diving into technical details:</a:t>
            </a:r>
            <a:endParaRPr lang="en-US" sz="1100" dirty="0"/>
          </a:p>
        </p:txBody>
      </p:sp>
      <p:sp>
        <p:nvSpPr>
          <p:cNvPr id="6" name="Shape 4"/>
          <p:cNvSpPr/>
          <p:nvPr/>
        </p:nvSpPr>
        <p:spPr>
          <a:xfrm>
            <a:off x="228600" y="1298448"/>
            <a:ext cx="5760720" cy="5257800"/>
          </a:xfrm>
          <a:prstGeom prst="rect">
            <a:avLst/>
          </a:prstGeom>
          <a:solidFill>
            <a:srgbClr val="FFFFFF"/>
          </a:solidFill>
          <a:ln/>
          <a:effectLst>
            <a:outerShdw sx="100000" sy="100000" kx="0" ky="0" algn="bl" rotWithShape="0" blurRad="88900" dist="25400" dir="8100000">
              <a:srgbClr val="000000">
                <a:alpha val="9000"/>
              </a:srgbClr>
            </a:outerShdw>
          </a:effectLst>
        </p:spPr>
      </p:sp>
      <p:sp>
        <p:nvSpPr>
          <p:cNvPr id="7" name="Shape 5"/>
          <p:cNvSpPr/>
          <p:nvPr/>
        </p:nvSpPr>
        <p:spPr>
          <a:xfrm>
            <a:off x="228600" y="1298448"/>
            <a:ext cx="5760720" cy="530352"/>
          </a:xfrm>
          <a:prstGeom prst="rect">
            <a:avLst/>
          </a:prstGeom>
          <a:solidFill>
            <a:srgbClr val="E65100"/>
          </a:solidFill>
          <a:ln/>
        </p:spPr>
      </p:sp>
      <p:sp>
        <p:nvSpPr>
          <p:cNvPr id="8" name="Text 6"/>
          <p:cNvSpPr/>
          <p:nvPr/>
        </p:nvSpPr>
        <p:spPr>
          <a:xfrm>
            <a:off x="365760" y="1298448"/>
            <a:ext cx="5486400" cy="530352"/>
          </a:xfrm>
          <a:prstGeom prst="rect">
            <a:avLst/>
          </a:prstGeom>
          <a:noFill/>
          <a:ln/>
        </p:spPr>
        <p:txBody>
          <a:bodyPr wrap="square" lIns="0" tIns="0" rIns="0" bIns="0" rtlCol="0" anchor="ctr"/>
          <a:lstStyle/>
          <a:p>
            <a:pPr indent="0" marL="0">
              <a:buNone/>
            </a:pPr>
            <a:r>
              <a:rPr lang="en-US" sz="1200" b="1" dirty="0">
                <a:solidFill>
                  <a:srgbClr val="FFFFFF"/>
                </a:solidFill>
              </a:rPr>
              <a:t>WITHOUT RISE — You Own the House</a:t>
            </a:r>
            <a:endParaRPr lang="en-US" sz="1200" dirty="0"/>
          </a:p>
        </p:txBody>
      </p:sp>
      <p:sp>
        <p:nvSpPr>
          <p:cNvPr id="9" name="Shape 7"/>
          <p:cNvSpPr/>
          <p:nvPr/>
        </p:nvSpPr>
        <p:spPr>
          <a:xfrm>
            <a:off x="365760" y="1901952"/>
            <a:ext cx="5486400" cy="1234440"/>
          </a:xfrm>
          <a:prstGeom prst="rect">
            <a:avLst/>
          </a:prstGeom>
          <a:solidFill>
            <a:srgbClr val="FFF3E0"/>
          </a:solidFill>
          <a:ln/>
        </p:spPr>
      </p:sp>
      <p:sp>
        <p:nvSpPr>
          <p:cNvPr id="10" name="Text 8"/>
          <p:cNvSpPr/>
          <p:nvPr/>
        </p:nvSpPr>
        <p:spPr>
          <a:xfrm>
            <a:off x="411480" y="1938528"/>
            <a:ext cx="5394960" cy="201168"/>
          </a:xfrm>
          <a:prstGeom prst="rect">
            <a:avLst/>
          </a:prstGeom>
          <a:noFill/>
          <a:ln/>
        </p:spPr>
        <p:txBody>
          <a:bodyPr wrap="square" lIns="0" tIns="0" rIns="0" bIns="0" rtlCol="0" anchor="ctr"/>
          <a:lstStyle/>
          <a:p>
            <a:pPr indent="0" marL="0">
              <a:buNone/>
            </a:pPr>
            <a:r>
              <a:rPr lang="en-US" sz="750" b="1" spc="100" kern="0" dirty="0">
                <a:solidFill>
                  <a:srgbClr val="E65100"/>
                </a:solidFill>
              </a:rPr>
              <a:t>THE ANALOGY</a:t>
            </a:r>
            <a:endParaRPr lang="en-US" sz="750" dirty="0"/>
          </a:p>
        </p:txBody>
      </p:sp>
      <p:sp>
        <p:nvSpPr>
          <p:cNvPr id="11" name="Text 9"/>
          <p:cNvSpPr/>
          <p:nvPr/>
        </p:nvSpPr>
        <p:spPr>
          <a:xfrm>
            <a:off x="411480" y="2139696"/>
            <a:ext cx="5394960" cy="941832"/>
          </a:xfrm>
          <a:prstGeom prst="rect">
            <a:avLst/>
          </a:prstGeom>
          <a:noFill/>
          <a:ln/>
        </p:spPr>
        <p:txBody>
          <a:bodyPr wrap="square" lIns="0" tIns="0" rIns="0" bIns="0" rtlCol="0" anchor="ctr"/>
          <a:lstStyle/>
          <a:p>
            <a:pPr indent="0" marL="0">
              <a:buNone/>
            </a:pPr>
            <a:r>
              <a:rPr lang="en-US" sz="880" dirty="0">
                <a:solidFill>
                  <a:srgbClr val="263238"/>
                </a:solidFill>
              </a:rPr>
              <a:t>You bought the land and built a house yourself. Everything that happens in that house is your problem — plumbing, electricity, repairs, security, painting. You hire a building contractor (your SI partner) to manage all of it on your behalf.</a:t>
            </a:r>
            <a:endParaRPr lang="en-US" sz="880" dirty="0"/>
          </a:p>
        </p:txBody>
      </p:sp>
      <p:sp>
        <p:nvSpPr>
          <p:cNvPr id="12" name="Text 10"/>
          <p:cNvSpPr/>
          <p:nvPr/>
        </p:nvSpPr>
        <p:spPr>
          <a:xfrm>
            <a:off x="411480" y="3218688"/>
            <a:ext cx="5394960" cy="201168"/>
          </a:xfrm>
          <a:prstGeom prst="rect">
            <a:avLst/>
          </a:prstGeom>
          <a:noFill/>
          <a:ln/>
        </p:spPr>
        <p:txBody>
          <a:bodyPr wrap="square" lIns="0" tIns="0" rIns="0" bIns="0" rtlCol="0" anchor="ctr"/>
          <a:lstStyle/>
          <a:p>
            <a:pPr indent="0" marL="0">
              <a:buNone/>
            </a:pPr>
            <a:r>
              <a:rPr lang="en-US" sz="750" b="1" spc="100" kern="0" dirty="0">
                <a:solidFill>
                  <a:srgbClr val="E65100"/>
                </a:solidFill>
              </a:rPr>
              <a:t>WHAT THIS MEANS FOR SAP</a:t>
            </a:r>
            <a:endParaRPr lang="en-US" sz="750" dirty="0"/>
          </a:p>
        </p:txBody>
      </p:sp>
      <p:sp>
        <p:nvSpPr>
          <p:cNvPr id="13" name="Text 11"/>
          <p:cNvSpPr/>
          <p:nvPr/>
        </p:nvSpPr>
        <p:spPr>
          <a:xfrm>
            <a:off x="411480" y="3438144"/>
            <a:ext cx="5394960" cy="960120"/>
          </a:xfrm>
          <a:prstGeom prst="rect">
            <a:avLst/>
          </a:prstGeom>
          <a:noFill/>
          <a:ln/>
        </p:spPr>
        <p:txBody>
          <a:bodyPr wrap="square" lIns="0" tIns="0" rIns="0" bIns="0" rtlCol="0" anchor="ctr"/>
          <a:lstStyle/>
          <a:p>
            <a:pPr indent="0" marL="0">
              <a:buNone/>
            </a:pPr>
            <a:r>
              <a:rPr lang="en-US" sz="850" dirty="0">
                <a:solidFill>
                  <a:srgbClr val="37474F"/>
                </a:solidFill>
              </a:rPr>
              <a:t>In SAP terms: The customer owns the software licence and GCP infrastructure. Your team (the SI) designs, builds, and manages the entire GCP environment — servers, databases, networking, security, backups — on top of delivering the SAP application.</a:t>
            </a:r>
            <a:endParaRPr lang="en-US" sz="850" dirty="0"/>
          </a:p>
        </p:txBody>
      </p:sp>
      <p:sp>
        <p:nvSpPr>
          <p:cNvPr id="14" name="Text 12"/>
          <p:cNvSpPr/>
          <p:nvPr/>
        </p:nvSpPr>
        <p:spPr>
          <a:xfrm>
            <a:off x="411480" y="4462272"/>
            <a:ext cx="5394960" cy="201168"/>
          </a:xfrm>
          <a:prstGeom prst="rect">
            <a:avLst/>
          </a:prstGeom>
          <a:noFill/>
          <a:ln/>
        </p:spPr>
        <p:txBody>
          <a:bodyPr wrap="square" lIns="0" tIns="0" rIns="0" bIns="0" rtlCol="0" anchor="ctr"/>
          <a:lstStyle/>
          <a:p>
            <a:pPr indent="0" marL="0">
              <a:buNone/>
            </a:pPr>
            <a:r>
              <a:rPr lang="en-US" sz="750" b="1" spc="100" kern="0" dirty="0">
                <a:solidFill>
                  <a:srgbClr val="E65100"/>
                </a:solidFill>
              </a:rPr>
              <a:t>KEY RESPONSIBILITIES INCLUDE:</a:t>
            </a:r>
            <a:endParaRPr lang="en-US" sz="750" dirty="0"/>
          </a:p>
        </p:txBody>
      </p:sp>
      <p:sp>
        <p:nvSpPr>
          <p:cNvPr id="15" name="Text 13"/>
          <p:cNvSpPr/>
          <p:nvPr/>
        </p:nvSpPr>
        <p:spPr>
          <a:xfrm>
            <a:off x="411480" y="4700016"/>
            <a:ext cx="2697480" cy="219456"/>
          </a:xfrm>
          <a:prstGeom prst="rect">
            <a:avLst/>
          </a:prstGeom>
          <a:noFill/>
          <a:ln/>
        </p:spPr>
        <p:txBody>
          <a:bodyPr wrap="square" lIns="0" tIns="0" rIns="0" bIns="0" rtlCol="0" anchor="ctr"/>
          <a:lstStyle/>
          <a:p>
            <a:pPr indent="0" marL="0">
              <a:buNone/>
            </a:pPr>
            <a:r>
              <a:rPr lang="en-US" sz="780" dirty="0">
                <a:solidFill>
                  <a:srgbClr val="37474F"/>
                </a:solidFill>
              </a:rPr>
              <a:t>› GCP server setup &amp; architecture</a:t>
            </a:r>
            <a:endParaRPr lang="en-US" sz="780" dirty="0"/>
          </a:p>
        </p:txBody>
      </p:sp>
      <p:sp>
        <p:nvSpPr>
          <p:cNvPr id="16" name="Text 14"/>
          <p:cNvSpPr/>
          <p:nvPr/>
        </p:nvSpPr>
        <p:spPr>
          <a:xfrm>
            <a:off x="3108960" y="4700016"/>
            <a:ext cx="2697480" cy="219456"/>
          </a:xfrm>
          <a:prstGeom prst="rect">
            <a:avLst/>
          </a:prstGeom>
          <a:noFill/>
          <a:ln/>
        </p:spPr>
        <p:txBody>
          <a:bodyPr wrap="square" lIns="0" tIns="0" rIns="0" bIns="0" rtlCol="0" anchor="ctr"/>
          <a:lstStyle/>
          <a:p>
            <a:pPr indent="0" marL="0">
              <a:buNone/>
            </a:pPr>
            <a:r>
              <a:rPr lang="en-US" sz="780" dirty="0">
                <a:solidFill>
                  <a:srgbClr val="37474F"/>
                </a:solidFill>
              </a:rPr>
              <a:t>› HANA database infrastructure</a:t>
            </a:r>
            <a:endParaRPr lang="en-US" sz="780" dirty="0"/>
          </a:p>
        </p:txBody>
      </p:sp>
      <p:sp>
        <p:nvSpPr>
          <p:cNvPr id="17" name="Text 15"/>
          <p:cNvSpPr/>
          <p:nvPr/>
        </p:nvSpPr>
        <p:spPr>
          <a:xfrm>
            <a:off x="411480" y="4937760"/>
            <a:ext cx="2697480" cy="219456"/>
          </a:xfrm>
          <a:prstGeom prst="rect">
            <a:avLst/>
          </a:prstGeom>
          <a:noFill/>
          <a:ln/>
        </p:spPr>
        <p:txBody>
          <a:bodyPr wrap="square" lIns="0" tIns="0" rIns="0" bIns="0" rtlCol="0" anchor="ctr"/>
          <a:lstStyle/>
          <a:p>
            <a:pPr indent="0" marL="0">
              <a:buNone/>
            </a:pPr>
            <a:r>
              <a:rPr lang="en-US" sz="780" dirty="0">
                <a:solidFill>
                  <a:srgbClr val="37474F"/>
                </a:solidFill>
              </a:rPr>
              <a:t>› OS patching &amp; maintenance</a:t>
            </a:r>
            <a:endParaRPr lang="en-US" sz="780" dirty="0"/>
          </a:p>
        </p:txBody>
      </p:sp>
      <p:sp>
        <p:nvSpPr>
          <p:cNvPr id="18" name="Text 16"/>
          <p:cNvSpPr/>
          <p:nvPr/>
        </p:nvSpPr>
        <p:spPr>
          <a:xfrm>
            <a:off x="3108960" y="4937760"/>
            <a:ext cx="2697480" cy="219456"/>
          </a:xfrm>
          <a:prstGeom prst="rect">
            <a:avLst/>
          </a:prstGeom>
          <a:noFill/>
          <a:ln/>
        </p:spPr>
        <p:txBody>
          <a:bodyPr wrap="square" lIns="0" tIns="0" rIns="0" bIns="0" rtlCol="0" anchor="ctr"/>
          <a:lstStyle/>
          <a:p>
            <a:pPr indent="0" marL="0">
              <a:buNone/>
            </a:pPr>
            <a:r>
              <a:rPr lang="en-US" sz="780" dirty="0">
                <a:solidFill>
                  <a:srgbClr val="37474F"/>
                </a:solidFill>
              </a:rPr>
              <a:t>› Backup &amp; disaster recovery</a:t>
            </a:r>
            <a:endParaRPr lang="en-US" sz="780" dirty="0"/>
          </a:p>
        </p:txBody>
      </p:sp>
      <p:sp>
        <p:nvSpPr>
          <p:cNvPr id="19" name="Text 17"/>
          <p:cNvSpPr/>
          <p:nvPr/>
        </p:nvSpPr>
        <p:spPr>
          <a:xfrm>
            <a:off x="411480" y="5175504"/>
            <a:ext cx="2697480" cy="219456"/>
          </a:xfrm>
          <a:prstGeom prst="rect">
            <a:avLst/>
          </a:prstGeom>
          <a:noFill/>
          <a:ln/>
        </p:spPr>
        <p:txBody>
          <a:bodyPr wrap="square" lIns="0" tIns="0" rIns="0" bIns="0" rtlCol="0" anchor="ctr"/>
          <a:lstStyle/>
          <a:p>
            <a:pPr indent="0" marL="0">
              <a:buNone/>
            </a:pPr>
            <a:r>
              <a:rPr lang="en-US" sz="780" dirty="0">
                <a:solidFill>
                  <a:srgbClr val="37474F"/>
                </a:solidFill>
              </a:rPr>
              <a:t>› Security controls (NCA/CCC)</a:t>
            </a:r>
            <a:endParaRPr lang="en-US" sz="780" dirty="0"/>
          </a:p>
        </p:txBody>
      </p:sp>
      <p:sp>
        <p:nvSpPr>
          <p:cNvPr id="20" name="Text 18"/>
          <p:cNvSpPr/>
          <p:nvPr/>
        </p:nvSpPr>
        <p:spPr>
          <a:xfrm>
            <a:off x="3108960" y="5175504"/>
            <a:ext cx="2697480" cy="219456"/>
          </a:xfrm>
          <a:prstGeom prst="rect">
            <a:avLst/>
          </a:prstGeom>
          <a:noFill/>
          <a:ln/>
        </p:spPr>
        <p:txBody>
          <a:bodyPr wrap="square" lIns="0" tIns="0" rIns="0" bIns="0" rtlCol="0" anchor="ctr"/>
          <a:lstStyle/>
          <a:p>
            <a:pPr indent="0" marL="0">
              <a:buNone/>
            </a:pPr>
            <a:r>
              <a:rPr lang="en-US" sz="780" dirty="0">
                <a:solidFill>
                  <a:srgbClr val="37474F"/>
                </a:solidFill>
              </a:rPr>
              <a:t>› SAP software installation</a:t>
            </a:r>
            <a:endParaRPr lang="en-US" sz="780" dirty="0"/>
          </a:p>
        </p:txBody>
      </p:sp>
      <p:sp>
        <p:nvSpPr>
          <p:cNvPr id="21" name="Text 19"/>
          <p:cNvSpPr/>
          <p:nvPr/>
        </p:nvSpPr>
        <p:spPr>
          <a:xfrm>
            <a:off x="411480" y="5413248"/>
            <a:ext cx="2697480" cy="219456"/>
          </a:xfrm>
          <a:prstGeom prst="rect">
            <a:avLst/>
          </a:prstGeom>
          <a:noFill/>
          <a:ln/>
        </p:spPr>
        <p:txBody>
          <a:bodyPr wrap="square" lIns="0" tIns="0" rIns="0" bIns="0" rtlCol="0" anchor="ctr"/>
          <a:lstStyle/>
          <a:p>
            <a:pPr indent="0" marL="0">
              <a:buNone/>
            </a:pPr>
            <a:r>
              <a:rPr lang="en-US" sz="780" dirty="0">
                <a:solidFill>
                  <a:srgbClr val="37474F"/>
                </a:solidFill>
              </a:rPr>
              <a:t>› Application configuration &amp; setup</a:t>
            </a:r>
            <a:endParaRPr lang="en-US" sz="780" dirty="0"/>
          </a:p>
        </p:txBody>
      </p:sp>
      <p:sp>
        <p:nvSpPr>
          <p:cNvPr id="22" name="Text 20"/>
          <p:cNvSpPr/>
          <p:nvPr/>
        </p:nvSpPr>
        <p:spPr>
          <a:xfrm>
            <a:off x="3108960" y="5413248"/>
            <a:ext cx="2697480" cy="219456"/>
          </a:xfrm>
          <a:prstGeom prst="rect">
            <a:avLst/>
          </a:prstGeom>
          <a:noFill/>
          <a:ln/>
        </p:spPr>
        <p:txBody>
          <a:bodyPr wrap="square" lIns="0" tIns="0" rIns="0" bIns="0" rtlCol="0" anchor="ctr"/>
          <a:lstStyle/>
          <a:p>
            <a:pPr indent="0" marL="0">
              <a:buNone/>
            </a:pPr>
            <a:r>
              <a:rPr lang="en-US" sz="780" dirty="0">
                <a:solidFill>
                  <a:srgbClr val="37474F"/>
                </a:solidFill>
              </a:rPr>
              <a:t>› All ongoing system operations</a:t>
            </a:r>
            <a:endParaRPr lang="en-US" sz="780" dirty="0"/>
          </a:p>
        </p:txBody>
      </p:sp>
      <p:sp>
        <p:nvSpPr>
          <p:cNvPr id="23" name="Shape 21"/>
          <p:cNvSpPr/>
          <p:nvPr/>
        </p:nvSpPr>
        <p:spPr>
          <a:xfrm>
            <a:off x="6217920" y="1298448"/>
            <a:ext cx="5760720" cy="5257800"/>
          </a:xfrm>
          <a:prstGeom prst="rect">
            <a:avLst/>
          </a:prstGeom>
          <a:solidFill>
            <a:srgbClr val="FFFFFF"/>
          </a:solidFill>
          <a:ln/>
          <a:effectLst>
            <a:outerShdw sx="100000" sy="100000" kx="0" ky="0" algn="bl" rotWithShape="0" blurRad="88900" dist="25400" dir="8100000">
              <a:srgbClr val="000000">
                <a:alpha val="9000"/>
              </a:srgbClr>
            </a:outerShdw>
          </a:effectLst>
        </p:spPr>
      </p:sp>
      <p:sp>
        <p:nvSpPr>
          <p:cNvPr id="24" name="Shape 22"/>
          <p:cNvSpPr/>
          <p:nvPr/>
        </p:nvSpPr>
        <p:spPr>
          <a:xfrm>
            <a:off x="6217920" y="1298448"/>
            <a:ext cx="5760720" cy="530352"/>
          </a:xfrm>
          <a:prstGeom prst="rect">
            <a:avLst/>
          </a:prstGeom>
          <a:solidFill>
            <a:srgbClr val="2E7D32"/>
          </a:solidFill>
          <a:ln/>
        </p:spPr>
      </p:sp>
      <p:sp>
        <p:nvSpPr>
          <p:cNvPr id="25" name="Text 23"/>
          <p:cNvSpPr/>
          <p:nvPr/>
        </p:nvSpPr>
        <p:spPr>
          <a:xfrm>
            <a:off x="6355080" y="1298448"/>
            <a:ext cx="5486400" cy="530352"/>
          </a:xfrm>
          <a:prstGeom prst="rect">
            <a:avLst/>
          </a:prstGeom>
          <a:noFill/>
          <a:ln/>
        </p:spPr>
        <p:txBody>
          <a:bodyPr wrap="square" lIns="0" tIns="0" rIns="0" bIns="0" rtlCol="0" anchor="ctr"/>
          <a:lstStyle/>
          <a:p>
            <a:pPr indent="0" marL="0">
              <a:buNone/>
            </a:pPr>
            <a:r>
              <a:rPr lang="en-US" sz="1200" b="1" dirty="0">
                <a:solidFill>
                  <a:srgbClr val="FFFFFF"/>
                </a:solidFill>
              </a:rPr>
              <a:t>WITH RISE — You Live in a Managed Building</a:t>
            </a:r>
            <a:endParaRPr lang="en-US" sz="1200" dirty="0"/>
          </a:p>
        </p:txBody>
      </p:sp>
      <p:sp>
        <p:nvSpPr>
          <p:cNvPr id="26" name="Shape 24"/>
          <p:cNvSpPr/>
          <p:nvPr/>
        </p:nvSpPr>
        <p:spPr>
          <a:xfrm>
            <a:off x="6355080" y="1901952"/>
            <a:ext cx="5486400" cy="1234440"/>
          </a:xfrm>
          <a:prstGeom prst="rect">
            <a:avLst/>
          </a:prstGeom>
          <a:solidFill>
            <a:srgbClr val="E8F5E9"/>
          </a:solidFill>
          <a:ln/>
        </p:spPr>
      </p:sp>
      <p:sp>
        <p:nvSpPr>
          <p:cNvPr id="27" name="Text 25"/>
          <p:cNvSpPr/>
          <p:nvPr/>
        </p:nvSpPr>
        <p:spPr>
          <a:xfrm>
            <a:off x="6400800" y="1938528"/>
            <a:ext cx="5394960" cy="201168"/>
          </a:xfrm>
          <a:prstGeom prst="rect">
            <a:avLst/>
          </a:prstGeom>
          <a:noFill/>
          <a:ln/>
        </p:spPr>
        <p:txBody>
          <a:bodyPr wrap="square" lIns="0" tIns="0" rIns="0" bIns="0" rtlCol="0" anchor="ctr"/>
          <a:lstStyle/>
          <a:p>
            <a:pPr indent="0" marL="0">
              <a:buNone/>
            </a:pPr>
            <a:r>
              <a:rPr lang="en-US" sz="750" b="1" spc="100" kern="0" dirty="0">
                <a:solidFill>
                  <a:srgbClr val="2E7D32"/>
                </a:solidFill>
              </a:rPr>
              <a:t>THE ANALOGY</a:t>
            </a:r>
            <a:endParaRPr lang="en-US" sz="750" dirty="0"/>
          </a:p>
        </p:txBody>
      </p:sp>
      <p:sp>
        <p:nvSpPr>
          <p:cNvPr id="28" name="Text 26"/>
          <p:cNvSpPr/>
          <p:nvPr/>
        </p:nvSpPr>
        <p:spPr>
          <a:xfrm>
            <a:off x="6400800" y="2139696"/>
            <a:ext cx="5394960" cy="941832"/>
          </a:xfrm>
          <a:prstGeom prst="rect">
            <a:avLst/>
          </a:prstGeom>
          <a:noFill/>
          <a:ln/>
        </p:spPr>
        <p:txBody>
          <a:bodyPr wrap="square" lIns="0" tIns="0" rIns="0" bIns="0" rtlCol="0" anchor="ctr"/>
          <a:lstStyle/>
          <a:p>
            <a:pPr indent="0" marL="0">
              <a:buNone/>
            </a:pPr>
            <a:r>
              <a:rPr lang="en-US" sz="880" dirty="0">
                <a:solidFill>
                  <a:srgbClr val="263238"/>
                </a:solidFill>
              </a:rPr>
              <a:t>You moved into a managed apartment. The building management company (SAP) handles everything structural — lifts, plumbing, electricity, security, building maintenance. You just live there, furnish your apartment, and manage your daily life.</a:t>
            </a:r>
            <a:endParaRPr lang="en-US" sz="880" dirty="0"/>
          </a:p>
        </p:txBody>
      </p:sp>
      <p:sp>
        <p:nvSpPr>
          <p:cNvPr id="29" name="Text 27"/>
          <p:cNvSpPr/>
          <p:nvPr/>
        </p:nvSpPr>
        <p:spPr>
          <a:xfrm>
            <a:off x="6400800" y="3218688"/>
            <a:ext cx="5394960" cy="201168"/>
          </a:xfrm>
          <a:prstGeom prst="rect">
            <a:avLst/>
          </a:prstGeom>
          <a:noFill/>
          <a:ln/>
        </p:spPr>
        <p:txBody>
          <a:bodyPr wrap="square" lIns="0" tIns="0" rIns="0" bIns="0" rtlCol="0" anchor="ctr"/>
          <a:lstStyle/>
          <a:p>
            <a:pPr indent="0" marL="0">
              <a:buNone/>
            </a:pPr>
            <a:r>
              <a:rPr lang="en-US" sz="750" b="1" spc="100" kern="0" dirty="0">
                <a:solidFill>
                  <a:srgbClr val="2E7D32"/>
                </a:solidFill>
              </a:rPr>
              <a:t>WHAT THIS MEANS FOR SAP</a:t>
            </a:r>
            <a:endParaRPr lang="en-US" sz="750" dirty="0"/>
          </a:p>
        </p:txBody>
      </p:sp>
      <p:sp>
        <p:nvSpPr>
          <p:cNvPr id="30" name="Text 28"/>
          <p:cNvSpPr/>
          <p:nvPr/>
        </p:nvSpPr>
        <p:spPr>
          <a:xfrm>
            <a:off x="6400800" y="3438144"/>
            <a:ext cx="5394960" cy="960120"/>
          </a:xfrm>
          <a:prstGeom prst="rect">
            <a:avLst/>
          </a:prstGeom>
          <a:noFill/>
          <a:ln/>
        </p:spPr>
        <p:txBody>
          <a:bodyPr wrap="square" lIns="0" tIns="0" rIns="0" bIns="0" rtlCol="0" anchor="ctr"/>
          <a:lstStyle/>
          <a:p>
            <a:pPr indent="0" marL="0">
              <a:buNone/>
            </a:pPr>
            <a:r>
              <a:rPr lang="en-US" sz="850" dirty="0">
                <a:solidFill>
                  <a:srgbClr val="37474F"/>
                </a:solidFill>
              </a:rPr>
              <a:t>In SAP terms: SAP owns and runs the GCP infrastructure for you. They provision the servers, manage the database, do patching, handle backups. Your team (the SI) focuses only on configuring the SAP system to match the customer's business — the 'furnishing' layer.</a:t>
            </a:r>
            <a:endParaRPr lang="en-US" sz="850" dirty="0"/>
          </a:p>
        </p:txBody>
      </p:sp>
      <p:sp>
        <p:nvSpPr>
          <p:cNvPr id="31" name="Text 29"/>
          <p:cNvSpPr/>
          <p:nvPr/>
        </p:nvSpPr>
        <p:spPr>
          <a:xfrm>
            <a:off x="6400800" y="4462272"/>
            <a:ext cx="5394960" cy="201168"/>
          </a:xfrm>
          <a:prstGeom prst="rect">
            <a:avLst/>
          </a:prstGeom>
          <a:noFill/>
          <a:ln/>
        </p:spPr>
        <p:txBody>
          <a:bodyPr wrap="square" lIns="0" tIns="0" rIns="0" bIns="0" rtlCol="0" anchor="ctr"/>
          <a:lstStyle/>
          <a:p>
            <a:pPr indent="0" marL="0">
              <a:buNone/>
            </a:pPr>
            <a:r>
              <a:rPr lang="en-US" sz="750" b="1" spc="100" kern="0" dirty="0">
                <a:solidFill>
                  <a:srgbClr val="2E7D32"/>
                </a:solidFill>
              </a:rPr>
              <a:t>KEY RESPONSIBILITIES INCLUDE:</a:t>
            </a:r>
            <a:endParaRPr lang="en-US" sz="750" dirty="0"/>
          </a:p>
        </p:txBody>
      </p:sp>
      <p:sp>
        <p:nvSpPr>
          <p:cNvPr id="32" name="Text 30"/>
          <p:cNvSpPr/>
          <p:nvPr/>
        </p:nvSpPr>
        <p:spPr>
          <a:xfrm>
            <a:off x="6400800" y="4700016"/>
            <a:ext cx="2697480" cy="219456"/>
          </a:xfrm>
          <a:prstGeom prst="rect">
            <a:avLst/>
          </a:prstGeom>
          <a:noFill/>
          <a:ln/>
        </p:spPr>
        <p:txBody>
          <a:bodyPr wrap="square" lIns="0" tIns="0" rIns="0" bIns="0" rtlCol="0" anchor="ctr"/>
          <a:lstStyle/>
          <a:p>
            <a:pPr indent="0" marL="0">
              <a:buNone/>
            </a:pPr>
            <a:r>
              <a:rPr lang="en-US" sz="780" dirty="0">
                <a:solidFill>
                  <a:srgbClr val="37474F"/>
                </a:solidFill>
              </a:rPr>
              <a:t>› SAP manages all GCP infrastructure</a:t>
            </a:r>
            <a:endParaRPr lang="en-US" sz="780" dirty="0"/>
          </a:p>
        </p:txBody>
      </p:sp>
      <p:sp>
        <p:nvSpPr>
          <p:cNvPr id="33" name="Text 31"/>
          <p:cNvSpPr/>
          <p:nvPr/>
        </p:nvSpPr>
        <p:spPr>
          <a:xfrm>
            <a:off x="9098280" y="4700016"/>
            <a:ext cx="2697480" cy="219456"/>
          </a:xfrm>
          <a:prstGeom prst="rect">
            <a:avLst/>
          </a:prstGeom>
          <a:noFill/>
          <a:ln/>
        </p:spPr>
        <p:txBody>
          <a:bodyPr wrap="square" lIns="0" tIns="0" rIns="0" bIns="0" rtlCol="0" anchor="ctr"/>
          <a:lstStyle/>
          <a:p>
            <a:pPr indent="0" marL="0">
              <a:buNone/>
            </a:pPr>
            <a:r>
              <a:rPr lang="en-US" sz="780" dirty="0">
                <a:solidFill>
                  <a:srgbClr val="37474F"/>
                </a:solidFill>
              </a:rPr>
              <a:t>› SAP manages HANA database operations</a:t>
            </a:r>
            <a:endParaRPr lang="en-US" sz="780" dirty="0"/>
          </a:p>
        </p:txBody>
      </p:sp>
      <p:sp>
        <p:nvSpPr>
          <p:cNvPr id="34" name="Text 32"/>
          <p:cNvSpPr/>
          <p:nvPr/>
        </p:nvSpPr>
        <p:spPr>
          <a:xfrm>
            <a:off x="6400800" y="4937760"/>
            <a:ext cx="2697480" cy="219456"/>
          </a:xfrm>
          <a:prstGeom prst="rect">
            <a:avLst/>
          </a:prstGeom>
          <a:noFill/>
          <a:ln/>
        </p:spPr>
        <p:txBody>
          <a:bodyPr wrap="square" lIns="0" tIns="0" rIns="0" bIns="0" rtlCol="0" anchor="ctr"/>
          <a:lstStyle/>
          <a:p>
            <a:pPr indent="0" marL="0">
              <a:buNone/>
            </a:pPr>
            <a:r>
              <a:rPr lang="en-US" sz="780" dirty="0">
                <a:solidFill>
                  <a:srgbClr val="37474F"/>
                </a:solidFill>
              </a:rPr>
              <a:t>› SAP handles OS patching &amp; upgrades</a:t>
            </a:r>
            <a:endParaRPr lang="en-US" sz="780" dirty="0"/>
          </a:p>
        </p:txBody>
      </p:sp>
      <p:sp>
        <p:nvSpPr>
          <p:cNvPr id="35" name="Text 33"/>
          <p:cNvSpPr/>
          <p:nvPr/>
        </p:nvSpPr>
        <p:spPr>
          <a:xfrm>
            <a:off x="9098280" y="4937760"/>
            <a:ext cx="2697480" cy="219456"/>
          </a:xfrm>
          <a:prstGeom prst="rect">
            <a:avLst/>
          </a:prstGeom>
          <a:noFill/>
          <a:ln/>
        </p:spPr>
        <p:txBody>
          <a:bodyPr wrap="square" lIns="0" tIns="0" rIns="0" bIns="0" rtlCol="0" anchor="ctr"/>
          <a:lstStyle/>
          <a:p>
            <a:pPr indent="0" marL="0">
              <a:buNone/>
            </a:pPr>
            <a:r>
              <a:rPr lang="en-US" sz="780" dirty="0">
                <a:solidFill>
                  <a:srgbClr val="37474F"/>
                </a:solidFill>
              </a:rPr>
              <a:t>› SAP does backup &amp; recovery</a:t>
            </a:r>
            <a:endParaRPr lang="en-US" sz="780" dirty="0"/>
          </a:p>
        </p:txBody>
      </p:sp>
      <p:sp>
        <p:nvSpPr>
          <p:cNvPr id="36" name="Text 34"/>
          <p:cNvSpPr/>
          <p:nvPr/>
        </p:nvSpPr>
        <p:spPr>
          <a:xfrm>
            <a:off x="6400800" y="5175504"/>
            <a:ext cx="2697480" cy="219456"/>
          </a:xfrm>
          <a:prstGeom prst="rect">
            <a:avLst/>
          </a:prstGeom>
          <a:noFill/>
          <a:ln/>
        </p:spPr>
        <p:txBody>
          <a:bodyPr wrap="square" lIns="0" tIns="0" rIns="0" bIns="0" rtlCol="0" anchor="ctr"/>
          <a:lstStyle/>
          <a:p>
            <a:pPr indent="0" marL="0">
              <a:buNone/>
            </a:pPr>
            <a:r>
              <a:rPr lang="en-US" sz="780" dirty="0">
                <a:solidFill>
                  <a:srgbClr val="37474F"/>
                </a:solidFill>
              </a:rPr>
              <a:t>› SAP maintains 99.7% uptime SLA</a:t>
            </a:r>
            <a:endParaRPr lang="en-US" sz="780" dirty="0"/>
          </a:p>
        </p:txBody>
      </p:sp>
      <p:sp>
        <p:nvSpPr>
          <p:cNvPr id="37" name="Text 35"/>
          <p:cNvSpPr/>
          <p:nvPr/>
        </p:nvSpPr>
        <p:spPr>
          <a:xfrm>
            <a:off x="9098280" y="5175504"/>
            <a:ext cx="2697480" cy="219456"/>
          </a:xfrm>
          <a:prstGeom prst="rect">
            <a:avLst/>
          </a:prstGeom>
          <a:noFill/>
          <a:ln/>
        </p:spPr>
        <p:txBody>
          <a:bodyPr wrap="square" lIns="0" tIns="0" rIns="0" bIns="0" rtlCol="0" anchor="ctr"/>
          <a:lstStyle/>
          <a:p>
            <a:pPr indent="0" marL="0">
              <a:buNone/>
            </a:pPr>
            <a:r>
              <a:rPr lang="en-US" sz="780" dirty="0">
                <a:solidFill>
                  <a:srgbClr val="37474F"/>
                </a:solidFill>
              </a:rPr>
              <a:t>› Your team configures the application</a:t>
            </a:r>
            <a:endParaRPr lang="en-US" sz="780" dirty="0"/>
          </a:p>
        </p:txBody>
      </p:sp>
      <p:sp>
        <p:nvSpPr>
          <p:cNvPr id="38" name="Text 36"/>
          <p:cNvSpPr/>
          <p:nvPr/>
        </p:nvSpPr>
        <p:spPr>
          <a:xfrm>
            <a:off x="6400800" y="5413248"/>
            <a:ext cx="2697480" cy="219456"/>
          </a:xfrm>
          <a:prstGeom prst="rect">
            <a:avLst/>
          </a:prstGeom>
          <a:noFill/>
          <a:ln/>
        </p:spPr>
        <p:txBody>
          <a:bodyPr wrap="square" lIns="0" tIns="0" rIns="0" bIns="0" rtlCol="0" anchor="ctr"/>
          <a:lstStyle/>
          <a:p>
            <a:pPr indent="0" marL="0">
              <a:buNone/>
            </a:pPr>
            <a:r>
              <a:rPr lang="en-US" sz="780" dirty="0">
                <a:solidFill>
                  <a:srgbClr val="37474F"/>
                </a:solidFill>
              </a:rPr>
              <a:t>› Your team sets up business processes</a:t>
            </a:r>
            <a:endParaRPr lang="en-US" sz="780" dirty="0"/>
          </a:p>
        </p:txBody>
      </p:sp>
      <p:sp>
        <p:nvSpPr>
          <p:cNvPr id="39" name="Text 37"/>
          <p:cNvSpPr/>
          <p:nvPr/>
        </p:nvSpPr>
        <p:spPr>
          <a:xfrm>
            <a:off x="9098280" y="5413248"/>
            <a:ext cx="2697480" cy="219456"/>
          </a:xfrm>
          <a:prstGeom prst="rect">
            <a:avLst/>
          </a:prstGeom>
          <a:noFill/>
          <a:ln/>
        </p:spPr>
        <p:txBody>
          <a:bodyPr wrap="square" lIns="0" tIns="0" rIns="0" bIns="0" rtlCol="0" anchor="ctr"/>
          <a:lstStyle/>
          <a:p>
            <a:pPr indent="0" marL="0">
              <a:buNone/>
            </a:pPr>
            <a:r>
              <a:rPr lang="en-US" sz="780" dirty="0">
                <a:solidFill>
                  <a:srgbClr val="37474F"/>
                </a:solidFill>
              </a:rPr>
              <a:t>› Your team does data &amp; integrations</a:t>
            </a:r>
            <a:endParaRPr lang="en-US" sz="780" dirty="0"/>
          </a:p>
        </p:txBody>
      </p:sp>
      <p:sp>
        <p:nvSpPr>
          <p:cNvPr id="40" name="Text 38"/>
          <p:cNvSpPr/>
          <p:nvPr/>
        </p:nvSpPr>
        <p:spPr>
          <a:xfrm>
            <a:off x="228600" y="6601968"/>
            <a:ext cx="11704320" cy="201168"/>
          </a:xfrm>
          <a:prstGeom prst="rect">
            <a:avLst/>
          </a:prstGeom>
          <a:noFill/>
          <a:ln/>
        </p:spPr>
        <p:txBody>
          <a:bodyPr wrap="square" lIns="0" tIns="0" rIns="0" bIns="0" rtlCol="0" anchor="ctr"/>
          <a:lstStyle/>
          <a:p>
            <a:pPr indent="0" marL="0">
              <a:buNone/>
            </a:pPr>
            <a:r>
              <a:rPr lang="en-US" sz="800" i="1" dirty="0">
                <a:solidFill>
                  <a:srgbClr val="90A4AE"/>
                </a:solidFill>
              </a:rPr>
              <a:t>Bottom line: RISE changes WHO manages the GCP infrastructure. Your SI partner's role shifts from infra management to pure application expertise — which is higher-value work.</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8FAFD"/>
        </a:solidFill>
      </p:bgPr>
    </p:bg>
    <p:spTree>
      <p:nvGrpSpPr>
        <p:cNvPr id="1" name=""/>
        <p:cNvGrpSpPr/>
        <p:nvPr/>
      </p:nvGrpSpPr>
      <p:grpSpPr>
        <a:xfrm>
          <a:off x="0" y="0"/>
          <a:ext cx="0" cy="0"/>
          <a:chOff x="0" y="0"/>
          <a:chExt cx="0" cy="0"/>
        </a:xfrm>
      </p:grpSpPr>
      <p:sp>
        <p:nvSpPr>
          <p:cNvPr id="2" name="Shape 0"/>
          <p:cNvSpPr/>
          <p:nvPr/>
        </p:nvSpPr>
        <p:spPr>
          <a:xfrm>
            <a:off x="0" y="0"/>
            <a:ext cx="12161520" cy="749808"/>
          </a:xfrm>
          <a:prstGeom prst="rect">
            <a:avLst/>
          </a:prstGeom>
          <a:solidFill>
            <a:srgbClr val="0D1B2A"/>
          </a:solidFill>
          <a:ln/>
        </p:spPr>
      </p:sp>
      <p:sp>
        <p:nvSpPr>
          <p:cNvPr id="3" name="Shape 1"/>
          <p:cNvSpPr/>
          <p:nvPr/>
        </p:nvSpPr>
        <p:spPr>
          <a:xfrm>
            <a:off x="0" y="0"/>
            <a:ext cx="274320" cy="749808"/>
          </a:xfrm>
          <a:prstGeom prst="rect">
            <a:avLst/>
          </a:prstGeom>
          <a:solidFill>
            <a:srgbClr val="1E88E5"/>
          </a:solidFill>
          <a:ln/>
        </p:spPr>
      </p:sp>
      <p:sp>
        <p:nvSpPr>
          <p:cNvPr id="4" name="Text 2"/>
          <p:cNvSpPr/>
          <p:nvPr/>
        </p:nvSpPr>
        <p:spPr>
          <a:xfrm>
            <a:off x="502920" y="0"/>
            <a:ext cx="11430000" cy="749808"/>
          </a:xfrm>
          <a:prstGeom prst="rect">
            <a:avLst/>
          </a:prstGeom>
          <a:noFill/>
          <a:ln/>
        </p:spPr>
        <p:txBody>
          <a:bodyPr wrap="square" lIns="0" tIns="0" rIns="0" bIns="0" rtlCol="0" anchor="ctr"/>
          <a:lstStyle/>
          <a:p>
            <a:pPr indent="0" marL="0">
              <a:buNone/>
            </a:pPr>
            <a:r>
              <a:rPr lang="en-US" sz="1400" b="1" spc="80" kern="0" dirty="0">
                <a:solidFill>
                  <a:srgbClr val="FFFFFF"/>
                </a:solidFill>
              </a:rPr>
              <a:t>PART 1  |  RISE WITH SAP — WHO DOES WHAT: DETAILED RESPONSIBILITY TABLE</a:t>
            </a:r>
            <a:endParaRPr lang="en-US" sz="1400" dirty="0"/>
          </a:p>
        </p:txBody>
      </p:sp>
      <p:sp>
        <p:nvSpPr>
          <p:cNvPr id="5" name="Shape 3"/>
          <p:cNvSpPr/>
          <p:nvPr/>
        </p:nvSpPr>
        <p:spPr>
          <a:xfrm>
            <a:off x="164592" y="804672"/>
            <a:ext cx="2926080" cy="457200"/>
          </a:xfrm>
          <a:prstGeom prst="rect">
            <a:avLst/>
          </a:prstGeom>
          <a:solidFill>
            <a:srgbClr val="0D1B2A"/>
          </a:solidFill>
          <a:ln/>
        </p:spPr>
      </p:sp>
      <p:sp>
        <p:nvSpPr>
          <p:cNvPr id="6" name="Text 4"/>
          <p:cNvSpPr/>
          <p:nvPr/>
        </p:nvSpPr>
        <p:spPr>
          <a:xfrm>
            <a:off x="237744" y="804672"/>
            <a:ext cx="2834640" cy="457200"/>
          </a:xfrm>
          <a:prstGeom prst="rect">
            <a:avLst/>
          </a:prstGeom>
          <a:noFill/>
          <a:ln/>
        </p:spPr>
        <p:txBody>
          <a:bodyPr wrap="square" lIns="0" tIns="0" rIns="0" bIns="0" rtlCol="0" anchor="ctr"/>
          <a:lstStyle/>
          <a:p>
            <a:pPr indent="0" marL="0">
              <a:buNone/>
            </a:pPr>
            <a:r>
              <a:rPr lang="en-US" sz="900" b="1" dirty="0">
                <a:solidFill>
                  <a:srgbClr val="FFFFFF"/>
                </a:solidFill>
              </a:rPr>
              <a:t>RESPONSIBILITY AREA</a:t>
            </a:r>
            <a:endParaRPr lang="en-US" sz="900" dirty="0"/>
          </a:p>
        </p:txBody>
      </p:sp>
      <p:sp>
        <p:nvSpPr>
          <p:cNvPr id="7" name="Shape 5"/>
          <p:cNvSpPr/>
          <p:nvPr/>
        </p:nvSpPr>
        <p:spPr>
          <a:xfrm>
            <a:off x="3200400" y="804672"/>
            <a:ext cx="4251960" cy="457200"/>
          </a:xfrm>
          <a:prstGeom prst="rect">
            <a:avLst/>
          </a:prstGeom>
          <a:solidFill>
            <a:srgbClr val="1565C0"/>
          </a:solidFill>
          <a:ln/>
        </p:spPr>
      </p:sp>
      <p:sp>
        <p:nvSpPr>
          <p:cNvPr id="8" name="Text 6"/>
          <p:cNvSpPr/>
          <p:nvPr/>
        </p:nvSpPr>
        <p:spPr>
          <a:xfrm>
            <a:off x="3273552" y="804672"/>
            <a:ext cx="4160520" cy="457200"/>
          </a:xfrm>
          <a:prstGeom prst="rect">
            <a:avLst/>
          </a:prstGeom>
          <a:noFill/>
          <a:ln/>
        </p:spPr>
        <p:txBody>
          <a:bodyPr wrap="square" lIns="0" tIns="0" rIns="0" bIns="0" rtlCol="0" anchor="ctr"/>
          <a:lstStyle/>
          <a:p>
            <a:pPr indent="0" marL="0">
              <a:buNone/>
            </a:pPr>
            <a:r>
              <a:rPr lang="en-US" sz="900" b="1" dirty="0">
                <a:solidFill>
                  <a:srgbClr val="FFFFFF"/>
                </a:solidFill>
              </a:rPr>
              <a:t>SAP MANAGES (Infrastructure Layer)</a:t>
            </a:r>
            <a:endParaRPr lang="en-US" sz="900" dirty="0"/>
          </a:p>
        </p:txBody>
      </p:sp>
      <p:sp>
        <p:nvSpPr>
          <p:cNvPr id="9" name="Shape 7"/>
          <p:cNvSpPr/>
          <p:nvPr/>
        </p:nvSpPr>
        <p:spPr>
          <a:xfrm>
            <a:off x="7589520" y="804672"/>
            <a:ext cx="4434840" cy="457200"/>
          </a:xfrm>
          <a:prstGeom prst="rect">
            <a:avLst/>
          </a:prstGeom>
          <a:solidFill>
            <a:srgbClr val="00796B"/>
          </a:solidFill>
          <a:ln/>
        </p:spPr>
      </p:sp>
      <p:sp>
        <p:nvSpPr>
          <p:cNvPr id="10" name="Text 8"/>
          <p:cNvSpPr/>
          <p:nvPr/>
        </p:nvSpPr>
        <p:spPr>
          <a:xfrm>
            <a:off x="7662672" y="804672"/>
            <a:ext cx="4343400" cy="457200"/>
          </a:xfrm>
          <a:prstGeom prst="rect">
            <a:avLst/>
          </a:prstGeom>
          <a:noFill/>
          <a:ln/>
        </p:spPr>
        <p:txBody>
          <a:bodyPr wrap="square" lIns="0" tIns="0" rIns="0" bIns="0" rtlCol="0" anchor="ctr"/>
          <a:lstStyle/>
          <a:p>
            <a:pPr indent="0" marL="0">
              <a:buNone/>
            </a:pPr>
            <a:r>
              <a:rPr lang="en-US" sz="900" b="1" dirty="0">
                <a:solidFill>
                  <a:srgbClr val="FFFFFF"/>
                </a:solidFill>
              </a:rPr>
              <a:t>YOUR TEAM MANAGES (Application Layer)</a:t>
            </a:r>
            <a:endParaRPr lang="en-US" sz="900" dirty="0"/>
          </a:p>
        </p:txBody>
      </p:sp>
      <p:sp>
        <p:nvSpPr>
          <p:cNvPr id="11" name="Shape 9"/>
          <p:cNvSpPr/>
          <p:nvPr/>
        </p:nvSpPr>
        <p:spPr>
          <a:xfrm>
            <a:off x="164592" y="1325880"/>
            <a:ext cx="2926080" cy="525780"/>
          </a:xfrm>
          <a:prstGeom prst="rect">
            <a:avLst/>
          </a:prstGeom>
          <a:solidFill>
            <a:srgbClr val="0D1B2A">
              <a:alpha val="12000"/>
            </a:srgbClr>
          </a:solidFill>
          <a:ln/>
        </p:spPr>
      </p:sp>
      <p:sp>
        <p:nvSpPr>
          <p:cNvPr id="12" name="Text 10"/>
          <p:cNvSpPr/>
          <p:nvPr/>
        </p:nvSpPr>
        <p:spPr>
          <a:xfrm>
            <a:off x="237744" y="1325880"/>
            <a:ext cx="2834640" cy="525780"/>
          </a:xfrm>
          <a:prstGeom prst="rect">
            <a:avLst/>
          </a:prstGeom>
          <a:noFill/>
          <a:ln/>
        </p:spPr>
        <p:txBody>
          <a:bodyPr wrap="square" lIns="0" tIns="0" rIns="0" bIns="0" rtlCol="0" anchor="ctr"/>
          <a:lstStyle/>
          <a:p>
            <a:pPr indent="0" marL="0">
              <a:buNone/>
            </a:pPr>
            <a:r>
              <a:rPr lang="en-US" sz="820" b="1" dirty="0">
                <a:solidFill>
                  <a:srgbClr val="0D1B2A"/>
                </a:solidFill>
              </a:rPr>
              <a:t>Infrastructure &amp; Servers</a:t>
            </a:r>
            <a:endParaRPr lang="en-US" sz="820" dirty="0"/>
          </a:p>
        </p:txBody>
      </p:sp>
      <p:sp>
        <p:nvSpPr>
          <p:cNvPr id="13" name="Shape 11"/>
          <p:cNvSpPr/>
          <p:nvPr/>
        </p:nvSpPr>
        <p:spPr>
          <a:xfrm>
            <a:off x="3200400" y="1325880"/>
            <a:ext cx="4251960" cy="525780"/>
          </a:xfrm>
          <a:prstGeom prst="rect">
            <a:avLst/>
          </a:prstGeom>
          <a:solidFill>
            <a:srgbClr val="E3F2FD"/>
          </a:solidFill>
          <a:ln/>
        </p:spPr>
      </p:sp>
      <p:sp>
        <p:nvSpPr>
          <p:cNvPr id="14" name="Text 12"/>
          <p:cNvSpPr/>
          <p:nvPr/>
        </p:nvSpPr>
        <p:spPr>
          <a:xfrm>
            <a:off x="3273552" y="1344168"/>
            <a:ext cx="4087368" cy="498348"/>
          </a:xfrm>
          <a:prstGeom prst="rect">
            <a:avLst/>
          </a:prstGeom>
          <a:noFill/>
          <a:ln/>
        </p:spPr>
        <p:txBody>
          <a:bodyPr wrap="square" lIns="0" tIns="0" rIns="0" bIns="0" rtlCol="0" anchor="ctr"/>
          <a:lstStyle/>
          <a:p>
            <a:pPr indent="0" marL="0">
              <a:buNone/>
            </a:pPr>
            <a:r>
              <a:rPr lang="en-US" sz="780" dirty="0">
                <a:solidFill>
                  <a:srgbClr val="0D47A1"/>
                </a:solidFill>
              </a:rPr>
              <a:t>Provisions and manages all GCP virtual machines (the servers) — including the high-memory M4 machines that HANA requires. Customer never sees or touches a server.</a:t>
            </a:r>
            <a:endParaRPr lang="en-US" sz="780" dirty="0"/>
          </a:p>
        </p:txBody>
      </p:sp>
      <p:sp>
        <p:nvSpPr>
          <p:cNvPr id="15" name="Shape 13"/>
          <p:cNvSpPr/>
          <p:nvPr/>
        </p:nvSpPr>
        <p:spPr>
          <a:xfrm>
            <a:off x="7360920" y="1417320"/>
            <a:ext cx="73152" cy="342900"/>
          </a:xfrm>
          <a:prstGeom prst="rect">
            <a:avLst/>
          </a:prstGeom>
          <a:solidFill>
            <a:srgbClr val="1565C0"/>
          </a:solidFill>
          <a:ln/>
        </p:spPr>
      </p:sp>
      <p:sp>
        <p:nvSpPr>
          <p:cNvPr id="16" name="Shape 14"/>
          <p:cNvSpPr/>
          <p:nvPr/>
        </p:nvSpPr>
        <p:spPr>
          <a:xfrm>
            <a:off x="7589520" y="1325880"/>
            <a:ext cx="4434840" cy="525780"/>
          </a:xfrm>
          <a:prstGeom prst="rect">
            <a:avLst/>
          </a:prstGeom>
          <a:solidFill>
            <a:srgbClr val="FFFFFF"/>
          </a:solidFill>
          <a:ln/>
        </p:spPr>
      </p:sp>
      <p:sp>
        <p:nvSpPr>
          <p:cNvPr id="17" name="Text 15"/>
          <p:cNvSpPr/>
          <p:nvPr/>
        </p:nvSpPr>
        <p:spPr>
          <a:xfrm>
            <a:off x="7662672" y="1344168"/>
            <a:ext cx="3291840" cy="498348"/>
          </a:xfrm>
          <a:prstGeom prst="rect">
            <a:avLst/>
          </a:prstGeom>
          <a:noFill/>
          <a:ln/>
        </p:spPr>
        <p:txBody>
          <a:bodyPr wrap="square" lIns="0" tIns="0" rIns="0" bIns="0" rtlCol="0" anchor="ctr"/>
          <a:lstStyle/>
          <a:p>
            <a:pPr indent="0" marL="0">
              <a:buNone/>
            </a:pPr>
            <a:r>
              <a:rPr lang="en-US" sz="780" dirty="0">
                <a:solidFill>
                  <a:srgbClr val="90A4AE"/>
                </a:solidFill>
              </a:rPr>
              <a:t>No infrastructure work. Focusses 100% on SAP application. SI benefits: higher-margin work, no infra risk.</a:t>
            </a:r>
            <a:endParaRPr lang="en-US" sz="780" dirty="0"/>
          </a:p>
        </p:txBody>
      </p:sp>
      <p:sp>
        <p:nvSpPr>
          <p:cNvPr id="18" name="Shape 16"/>
          <p:cNvSpPr/>
          <p:nvPr/>
        </p:nvSpPr>
        <p:spPr>
          <a:xfrm>
            <a:off x="11018520" y="1481328"/>
            <a:ext cx="914400" cy="237744"/>
          </a:xfrm>
          <a:prstGeom prst="rect">
            <a:avLst/>
          </a:prstGeom>
          <a:solidFill>
            <a:srgbClr val="90A4AE"/>
          </a:solidFill>
          <a:ln/>
        </p:spPr>
      </p:sp>
      <p:sp>
        <p:nvSpPr>
          <p:cNvPr id="19" name="Text 17"/>
          <p:cNvSpPr/>
          <p:nvPr/>
        </p:nvSpPr>
        <p:spPr>
          <a:xfrm>
            <a:off x="11018520" y="1481328"/>
            <a:ext cx="914400" cy="237744"/>
          </a:xfrm>
          <a:prstGeom prst="rect">
            <a:avLst/>
          </a:prstGeom>
          <a:noFill/>
          <a:ln/>
        </p:spPr>
        <p:txBody>
          <a:bodyPr wrap="square" lIns="0" tIns="0" rIns="0" bIns="0" rtlCol="0" anchor="ctr"/>
          <a:lstStyle/>
          <a:p>
            <a:pPr algn="ctr" indent="0" marL="0">
              <a:buNone/>
            </a:pPr>
            <a:r>
              <a:rPr lang="en-US" sz="650" b="1" dirty="0">
                <a:solidFill>
                  <a:srgbClr val="FFFFFF"/>
                </a:solidFill>
              </a:rPr>
              <a:t>Not in scope</a:t>
            </a:r>
            <a:endParaRPr lang="en-US" sz="650" dirty="0"/>
          </a:p>
        </p:txBody>
      </p:sp>
      <p:sp>
        <p:nvSpPr>
          <p:cNvPr id="20" name="Shape 18"/>
          <p:cNvSpPr/>
          <p:nvPr/>
        </p:nvSpPr>
        <p:spPr>
          <a:xfrm>
            <a:off x="164592" y="1869948"/>
            <a:ext cx="2926080" cy="525780"/>
          </a:xfrm>
          <a:prstGeom prst="rect">
            <a:avLst/>
          </a:prstGeom>
          <a:solidFill>
            <a:srgbClr val="0D1B2A">
              <a:alpha val="18000"/>
            </a:srgbClr>
          </a:solidFill>
          <a:ln/>
        </p:spPr>
      </p:sp>
      <p:sp>
        <p:nvSpPr>
          <p:cNvPr id="21" name="Text 19"/>
          <p:cNvSpPr/>
          <p:nvPr/>
        </p:nvSpPr>
        <p:spPr>
          <a:xfrm>
            <a:off x="237744" y="1869948"/>
            <a:ext cx="2834640" cy="525780"/>
          </a:xfrm>
          <a:prstGeom prst="rect">
            <a:avLst/>
          </a:prstGeom>
          <a:noFill/>
          <a:ln/>
        </p:spPr>
        <p:txBody>
          <a:bodyPr wrap="square" lIns="0" tIns="0" rIns="0" bIns="0" rtlCol="0" anchor="ctr"/>
          <a:lstStyle/>
          <a:p>
            <a:pPr indent="0" marL="0">
              <a:buNone/>
            </a:pPr>
            <a:r>
              <a:rPr lang="en-US" sz="820" b="1" dirty="0">
                <a:solidFill>
                  <a:srgbClr val="0D1B2A"/>
                </a:solidFill>
              </a:rPr>
              <a:t>HANA Database Management</a:t>
            </a:r>
            <a:endParaRPr lang="en-US" sz="820" dirty="0"/>
          </a:p>
        </p:txBody>
      </p:sp>
      <p:sp>
        <p:nvSpPr>
          <p:cNvPr id="22" name="Shape 20"/>
          <p:cNvSpPr/>
          <p:nvPr/>
        </p:nvSpPr>
        <p:spPr>
          <a:xfrm>
            <a:off x="3200400" y="1869948"/>
            <a:ext cx="4251960" cy="525780"/>
          </a:xfrm>
          <a:prstGeom prst="rect">
            <a:avLst/>
          </a:prstGeom>
          <a:solidFill>
            <a:srgbClr val="E3F2FD"/>
          </a:solidFill>
          <a:ln/>
        </p:spPr>
      </p:sp>
      <p:sp>
        <p:nvSpPr>
          <p:cNvPr id="23" name="Text 21"/>
          <p:cNvSpPr/>
          <p:nvPr/>
        </p:nvSpPr>
        <p:spPr>
          <a:xfrm>
            <a:off x="3273552" y="1888236"/>
            <a:ext cx="4087368" cy="498348"/>
          </a:xfrm>
          <a:prstGeom prst="rect">
            <a:avLst/>
          </a:prstGeom>
          <a:noFill/>
          <a:ln/>
        </p:spPr>
        <p:txBody>
          <a:bodyPr wrap="square" lIns="0" tIns="0" rIns="0" bIns="0" rtlCol="0" anchor="ctr"/>
          <a:lstStyle/>
          <a:p>
            <a:pPr indent="0" marL="0">
              <a:buNone/>
            </a:pPr>
            <a:r>
              <a:rPr lang="en-US" sz="780" dirty="0">
                <a:solidFill>
                  <a:srgbClr val="0D47A1"/>
                </a:solidFill>
              </a:rPr>
              <a:t>Manages the SAP HANA in-memory database — the engine that stores all the customer's data. Handles sizing, performance tuning, backup, and recovery. If the database crashes, SAP fixes it.</a:t>
            </a:r>
            <a:endParaRPr lang="en-US" sz="780" dirty="0"/>
          </a:p>
        </p:txBody>
      </p:sp>
      <p:sp>
        <p:nvSpPr>
          <p:cNvPr id="24" name="Shape 22"/>
          <p:cNvSpPr/>
          <p:nvPr/>
        </p:nvSpPr>
        <p:spPr>
          <a:xfrm>
            <a:off x="7360920" y="1961388"/>
            <a:ext cx="73152" cy="342900"/>
          </a:xfrm>
          <a:prstGeom prst="rect">
            <a:avLst/>
          </a:prstGeom>
          <a:solidFill>
            <a:srgbClr val="1565C0"/>
          </a:solidFill>
          <a:ln/>
        </p:spPr>
      </p:sp>
      <p:sp>
        <p:nvSpPr>
          <p:cNvPr id="25" name="Shape 23"/>
          <p:cNvSpPr/>
          <p:nvPr/>
        </p:nvSpPr>
        <p:spPr>
          <a:xfrm>
            <a:off x="7589520" y="1869948"/>
            <a:ext cx="4434840" cy="525780"/>
          </a:xfrm>
          <a:prstGeom prst="rect">
            <a:avLst/>
          </a:prstGeom>
          <a:solidFill>
            <a:srgbClr val="F1F5F9"/>
          </a:solidFill>
          <a:ln/>
        </p:spPr>
      </p:sp>
      <p:sp>
        <p:nvSpPr>
          <p:cNvPr id="26" name="Text 24"/>
          <p:cNvSpPr/>
          <p:nvPr/>
        </p:nvSpPr>
        <p:spPr>
          <a:xfrm>
            <a:off x="7662672" y="1888236"/>
            <a:ext cx="3291840" cy="498348"/>
          </a:xfrm>
          <a:prstGeom prst="rect">
            <a:avLst/>
          </a:prstGeom>
          <a:noFill/>
          <a:ln/>
        </p:spPr>
        <p:txBody>
          <a:bodyPr wrap="square" lIns="0" tIns="0" rIns="0" bIns="0" rtlCol="0" anchor="ctr"/>
          <a:lstStyle/>
          <a:p>
            <a:pPr indent="0" marL="0">
              <a:buNone/>
            </a:pPr>
            <a:r>
              <a:rPr lang="en-US" sz="780" dirty="0">
                <a:solidFill>
                  <a:srgbClr val="90A4AE"/>
                </a:solidFill>
              </a:rPr>
              <a:t>Accesses the database for configuration and data migration — but does not administer it. Like using a car without being the mechanic.</a:t>
            </a:r>
            <a:endParaRPr lang="en-US" sz="780" dirty="0"/>
          </a:p>
        </p:txBody>
      </p:sp>
      <p:sp>
        <p:nvSpPr>
          <p:cNvPr id="27" name="Shape 25"/>
          <p:cNvSpPr/>
          <p:nvPr/>
        </p:nvSpPr>
        <p:spPr>
          <a:xfrm>
            <a:off x="11018520" y="2025396"/>
            <a:ext cx="914400" cy="237744"/>
          </a:xfrm>
          <a:prstGeom prst="rect">
            <a:avLst/>
          </a:prstGeom>
          <a:solidFill>
            <a:srgbClr val="E65100"/>
          </a:solidFill>
          <a:ln/>
        </p:spPr>
      </p:sp>
      <p:sp>
        <p:nvSpPr>
          <p:cNvPr id="28" name="Text 26"/>
          <p:cNvSpPr/>
          <p:nvPr/>
        </p:nvSpPr>
        <p:spPr>
          <a:xfrm>
            <a:off x="11018520" y="2025396"/>
            <a:ext cx="914400" cy="237744"/>
          </a:xfrm>
          <a:prstGeom prst="rect">
            <a:avLst/>
          </a:prstGeom>
          <a:noFill/>
          <a:ln/>
        </p:spPr>
        <p:txBody>
          <a:bodyPr wrap="square" lIns="0" tIns="0" rIns="0" bIns="0" rtlCol="0" anchor="ctr"/>
          <a:lstStyle/>
          <a:p>
            <a:pPr algn="ctr" indent="0" marL="0">
              <a:buNone/>
            </a:pPr>
            <a:r>
              <a:rPr lang="en-US" sz="650" b="1" dirty="0">
                <a:solidFill>
                  <a:srgbClr val="FFFFFF"/>
                </a:solidFill>
              </a:rPr>
              <a:t>Access only</a:t>
            </a:r>
            <a:endParaRPr lang="en-US" sz="650" dirty="0"/>
          </a:p>
        </p:txBody>
      </p:sp>
      <p:sp>
        <p:nvSpPr>
          <p:cNvPr id="29" name="Shape 27"/>
          <p:cNvSpPr/>
          <p:nvPr/>
        </p:nvSpPr>
        <p:spPr>
          <a:xfrm>
            <a:off x="164592" y="2414016"/>
            <a:ext cx="2926080" cy="525780"/>
          </a:xfrm>
          <a:prstGeom prst="rect">
            <a:avLst/>
          </a:prstGeom>
          <a:solidFill>
            <a:srgbClr val="0D1B2A">
              <a:alpha val="12000"/>
            </a:srgbClr>
          </a:solidFill>
          <a:ln/>
        </p:spPr>
      </p:sp>
      <p:sp>
        <p:nvSpPr>
          <p:cNvPr id="30" name="Text 28"/>
          <p:cNvSpPr/>
          <p:nvPr/>
        </p:nvSpPr>
        <p:spPr>
          <a:xfrm>
            <a:off x="237744" y="2414016"/>
            <a:ext cx="2834640" cy="525780"/>
          </a:xfrm>
          <a:prstGeom prst="rect">
            <a:avLst/>
          </a:prstGeom>
          <a:noFill/>
          <a:ln/>
        </p:spPr>
        <p:txBody>
          <a:bodyPr wrap="square" lIns="0" tIns="0" rIns="0" bIns="0" rtlCol="0" anchor="ctr"/>
          <a:lstStyle/>
          <a:p>
            <a:pPr indent="0" marL="0">
              <a:buNone/>
            </a:pPr>
            <a:r>
              <a:rPr lang="en-US" sz="820" b="1" dirty="0">
                <a:solidFill>
                  <a:srgbClr val="0D1B2A"/>
                </a:solidFill>
              </a:rPr>
              <a:t>OS Patching &amp; Security Updates</a:t>
            </a:r>
            <a:endParaRPr lang="en-US" sz="820" dirty="0"/>
          </a:p>
        </p:txBody>
      </p:sp>
      <p:sp>
        <p:nvSpPr>
          <p:cNvPr id="31" name="Shape 29"/>
          <p:cNvSpPr/>
          <p:nvPr/>
        </p:nvSpPr>
        <p:spPr>
          <a:xfrm>
            <a:off x="3200400" y="2414016"/>
            <a:ext cx="4251960" cy="525780"/>
          </a:xfrm>
          <a:prstGeom prst="rect">
            <a:avLst/>
          </a:prstGeom>
          <a:solidFill>
            <a:srgbClr val="E3F2FD"/>
          </a:solidFill>
          <a:ln/>
        </p:spPr>
      </p:sp>
      <p:sp>
        <p:nvSpPr>
          <p:cNvPr id="32" name="Text 30"/>
          <p:cNvSpPr/>
          <p:nvPr/>
        </p:nvSpPr>
        <p:spPr>
          <a:xfrm>
            <a:off x="3273552" y="2432304"/>
            <a:ext cx="4087368" cy="498348"/>
          </a:xfrm>
          <a:prstGeom prst="rect">
            <a:avLst/>
          </a:prstGeom>
          <a:noFill/>
          <a:ln/>
        </p:spPr>
        <p:txBody>
          <a:bodyPr wrap="square" lIns="0" tIns="0" rIns="0" bIns="0" rtlCol="0" anchor="ctr"/>
          <a:lstStyle/>
          <a:p>
            <a:pPr indent="0" marL="0">
              <a:buNone/>
            </a:pPr>
            <a:r>
              <a:rPr lang="en-US" sz="780" dirty="0">
                <a:solidFill>
                  <a:srgbClr val="0D47A1"/>
                </a:solidFill>
              </a:rPr>
              <a:t>Applies all operating system patches and security updates to the GCP VMs automatically. Customer doesn't need a Basis/Linux team for this.</a:t>
            </a:r>
            <a:endParaRPr lang="en-US" sz="780" dirty="0"/>
          </a:p>
        </p:txBody>
      </p:sp>
      <p:sp>
        <p:nvSpPr>
          <p:cNvPr id="33" name="Shape 31"/>
          <p:cNvSpPr/>
          <p:nvPr/>
        </p:nvSpPr>
        <p:spPr>
          <a:xfrm>
            <a:off x="7360920" y="2505456"/>
            <a:ext cx="73152" cy="342900"/>
          </a:xfrm>
          <a:prstGeom prst="rect">
            <a:avLst/>
          </a:prstGeom>
          <a:solidFill>
            <a:srgbClr val="1565C0"/>
          </a:solidFill>
          <a:ln/>
        </p:spPr>
      </p:sp>
      <p:sp>
        <p:nvSpPr>
          <p:cNvPr id="34" name="Shape 32"/>
          <p:cNvSpPr/>
          <p:nvPr/>
        </p:nvSpPr>
        <p:spPr>
          <a:xfrm>
            <a:off x="7589520" y="2414016"/>
            <a:ext cx="4434840" cy="525780"/>
          </a:xfrm>
          <a:prstGeom prst="rect">
            <a:avLst/>
          </a:prstGeom>
          <a:solidFill>
            <a:srgbClr val="FFFFFF"/>
          </a:solidFill>
          <a:ln/>
        </p:spPr>
      </p:sp>
      <p:sp>
        <p:nvSpPr>
          <p:cNvPr id="35" name="Text 33"/>
          <p:cNvSpPr/>
          <p:nvPr/>
        </p:nvSpPr>
        <p:spPr>
          <a:xfrm>
            <a:off x="7662672" y="2432304"/>
            <a:ext cx="3291840" cy="498348"/>
          </a:xfrm>
          <a:prstGeom prst="rect">
            <a:avLst/>
          </a:prstGeom>
          <a:noFill/>
          <a:ln/>
        </p:spPr>
        <p:txBody>
          <a:bodyPr wrap="square" lIns="0" tIns="0" rIns="0" bIns="0" rtlCol="0" anchor="ctr"/>
          <a:lstStyle/>
          <a:p>
            <a:pPr indent="0" marL="0">
              <a:buNone/>
            </a:pPr>
            <a:r>
              <a:rPr lang="en-US" sz="780" dirty="0">
                <a:solidFill>
                  <a:srgbClr val="90A4AE"/>
                </a:solidFill>
              </a:rPr>
              <a:t>No patching responsibility. SI focuses on ensuring application-level changes don't break during SAP's patch windows.</a:t>
            </a:r>
            <a:endParaRPr lang="en-US" sz="780" dirty="0"/>
          </a:p>
        </p:txBody>
      </p:sp>
      <p:sp>
        <p:nvSpPr>
          <p:cNvPr id="36" name="Shape 34"/>
          <p:cNvSpPr/>
          <p:nvPr/>
        </p:nvSpPr>
        <p:spPr>
          <a:xfrm>
            <a:off x="11018520" y="2569464"/>
            <a:ext cx="914400" cy="237744"/>
          </a:xfrm>
          <a:prstGeom prst="rect">
            <a:avLst/>
          </a:prstGeom>
          <a:solidFill>
            <a:srgbClr val="E65100"/>
          </a:solidFill>
          <a:ln/>
        </p:spPr>
      </p:sp>
      <p:sp>
        <p:nvSpPr>
          <p:cNvPr id="37" name="Text 35"/>
          <p:cNvSpPr/>
          <p:nvPr/>
        </p:nvSpPr>
        <p:spPr>
          <a:xfrm>
            <a:off x="11018520" y="2569464"/>
            <a:ext cx="914400" cy="237744"/>
          </a:xfrm>
          <a:prstGeom prst="rect">
            <a:avLst/>
          </a:prstGeom>
          <a:noFill/>
          <a:ln/>
        </p:spPr>
        <p:txBody>
          <a:bodyPr wrap="square" lIns="0" tIns="0" rIns="0" bIns="0" rtlCol="0" anchor="ctr"/>
          <a:lstStyle/>
          <a:p>
            <a:pPr algn="ctr" indent="0" marL="0">
              <a:buNone/>
            </a:pPr>
            <a:r>
              <a:rPr lang="en-US" sz="650" b="1" dirty="0">
                <a:solidFill>
                  <a:srgbClr val="FFFFFF"/>
                </a:solidFill>
              </a:rPr>
              <a:t>Monitor only</a:t>
            </a:r>
            <a:endParaRPr lang="en-US" sz="650" dirty="0"/>
          </a:p>
        </p:txBody>
      </p:sp>
      <p:sp>
        <p:nvSpPr>
          <p:cNvPr id="38" name="Shape 36"/>
          <p:cNvSpPr/>
          <p:nvPr/>
        </p:nvSpPr>
        <p:spPr>
          <a:xfrm>
            <a:off x="164592" y="2958084"/>
            <a:ext cx="2926080" cy="525780"/>
          </a:xfrm>
          <a:prstGeom prst="rect">
            <a:avLst/>
          </a:prstGeom>
          <a:solidFill>
            <a:srgbClr val="0D1B2A">
              <a:alpha val="18000"/>
            </a:srgbClr>
          </a:solidFill>
          <a:ln/>
        </p:spPr>
      </p:sp>
      <p:sp>
        <p:nvSpPr>
          <p:cNvPr id="39" name="Text 37"/>
          <p:cNvSpPr/>
          <p:nvPr/>
        </p:nvSpPr>
        <p:spPr>
          <a:xfrm>
            <a:off x="237744" y="2958084"/>
            <a:ext cx="2834640" cy="525780"/>
          </a:xfrm>
          <a:prstGeom prst="rect">
            <a:avLst/>
          </a:prstGeom>
          <a:noFill/>
          <a:ln/>
        </p:spPr>
        <p:txBody>
          <a:bodyPr wrap="square" lIns="0" tIns="0" rIns="0" bIns="0" rtlCol="0" anchor="ctr"/>
          <a:lstStyle/>
          <a:p>
            <a:pPr indent="0" marL="0">
              <a:buNone/>
            </a:pPr>
            <a:r>
              <a:rPr lang="en-US" sz="820" b="1" dirty="0">
                <a:solidFill>
                  <a:srgbClr val="0D1B2A"/>
                </a:solidFill>
              </a:rPr>
              <a:t>SAP Software Upgrades</a:t>
            </a:r>
            <a:endParaRPr lang="en-US" sz="820" dirty="0"/>
          </a:p>
        </p:txBody>
      </p:sp>
      <p:sp>
        <p:nvSpPr>
          <p:cNvPr id="40" name="Shape 38"/>
          <p:cNvSpPr/>
          <p:nvPr/>
        </p:nvSpPr>
        <p:spPr>
          <a:xfrm>
            <a:off x="3200400" y="2958084"/>
            <a:ext cx="4251960" cy="525780"/>
          </a:xfrm>
          <a:prstGeom prst="rect">
            <a:avLst/>
          </a:prstGeom>
          <a:solidFill>
            <a:srgbClr val="E3F2FD"/>
          </a:solidFill>
          <a:ln/>
        </p:spPr>
      </p:sp>
      <p:sp>
        <p:nvSpPr>
          <p:cNvPr id="41" name="Text 39"/>
          <p:cNvSpPr/>
          <p:nvPr/>
        </p:nvSpPr>
        <p:spPr>
          <a:xfrm>
            <a:off x="3273552" y="2976372"/>
            <a:ext cx="4087368" cy="498348"/>
          </a:xfrm>
          <a:prstGeom prst="rect">
            <a:avLst/>
          </a:prstGeom>
          <a:noFill/>
          <a:ln/>
        </p:spPr>
        <p:txBody>
          <a:bodyPr wrap="square" lIns="0" tIns="0" rIns="0" bIns="0" rtlCol="0" anchor="ctr"/>
          <a:lstStyle/>
          <a:p>
            <a:pPr indent="0" marL="0">
              <a:buNone/>
            </a:pPr>
            <a:r>
              <a:rPr lang="en-US" sz="780" dirty="0">
                <a:solidFill>
                  <a:srgbClr val="0D47A1"/>
                </a:solidFill>
              </a:rPr>
              <a:t>Manages quarterly S/4HANA release updates — the equivalent of keeping the ERP software version current. Done in a managed upgrade window with testing.</a:t>
            </a:r>
            <a:endParaRPr lang="en-US" sz="780" dirty="0"/>
          </a:p>
        </p:txBody>
      </p:sp>
      <p:sp>
        <p:nvSpPr>
          <p:cNvPr id="42" name="Shape 40"/>
          <p:cNvSpPr/>
          <p:nvPr/>
        </p:nvSpPr>
        <p:spPr>
          <a:xfrm>
            <a:off x="7360920" y="3049524"/>
            <a:ext cx="73152" cy="342900"/>
          </a:xfrm>
          <a:prstGeom prst="rect">
            <a:avLst/>
          </a:prstGeom>
          <a:solidFill>
            <a:srgbClr val="1565C0"/>
          </a:solidFill>
          <a:ln/>
        </p:spPr>
      </p:sp>
      <p:sp>
        <p:nvSpPr>
          <p:cNvPr id="43" name="Shape 41"/>
          <p:cNvSpPr/>
          <p:nvPr/>
        </p:nvSpPr>
        <p:spPr>
          <a:xfrm>
            <a:off x="7589520" y="2958084"/>
            <a:ext cx="4434840" cy="525780"/>
          </a:xfrm>
          <a:prstGeom prst="rect">
            <a:avLst/>
          </a:prstGeom>
          <a:solidFill>
            <a:srgbClr val="F1F5F9"/>
          </a:solidFill>
          <a:ln/>
        </p:spPr>
      </p:sp>
      <p:sp>
        <p:nvSpPr>
          <p:cNvPr id="44" name="Text 42"/>
          <p:cNvSpPr/>
          <p:nvPr/>
        </p:nvSpPr>
        <p:spPr>
          <a:xfrm>
            <a:off x="7662672" y="2976372"/>
            <a:ext cx="3291840" cy="498348"/>
          </a:xfrm>
          <a:prstGeom prst="rect">
            <a:avLst/>
          </a:prstGeom>
          <a:noFill/>
          <a:ln/>
        </p:spPr>
        <p:txBody>
          <a:bodyPr wrap="square" lIns="0" tIns="0" rIns="0" bIns="0" rtlCol="0" anchor="ctr"/>
          <a:lstStyle/>
          <a:p>
            <a:pPr indent="0" marL="0">
              <a:buNone/>
            </a:pPr>
            <a:r>
              <a:rPr lang="en-US" sz="780" dirty="0">
                <a:solidFill>
                  <a:srgbClr val="90A4AE"/>
                </a:solidFill>
              </a:rPr>
              <a:t>Validates that customer-specific configurations and custom extensions still work after each SAP upgrade. This is called regression testing.</a:t>
            </a:r>
            <a:endParaRPr lang="en-US" sz="780" dirty="0"/>
          </a:p>
        </p:txBody>
      </p:sp>
      <p:sp>
        <p:nvSpPr>
          <p:cNvPr id="45" name="Shape 43"/>
          <p:cNvSpPr/>
          <p:nvPr/>
        </p:nvSpPr>
        <p:spPr>
          <a:xfrm>
            <a:off x="11018520" y="3113532"/>
            <a:ext cx="914400" cy="237744"/>
          </a:xfrm>
          <a:prstGeom prst="rect">
            <a:avLst/>
          </a:prstGeom>
          <a:solidFill>
            <a:srgbClr val="E65100"/>
          </a:solidFill>
          <a:ln/>
        </p:spPr>
      </p:sp>
      <p:sp>
        <p:nvSpPr>
          <p:cNvPr id="46" name="Text 44"/>
          <p:cNvSpPr/>
          <p:nvPr/>
        </p:nvSpPr>
        <p:spPr>
          <a:xfrm>
            <a:off x="11018520" y="3113532"/>
            <a:ext cx="914400" cy="237744"/>
          </a:xfrm>
          <a:prstGeom prst="rect">
            <a:avLst/>
          </a:prstGeom>
          <a:noFill/>
          <a:ln/>
        </p:spPr>
        <p:txBody>
          <a:bodyPr wrap="square" lIns="0" tIns="0" rIns="0" bIns="0" rtlCol="0" anchor="ctr"/>
          <a:lstStyle/>
          <a:p>
            <a:pPr algn="ctr" indent="0" marL="0">
              <a:buNone/>
            </a:pPr>
            <a:r>
              <a:rPr lang="en-US" sz="650" b="1" dirty="0">
                <a:solidFill>
                  <a:srgbClr val="FFFFFF"/>
                </a:solidFill>
              </a:rPr>
              <a:t>Validation &amp; testing</a:t>
            </a:r>
            <a:endParaRPr lang="en-US" sz="650" dirty="0"/>
          </a:p>
        </p:txBody>
      </p:sp>
      <p:sp>
        <p:nvSpPr>
          <p:cNvPr id="47" name="Shape 45"/>
          <p:cNvSpPr/>
          <p:nvPr/>
        </p:nvSpPr>
        <p:spPr>
          <a:xfrm>
            <a:off x="164592" y="3502152"/>
            <a:ext cx="2926080" cy="525780"/>
          </a:xfrm>
          <a:prstGeom prst="rect">
            <a:avLst/>
          </a:prstGeom>
          <a:solidFill>
            <a:srgbClr val="0D1B2A">
              <a:alpha val="12000"/>
            </a:srgbClr>
          </a:solidFill>
          <a:ln/>
        </p:spPr>
      </p:sp>
      <p:sp>
        <p:nvSpPr>
          <p:cNvPr id="48" name="Text 46"/>
          <p:cNvSpPr/>
          <p:nvPr/>
        </p:nvSpPr>
        <p:spPr>
          <a:xfrm>
            <a:off x="237744" y="3502152"/>
            <a:ext cx="2834640" cy="525780"/>
          </a:xfrm>
          <a:prstGeom prst="rect">
            <a:avLst/>
          </a:prstGeom>
          <a:noFill/>
          <a:ln/>
        </p:spPr>
        <p:txBody>
          <a:bodyPr wrap="square" lIns="0" tIns="0" rIns="0" bIns="0" rtlCol="0" anchor="ctr"/>
          <a:lstStyle/>
          <a:p>
            <a:pPr indent="0" marL="0">
              <a:buNone/>
            </a:pPr>
            <a:r>
              <a:rPr lang="en-US" sz="820" b="1" dirty="0">
                <a:solidFill>
                  <a:srgbClr val="0D1B2A"/>
                </a:solidFill>
              </a:rPr>
              <a:t>SAP Application Configuration</a:t>
            </a:r>
            <a:endParaRPr lang="en-US" sz="820" dirty="0"/>
          </a:p>
        </p:txBody>
      </p:sp>
      <p:sp>
        <p:nvSpPr>
          <p:cNvPr id="49" name="Shape 47"/>
          <p:cNvSpPr/>
          <p:nvPr/>
        </p:nvSpPr>
        <p:spPr>
          <a:xfrm>
            <a:off x="3200400" y="3502152"/>
            <a:ext cx="4251960" cy="525780"/>
          </a:xfrm>
          <a:prstGeom prst="rect">
            <a:avLst/>
          </a:prstGeom>
          <a:solidFill>
            <a:srgbClr val="FFFFFF"/>
          </a:solidFill>
          <a:ln/>
        </p:spPr>
      </p:sp>
      <p:sp>
        <p:nvSpPr>
          <p:cNvPr id="50" name="Text 48"/>
          <p:cNvSpPr/>
          <p:nvPr/>
        </p:nvSpPr>
        <p:spPr>
          <a:xfrm>
            <a:off x="3273552" y="3520440"/>
            <a:ext cx="4087368" cy="498348"/>
          </a:xfrm>
          <a:prstGeom prst="rect">
            <a:avLst/>
          </a:prstGeom>
          <a:noFill/>
          <a:ln/>
        </p:spPr>
        <p:txBody>
          <a:bodyPr wrap="square" lIns="0" tIns="0" rIns="0" bIns="0" rtlCol="0" anchor="ctr"/>
          <a:lstStyle/>
          <a:p>
            <a:pPr indent="0" marL="0">
              <a:buNone/>
            </a:pPr>
            <a:r>
              <a:rPr lang="en-US" sz="780" dirty="0">
                <a:solidFill>
                  <a:srgbClr val="90A4AE"/>
                </a:solidFill>
              </a:rPr>
              <a:t>Not SAP's role — SAP delivers a running system with standard settings, like handing over a blank apartment.</a:t>
            </a:r>
            <a:endParaRPr lang="en-US" sz="780" dirty="0"/>
          </a:p>
        </p:txBody>
      </p:sp>
      <p:sp>
        <p:nvSpPr>
          <p:cNvPr id="51" name="Shape 49"/>
          <p:cNvSpPr/>
          <p:nvPr/>
        </p:nvSpPr>
        <p:spPr>
          <a:xfrm>
            <a:off x="7360920" y="3593592"/>
            <a:ext cx="73152" cy="342900"/>
          </a:xfrm>
          <a:prstGeom prst="rect">
            <a:avLst/>
          </a:prstGeom>
          <a:solidFill>
            <a:srgbClr val="90A4AE"/>
          </a:solidFill>
          <a:ln/>
        </p:spPr>
      </p:sp>
      <p:sp>
        <p:nvSpPr>
          <p:cNvPr id="52" name="Shape 50"/>
          <p:cNvSpPr/>
          <p:nvPr/>
        </p:nvSpPr>
        <p:spPr>
          <a:xfrm>
            <a:off x="7589520" y="3502152"/>
            <a:ext cx="4434840" cy="525780"/>
          </a:xfrm>
          <a:prstGeom prst="rect">
            <a:avLst/>
          </a:prstGeom>
          <a:solidFill>
            <a:srgbClr val="E0F2F1"/>
          </a:solidFill>
          <a:ln/>
        </p:spPr>
      </p:sp>
      <p:sp>
        <p:nvSpPr>
          <p:cNvPr id="53" name="Text 51"/>
          <p:cNvSpPr/>
          <p:nvPr/>
        </p:nvSpPr>
        <p:spPr>
          <a:xfrm>
            <a:off x="7662672" y="3520440"/>
            <a:ext cx="3291840" cy="498348"/>
          </a:xfrm>
          <a:prstGeom prst="rect">
            <a:avLst/>
          </a:prstGeom>
          <a:noFill/>
          <a:ln/>
        </p:spPr>
        <p:txBody>
          <a:bodyPr wrap="square" lIns="0" tIns="0" rIns="0" bIns="0" rtlCol="0" anchor="ctr"/>
          <a:lstStyle/>
          <a:p>
            <a:pPr indent="0" marL="0">
              <a:buNone/>
            </a:pPr>
            <a:r>
              <a:rPr lang="en-US" sz="780" dirty="0">
                <a:solidFill>
                  <a:srgbClr val="004D40"/>
                </a:solidFill>
              </a:rPr>
              <a:t>Sets up every SAP module to match the customer's business rules — which chart of accounts, which approval workflows, which tax codes, which currency settings. Think of it as 'programming the business logic into SAP.'</a:t>
            </a:r>
            <a:endParaRPr lang="en-US" sz="780" dirty="0"/>
          </a:p>
        </p:txBody>
      </p:sp>
      <p:sp>
        <p:nvSpPr>
          <p:cNvPr id="54" name="Shape 52"/>
          <p:cNvSpPr/>
          <p:nvPr/>
        </p:nvSpPr>
        <p:spPr>
          <a:xfrm>
            <a:off x="11018520" y="3657600"/>
            <a:ext cx="914400" cy="237744"/>
          </a:xfrm>
          <a:prstGeom prst="rect">
            <a:avLst/>
          </a:prstGeom>
          <a:solidFill>
            <a:srgbClr val="00796B"/>
          </a:solidFill>
          <a:ln/>
        </p:spPr>
      </p:sp>
      <p:sp>
        <p:nvSpPr>
          <p:cNvPr id="55" name="Text 53"/>
          <p:cNvSpPr/>
          <p:nvPr/>
        </p:nvSpPr>
        <p:spPr>
          <a:xfrm>
            <a:off x="11018520" y="3657600"/>
            <a:ext cx="914400" cy="237744"/>
          </a:xfrm>
          <a:prstGeom prst="rect">
            <a:avLst/>
          </a:prstGeom>
          <a:noFill/>
          <a:ln/>
        </p:spPr>
        <p:txBody>
          <a:bodyPr wrap="square" lIns="0" tIns="0" rIns="0" bIns="0" rtlCol="0" anchor="ctr"/>
          <a:lstStyle/>
          <a:p>
            <a:pPr algn="ctr" indent="0" marL="0">
              <a:buNone/>
            </a:pPr>
            <a:r>
              <a:rPr lang="en-US" sz="650" b="1" dirty="0">
                <a:solidFill>
                  <a:srgbClr val="FFFFFF"/>
                </a:solidFill>
              </a:rPr>
              <a:t>Core SI work</a:t>
            </a:r>
            <a:endParaRPr lang="en-US" sz="650" dirty="0"/>
          </a:p>
        </p:txBody>
      </p:sp>
      <p:sp>
        <p:nvSpPr>
          <p:cNvPr id="56" name="Shape 54"/>
          <p:cNvSpPr/>
          <p:nvPr/>
        </p:nvSpPr>
        <p:spPr>
          <a:xfrm>
            <a:off x="164592" y="4046220"/>
            <a:ext cx="2926080" cy="525780"/>
          </a:xfrm>
          <a:prstGeom prst="rect">
            <a:avLst/>
          </a:prstGeom>
          <a:solidFill>
            <a:srgbClr val="0D1B2A">
              <a:alpha val="18000"/>
            </a:srgbClr>
          </a:solidFill>
          <a:ln/>
        </p:spPr>
      </p:sp>
      <p:sp>
        <p:nvSpPr>
          <p:cNvPr id="57" name="Text 55"/>
          <p:cNvSpPr/>
          <p:nvPr/>
        </p:nvSpPr>
        <p:spPr>
          <a:xfrm>
            <a:off x="237744" y="4046220"/>
            <a:ext cx="2834640" cy="525780"/>
          </a:xfrm>
          <a:prstGeom prst="rect">
            <a:avLst/>
          </a:prstGeom>
          <a:noFill/>
          <a:ln/>
        </p:spPr>
        <p:txBody>
          <a:bodyPr wrap="square" lIns="0" tIns="0" rIns="0" bIns="0" rtlCol="0" anchor="ctr"/>
          <a:lstStyle/>
          <a:p>
            <a:pPr indent="0" marL="0">
              <a:buNone/>
            </a:pPr>
            <a:r>
              <a:rPr lang="en-US" sz="820" b="1" dirty="0">
                <a:solidFill>
                  <a:srgbClr val="0D1B2A"/>
                </a:solidFill>
              </a:rPr>
              <a:t>Business Process Setup</a:t>
            </a:r>
            <a:endParaRPr lang="en-US" sz="820" dirty="0"/>
          </a:p>
        </p:txBody>
      </p:sp>
      <p:sp>
        <p:nvSpPr>
          <p:cNvPr id="58" name="Shape 56"/>
          <p:cNvSpPr/>
          <p:nvPr/>
        </p:nvSpPr>
        <p:spPr>
          <a:xfrm>
            <a:off x="3200400" y="4046220"/>
            <a:ext cx="4251960" cy="525780"/>
          </a:xfrm>
          <a:prstGeom prst="rect">
            <a:avLst/>
          </a:prstGeom>
          <a:solidFill>
            <a:srgbClr val="F1F5F9"/>
          </a:solidFill>
          <a:ln/>
        </p:spPr>
      </p:sp>
      <p:sp>
        <p:nvSpPr>
          <p:cNvPr id="59" name="Text 57"/>
          <p:cNvSpPr/>
          <p:nvPr/>
        </p:nvSpPr>
        <p:spPr>
          <a:xfrm>
            <a:off x="3273552" y="4064508"/>
            <a:ext cx="4087368" cy="498348"/>
          </a:xfrm>
          <a:prstGeom prst="rect">
            <a:avLst/>
          </a:prstGeom>
          <a:noFill/>
          <a:ln/>
        </p:spPr>
        <p:txBody>
          <a:bodyPr wrap="square" lIns="0" tIns="0" rIns="0" bIns="0" rtlCol="0" anchor="ctr"/>
          <a:lstStyle/>
          <a:p>
            <a:pPr indent="0" marL="0">
              <a:buNone/>
            </a:pPr>
            <a:r>
              <a:rPr lang="en-US" sz="780" dirty="0">
                <a:solidFill>
                  <a:srgbClr val="90A4AE"/>
                </a:solidFill>
              </a:rPr>
              <a:t>Not SAP's role — SAP provides the platform (the kitchen), not the recipes.</a:t>
            </a:r>
            <a:endParaRPr lang="en-US" sz="780" dirty="0"/>
          </a:p>
        </p:txBody>
      </p:sp>
      <p:sp>
        <p:nvSpPr>
          <p:cNvPr id="60" name="Shape 58"/>
          <p:cNvSpPr/>
          <p:nvPr/>
        </p:nvSpPr>
        <p:spPr>
          <a:xfrm>
            <a:off x="7360920" y="4137660"/>
            <a:ext cx="73152" cy="342900"/>
          </a:xfrm>
          <a:prstGeom prst="rect">
            <a:avLst/>
          </a:prstGeom>
          <a:solidFill>
            <a:srgbClr val="90A4AE"/>
          </a:solidFill>
          <a:ln/>
        </p:spPr>
      </p:sp>
      <p:sp>
        <p:nvSpPr>
          <p:cNvPr id="61" name="Shape 59"/>
          <p:cNvSpPr/>
          <p:nvPr/>
        </p:nvSpPr>
        <p:spPr>
          <a:xfrm>
            <a:off x="7589520" y="4046220"/>
            <a:ext cx="4434840" cy="525780"/>
          </a:xfrm>
          <a:prstGeom prst="rect">
            <a:avLst/>
          </a:prstGeom>
          <a:solidFill>
            <a:srgbClr val="E0F2F1"/>
          </a:solidFill>
          <a:ln/>
        </p:spPr>
      </p:sp>
      <p:sp>
        <p:nvSpPr>
          <p:cNvPr id="62" name="Text 60"/>
          <p:cNvSpPr/>
          <p:nvPr/>
        </p:nvSpPr>
        <p:spPr>
          <a:xfrm>
            <a:off x="7662672" y="4064508"/>
            <a:ext cx="3291840" cy="498348"/>
          </a:xfrm>
          <a:prstGeom prst="rect">
            <a:avLst/>
          </a:prstGeom>
          <a:noFill/>
          <a:ln/>
        </p:spPr>
        <p:txBody>
          <a:bodyPr wrap="square" lIns="0" tIns="0" rIns="0" bIns="0" rtlCol="0" anchor="ctr"/>
          <a:lstStyle/>
          <a:p>
            <a:pPr indent="0" marL="0">
              <a:buNone/>
            </a:pPr>
            <a:r>
              <a:rPr lang="en-US" sz="780" dirty="0">
                <a:solidFill>
                  <a:srgbClr val="004D40"/>
                </a:solidFill>
              </a:rPr>
              <a:t>Designs and configures how each business process flows through SAP — e.g., how a purchase order goes from request → approval → supplier → goods receipt → payment. Every step, every rule, every exception is set up by your team.</a:t>
            </a:r>
            <a:endParaRPr lang="en-US" sz="780" dirty="0"/>
          </a:p>
        </p:txBody>
      </p:sp>
      <p:sp>
        <p:nvSpPr>
          <p:cNvPr id="63" name="Shape 61"/>
          <p:cNvSpPr/>
          <p:nvPr/>
        </p:nvSpPr>
        <p:spPr>
          <a:xfrm>
            <a:off x="11018520" y="4201668"/>
            <a:ext cx="914400" cy="237744"/>
          </a:xfrm>
          <a:prstGeom prst="rect">
            <a:avLst/>
          </a:prstGeom>
          <a:solidFill>
            <a:srgbClr val="00796B"/>
          </a:solidFill>
          <a:ln/>
        </p:spPr>
      </p:sp>
      <p:sp>
        <p:nvSpPr>
          <p:cNvPr id="64" name="Text 62"/>
          <p:cNvSpPr/>
          <p:nvPr/>
        </p:nvSpPr>
        <p:spPr>
          <a:xfrm>
            <a:off x="11018520" y="4201668"/>
            <a:ext cx="914400" cy="237744"/>
          </a:xfrm>
          <a:prstGeom prst="rect">
            <a:avLst/>
          </a:prstGeom>
          <a:noFill/>
          <a:ln/>
        </p:spPr>
        <p:txBody>
          <a:bodyPr wrap="square" lIns="0" tIns="0" rIns="0" bIns="0" rtlCol="0" anchor="ctr"/>
          <a:lstStyle/>
          <a:p>
            <a:pPr algn="ctr" indent="0" marL="0">
              <a:buNone/>
            </a:pPr>
            <a:r>
              <a:rPr lang="en-US" sz="650" b="1" dirty="0">
                <a:solidFill>
                  <a:srgbClr val="FFFFFF"/>
                </a:solidFill>
              </a:rPr>
              <a:t>Core SI work</a:t>
            </a:r>
            <a:endParaRPr lang="en-US" sz="650" dirty="0"/>
          </a:p>
        </p:txBody>
      </p:sp>
      <p:sp>
        <p:nvSpPr>
          <p:cNvPr id="65" name="Shape 63"/>
          <p:cNvSpPr/>
          <p:nvPr/>
        </p:nvSpPr>
        <p:spPr>
          <a:xfrm>
            <a:off x="164592" y="4590288"/>
            <a:ext cx="2926080" cy="525780"/>
          </a:xfrm>
          <a:prstGeom prst="rect">
            <a:avLst/>
          </a:prstGeom>
          <a:solidFill>
            <a:srgbClr val="0D1B2A">
              <a:alpha val="12000"/>
            </a:srgbClr>
          </a:solidFill>
          <a:ln/>
        </p:spPr>
      </p:sp>
      <p:sp>
        <p:nvSpPr>
          <p:cNvPr id="66" name="Text 64"/>
          <p:cNvSpPr/>
          <p:nvPr/>
        </p:nvSpPr>
        <p:spPr>
          <a:xfrm>
            <a:off x="237744" y="4590288"/>
            <a:ext cx="2834640" cy="525780"/>
          </a:xfrm>
          <a:prstGeom prst="rect">
            <a:avLst/>
          </a:prstGeom>
          <a:noFill/>
          <a:ln/>
        </p:spPr>
        <p:txBody>
          <a:bodyPr wrap="square" lIns="0" tIns="0" rIns="0" bIns="0" rtlCol="0" anchor="ctr"/>
          <a:lstStyle/>
          <a:p>
            <a:pPr indent="0" marL="0">
              <a:buNone/>
            </a:pPr>
            <a:r>
              <a:rPr lang="en-US" sz="820" b="1" dirty="0">
                <a:solidFill>
                  <a:srgbClr val="0D1B2A"/>
                </a:solidFill>
              </a:rPr>
              <a:t>Custom Code Migration</a:t>
            </a:r>
            <a:endParaRPr lang="en-US" sz="820" dirty="0"/>
          </a:p>
        </p:txBody>
      </p:sp>
      <p:sp>
        <p:nvSpPr>
          <p:cNvPr id="67" name="Shape 65"/>
          <p:cNvSpPr/>
          <p:nvPr/>
        </p:nvSpPr>
        <p:spPr>
          <a:xfrm>
            <a:off x="3200400" y="4590288"/>
            <a:ext cx="4251960" cy="525780"/>
          </a:xfrm>
          <a:prstGeom prst="rect">
            <a:avLst/>
          </a:prstGeom>
          <a:solidFill>
            <a:srgbClr val="FFFFFF"/>
          </a:solidFill>
          <a:ln/>
        </p:spPr>
      </p:sp>
      <p:sp>
        <p:nvSpPr>
          <p:cNvPr id="68" name="Text 66"/>
          <p:cNvSpPr/>
          <p:nvPr/>
        </p:nvSpPr>
        <p:spPr>
          <a:xfrm>
            <a:off x="3273552" y="4608576"/>
            <a:ext cx="4087368" cy="498348"/>
          </a:xfrm>
          <a:prstGeom prst="rect">
            <a:avLst/>
          </a:prstGeom>
          <a:noFill/>
          <a:ln/>
        </p:spPr>
        <p:txBody>
          <a:bodyPr wrap="square" lIns="0" tIns="0" rIns="0" bIns="0" rtlCol="0" anchor="ctr"/>
          <a:lstStyle/>
          <a:p>
            <a:pPr indent="0" marL="0">
              <a:buNone/>
            </a:pPr>
            <a:r>
              <a:rPr lang="en-US" sz="780" dirty="0">
                <a:solidFill>
                  <a:srgbClr val="90A4AE"/>
                </a:solidFill>
              </a:rPr>
              <a:t>Not SAP's role. SAP provides tools (Readiness Check, ATC) to scan the old custom code.</a:t>
            </a:r>
            <a:endParaRPr lang="en-US" sz="780" dirty="0"/>
          </a:p>
        </p:txBody>
      </p:sp>
      <p:sp>
        <p:nvSpPr>
          <p:cNvPr id="69" name="Shape 67"/>
          <p:cNvSpPr/>
          <p:nvPr/>
        </p:nvSpPr>
        <p:spPr>
          <a:xfrm>
            <a:off x="7360920" y="4681728"/>
            <a:ext cx="73152" cy="342900"/>
          </a:xfrm>
          <a:prstGeom prst="rect">
            <a:avLst/>
          </a:prstGeom>
          <a:solidFill>
            <a:srgbClr val="90A4AE"/>
          </a:solidFill>
          <a:ln/>
        </p:spPr>
      </p:sp>
      <p:sp>
        <p:nvSpPr>
          <p:cNvPr id="70" name="Shape 68"/>
          <p:cNvSpPr/>
          <p:nvPr/>
        </p:nvSpPr>
        <p:spPr>
          <a:xfrm>
            <a:off x="7589520" y="4590288"/>
            <a:ext cx="4434840" cy="525780"/>
          </a:xfrm>
          <a:prstGeom prst="rect">
            <a:avLst/>
          </a:prstGeom>
          <a:solidFill>
            <a:srgbClr val="E0F2F1"/>
          </a:solidFill>
          <a:ln/>
        </p:spPr>
      </p:sp>
      <p:sp>
        <p:nvSpPr>
          <p:cNvPr id="71" name="Text 69"/>
          <p:cNvSpPr/>
          <p:nvPr/>
        </p:nvSpPr>
        <p:spPr>
          <a:xfrm>
            <a:off x="7662672" y="4608576"/>
            <a:ext cx="3291840" cy="498348"/>
          </a:xfrm>
          <a:prstGeom prst="rect">
            <a:avLst/>
          </a:prstGeom>
          <a:noFill/>
          <a:ln/>
        </p:spPr>
        <p:txBody>
          <a:bodyPr wrap="square" lIns="0" tIns="0" rIns="0" bIns="0" rtlCol="0" anchor="ctr"/>
          <a:lstStyle/>
          <a:p>
            <a:pPr indent="0" marL="0">
              <a:buNone/>
            </a:pPr>
            <a:r>
              <a:rPr lang="en-US" sz="780" dirty="0">
                <a:solidFill>
                  <a:srgbClr val="004D40"/>
                </a:solidFill>
              </a:rPr>
              <a:t>Fixes all the custom-built programs ('Z-programs' or 'ABAP code') the customer wrote over the years to extend standard SAP. Example: a custom report that prints Arabic invoices. These programs must be tested and updated to work in S/4HANA.</a:t>
            </a:r>
            <a:endParaRPr lang="en-US" sz="780" dirty="0"/>
          </a:p>
        </p:txBody>
      </p:sp>
      <p:sp>
        <p:nvSpPr>
          <p:cNvPr id="72" name="Shape 70"/>
          <p:cNvSpPr/>
          <p:nvPr/>
        </p:nvSpPr>
        <p:spPr>
          <a:xfrm>
            <a:off x="11018520" y="4745736"/>
            <a:ext cx="914400" cy="237744"/>
          </a:xfrm>
          <a:prstGeom prst="rect">
            <a:avLst/>
          </a:prstGeom>
          <a:solidFill>
            <a:srgbClr val="00796B"/>
          </a:solidFill>
          <a:ln/>
        </p:spPr>
      </p:sp>
      <p:sp>
        <p:nvSpPr>
          <p:cNvPr id="73" name="Text 71"/>
          <p:cNvSpPr/>
          <p:nvPr/>
        </p:nvSpPr>
        <p:spPr>
          <a:xfrm>
            <a:off x="11018520" y="4745736"/>
            <a:ext cx="914400" cy="237744"/>
          </a:xfrm>
          <a:prstGeom prst="rect">
            <a:avLst/>
          </a:prstGeom>
          <a:noFill/>
          <a:ln/>
        </p:spPr>
        <p:txBody>
          <a:bodyPr wrap="square" lIns="0" tIns="0" rIns="0" bIns="0" rtlCol="0" anchor="ctr"/>
          <a:lstStyle/>
          <a:p>
            <a:pPr algn="ctr" indent="0" marL="0">
              <a:buNone/>
            </a:pPr>
            <a:r>
              <a:rPr lang="en-US" sz="650" b="1" dirty="0">
                <a:solidFill>
                  <a:srgbClr val="FFFFFF"/>
                </a:solidFill>
              </a:rPr>
              <a:t>Core SI work</a:t>
            </a:r>
            <a:endParaRPr lang="en-US" sz="650" dirty="0"/>
          </a:p>
        </p:txBody>
      </p:sp>
      <p:sp>
        <p:nvSpPr>
          <p:cNvPr id="74" name="Shape 72"/>
          <p:cNvSpPr/>
          <p:nvPr/>
        </p:nvSpPr>
        <p:spPr>
          <a:xfrm>
            <a:off x="164592" y="5134356"/>
            <a:ext cx="2926080" cy="525780"/>
          </a:xfrm>
          <a:prstGeom prst="rect">
            <a:avLst/>
          </a:prstGeom>
          <a:solidFill>
            <a:srgbClr val="0D1B2A">
              <a:alpha val="18000"/>
            </a:srgbClr>
          </a:solidFill>
          <a:ln/>
        </p:spPr>
      </p:sp>
      <p:sp>
        <p:nvSpPr>
          <p:cNvPr id="75" name="Text 73"/>
          <p:cNvSpPr/>
          <p:nvPr/>
        </p:nvSpPr>
        <p:spPr>
          <a:xfrm>
            <a:off x="237744" y="5134356"/>
            <a:ext cx="2834640" cy="525780"/>
          </a:xfrm>
          <a:prstGeom prst="rect">
            <a:avLst/>
          </a:prstGeom>
          <a:noFill/>
          <a:ln/>
        </p:spPr>
        <p:txBody>
          <a:bodyPr wrap="square" lIns="0" tIns="0" rIns="0" bIns="0" rtlCol="0" anchor="ctr"/>
          <a:lstStyle/>
          <a:p>
            <a:pPr indent="0" marL="0">
              <a:buNone/>
            </a:pPr>
            <a:r>
              <a:rPr lang="en-US" sz="820" b="1" dirty="0">
                <a:solidFill>
                  <a:srgbClr val="0D1B2A"/>
                </a:solidFill>
              </a:rPr>
              <a:t>Data Migration</a:t>
            </a:r>
            <a:endParaRPr lang="en-US" sz="820" dirty="0"/>
          </a:p>
        </p:txBody>
      </p:sp>
      <p:sp>
        <p:nvSpPr>
          <p:cNvPr id="76" name="Shape 74"/>
          <p:cNvSpPr/>
          <p:nvPr/>
        </p:nvSpPr>
        <p:spPr>
          <a:xfrm>
            <a:off x="3200400" y="5134356"/>
            <a:ext cx="4251960" cy="525780"/>
          </a:xfrm>
          <a:prstGeom prst="rect">
            <a:avLst/>
          </a:prstGeom>
          <a:solidFill>
            <a:srgbClr val="F1F5F9"/>
          </a:solidFill>
          <a:ln/>
        </p:spPr>
      </p:sp>
      <p:sp>
        <p:nvSpPr>
          <p:cNvPr id="77" name="Text 75"/>
          <p:cNvSpPr/>
          <p:nvPr/>
        </p:nvSpPr>
        <p:spPr>
          <a:xfrm>
            <a:off x="3273552" y="5152644"/>
            <a:ext cx="4087368" cy="498348"/>
          </a:xfrm>
          <a:prstGeom prst="rect">
            <a:avLst/>
          </a:prstGeom>
          <a:noFill/>
          <a:ln/>
        </p:spPr>
        <p:txBody>
          <a:bodyPr wrap="square" lIns="0" tIns="0" rIns="0" bIns="0" rtlCol="0" anchor="ctr"/>
          <a:lstStyle/>
          <a:p>
            <a:pPr indent="0" marL="0">
              <a:buNone/>
            </a:pPr>
            <a:r>
              <a:rPr lang="en-US" sz="780" dirty="0">
                <a:solidFill>
                  <a:srgbClr val="90A4AE"/>
                </a:solidFill>
              </a:rPr>
              <a:t>Not SAP's role — SAP provides the Migration Cockpit tool.</a:t>
            </a:r>
            <a:endParaRPr lang="en-US" sz="780" dirty="0"/>
          </a:p>
        </p:txBody>
      </p:sp>
      <p:sp>
        <p:nvSpPr>
          <p:cNvPr id="78" name="Shape 76"/>
          <p:cNvSpPr/>
          <p:nvPr/>
        </p:nvSpPr>
        <p:spPr>
          <a:xfrm>
            <a:off x="7360920" y="5225796"/>
            <a:ext cx="73152" cy="342900"/>
          </a:xfrm>
          <a:prstGeom prst="rect">
            <a:avLst/>
          </a:prstGeom>
          <a:solidFill>
            <a:srgbClr val="90A4AE"/>
          </a:solidFill>
          <a:ln/>
        </p:spPr>
      </p:sp>
      <p:sp>
        <p:nvSpPr>
          <p:cNvPr id="79" name="Shape 77"/>
          <p:cNvSpPr/>
          <p:nvPr/>
        </p:nvSpPr>
        <p:spPr>
          <a:xfrm>
            <a:off x="7589520" y="5134356"/>
            <a:ext cx="4434840" cy="525780"/>
          </a:xfrm>
          <a:prstGeom prst="rect">
            <a:avLst/>
          </a:prstGeom>
          <a:solidFill>
            <a:srgbClr val="E0F2F1"/>
          </a:solidFill>
          <a:ln/>
        </p:spPr>
      </p:sp>
      <p:sp>
        <p:nvSpPr>
          <p:cNvPr id="80" name="Text 78"/>
          <p:cNvSpPr/>
          <p:nvPr/>
        </p:nvSpPr>
        <p:spPr>
          <a:xfrm>
            <a:off x="7662672" y="5152644"/>
            <a:ext cx="3291840" cy="498348"/>
          </a:xfrm>
          <a:prstGeom prst="rect">
            <a:avLst/>
          </a:prstGeom>
          <a:noFill/>
          <a:ln/>
        </p:spPr>
        <p:txBody>
          <a:bodyPr wrap="square" lIns="0" tIns="0" rIns="0" bIns="0" rtlCol="0" anchor="ctr"/>
          <a:lstStyle/>
          <a:p>
            <a:pPr indent="0" marL="0">
              <a:buNone/>
            </a:pPr>
            <a:r>
              <a:rPr lang="en-US" sz="780" dirty="0">
                <a:solidFill>
                  <a:srgbClr val="004D40"/>
                </a:solidFill>
              </a:rPr>
              <a:t>Extracts 15–20 years of the customer's data from the old ECC system, cleans it (removes duplicates, fixes errors), maps it to the new S/4HANA format, and loads it. Includes vendors, customers, materials, open orders, balances.</a:t>
            </a:r>
            <a:endParaRPr lang="en-US" sz="780" dirty="0"/>
          </a:p>
        </p:txBody>
      </p:sp>
      <p:sp>
        <p:nvSpPr>
          <p:cNvPr id="81" name="Shape 79"/>
          <p:cNvSpPr/>
          <p:nvPr/>
        </p:nvSpPr>
        <p:spPr>
          <a:xfrm>
            <a:off x="11018520" y="5289804"/>
            <a:ext cx="914400" cy="237744"/>
          </a:xfrm>
          <a:prstGeom prst="rect">
            <a:avLst/>
          </a:prstGeom>
          <a:solidFill>
            <a:srgbClr val="00796B"/>
          </a:solidFill>
          <a:ln/>
        </p:spPr>
      </p:sp>
      <p:sp>
        <p:nvSpPr>
          <p:cNvPr id="82" name="Text 80"/>
          <p:cNvSpPr/>
          <p:nvPr/>
        </p:nvSpPr>
        <p:spPr>
          <a:xfrm>
            <a:off x="11018520" y="5289804"/>
            <a:ext cx="914400" cy="237744"/>
          </a:xfrm>
          <a:prstGeom prst="rect">
            <a:avLst/>
          </a:prstGeom>
          <a:noFill/>
          <a:ln/>
        </p:spPr>
        <p:txBody>
          <a:bodyPr wrap="square" lIns="0" tIns="0" rIns="0" bIns="0" rtlCol="0" anchor="ctr"/>
          <a:lstStyle/>
          <a:p>
            <a:pPr algn="ctr" indent="0" marL="0">
              <a:buNone/>
            </a:pPr>
            <a:r>
              <a:rPr lang="en-US" sz="650" b="1" dirty="0">
                <a:solidFill>
                  <a:srgbClr val="FFFFFF"/>
                </a:solidFill>
              </a:rPr>
              <a:t>Core SI work</a:t>
            </a:r>
            <a:endParaRPr lang="en-US" sz="650" dirty="0"/>
          </a:p>
        </p:txBody>
      </p:sp>
      <p:sp>
        <p:nvSpPr>
          <p:cNvPr id="83" name="Shape 81"/>
          <p:cNvSpPr/>
          <p:nvPr/>
        </p:nvSpPr>
        <p:spPr>
          <a:xfrm>
            <a:off x="164592" y="5678424"/>
            <a:ext cx="2926080" cy="525780"/>
          </a:xfrm>
          <a:prstGeom prst="rect">
            <a:avLst/>
          </a:prstGeom>
          <a:solidFill>
            <a:srgbClr val="0D1B2A">
              <a:alpha val="12000"/>
            </a:srgbClr>
          </a:solidFill>
          <a:ln/>
        </p:spPr>
      </p:sp>
      <p:sp>
        <p:nvSpPr>
          <p:cNvPr id="84" name="Text 82"/>
          <p:cNvSpPr/>
          <p:nvPr/>
        </p:nvSpPr>
        <p:spPr>
          <a:xfrm>
            <a:off x="237744" y="5678424"/>
            <a:ext cx="2834640" cy="525780"/>
          </a:xfrm>
          <a:prstGeom prst="rect">
            <a:avLst/>
          </a:prstGeom>
          <a:noFill/>
          <a:ln/>
        </p:spPr>
        <p:txBody>
          <a:bodyPr wrap="square" lIns="0" tIns="0" rIns="0" bIns="0" rtlCol="0" anchor="ctr"/>
          <a:lstStyle/>
          <a:p>
            <a:pPr indent="0" marL="0">
              <a:buNone/>
            </a:pPr>
            <a:r>
              <a:rPr lang="en-US" sz="820" b="1" dirty="0">
                <a:solidFill>
                  <a:srgbClr val="0D1B2A"/>
                </a:solidFill>
              </a:rPr>
              <a:t>Integration with Other Systems</a:t>
            </a:r>
            <a:endParaRPr lang="en-US" sz="820" dirty="0"/>
          </a:p>
        </p:txBody>
      </p:sp>
      <p:sp>
        <p:nvSpPr>
          <p:cNvPr id="85" name="Shape 83"/>
          <p:cNvSpPr/>
          <p:nvPr/>
        </p:nvSpPr>
        <p:spPr>
          <a:xfrm>
            <a:off x="3200400" y="5678424"/>
            <a:ext cx="4251960" cy="525780"/>
          </a:xfrm>
          <a:prstGeom prst="rect">
            <a:avLst/>
          </a:prstGeom>
          <a:solidFill>
            <a:srgbClr val="FFFFFF"/>
          </a:solidFill>
          <a:ln/>
        </p:spPr>
      </p:sp>
      <p:sp>
        <p:nvSpPr>
          <p:cNvPr id="86" name="Text 84"/>
          <p:cNvSpPr/>
          <p:nvPr/>
        </p:nvSpPr>
        <p:spPr>
          <a:xfrm>
            <a:off x="3273552" y="5696712"/>
            <a:ext cx="4087368" cy="498348"/>
          </a:xfrm>
          <a:prstGeom prst="rect">
            <a:avLst/>
          </a:prstGeom>
          <a:noFill/>
          <a:ln/>
        </p:spPr>
        <p:txBody>
          <a:bodyPr wrap="square" lIns="0" tIns="0" rIns="0" bIns="0" rtlCol="0" anchor="ctr"/>
          <a:lstStyle/>
          <a:p>
            <a:pPr indent="0" marL="0">
              <a:buNone/>
            </a:pPr>
            <a:r>
              <a:rPr lang="en-US" sz="780" dirty="0">
                <a:solidFill>
                  <a:srgbClr val="90A4AE"/>
                </a:solidFill>
              </a:rPr>
              <a:t>Not SAP's role — SAP provides SAP Integration Suite as the middleware platform.</a:t>
            </a:r>
            <a:endParaRPr lang="en-US" sz="780" dirty="0"/>
          </a:p>
        </p:txBody>
      </p:sp>
      <p:sp>
        <p:nvSpPr>
          <p:cNvPr id="87" name="Shape 85"/>
          <p:cNvSpPr/>
          <p:nvPr/>
        </p:nvSpPr>
        <p:spPr>
          <a:xfrm>
            <a:off x="7360920" y="5769864"/>
            <a:ext cx="73152" cy="342900"/>
          </a:xfrm>
          <a:prstGeom prst="rect">
            <a:avLst/>
          </a:prstGeom>
          <a:solidFill>
            <a:srgbClr val="90A4AE"/>
          </a:solidFill>
          <a:ln/>
        </p:spPr>
      </p:sp>
      <p:sp>
        <p:nvSpPr>
          <p:cNvPr id="88" name="Shape 86"/>
          <p:cNvSpPr/>
          <p:nvPr/>
        </p:nvSpPr>
        <p:spPr>
          <a:xfrm>
            <a:off x="7589520" y="5678424"/>
            <a:ext cx="4434840" cy="525780"/>
          </a:xfrm>
          <a:prstGeom prst="rect">
            <a:avLst/>
          </a:prstGeom>
          <a:solidFill>
            <a:srgbClr val="E0F2F1"/>
          </a:solidFill>
          <a:ln/>
        </p:spPr>
      </p:sp>
      <p:sp>
        <p:nvSpPr>
          <p:cNvPr id="89" name="Text 87"/>
          <p:cNvSpPr/>
          <p:nvPr/>
        </p:nvSpPr>
        <p:spPr>
          <a:xfrm>
            <a:off x="7662672" y="5696712"/>
            <a:ext cx="3291840" cy="498348"/>
          </a:xfrm>
          <a:prstGeom prst="rect">
            <a:avLst/>
          </a:prstGeom>
          <a:noFill/>
          <a:ln/>
        </p:spPr>
        <p:txBody>
          <a:bodyPr wrap="square" lIns="0" tIns="0" rIns="0" bIns="0" rtlCol="0" anchor="ctr"/>
          <a:lstStyle/>
          <a:p>
            <a:pPr indent="0" marL="0">
              <a:buNone/>
            </a:pPr>
            <a:r>
              <a:rPr lang="en-US" sz="780" dirty="0">
                <a:solidFill>
                  <a:srgbClr val="004D40"/>
                </a:solidFill>
              </a:rPr>
              <a:t>Connects S/4HANA to every other system the customer uses — their bank portals, ZATCA e-invoicing (KSA tax authority), HR systems, logistics platforms, OT systems (for oil &amp; gas). Each connection must be rebuilt for the new GCP-hosted S/4HANA.</a:t>
            </a:r>
            <a:endParaRPr lang="en-US" sz="780" dirty="0"/>
          </a:p>
        </p:txBody>
      </p:sp>
      <p:sp>
        <p:nvSpPr>
          <p:cNvPr id="90" name="Shape 88"/>
          <p:cNvSpPr/>
          <p:nvPr/>
        </p:nvSpPr>
        <p:spPr>
          <a:xfrm>
            <a:off x="11018520" y="5833872"/>
            <a:ext cx="914400" cy="237744"/>
          </a:xfrm>
          <a:prstGeom prst="rect">
            <a:avLst/>
          </a:prstGeom>
          <a:solidFill>
            <a:srgbClr val="00796B"/>
          </a:solidFill>
          <a:ln/>
        </p:spPr>
      </p:sp>
      <p:sp>
        <p:nvSpPr>
          <p:cNvPr id="91" name="Text 89"/>
          <p:cNvSpPr/>
          <p:nvPr/>
        </p:nvSpPr>
        <p:spPr>
          <a:xfrm>
            <a:off x="11018520" y="5833872"/>
            <a:ext cx="914400" cy="237744"/>
          </a:xfrm>
          <a:prstGeom prst="rect">
            <a:avLst/>
          </a:prstGeom>
          <a:noFill/>
          <a:ln/>
        </p:spPr>
        <p:txBody>
          <a:bodyPr wrap="square" lIns="0" tIns="0" rIns="0" bIns="0" rtlCol="0" anchor="ctr"/>
          <a:lstStyle/>
          <a:p>
            <a:pPr algn="ctr" indent="0" marL="0">
              <a:buNone/>
            </a:pPr>
            <a:r>
              <a:rPr lang="en-US" sz="650" b="1" dirty="0">
                <a:solidFill>
                  <a:srgbClr val="FFFFFF"/>
                </a:solidFill>
              </a:rPr>
              <a:t>Core SI work</a:t>
            </a:r>
            <a:endParaRPr lang="en-US" sz="650" dirty="0"/>
          </a:p>
        </p:txBody>
      </p:sp>
      <p:sp>
        <p:nvSpPr>
          <p:cNvPr id="92" name="Shape 90"/>
          <p:cNvSpPr/>
          <p:nvPr/>
        </p:nvSpPr>
        <p:spPr>
          <a:xfrm>
            <a:off x="164592" y="6222492"/>
            <a:ext cx="2926080" cy="525780"/>
          </a:xfrm>
          <a:prstGeom prst="rect">
            <a:avLst/>
          </a:prstGeom>
          <a:solidFill>
            <a:srgbClr val="0D1B2A">
              <a:alpha val="18000"/>
            </a:srgbClr>
          </a:solidFill>
          <a:ln/>
        </p:spPr>
      </p:sp>
      <p:sp>
        <p:nvSpPr>
          <p:cNvPr id="93" name="Text 91"/>
          <p:cNvSpPr/>
          <p:nvPr/>
        </p:nvSpPr>
        <p:spPr>
          <a:xfrm>
            <a:off x="237744" y="6222492"/>
            <a:ext cx="2834640" cy="525780"/>
          </a:xfrm>
          <a:prstGeom prst="rect">
            <a:avLst/>
          </a:prstGeom>
          <a:noFill/>
          <a:ln/>
        </p:spPr>
        <p:txBody>
          <a:bodyPr wrap="square" lIns="0" tIns="0" rIns="0" bIns="0" rtlCol="0" anchor="ctr"/>
          <a:lstStyle/>
          <a:p>
            <a:pPr indent="0" marL="0">
              <a:buNone/>
            </a:pPr>
            <a:r>
              <a:rPr lang="en-US" sz="820" b="1" dirty="0">
                <a:solidFill>
                  <a:srgbClr val="0D1B2A"/>
                </a:solidFill>
              </a:rPr>
              <a:t>User Training &amp; Change Management</a:t>
            </a:r>
            <a:endParaRPr lang="en-US" sz="820" dirty="0"/>
          </a:p>
        </p:txBody>
      </p:sp>
      <p:sp>
        <p:nvSpPr>
          <p:cNvPr id="94" name="Shape 92"/>
          <p:cNvSpPr/>
          <p:nvPr/>
        </p:nvSpPr>
        <p:spPr>
          <a:xfrm>
            <a:off x="3200400" y="6222492"/>
            <a:ext cx="4251960" cy="525780"/>
          </a:xfrm>
          <a:prstGeom prst="rect">
            <a:avLst/>
          </a:prstGeom>
          <a:solidFill>
            <a:srgbClr val="F1F5F9"/>
          </a:solidFill>
          <a:ln/>
        </p:spPr>
      </p:sp>
      <p:sp>
        <p:nvSpPr>
          <p:cNvPr id="95" name="Text 93"/>
          <p:cNvSpPr/>
          <p:nvPr/>
        </p:nvSpPr>
        <p:spPr>
          <a:xfrm>
            <a:off x="3273552" y="6240780"/>
            <a:ext cx="4087368" cy="498348"/>
          </a:xfrm>
          <a:prstGeom prst="rect">
            <a:avLst/>
          </a:prstGeom>
          <a:noFill/>
          <a:ln/>
        </p:spPr>
        <p:txBody>
          <a:bodyPr wrap="square" lIns="0" tIns="0" rIns="0" bIns="0" rtlCol="0" anchor="ctr"/>
          <a:lstStyle/>
          <a:p>
            <a:pPr indent="0" marL="0">
              <a:buNone/>
            </a:pPr>
            <a:r>
              <a:rPr lang="en-US" sz="780" dirty="0">
                <a:solidFill>
                  <a:srgbClr val="90A4AE"/>
                </a:solidFill>
              </a:rPr>
              <a:t>Not SAP's role.</a:t>
            </a:r>
            <a:endParaRPr lang="en-US" sz="780" dirty="0"/>
          </a:p>
        </p:txBody>
      </p:sp>
      <p:sp>
        <p:nvSpPr>
          <p:cNvPr id="96" name="Shape 94"/>
          <p:cNvSpPr/>
          <p:nvPr/>
        </p:nvSpPr>
        <p:spPr>
          <a:xfrm>
            <a:off x="7360920" y="6313932"/>
            <a:ext cx="73152" cy="342900"/>
          </a:xfrm>
          <a:prstGeom prst="rect">
            <a:avLst/>
          </a:prstGeom>
          <a:solidFill>
            <a:srgbClr val="90A4AE"/>
          </a:solidFill>
          <a:ln/>
        </p:spPr>
      </p:sp>
      <p:sp>
        <p:nvSpPr>
          <p:cNvPr id="97" name="Shape 95"/>
          <p:cNvSpPr/>
          <p:nvPr/>
        </p:nvSpPr>
        <p:spPr>
          <a:xfrm>
            <a:off x="7589520" y="6222492"/>
            <a:ext cx="4434840" cy="525780"/>
          </a:xfrm>
          <a:prstGeom prst="rect">
            <a:avLst/>
          </a:prstGeom>
          <a:solidFill>
            <a:srgbClr val="E0F2F1"/>
          </a:solidFill>
          <a:ln/>
        </p:spPr>
      </p:sp>
      <p:sp>
        <p:nvSpPr>
          <p:cNvPr id="98" name="Text 96"/>
          <p:cNvSpPr/>
          <p:nvPr/>
        </p:nvSpPr>
        <p:spPr>
          <a:xfrm>
            <a:off x="7662672" y="6240780"/>
            <a:ext cx="3291840" cy="498348"/>
          </a:xfrm>
          <a:prstGeom prst="rect">
            <a:avLst/>
          </a:prstGeom>
          <a:noFill/>
          <a:ln/>
        </p:spPr>
        <p:txBody>
          <a:bodyPr wrap="square" lIns="0" tIns="0" rIns="0" bIns="0" rtlCol="0" anchor="ctr"/>
          <a:lstStyle/>
          <a:p>
            <a:pPr indent="0" marL="0">
              <a:buNone/>
            </a:pPr>
            <a:r>
              <a:rPr lang="en-US" sz="780" dirty="0">
                <a:solidFill>
                  <a:srgbClr val="004D40"/>
                </a:solidFill>
              </a:rPr>
              <a:t>Prepares the customer's workforce for the new system — training sessions, user manuals, super-user coaching. Also manages the human side of change: helping employees adapt to new ways of working.</a:t>
            </a:r>
            <a:endParaRPr lang="en-US" sz="780" dirty="0"/>
          </a:p>
        </p:txBody>
      </p:sp>
      <p:sp>
        <p:nvSpPr>
          <p:cNvPr id="99" name="Shape 97"/>
          <p:cNvSpPr/>
          <p:nvPr/>
        </p:nvSpPr>
        <p:spPr>
          <a:xfrm>
            <a:off x="11018520" y="6377940"/>
            <a:ext cx="914400" cy="237744"/>
          </a:xfrm>
          <a:prstGeom prst="rect">
            <a:avLst/>
          </a:prstGeom>
          <a:solidFill>
            <a:srgbClr val="00796B"/>
          </a:solidFill>
          <a:ln/>
        </p:spPr>
      </p:sp>
      <p:sp>
        <p:nvSpPr>
          <p:cNvPr id="100" name="Text 98"/>
          <p:cNvSpPr/>
          <p:nvPr/>
        </p:nvSpPr>
        <p:spPr>
          <a:xfrm>
            <a:off x="11018520" y="6377940"/>
            <a:ext cx="914400" cy="237744"/>
          </a:xfrm>
          <a:prstGeom prst="rect">
            <a:avLst/>
          </a:prstGeom>
          <a:noFill/>
          <a:ln/>
        </p:spPr>
        <p:txBody>
          <a:bodyPr wrap="square" lIns="0" tIns="0" rIns="0" bIns="0" rtlCol="0" anchor="ctr"/>
          <a:lstStyle/>
          <a:p>
            <a:pPr algn="ctr" indent="0" marL="0">
              <a:buNone/>
            </a:pPr>
            <a:r>
              <a:rPr lang="en-US" sz="650" b="1" dirty="0">
                <a:solidFill>
                  <a:srgbClr val="FFFFFF"/>
                </a:solidFill>
              </a:rPr>
              <a:t>Core SI work</a:t>
            </a:r>
            <a:endParaRPr lang="en-US" sz="6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0796B"/>
        </a:solidFill>
      </p:bgPr>
    </p:bg>
    <p:spTree>
      <p:nvGrpSpPr>
        <p:cNvPr id="1" name=""/>
        <p:cNvGrpSpPr/>
        <p:nvPr/>
      </p:nvGrpSpPr>
      <p:grpSpPr>
        <a:xfrm>
          <a:off x="0" y="0"/>
          <a:ext cx="0" cy="0"/>
          <a:chOff x="0" y="0"/>
          <a:chExt cx="0" cy="0"/>
        </a:xfrm>
      </p:grpSpPr>
      <p:sp>
        <p:nvSpPr>
          <p:cNvPr id="2" name="Shape 0"/>
          <p:cNvSpPr/>
          <p:nvPr/>
        </p:nvSpPr>
        <p:spPr>
          <a:xfrm>
            <a:off x="0" y="0"/>
            <a:ext cx="12161520" cy="73152"/>
          </a:xfrm>
          <a:prstGeom prst="rect">
            <a:avLst/>
          </a:prstGeom>
          <a:solidFill>
            <a:srgbClr val="004D40"/>
          </a:solidFill>
          <a:ln/>
        </p:spPr>
      </p:sp>
      <p:sp>
        <p:nvSpPr>
          <p:cNvPr id="3" name="Shape 1"/>
          <p:cNvSpPr/>
          <p:nvPr/>
        </p:nvSpPr>
        <p:spPr>
          <a:xfrm>
            <a:off x="0" y="6784848"/>
            <a:ext cx="12161520" cy="73152"/>
          </a:xfrm>
          <a:prstGeom prst="rect">
            <a:avLst/>
          </a:prstGeom>
          <a:solidFill>
            <a:srgbClr val="004D40"/>
          </a:solidFill>
          <a:ln/>
        </p:spPr>
      </p:sp>
      <p:sp>
        <p:nvSpPr>
          <p:cNvPr id="4" name="Shape 2"/>
          <p:cNvSpPr/>
          <p:nvPr/>
        </p:nvSpPr>
        <p:spPr>
          <a:xfrm>
            <a:off x="8046720" y="0"/>
            <a:ext cx="4114800" cy="6858000"/>
          </a:xfrm>
          <a:prstGeom prst="rect">
            <a:avLst/>
          </a:prstGeom>
          <a:solidFill>
            <a:srgbClr val="0D1B2A">
              <a:alpha val="40000"/>
            </a:srgbClr>
          </a:solidFill>
          <a:ln/>
        </p:spPr>
      </p:sp>
      <p:sp>
        <p:nvSpPr>
          <p:cNvPr id="5" name="Text 3"/>
          <p:cNvSpPr/>
          <p:nvPr/>
        </p:nvSpPr>
        <p:spPr>
          <a:xfrm>
            <a:off x="640080" y="1371600"/>
            <a:ext cx="5486400" cy="457200"/>
          </a:xfrm>
          <a:prstGeom prst="rect">
            <a:avLst/>
          </a:prstGeom>
          <a:noFill/>
          <a:ln/>
        </p:spPr>
        <p:txBody>
          <a:bodyPr wrap="square" lIns="0" tIns="0" rIns="0" bIns="0" rtlCol="0" anchor="ctr"/>
          <a:lstStyle/>
          <a:p>
            <a:pPr indent="0" marL="0">
              <a:buNone/>
            </a:pPr>
            <a:r>
              <a:rPr lang="en-US" sz="1400" b="1" spc="400" kern="0" dirty="0">
                <a:solidFill>
                  <a:srgbClr val="B2EBF2"/>
                </a:solidFill>
              </a:rPr>
              <a:t>PART 2</a:t>
            </a:r>
            <a:endParaRPr lang="en-US" sz="1400" dirty="0"/>
          </a:p>
        </p:txBody>
      </p:sp>
      <p:sp>
        <p:nvSpPr>
          <p:cNvPr id="6" name="Text 4"/>
          <p:cNvSpPr/>
          <p:nvPr/>
        </p:nvSpPr>
        <p:spPr>
          <a:xfrm>
            <a:off x="640080" y="1920240"/>
            <a:ext cx="7315200" cy="2103120"/>
          </a:xfrm>
          <a:prstGeom prst="rect">
            <a:avLst/>
          </a:prstGeom>
          <a:noFill/>
          <a:ln/>
        </p:spPr>
        <p:txBody>
          <a:bodyPr wrap="square" lIns="0" tIns="0" rIns="0" bIns="0" rtlCol="0" anchor="ctr"/>
          <a:lstStyle/>
          <a:p>
            <a:pPr indent="0" marL="0">
              <a:buNone/>
            </a:pPr>
            <a:r>
              <a:rPr lang="en-US" sz="4200" b="1" dirty="0">
                <a:solidFill>
                  <a:srgbClr val="FFFFFF"/>
                </a:solidFill>
              </a:rPr>
              <a:t>Brownfield Migration</a:t>
            </a:r>
            <a:endParaRPr lang="en-US" sz="4200" dirty="0"/>
          </a:p>
          <a:p>
            <a:pPr indent="0" marL="0">
              <a:buNone/>
            </a:pPr>
            <a:r>
              <a:rPr lang="en-US" sz="4200" b="1" dirty="0">
                <a:solidFill>
                  <a:srgbClr val="FFFFFF"/>
                </a:solidFill>
              </a:rPr>
              <a:t>Step by Step</a:t>
            </a:r>
            <a:endParaRPr lang="en-US" sz="4200" dirty="0"/>
          </a:p>
        </p:txBody>
      </p:sp>
      <p:sp>
        <p:nvSpPr>
          <p:cNvPr id="7" name="Text 5"/>
          <p:cNvSpPr/>
          <p:nvPr/>
        </p:nvSpPr>
        <p:spPr>
          <a:xfrm>
            <a:off x="640080" y="4160520"/>
            <a:ext cx="6858000" cy="822960"/>
          </a:xfrm>
          <a:prstGeom prst="rect">
            <a:avLst/>
          </a:prstGeom>
          <a:noFill/>
          <a:ln/>
        </p:spPr>
        <p:txBody>
          <a:bodyPr wrap="square" lIns="0" tIns="0" rIns="0" bIns="0" rtlCol="0" anchor="ctr"/>
          <a:lstStyle/>
          <a:p>
            <a:pPr indent="0" marL="0">
              <a:buNone/>
            </a:pPr>
            <a:r>
              <a:rPr lang="en-US" sz="1400" i="1" dirty="0">
                <a:solidFill>
                  <a:srgbClr val="B2EBF2"/>
                </a:solidFill>
              </a:rPr>
              <a:t>Every phase explained — what happens technically,</a:t>
            </a:r>
            <a:endParaRPr lang="en-US" sz="1400" dirty="0"/>
          </a:p>
          <a:p>
            <a:pPr indent="0" marL="0">
              <a:buNone/>
            </a:pPr>
            <a:r>
              <a:rPr lang="en-US" sz="1400" i="1" dirty="0">
                <a:solidFill>
                  <a:srgbClr val="B2EBF2"/>
                </a:solidFill>
              </a:rPr>
              <a:t>what SAP does, and what your team does at each stage.</a:t>
            </a:r>
            <a:endParaRPr lang="en-US" sz="1400" dirty="0"/>
          </a:p>
        </p:txBody>
      </p:sp>
      <p:sp>
        <p:nvSpPr>
          <p:cNvPr id="8" name="Shape 6"/>
          <p:cNvSpPr/>
          <p:nvPr/>
        </p:nvSpPr>
        <p:spPr>
          <a:xfrm>
            <a:off x="8138160" y="822960"/>
            <a:ext cx="3749040" cy="822960"/>
          </a:xfrm>
          <a:prstGeom prst="rect">
            <a:avLst/>
          </a:prstGeom>
          <a:solidFill>
            <a:srgbClr val="FFFFFF">
              <a:alpha val="18000"/>
            </a:srgbClr>
          </a:solidFill>
          <a:ln/>
        </p:spPr>
      </p:sp>
      <p:sp>
        <p:nvSpPr>
          <p:cNvPr id="9" name="Text 7"/>
          <p:cNvSpPr/>
          <p:nvPr/>
        </p:nvSpPr>
        <p:spPr>
          <a:xfrm>
            <a:off x="8183880" y="868680"/>
            <a:ext cx="384048" cy="713232"/>
          </a:xfrm>
          <a:prstGeom prst="rect">
            <a:avLst/>
          </a:prstGeom>
          <a:noFill/>
          <a:ln/>
        </p:spPr>
        <p:txBody>
          <a:bodyPr wrap="square" lIns="0" tIns="0" rIns="0" bIns="0" rtlCol="0" anchor="ctr"/>
          <a:lstStyle/>
          <a:p>
            <a:pPr algn="ctr" indent="0" marL="0">
              <a:buNone/>
            </a:pPr>
            <a:r>
              <a:rPr lang="en-US" sz="1800" b="1" dirty="0">
                <a:solidFill>
                  <a:srgbClr val="FFFFFF"/>
                </a:solidFill>
              </a:rPr>
              <a:t>1</a:t>
            </a:r>
            <a:endParaRPr lang="en-US" sz="1800" dirty="0"/>
          </a:p>
        </p:txBody>
      </p:sp>
      <p:sp>
        <p:nvSpPr>
          <p:cNvPr id="10" name="Text 8"/>
          <p:cNvSpPr/>
          <p:nvPr/>
        </p:nvSpPr>
        <p:spPr>
          <a:xfrm>
            <a:off x="8613648" y="868680"/>
            <a:ext cx="3154680" cy="713232"/>
          </a:xfrm>
          <a:prstGeom prst="rect">
            <a:avLst/>
          </a:prstGeom>
          <a:noFill/>
          <a:ln/>
        </p:spPr>
        <p:txBody>
          <a:bodyPr wrap="square" lIns="0" tIns="0" rIns="0" bIns="0" rtlCol="0" anchor="ctr"/>
          <a:lstStyle/>
          <a:p>
            <a:pPr indent="0" marL="0">
              <a:buNone/>
            </a:pPr>
            <a:r>
              <a:rPr lang="en-US" sz="1000" dirty="0">
                <a:solidFill>
                  <a:srgbClr val="FFFFFF"/>
                </a:solidFill>
              </a:rPr>
              <a:t>Discover &amp; Assess</a:t>
            </a:r>
            <a:endParaRPr lang="en-US" sz="1000" dirty="0"/>
          </a:p>
        </p:txBody>
      </p:sp>
      <p:sp>
        <p:nvSpPr>
          <p:cNvPr id="11" name="Shape 9"/>
          <p:cNvSpPr/>
          <p:nvPr/>
        </p:nvSpPr>
        <p:spPr>
          <a:xfrm>
            <a:off x="8138160" y="1874520"/>
            <a:ext cx="3749040" cy="822960"/>
          </a:xfrm>
          <a:prstGeom prst="rect">
            <a:avLst/>
          </a:prstGeom>
          <a:solidFill>
            <a:srgbClr val="FFFFFF">
              <a:alpha val="18000"/>
            </a:srgbClr>
          </a:solidFill>
          <a:ln/>
        </p:spPr>
      </p:sp>
      <p:sp>
        <p:nvSpPr>
          <p:cNvPr id="12" name="Text 10"/>
          <p:cNvSpPr/>
          <p:nvPr/>
        </p:nvSpPr>
        <p:spPr>
          <a:xfrm>
            <a:off x="8183880" y="1920240"/>
            <a:ext cx="384048" cy="713232"/>
          </a:xfrm>
          <a:prstGeom prst="rect">
            <a:avLst/>
          </a:prstGeom>
          <a:noFill/>
          <a:ln/>
        </p:spPr>
        <p:txBody>
          <a:bodyPr wrap="square" lIns="0" tIns="0" rIns="0" bIns="0" rtlCol="0" anchor="ctr"/>
          <a:lstStyle/>
          <a:p>
            <a:pPr algn="ctr" indent="0" marL="0">
              <a:buNone/>
            </a:pPr>
            <a:r>
              <a:rPr lang="en-US" sz="1800" b="1" dirty="0">
                <a:solidFill>
                  <a:srgbClr val="FFFFFF"/>
                </a:solidFill>
              </a:rPr>
              <a:t>2</a:t>
            </a:r>
            <a:endParaRPr lang="en-US" sz="1800" dirty="0"/>
          </a:p>
        </p:txBody>
      </p:sp>
      <p:sp>
        <p:nvSpPr>
          <p:cNvPr id="13" name="Text 11"/>
          <p:cNvSpPr/>
          <p:nvPr/>
        </p:nvSpPr>
        <p:spPr>
          <a:xfrm>
            <a:off x="8613648" y="1920240"/>
            <a:ext cx="3154680" cy="713232"/>
          </a:xfrm>
          <a:prstGeom prst="rect">
            <a:avLst/>
          </a:prstGeom>
          <a:noFill/>
          <a:ln/>
        </p:spPr>
        <p:txBody>
          <a:bodyPr wrap="square" lIns="0" tIns="0" rIns="0" bIns="0" rtlCol="0" anchor="ctr"/>
          <a:lstStyle/>
          <a:p>
            <a:pPr indent="0" marL="0">
              <a:buNone/>
            </a:pPr>
            <a:r>
              <a:rPr lang="en-US" sz="1000" dirty="0">
                <a:solidFill>
                  <a:srgbClr val="FFFFFF"/>
                </a:solidFill>
              </a:rPr>
              <a:t>Provision &amp; Prepare</a:t>
            </a:r>
            <a:endParaRPr lang="en-US" sz="1000" dirty="0"/>
          </a:p>
        </p:txBody>
      </p:sp>
      <p:sp>
        <p:nvSpPr>
          <p:cNvPr id="14" name="Shape 12"/>
          <p:cNvSpPr/>
          <p:nvPr/>
        </p:nvSpPr>
        <p:spPr>
          <a:xfrm>
            <a:off x="8138160" y="2926080"/>
            <a:ext cx="3749040" cy="822960"/>
          </a:xfrm>
          <a:prstGeom prst="rect">
            <a:avLst/>
          </a:prstGeom>
          <a:solidFill>
            <a:srgbClr val="FFFFFF">
              <a:alpha val="18000"/>
            </a:srgbClr>
          </a:solidFill>
          <a:ln/>
        </p:spPr>
      </p:sp>
      <p:sp>
        <p:nvSpPr>
          <p:cNvPr id="15" name="Text 13"/>
          <p:cNvSpPr/>
          <p:nvPr/>
        </p:nvSpPr>
        <p:spPr>
          <a:xfrm>
            <a:off x="8183880" y="2971800"/>
            <a:ext cx="384048" cy="713232"/>
          </a:xfrm>
          <a:prstGeom prst="rect">
            <a:avLst/>
          </a:prstGeom>
          <a:noFill/>
          <a:ln/>
        </p:spPr>
        <p:txBody>
          <a:bodyPr wrap="square" lIns="0" tIns="0" rIns="0" bIns="0" rtlCol="0" anchor="ctr"/>
          <a:lstStyle/>
          <a:p>
            <a:pPr algn="ctr" indent="0" marL="0">
              <a:buNone/>
            </a:pPr>
            <a:r>
              <a:rPr lang="en-US" sz="1800" b="1" dirty="0">
                <a:solidFill>
                  <a:srgbClr val="FFFFFF"/>
                </a:solidFill>
              </a:rPr>
              <a:t>3</a:t>
            </a:r>
            <a:endParaRPr lang="en-US" sz="1800" dirty="0"/>
          </a:p>
        </p:txBody>
      </p:sp>
      <p:sp>
        <p:nvSpPr>
          <p:cNvPr id="16" name="Text 14"/>
          <p:cNvSpPr/>
          <p:nvPr/>
        </p:nvSpPr>
        <p:spPr>
          <a:xfrm>
            <a:off x="8613648" y="2971800"/>
            <a:ext cx="3154680" cy="713232"/>
          </a:xfrm>
          <a:prstGeom prst="rect">
            <a:avLst/>
          </a:prstGeom>
          <a:noFill/>
          <a:ln/>
        </p:spPr>
        <p:txBody>
          <a:bodyPr wrap="square" lIns="0" tIns="0" rIns="0" bIns="0" rtlCol="0" anchor="ctr"/>
          <a:lstStyle/>
          <a:p>
            <a:pPr indent="0" marL="0">
              <a:buNone/>
            </a:pPr>
            <a:r>
              <a:rPr lang="en-US" sz="1000" dirty="0">
                <a:solidFill>
                  <a:srgbClr val="FFFFFF"/>
                </a:solidFill>
              </a:rPr>
              <a:t>Convert &amp; Migrate</a:t>
            </a:r>
            <a:endParaRPr lang="en-US" sz="1000" dirty="0"/>
          </a:p>
        </p:txBody>
      </p:sp>
      <p:sp>
        <p:nvSpPr>
          <p:cNvPr id="17" name="Shape 15"/>
          <p:cNvSpPr/>
          <p:nvPr/>
        </p:nvSpPr>
        <p:spPr>
          <a:xfrm>
            <a:off x="8138160" y="3977640"/>
            <a:ext cx="3749040" cy="822960"/>
          </a:xfrm>
          <a:prstGeom prst="rect">
            <a:avLst/>
          </a:prstGeom>
          <a:solidFill>
            <a:srgbClr val="FFFFFF">
              <a:alpha val="18000"/>
            </a:srgbClr>
          </a:solidFill>
          <a:ln/>
        </p:spPr>
      </p:sp>
      <p:sp>
        <p:nvSpPr>
          <p:cNvPr id="18" name="Text 16"/>
          <p:cNvSpPr/>
          <p:nvPr/>
        </p:nvSpPr>
        <p:spPr>
          <a:xfrm>
            <a:off x="8183880" y="4023360"/>
            <a:ext cx="384048" cy="713232"/>
          </a:xfrm>
          <a:prstGeom prst="rect">
            <a:avLst/>
          </a:prstGeom>
          <a:noFill/>
          <a:ln/>
        </p:spPr>
        <p:txBody>
          <a:bodyPr wrap="square" lIns="0" tIns="0" rIns="0" bIns="0" rtlCol="0" anchor="ctr"/>
          <a:lstStyle/>
          <a:p>
            <a:pPr algn="ctr" indent="0" marL="0">
              <a:buNone/>
            </a:pPr>
            <a:r>
              <a:rPr lang="en-US" sz="1800" b="1" dirty="0">
                <a:solidFill>
                  <a:srgbClr val="FFFFFF"/>
                </a:solidFill>
              </a:rPr>
              <a:t>4</a:t>
            </a:r>
            <a:endParaRPr lang="en-US" sz="1800" dirty="0"/>
          </a:p>
        </p:txBody>
      </p:sp>
      <p:sp>
        <p:nvSpPr>
          <p:cNvPr id="19" name="Text 17"/>
          <p:cNvSpPr/>
          <p:nvPr/>
        </p:nvSpPr>
        <p:spPr>
          <a:xfrm>
            <a:off x="8613648" y="4023360"/>
            <a:ext cx="3154680" cy="713232"/>
          </a:xfrm>
          <a:prstGeom prst="rect">
            <a:avLst/>
          </a:prstGeom>
          <a:noFill/>
          <a:ln/>
        </p:spPr>
        <p:txBody>
          <a:bodyPr wrap="square" lIns="0" tIns="0" rIns="0" bIns="0" rtlCol="0" anchor="ctr"/>
          <a:lstStyle/>
          <a:p>
            <a:pPr indent="0" marL="0">
              <a:buNone/>
            </a:pPr>
            <a:r>
              <a:rPr lang="en-US" sz="1000" dirty="0">
                <a:solidFill>
                  <a:srgbClr val="FFFFFF"/>
                </a:solidFill>
              </a:rPr>
              <a:t>Remediate &amp; Fix</a:t>
            </a:r>
            <a:endParaRPr lang="en-US" sz="1000" dirty="0"/>
          </a:p>
        </p:txBody>
      </p:sp>
      <p:sp>
        <p:nvSpPr>
          <p:cNvPr id="20" name="Shape 18"/>
          <p:cNvSpPr/>
          <p:nvPr/>
        </p:nvSpPr>
        <p:spPr>
          <a:xfrm>
            <a:off x="8138160" y="5029200"/>
            <a:ext cx="3749040" cy="822960"/>
          </a:xfrm>
          <a:prstGeom prst="rect">
            <a:avLst/>
          </a:prstGeom>
          <a:solidFill>
            <a:srgbClr val="FFFFFF">
              <a:alpha val="18000"/>
            </a:srgbClr>
          </a:solidFill>
          <a:ln/>
        </p:spPr>
      </p:sp>
      <p:sp>
        <p:nvSpPr>
          <p:cNvPr id="21" name="Text 19"/>
          <p:cNvSpPr/>
          <p:nvPr/>
        </p:nvSpPr>
        <p:spPr>
          <a:xfrm>
            <a:off x="8183880" y="5074920"/>
            <a:ext cx="384048" cy="713232"/>
          </a:xfrm>
          <a:prstGeom prst="rect">
            <a:avLst/>
          </a:prstGeom>
          <a:noFill/>
          <a:ln/>
        </p:spPr>
        <p:txBody>
          <a:bodyPr wrap="square" lIns="0" tIns="0" rIns="0" bIns="0" rtlCol="0" anchor="ctr"/>
          <a:lstStyle/>
          <a:p>
            <a:pPr algn="ctr" indent="0" marL="0">
              <a:buNone/>
            </a:pPr>
            <a:r>
              <a:rPr lang="en-US" sz="1800" b="1" dirty="0">
                <a:solidFill>
                  <a:srgbClr val="FFFFFF"/>
                </a:solidFill>
              </a:rPr>
              <a:t>5</a:t>
            </a:r>
            <a:endParaRPr lang="en-US" sz="1800" dirty="0"/>
          </a:p>
        </p:txBody>
      </p:sp>
      <p:sp>
        <p:nvSpPr>
          <p:cNvPr id="22" name="Text 20"/>
          <p:cNvSpPr/>
          <p:nvPr/>
        </p:nvSpPr>
        <p:spPr>
          <a:xfrm>
            <a:off x="8613648" y="5074920"/>
            <a:ext cx="3154680" cy="713232"/>
          </a:xfrm>
          <a:prstGeom prst="rect">
            <a:avLst/>
          </a:prstGeom>
          <a:noFill/>
          <a:ln/>
        </p:spPr>
        <p:txBody>
          <a:bodyPr wrap="square" lIns="0" tIns="0" rIns="0" bIns="0" rtlCol="0" anchor="ctr"/>
          <a:lstStyle/>
          <a:p>
            <a:pPr indent="0" marL="0">
              <a:buNone/>
            </a:pPr>
            <a:r>
              <a:rPr lang="en-US" sz="1000" dirty="0">
                <a:solidFill>
                  <a:srgbClr val="FFFFFF"/>
                </a:solidFill>
              </a:rPr>
              <a:t>Test, Cut-Over &amp; Go-Live</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8FAFD"/>
        </a:solidFill>
      </p:bgPr>
    </p:bg>
    <p:spTree>
      <p:nvGrpSpPr>
        <p:cNvPr id="1" name=""/>
        <p:cNvGrpSpPr/>
        <p:nvPr/>
      </p:nvGrpSpPr>
      <p:grpSpPr>
        <a:xfrm>
          <a:off x="0" y="0"/>
          <a:ext cx="0" cy="0"/>
          <a:chOff x="0" y="0"/>
          <a:chExt cx="0" cy="0"/>
        </a:xfrm>
      </p:grpSpPr>
      <p:sp>
        <p:nvSpPr>
          <p:cNvPr id="2" name="Shape 0"/>
          <p:cNvSpPr/>
          <p:nvPr/>
        </p:nvSpPr>
        <p:spPr>
          <a:xfrm>
            <a:off x="0" y="0"/>
            <a:ext cx="12161520" cy="749808"/>
          </a:xfrm>
          <a:prstGeom prst="rect">
            <a:avLst/>
          </a:prstGeom>
          <a:solidFill>
            <a:srgbClr val="0D1B2A"/>
          </a:solidFill>
          <a:ln/>
        </p:spPr>
      </p:sp>
      <p:sp>
        <p:nvSpPr>
          <p:cNvPr id="3" name="Shape 1"/>
          <p:cNvSpPr/>
          <p:nvPr/>
        </p:nvSpPr>
        <p:spPr>
          <a:xfrm>
            <a:off x="0" y="0"/>
            <a:ext cx="274320" cy="749808"/>
          </a:xfrm>
          <a:prstGeom prst="rect">
            <a:avLst/>
          </a:prstGeom>
          <a:solidFill>
            <a:srgbClr val="1565C0"/>
          </a:solidFill>
          <a:ln/>
        </p:spPr>
      </p:sp>
      <p:sp>
        <p:nvSpPr>
          <p:cNvPr id="4" name="Shape 2"/>
          <p:cNvSpPr/>
          <p:nvPr/>
        </p:nvSpPr>
        <p:spPr>
          <a:xfrm>
            <a:off x="457200" y="109728"/>
            <a:ext cx="530352" cy="530352"/>
          </a:xfrm>
          <a:prstGeom prst="rect">
            <a:avLst/>
          </a:prstGeom>
          <a:solidFill>
            <a:srgbClr val="1565C0"/>
          </a:solidFill>
          <a:ln/>
        </p:spPr>
      </p:sp>
      <p:sp>
        <p:nvSpPr>
          <p:cNvPr id="5" name="Text 3"/>
          <p:cNvSpPr/>
          <p:nvPr/>
        </p:nvSpPr>
        <p:spPr>
          <a:xfrm>
            <a:off x="457200" y="109728"/>
            <a:ext cx="530352" cy="530352"/>
          </a:xfrm>
          <a:prstGeom prst="rect">
            <a:avLst/>
          </a:prstGeom>
          <a:noFill/>
          <a:ln/>
        </p:spPr>
        <p:txBody>
          <a:bodyPr wrap="square" lIns="0" tIns="0" rIns="0" bIns="0" rtlCol="0" anchor="ctr"/>
          <a:lstStyle/>
          <a:p>
            <a:pPr algn="ctr" indent="0" marL="0">
              <a:buNone/>
            </a:pPr>
            <a:r>
              <a:rPr lang="en-US" sz="2000" b="1" dirty="0">
                <a:solidFill>
                  <a:srgbClr val="FFFFFF"/>
                </a:solidFill>
              </a:rPr>
              <a:t>1</a:t>
            </a:r>
            <a:endParaRPr lang="en-US" sz="2000" dirty="0"/>
          </a:p>
        </p:txBody>
      </p:sp>
      <p:sp>
        <p:nvSpPr>
          <p:cNvPr id="6" name="Text 4"/>
          <p:cNvSpPr/>
          <p:nvPr/>
        </p:nvSpPr>
        <p:spPr>
          <a:xfrm>
            <a:off x="1115568" y="0"/>
            <a:ext cx="10058400" cy="749808"/>
          </a:xfrm>
          <a:prstGeom prst="rect">
            <a:avLst/>
          </a:prstGeom>
          <a:noFill/>
          <a:ln/>
        </p:spPr>
        <p:txBody>
          <a:bodyPr wrap="square" lIns="0" tIns="0" rIns="0" bIns="0" rtlCol="0" anchor="ctr"/>
          <a:lstStyle/>
          <a:p>
            <a:pPr indent="0" marL="0">
              <a:buNone/>
            </a:pPr>
            <a:r>
              <a:rPr lang="en-US" sz="1400" b="1" spc="80" kern="0" dirty="0">
                <a:solidFill>
                  <a:srgbClr val="FFFFFF"/>
                </a:solidFill>
              </a:rPr>
              <a:t>PART 2  |  STEP 1: DISCOVER &amp; ASSESS</a:t>
            </a:r>
            <a:endParaRPr lang="en-US" sz="1400" dirty="0"/>
          </a:p>
        </p:txBody>
      </p:sp>
      <p:sp>
        <p:nvSpPr>
          <p:cNvPr id="7" name="Shape 5"/>
          <p:cNvSpPr/>
          <p:nvPr/>
        </p:nvSpPr>
        <p:spPr>
          <a:xfrm>
            <a:off x="10607040" y="164592"/>
            <a:ext cx="1417320" cy="420624"/>
          </a:xfrm>
          <a:prstGeom prst="rect">
            <a:avLst/>
          </a:prstGeom>
          <a:solidFill>
            <a:srgbClr val="1565C0"/>
          </a:solidFill>
          <a:ln/>
        </p:spPr>
      </p:sp>
      <p:sp>
        <p:nvSpPr>
          <p:cNvPr id="8" name="Text 6"/>
          <p:cNvSpPr/>
          <p:nvPr/>
        </p:nvSpPr>
        <p:spPr>
          <a:xfrm>
            <a:off x="10607040" y="164592"/>
            <a:ext cx="1417320" cy="420624"/>
          </a:xfrm>
          <a:prstGeom prst="rect">
            <a:avLst/>
          </a:prstGeom>
          <a:noFill/>
          <a:ln/>
        </p:spPr>
        <p:txBody>
          <a:bodyPr wrap="square" lIns="0" tIns="0" rIns="0" bIns="0" rtlCol="0" anchor="ctr"/>
          <a:lstStyle/>
          <a:p>
            <a:pPr algn="ctr" indent="0" marL="0">
              <a:buNone/>
            </a:pPr>
            <a:r>
              <a:rPr lang="en-US" sz="900" b="1" dirty="0">
                <a:solidFill>
                  <a:srgbClr val="FFFFFF"/>
                </a:solidFill>
              </a:rPr>
              <a:t>~ 4–8 Weeks</a:t>
            </a:r>
            <a:endParaRPr lang="en-US" sz="900" dirty="0"/>
          </a:p>
        </p:txBody>
      </p:sp>
      <p:sp>
        <p:nvSpPr>
          <p:cNvPr id="9" name="Shape 7"/>
          <p:cNvSpPr/>
          <p:nvPr/>
        </p:nvSpPr>
        <p:spPr>
          <a:xfrm>
            <a:off x="228600" y="841248"/>
            <a:ext cx="11704320" cy="868680"/>
          </a:xfrm>
          <a:prstGeom prst="rect">
            <a:avLst/>
          </a:prstGeom>
          <a:solidFill>
            <a:srgbClr val="E3F2FD"/>
          </a:solidFill>
          <a:ln/>
        </p:spPr>
      </p:sp>
      <p:sp>
        <p:nvSpPr>
          <p:cNvPr id="10" name="Shape 8"/>
          <p:cNvSpPr/>
          <p:nvPr/>
        </p:nvSpPr>
        <p:spPr>
          <a:xfrm>
            <a:off x="228600" y="841248"/>
            <a:ext cx="64008" cy="868680"/>
          </a:xfrm>
          <a:prstGeom prst="rect">
            <a:avLst/>
          </a:prstGeom>
          <a:solidFill>
            <a:srgbClr val="1565C0"/>
          </a:solidFill>
          <a:ln/>
        </p:spPr>
      </p:sp>
      <p:sp>
        <p:nvSpPr>
          <p:cNvPr id="11" name="Text 9"/>
          <p:cNvSpPr/>
          <p:nvPr/>
        </p:nvSpPr>
        <p:spPr>
          <a:xfrm>
            <a:off x="411480" y="859536"/>
            <a:ext cx="11338560" cy="256032"/>
          </a:xfrm>
          <a:prstGeom prst="rect">
            <a:avLst/>
          </a:prstGeom>
          <a:noFill/>
          <a:ln/>
        </p:spPr>
        <p:txBody>
          <a:bodyPr wrap="square" lIns="0" tIns="0" rIns="0" bIns="0" rtlCol="0" anchor="ctr"/>
          <a:lstStyle/>
          <a:p>
            <a:pPr indent="0" marL="0">
              <a:buNone/>
            </a:pPr>
            <a:r>
              <a:rPr lang="en-US" sz="1100" b="1" dirty="0">
                <a:solidFill>
                  <a:srgbClr val="1565C0"/>
                </a:solidFill>
              </a:rPr>
              <a:t>Before a single line of code is moved — we must understand exactly what the customer has today.</a:t>
            </a:r>
            <a:endParaRPr lang="en-US" sz="1100" dirty="0"/>
          </a:p>
        </p:txBody>
      </p:sp>
      <p:sp>
        <p:nvSpPr>
          <p:cNvPr id="12" name="Text 10"/>
          <p:cNvSpPr/>
          <p:nvPr/>
        </p:nvSpPr>
        <p:spPr>
          <a:xfrm>
            <a:off x="411480" y="1124712"/>
            <a:ext cx="11338560" cy="521208"/>
          </a:xfrm>
          <a:prstGeom prst="rect">
            <a:avLst/>
          </a:prstGeom>
          <a:noFill/>
          <a:ln/>
        </p:spPr>
        <p:txBody>
          <a:bodyPr wrap="square" lIns="0" tIns="0" rIns="0" bIns="0" rtlCol="0" anchor="ctr"/>
          <a:lstStyle/>
          <a:p>
            <a:pPr indent="0" marL="0">
              <a:buNone/>
            </a:pPr>
            <a:r>
              <a:rPr lang="en-US" sz="920" dirty="0">
                <a:solidFill>
                  <a:srgbClr val="263238"/>
                </a:solidFill>
              </a:rPr>
              <a:t>This is the diagnostic phase. Just as a doctor runs tests before surgery, your team and SAP's tools scan the customer's entire existing SAP landscape to understand its size, complexity, and readiness for migration. Nothing is changed in the live system — this is a read-only exercise. The outputs of this step determine the timeline, cost, risk, and migration approach.</a:t>
            </a:r>
            <a:endParaRPr lang="en-US" sz="920" dirty="0"/>
          </a:p>
        </p:txBody>
      </p:sp>
      <p:sp>
        <p:nvSpPr>
          <p:cNvPr id="13" name="Shape 11"/>
          <p:cNvSpPr/>
          <p:nvPr/>
        </p:nvSpPr>
        <p:spPr>
          <a:xfrm>
            <a:off x="228600" y="1810512"/>
            <a:ext cx="5623560" cy="365760"/>
          </a:xfrm>
          <a:prstGeom prst="rect">
            <a:avLst/>
          </a:prstGeom>
          <a:solidFill>
            <a:srgbClr val="1565C0"/>
          </a:solidFill>
          <a:ln/>
        </p:spPr>
      </p:sp>
      <p:sp>
        <p:nvSpPr>
          <p:cNvPr id="14" name="Text 12"/>
          <p:cNvSpPr/>
          <p:nvPr/>
        </p:nvSpPr>
        <p:spPr>
          <a:xfrm>
            <a:off x="320040" y="1810512"/>
            <a:ext cx="5440680" cy="365760"/>
          </a:xfrm>
          <a:prstGeom prst="rect">
            <a:avLst/>
          </a:prstGeom>
          <a:noFill/>
          <a:ln/>
        </p:spPr>
        <p:txBody>
          <a:bodyPr wrap="square" lIns="0" tIns="0" rIns="0" bIns="0" rtlCol="0" anchor="ctr"/>
          <a:lstStyle/>
          <a:p>
            <a:pPr indent="0" marL="0">
              <a:buNone/>
            </a:pPr>
            <a:r>
              <a:rPr lang="en-US" sz="950" b="1" dirty="0">
                <a:solidFill>
                  <a:srgbClr val="FFFFFF"/>
                </a:solidFill>
              </a:rPr>
              <a:t>SAP'S ROLE — What SAP Does &amp; How</a:t>
            </a:r>
            <a:endParaRPr lang="en-US" sz="950" dirty="0"/>
          </a:p>
        </p:txBody>
      </p:sp>
      <p:sp>
        <p:nvSpPr>
          <p:cNvPr id="15" name="Shape 13"/>
          <p:cNvSpPr/>
          <p:nvPr/>
        </p:nvSpPr>
        <p:spPr>
          <a:xfrm>
            <a:off x="228600" y="2231136"/>
            <a:ext cx="5623560" cy="841248"/>
          </a:xfrm>
          <a:prstGeom prst="rect">
            <a:avLst/>
          </a:prstGeom>
          <a:solidFill>
            <a:srgbClr val="FFFFFF"/>
          </a:solidFill>
          <a:ln/>
          <a:effectLst>
            <a:outerShdw sx="100000" sy="100000" kx="0" ky="0" algn="bl" rotWithShape="0" blurRad="88900" dist="25400" dir="8100000">
              <a:srgbClr val="000000">
                <a:alpha val="9000"/>
              </a:srgbClr>
            </a:outerShdw>
          </a:effectLst>
        </p:spPr>
      </p:sp>
      <p:sp>
        <p:nvSpPr>
          <p:cNvPr id="16" name="Shape 14"/>
          <p:cNvSpPr/>
          <p:nvPr/>
        </p:nvSpPr>
        <p:spPr>
          <a:xfrm>
            <a:off x="228600" y="2231136"/>
            <a:ext cx="54864" cy="841248"/>
          </a:xfrm>
          <a:prstGeom prst="rect">
            <a:avLst/>
          </a:prstGeom>
          <a:solidFill>
            <a:srgbClr val="1565C0"/>
          </a:solidFill>
          <a:ln/>
        </p:spPr>
      </p:sp>
      <p:sp>
        <p:nvSpPr>
          <p:cNvPr id="17" name="Text 15"/>
          <p:cNvSpPr/>
          <p:nvPr/>
        </p:nvSpPr>
        <p:spPr>
          <a:xfrm>
            <a:off x="347472" y="2286000"/>
            <a:ext cx="5349240" cy="237744"/>
          </a:xfrm>
          <a:prstGeom prst="rect">
            <a:avLst/>
          </a:prstGeom>
          <a:noFill/>
          <a:ln/>
        </p:spPr>
        <p:txBody>
          <a:bodyPr wrap="square" lIns="0" tIns="0" rIns="0" bIns="0" rtlCol="0" anchor="ctr"/>
          <a:lstStyle/>
          <a:p>
            <a:pPr indent="0" marL="0">
              <a:buNone/>
            </a:pPr>
            <a:r>
              <a:rPr lang="en-US" sz="920" b="1" dirty="0">
                <a:solidFill>
                  <a:srgbClr val="1565C0"/>
                </a:solidFill>
              </a:rPr>
              <a:t>Provides the SAP Readiness Check Tool (Free, Automated)</a:t>
            </a:r>
            <a:endParaRPr lang="en-US" sz="920" dirty="0"/>
          </a:p>
        </p:txBody>
      </p:sp>
      <p:sp>
        <p:nvSpPr>
          <p:cNvPr id="18" name="Text 16"/>
          <p:cNvSpPr/>
          <p:nvPr/>
        </p:nvSpPr>
        <p:spPr>
          <a:xfrm>
            <a:off x="347472" y="2542032"/>
            <a:ext cx="5349240" cy="475488"/>
          </a:xfrm>
          <a:prstGeom prst="rect">
            <a:avLst/>
          </a:prstGeom>
          <a:noFill/>
          <a:ln/>
        </p:spPr>
        <p:txBody>
          <a:bodyPr wrap="square" lIns="0" tIns="0" rIns="0" bIns="0" rtlCol="0" anchor="ctr"/>
          <a:lstStyle/>
          <a:p>
            <a:pPr indent="0" marL="0">
              <a:buNone/>
            </a:pPr>
            <a:r>
              <a:rPr lang="en-US" sz="830" dirty="0">
                <a:solidFill>
                  <a:srgbClr val="37474F"/>
                </a:solidFill>
              </a:rPr>
              <a:t>SAP's tool connects to the existing ECC system and runs a full automated scan. It produces a detailed report showing: how big the database is (determines GCP server size), how many custom-built programs exist (determines remediation effort), and which standard SAP features changed in S/4HANA that will affect the customer (called 'simplification items').</a:t>
            </a:r>
            <a:endParaRPr lang="en-US" sz="830" dirty="0"/>
          </a:p>
        </p:txBody>
      </p:sp>
      <p:sp>
        <p:nvSpPr>
          <p:cNvPr id="19" name="Shape 17"/>
          <p:cNvSpPr/>
          <p:nvPr/>
        </p:nvSpPr>
        <p:spPr>
          <a:xfrm>
            <a:off x="228600" y="3145536"/>
            <a:ext cx="5623560" cy="841248"/>
          </a:xfrm>
          <a:prstGeom prst="rect">
            <a:avLst/>
          </a:prstGeom>
          <a:solidFill>
            <a:srgbClr val="E3F2FD"/>
          </a:solidFill>
          <a:ln/>
          <a:effectLst>
            <a:outerShdw sx="100000" sy="100000" kx="0" ky="0" algn="bl" rotWithShape="0" blurRad="88900" dist="25400" dir="8100000">
              <a:srgbClr val="000000">
                <a:alpha val="9000"/>
              </a:srgbClr>
            </a:outerShdw>
          </a:effectLst>
        </p:spPr>
      </p:sp>
      <p:sp>
        <p:nvSpPr>
          <p:cNvPr id="20" name="Shape 18"/>
          <p:cNvSpPr/>
          <p:nvPr/>
        </p:nvSpPr>
        <p:spPr>
          <a:xfrm>
            <a:off x="228600" y="3145536"/>
            <a:ext cx="54864" cy="841248"/>
          </a:xfrm>
          <a:prstGeom prst="rect">
            <a:avLst/>
          </a:prstGeom>
          <a:solidFill>
            <a:srgbClr val="1565C0"/>
          </a:solidFill>
          <a:ln/>
        </p:spPr>
      </p:sp>
      <p:sp>
        <p:nvSpPr>
          <p:cNvPr id="21" name="Text 19"/>
          <p:cNvSpPr/>
          <p:nvPr/>
        </p:nvSpPr>
        <p:spPr>
          <a:xfrm>
            <a:off x="347472" y="3200400"/>
            <a:ext cx="5349240" cy="237744"/>
          </a:xfrm>
          <a:prstGeom prst="rect">
            <a:avLst/>
          </a:prstGeom>
          <a:noFill/>
          <a:ln/>
        </p:spPr>
        <p:txBody>
          <a:bodyPr wrap="square" lIns="0" tIns="0" rIns="0" bIns="0" rtlCol="0" anchor="ctr"/>
          <a:lstStyle/>
          <a:p>
            <a:pPr indent="0" marL="0">
              <a:buNone/>
            </a:pPr>
            <a:r>
              <a:rPr lang="en-US" sz="920" b="1" dirty="0">
                <a:solidFill>
                  <a:srgbClr val="1565C0"/>
                </a:solidFill>
              </a:rPr>
              <a:t>Provides SAP Signavio — Process Mining Engine</a:t>
            </a:r>
            <a:endParaRPr lang="en-US" sz="920" dirty="0"/>
          </a:p>
        </p:txBody>
      </p:sp>
      <p:sp>
        <p:nvSpPr>
          <p:cNvPr id="22" name="Text 20"/>
          <p:cNvSpPr/>
          <p:nvPr/>
        </p:nvSpPr>
        <p:spPr>
          <a:xfrm>
            <a:off x="347472" y="3456432"/>
            <a:ext cx="5349240" cy="475488"/>
          </a:xfrm>
          <a:prstGeom prst="rect">
            <a:avLst/>
          </a:prstGeom>
          <a:noFill/>
          <a:ln/>
        </p:spPr>
        <p:txBody>
          <a:bodyPr wrap="square" lIns="0" tIns="0" rIns="0" bIns="0" rtlCol="0" anchor="ctr"/>
          <a:lstStyle/>
          <a:p>
            <a:pPr indent="0" marL="0">
              <a:buNone/>
            </a:pPr>
            <a:r>
              <a:rPr lang="en-US" sz="830" dirty="0">
                <a:solidFill>
                  <a:srgbClr val="37474F"/>
                </a:solidFill>
              </a:rPr>
              <a:t>SAP Signavio connects to the ECC transaction logs (the record of every action taken in the system) and automatically maps how business processes actually flow today — not just how they're documented on paper, which is usually different from reality. This exposes bottlenecks, manual workarounds, and inefficiencies before migration.</a:t>
            </a:r>
            <a:endParaRPr lang="en-US" sz="830" dirty="0"/>
          </a:p>
        </p:txBody>
      </p:sp>
      <p:sp>
        <p:nvSpPr>
          <p:cNvPr id="23" name="Shape 21"/>
          <p:cNvSpPr/>
          <p:nvPr/>
        </p:nvSpPr>
        <p:spPr>
          <a:xfrm>
            <a:off x="228600" y="4059936"/>
            <a:ext cx="5623560" cy="841248"/>
          </a:xfrm>
          <a:prstGeom prst="rect">
            <a:avLst/>
          </a:prstGeom>
          <a:solidFill>
            <a:srgbClr val="FFFFFF"/>
          </a:solidFill>
          <a:ln/>
          <a:effectLst>
            <a:outerShdw sx="100000" sy="100000" kx="0" ky="0" algn="bl" rotWithShape="0" blurRad="88900" dist="25400" dir="8100000">
              <a:srgbClr val="000000">
                <a:alpha val="9000"/>
              </a:srgbClr>
            </a:outerShdw>
          </a:effectLst>
        </p:spPr>
      </p:sp>
      <p:sp>
        <p:nvSpPr>
          <p:cNvPr id="24" name="Shape 22"/>
          <p:cNvSpPr/>
          <p:nvPr/>
        </p:nvSpPr>
        <p:spPr>
          <a:xfrm>
            <a:off x="228600" y="4059936"/>
            <a:ext cx="54864" cy="841248"/>
          </a:xfrm>
          <a:prstGeom prst="rect">
            <a:avLst/>
          </a:prstGeom>
          <a:solidFill>
            <a:srgbClr val="1565C0"/>
          </a:solidFill>
          <a:ln/>
        </p:spPr>
      </p:sp>
      <p:sp>
        <p:nvSpPr>
          <p:cNvPr id="25" name="Text 23"/>
          <p:cNvSpPr/>
          <p:nvPr/>
        </p:nvSpPr>
        <p:spPr>
          <a:xfrm>
            <a:off x="347472" y="4114800"/>
            <a:ext cx="5349240" cy="237744"/>
          </a:xfrm>
          <a:prstGeom prst="rect">
            <a:avLst/>
          </a:prstGeom>
          <a:noFill/>
          <a:ln/>
        </p:spPr>
        <p:txBody>
          <a:bodyPr wrap="square" lIns="0" tIns="0" rIns="0" bIns="0" rtlCol="0" anchor="ctr"/>
          <a:lstStyle/>
          <a:p>
            <a:pPr indent="0" marL="0">
              <a:buNone/>
            </a:pPr>
            <a:r>
              <a:rPr lang="en-US" sz="920" b="1" dirty="0">
                <a:solidFill>
                  <a:srgbClr val="1565C0"/>
                </a:solidFill>
              </a:rPr>
              <a:t>Provides SAP LeanIX — Landscape Mapping Tool</a:t>
            </a:r>
            <a:endParaRPr lang="en-US" sz="920" dirty="0"/>
          </a:p>
        </p:txBody>
      </p:sp>
      <p:sp>
        <p:nvSpPr>
          <p:cNvPr id="26" name="Text 24"/>
          <p:cNvSpPr/>
          <p:nvPr/>
        </p:nvSpPr>
        <p:spPr>
          <a:xfrm>
            <a:off x="347472" y="4370832"/>
            <a:ext cx="5349240" cy="475488"/>
          </a:xfrm>
          <a:prstGeom prst="rect">
            <a:avLst/>
          </a:prstGeom>
          <a:noFill/>
          <a:ln/>
        </p:spPr>
        <p:txBody>
          <a:bodyPr wrap="square" lIns="0" tIns="0" rIns="0" bIns="0" rtlCol="0" anchor="ctr"/>
          <a:lstStyle/>
          <a:p>
            <a:pPr indent="0" marL="0">
              <a:buNone/>
            </a:pPr>
            <a:r>
              <a:rPr lang="en-US" sz="830" dirty="0">
                <a:solidFill>
                  <a:srgbClr val="37474F"/>
                </a:solidFill>
              </a:rPr>
              <a:t>SAP LeanIX creates a visual map of the customer's entire IT landscape — every SAP system, every non-SAP system, and every connection between them. This is the dependency map that tells us what else breaks or needs updating when S/4HANA moves to GCP.</a:t>
            </a:r>
            <a:endParaRPr lang="en-US" sz="830" dirty="0"/>
          </a:p>
        </p:txBody>
      </p:sp>
      <p:sp>
        <p:nvSpPr>
          <p:cNvPr id="27" name="Shape 25"/>
          <p:cNvSpPr/>
          <p:nvPr/>
        </p:nvSpPr>
        <p:spPr>
          <a:xfrm>
            <a:off x="6309360" y="1810512"/>
            <a:ext cx="5623560" cy="365760"/>
          </a:xfrm>
          <a:prstGeom prst="rect">
            <a:avLst/>
          </a:prstGeom>
          <a:solidFill>
            <a:srgbClr val="00796B"/>
          </a:solidFill>
          <a:ln/>
        </p:spPr>
      </p:sp>
      <p:sp>
        <p:nvSpPr>
          <p:cNvPr id="28" name="Text 26"/>
          <p:cNvSpPr/>
          <p:nvPr/>
        </p:nvSpPr>
        <p:spPr>
          <a:xfrm>
            <a:off x="6400800" y="1810512"/>
            <a:ext cx="5440680" cy="365760"/>
          </a:xfrm>
          <a:prstGeom prst="rect">
            <a:avLst/>
          </a:prstGeom>
          <a:noFill/>
          <a:ln/>
        </p:spPr>
        <p:txBody>
          <a:bodyPr wrap="square" lIns="0" tIns="0" rIns="0" bIns="0" rtlCol="0" anchor="ctr"/>
          <a:lstStyle/>
          <a:p>
            <a:pPr indent="0" marL="0">
              <a:buNone/>
            </a:pPr>
            <a:r>
              <a:rPr lang="en-US" sz="950" b="1" dirty="0">
                <a:solidFill>
                  <a:srgbClr val="FFFFFF"/>
                </a:solidFill>
              </a:rPr>
              <a:t>YOUR TEAM'S ROLE — What the SI Partner Does</a:t>
            </a:r>
            <a:endParaRPr lang="en-US" sz="950" dirty="0"/>
          </a:p>
        </p:txBody>
      </p:sp>
      <p:sp>
        <p:nvSpPr>
          <p:cNvPr id="29" name="Shape 27"/>
          <p:cNvSpPr/>
          <p:nvPr/>
        </p:nvSpPr>
        <p:spPr>
          <a:xfrm>
            <a:off x="6309360" y="2231136"/>
            <a:ext cx="5623560" cy="841248"/>
          </a:xfrm>
          <a:prstGeom prst="rect">
            <a:avLst/>
          </a:prstGeom>
          <a:solidFill>
            <a:srgbClr val="FFFFFF"/>
          </a:solidFill>
          <a:ln/>
          <a:effectLst>
            <a:outerShdw sx="100000" sy="100000" kx="0" ky="0" algn="bl" rotWithShape="0" blurRad="88900" dist="25400" dir="8100000">
              <a:srgbClr val="000000">
                <a:alpha val="9000"/>
              </a:srgbClr>
            </a:outerShdw>
          </a:effectLst>
        </p:spPr>
      </p:sp>
      <p:sp>
        <p:nvSpPr>
          <p:cNvPr id="30" name="Shape 28"/>
          <p:cNvSpPr/>
          <p:nvPr/>
        </p:nvSpPr>
        <p:spPr>
          <a:xfrm>
            <a:off x="6309360" y="2231136"/>
            <a:ext cx="54864" cy="841248"/>
          </a:xfrm>
          <a:prstGeom prst="rect">
            <a:avLst/>
          </a:prstGeom>
          <a:solidFill>
            <a:srgbClr val="00796B"/>
          </a:solidFill>
          <a:ln/>
        </p:spPr>
      </p:sp>
      <p:sp>
        <p:nvSpPr>
          <p:cNvPr id="31" name="Text 29"/>
          <p:cNvSpPr/>
          <p:nvPr/>
        </p:nvSpPr>
        <p:spPr>
          <a:xfrm>
            <a:off x="6428232" y="2286000"/>
            <a:ext cx="5349240" cy="237744"/>
          </a:xfrm>
          <a:prstGeom prst="rect">
            <a:avLst/>
          </a:prstGeom>
          <a:noFill/>
          <a:ln/>
        </p:spPr>
        <p:txBody>
          <a:bodyPr wrap="square" lIns="0" tIns="0" rIns="0" bIns="0" rtlCol="0" anchor="ctr"/>
          <a:lstStyle/>
          <a:p>
            <a:pPr indent="0" marL="0">
              <a:buNone/>
            </a:pPr>
            <a:r>
              <a:rPr lang="en-US" sz="920" b="1" dirty="0">
                <a:solidFill>
                  <a:srgbClr val="00796B"/>
                </a:solidFill>
              </a:rPr>
              <a:t>Run &amp; Interpret the SAP Readiness Check Output</a:t>
            </a:r>
            <a:endParaRPr lang="en-US" sz="920" dirty="0"/>
          </a:p>
        </p:txBody>
      </p:sp>
      <p:sp>
        <p:nvSpPr>
          <p:cNvPr id="32" name="Text 30"/>
          <p:cNvSpPr/>
          <p:nvPr/>
        </p:nvSpPr>
        <p:spPr>
          <a:xfrm>
            <a:off x="6428232" y="2542032"/>
            <a:ext cx="5349240" cy="475488"/>
          </a:xfrm>
          <a:prstGeom prst="rect">
            <a:avLst/>
          </a:prstGeom>
          <a:noFill/>
          <a:ln/>
        </p:spPr>
        <p:txBody>
          <a:bodyPr wrap="square" lIns="0" tIns="0" rIns="0" bIns="0" rtlCol="0" anchor="ctr"/>
          <a:lstStyle/>
          <a:p>
            <a:pPr indent="0" marL="0">
              <a:buNone/>
            </a:pPr>
            <a:r>
              <a:rPr lang="en-US" sz="830" dirty="0">
                <a:solidFill>
                  <a:srgbClr val="37474F"/>
                </a:solidFill>
              </a:rPr>
              <a:t>Your consultants run the Readiness Check on the customer's live ECC system, then analyse its output — translating the traffic-light report into a business case: 'You have 2,400 custom programs; approximately 800 need remediation; this adds 14 weeks to the project timeline and $X to the budget.'</a:t>
            </a:r>
            <a:endParaRPr lang="en-US" sz="830" dirty="0"/>
          </a:p>
        </p:txBody>
      </p:sp>
      <p:sp>
        <p:nvSpPr>
          <p:cNvPr id="33" name="Shape 31"/>
          <p:cNvSpPr/>
          <p:nvPr/>
        </p:nvSpPr>
        <p:spPr>
          <a:xfrm>
            <a:off x="6309360" y="3145536"/>
            <a:ext cx="5623560" cy="841248"/>
          </a:xfrm>
          <a:prstGeom prst="rect">
            <a:avLst/>
          </a:prstGeom>
          <a:solidFill>
            <a:srgbClr val="E0F2F1"/>
          </a:solidFill>
          <a:ln/>
          <a:effectLst>
            <a:outerShdw sx="100000" sy="100000" kx="0" ky="0" algn="bl" rotWithShape="0" blurRad="88900" dist="25400" dir="8100000">
              <a:srgbClr val="000000">
                <a:alpha val="9000"/>
              </a:srgbClr>
            </a:outerShdw>
          </a:effectLst>
        </p:spPr>
      </p:sp>
      <p:sp>
        <p:nvSpPr>
          <p:cNvPr id="34" name="Shape 32"/>
          <p:cNvSpPr/>
          <p:nvPr/>
        </p:nvSpPr>
        <p:spPr>
          <a:xfrm>
            <a:off x="6309360" y="3145536"/>
            <a:ext cx="54864" cy="841248"/>
          </a:xfrm>
          <a:prstGeom prst="rect">
            <a:avLst/>
          </a:prstGeom>
          <a:solidFill>
            <a:srgbClr val="00796B"/>
          </a:solidFill>
          <a:ln/>
        </p:spPr>
      </p:sp>
      <p:sp>
        <p:nvSpPr>
          <p:cNvPr id="35" name="Text 33"/>
          <p:cNvSpPr/>
          <p:nvPr/>
        </p:nvSpPr>
        <p:spPr>
          <a:xfrm>
            <a:off x="6428232" y="3200400"/>
            <a:ext cx="5349240" cy="237744"/>
          </a:xfrm>
          <a:prstGeom prst="rect">
            <a:avLst/>
          </a:prstGeom>
          <a:noFill/>
          <a:ln/>
        </p:spPr>
        <p:txBody>
          <a:bodyPr wrap="square" lIns="0" tIns="0" rIns="0" bIns="0" rtlCol="0" anchor="ctr"/>
          <a:lstStyle/>
          <a:p>
            <a:pPr indent="0" marL="0">
              <a:buNone/>
            </a:pPr>
            <a:r>
              <a:rPr lang="en-US" sz="920" b="1" dirty="0">
                <a:solidFill>
                  <a:srgbClr val="00796B"/>
                </a:solidFill>
              </a:rPr>
              <a:t>Conduct Fit-Gap Workshops with Business Stakeholders</a:t>
            </a:r>
            <a:endParaRPr lang="en-US" sz="920" dirty="0"/>
          </a:p>
        </p:txBody>
      </p:sp>
      <p:sp>
        <p:nvSpPr>
          <p:cNvPr id="36" name="Text 34"/>
          <p:cNvSpPr/>
          <p:nvPr/>
        </p:nvSpPr>
        <p:spPr>
          <a:xfrm>
            <a:off x="6428232" y="3456432"/>
            <a:ext cx="5349240" cy="475488"/>
          </a:xfrm>
          <a:prstGeom prst="rect">
            <a:avLst/>
          </a:prstGeom>
          <a:noFill/>
          <a:ln/>
        </p:spPr>
        <p:txBody>
          <a:bodyPr wrap="square" lIns="0" tIns="0" rIns="0" bIns="0" rtlCol="0" anchor="ctr"/>
          <a:lstStyle/>
          <a:p>
            <a:pPr indent="0" marL="0">
              <a:buNone/>
            </a:pPr>
            <a:r>
              <a:rPr lang="en-US" sz="830" dirty="0">
                <a:solidFill>
                  <a:srgbClr val="37474F"/>
                </a:solidFill>
              </a:rPr>
              <a:t>Your team runs structured workshops with each business department — Finance, Procurement, HR, Operations — mapping their current ECC processes against what S/4HANA offers as standard. Every gap (where SAP standard doesn't cover what the customer needs) is recorded. Each gap = either a configuration task or a custom development task.</a:t>
            </a:r>
            <a:endParaRPr lang="en-US" sz="830" dirty="0"/>
          </a:p>
        </p:txBody>
      </p:sp>
      <p:sp>
        <p:nvSpPr>
          <p:cNvPr id="37" name="Shape 35"/>
          <p:cNvSpPr/>
          <p:nvPr/>
        </p:nvSpPr>
        <p:spPr>
          <a:xfrm>
            <a:off x="6309360" y="4059936"/>
            <a:ext cx="5623560" cy="841248"/>
          </a:xfrm>
          <a:prstGeom prst="rect">
            <a:avLst/>
          </a:prstGeom>
          <a:solidFill>
            <a:srgbClr val="FFFFFF"/>
          </a:solidFill>
          <a:ln/>
          <a:effectLst>
            <a:outerShdw sx="100000" sy="100000" kx="0" ky="0" algn="bl" rotWithShape="0" blurRad="88900" dist="25400" dir="8100000">
              <a:srgbClr val="000000">
                <a:alpha val="9000"/>
              </a:srgbClr>
            </a:outerShdw>
          </a:effectLst>
        </p:spPr>
      </p:sp>
      <p:sp>
        <p:nvSpPr>
          <p:cNvPr id="38" name="Shape 36"/>
          <p:cNvSpPr/>
          <p:nvPr/>
        </p:nvSpPr>
        <p:spPr>
          <a:xfrm>
            <a:off x="6309360" y="4059936"/>
            <a:ext cx="54864" cy="841248"/>
          </a:xfrm>
          <a:prstGeom prst="rect">
            <a:avLst/>
          </a:prstGeom>
          <a:solidFill>
            <a:srgbClr val="00796B"/>
          </a:solidFill>
          <a:ln/>
        </p:spPr>
      </p:sp>
      <p:sp>
        <p:nvSpPr>
          <p:cNvPr id="39" name="Text 37"/>
          <p:cNvSpPr/>
          <p:nvPr/>
        </p:nvSpPr>
        <p:spPr>
          <a:xfrm>
            <a:off x="6428232" y="4114800"/>
            <a:ext cx="5349240" cy="237744"/>
          </a:xfrm>
          <a:prstGeom prst="rect">
            <a:avLst/>
          </a:prstGeom>
          <a:noFill/>
          <a:ln/>
        </p:spPr>
        <p:txBody>
          <a:bodyPr wrap="square" lIns="0" tIns="0" rIns="0" bIns="0" rtlCol="0" anchor="ctr"/>
          <a:lstStyle/>
          <a:p>
            <a:pPr indent="0" marL="0">
              <a:buNone/>
            </a:pPr>
            <a:r>
              <a:rPr lang="en-US" sz="920" b="1" dirty="0">
                <a:solidFill>
                  <a:srgbClr val="00796B"/>
                </a:solidFill>
              </a:rPr>
              <a:t>Produce the Migration Business Case &amp; Project Blueprint</a:t>
            </a:r>
            <a:endParaRPr lang="en-US" sz="920" dirty="0"/>
          </a:p>
        </p:txBody>
      </p:sp>
      <p:sp>
        <p:nvSpPr>
          <p:cNvPr id="40" name="Text 38"/>
          <p:cNvSpPr/>
          <p:nvPr/>
        </p:nvSpPr>
        <p:spPr>
          <a:xfrm>
            <a:off x="6428232" y="4370832"/>
            <a:ext cx="5349240" cy="475488"/>
          </a:xfrm>
          <a:prstGeom prst="rect">
            <a:avLst/>
          </a:prstGeom>
          <a:noFill/>
          <a:ln/>
        </p:spPr>
        <p:txBody>
          <a:bodyPr wrap="square" lIns="0" tIns="0" rIns="0" bIns="0" rtlCol="0" anchor="ctr"/>
          <a:lstStyle/>
          <a:p>
            <a:pPr indent="0" marL="0">
              <a:buNone/>
            </a:pPr>
            <a:r>
              <a:rPr lang="en-US" sz="830" dirty="0">
                <a:solidFill>
                  <a:srgbClr val="37474F"/>
                </a:solidFill>
              </a:rPr>
              <a:t>Your team consolidates all findings into a formal document: the Migration Assessment Report. This includes recommended migration approach (Brownfield confirmed or not), system sizing, effort estimate in weeks and consultant-days, risk register, and the high-level project plan. This is what the customer's board approves before the project begins.</a:t>
            </a:r>
            <a:endParaRPr lang="en-US" sz="830" dirty="0"/>
          </a:p>
        </p:txBody>
      </p:sp>
      <p:sp>
        <p:nvSpPr>
          <p:cNvPr id="41" name="Shape 39"/>
          <p:cNvSpPr/>
          <p:nvPr/>
        </p:nvSpPr>
        <p:spPr>
          <a:xfrm>
            <a:off x="228600" y="6446520"/>
            <a:ext cx="11704320" cy="329184"/>
          </a:xfrm>
          <a:prstGeom prst="rect">
            <a:avLst/>
          </a:prstGeom>
          <a:solidFill>
            <a:srgbClr val="F1F5F9"/>
          </a:solidFill>
          <a:ln/>
        </p:spPr>
      </p:sp>
      <p:sp>
        <p:nvSpPr>
          <p:cNvPr id="42" name="Text 40"/>
          <p:cNvSpPr/>
          <p:nvPr/>
        </p:nvSpPr>
        <p:spPr>
          <a:xfrm>
            <a:off x="365760" y="6473952"/>
            <a:ext cx="2011680" cy="274320"/>
          </a:xfrm>
          <a:prstGeom prst="rect">
            <a:avLst/>
          </a:prstGeom>
          <a:noFill/>
          <a:ln/>
        </p:spPr>
        <p:txBody>
          <a:bodyPr wrap="square" lIns="0" tIns="0" rIns="0" bIns="0" rtlCol="0" anchor="ctr"/>
          <a:lstStyle/>
          <a:p>
            <a:pPr indent="0" marL="0">
              <a:buNone/>
            </a:pPr>
            <a:r>
              <a:rPr lang="en-US" sz="750" b="1" dirty="0">
                <a:solidFill>
                  <a:srgbClr val="37474F"/>
                </a:solidFill>
              </a:rPr>
              <a:t>KEY TOOLS USED IN THIS STEP:</a:t>
            </a:r>
            <a:endParaRPr lang="en-US" sz="750" dirty="0"/>
          </a:p>
        </p:txBody>
      </p:sp>
      <p:sp>
        <p:nvSpPr>
          <p:cNvPr id="43" name="Text 41"/>
          <p:cNvSpPr/>
          <p:nvPr/>
        </p:nvSpPr>
        <p:spPr>
          <a:xfrm>
            <a:off x="2423160" y="6473952"/>
            <a:ext cx="9326880" cy="274320"/>
          </a:xfrm>
          <a:prstGeom prst="rect">
            <a:avLst/>
          </a:prstGeom>
          <a:noFill/>
          <a:ln/>
        </p:spPr>
        <p:txBody>
          <a:bodyPr wrap="square" lIns="0" tIns="0" rIns="0" bIns="0" rtlCol="0" anchor="ctr"/>
          <a:lstStyle/>
          <a:p>
            <a:pPr indent="0" marL="0">
              <a:buNone/>
            </a:pPr>
            <a:r>
              <a:rPr lang="en-US" sz="780" dirty="0">
                <a:solidFill>
                  <a:srgbClr val="37474F"/>
                </a:solidFill>
              </a:rPr>
              <a:t>SAP Readiness Check  ·  SAP Signavio Process Manager  ·  SAP LeanIX  ·  ABAP Test Cockpit (ATC)  ·  Custom Code Migration Worklist  ·  Fit-Gap Workshop templates</a:t>
            </a:r>
            <a:endParaRPr lang="en-US" sz="78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8FAFD"/>
        </a:solidFill>
      </p:bgPr>
    </p:bg>
    <p:spTree>
      <p:nvGrpSpPr>
        <p:cNvPr id="1" name=""/>
        <p:cNvGrpSpPr/>
        <p:nvPr/>
      </p:nvGrpSpPr>
      <p:grpSpPr>
        <a:xfrm>
          <a:off x="0" y="0"/>
          <a:ext cx="0" cy="0"/>
          <a:chOff x="0" y="0"/>
          <a:chExt cx="0" cy="0"/>
        </a:xfrm>
      </p:grpSpPr>
      <p:sp>
        <p:nvSpPr>
          <p:cNvPr id="2" name="Shape 0"/>
          <p:cNvSpPr/>
          <p:nvPr/>
        </p:nvSpPr>
        <p:spPr>
          <a:xfrm>
            <a:off x="0" y="0"/>
            <a:ext cx="12161520" cy="749808"/>
          </a:xfrm>
          <a:prstGeom prst="rect">
            <a:avLst/>
          </a:prstGeom>
          <a:solidFill>
            <a:srgbClr val="0D1B2A"/>
          </a:solidFill>
          <a:ln/>
        </p:spPr>
      </p:sp>
      <p:sp>
        <p:nvSpPr>
          <p:cNvPr id="3" name="Shape 1"/>
          <p:cNvSpPr/>
          <p:nvPr/>
        </p:nvSpPr>
        <p:spPr>
          <a:xfrm>
            <a:off x="0" y="0"/>
            <a:ext cx="274320" cy="749808"/>
          </a:xfrm>
          <a:prstGeom prst="rect">
            <a:avLst/>
          </a:prstGeom>
          <a:solidFill>
            <a:srgbClr val="00796B"/>
          </a:solidFill>
          <a:ln/>
        </p:spPr>
      </p:sp>
      <p:sp>
        <p:nvSpPr>
          <p:cNvPr id="4" name="Shape 2"/>
          <p:cNvSpPr/>
          <p:nvPr/>
        </p:nvSpPr>
        <p:spPr>
          <a:xfrm>
            <a:off x="457200" y="109728"/>
            <a:ext cx="530352" cy="530352"/>
          </a:xfrm>
          <a:prstGeom prst="rect">
            <a:avLst/>
          </a:prstGeom>
          <a:solidFill>
            <a:srgbClr val="00796B"/>
          </a:solidFill>
          <a:ln/>
        </p:spPr>
      </p:sp>
      <p:sp>
        <p:nvSpPr>
          <p:cNvPr id="5" name="Text 3"/>
          <p:cNvSpPr/>
          <p:nvPr/>
        </p:nvSpPr>
        <p:spPr>
          <a:xfrm>
            <a:off x="457200" y="109728"/>
            <a:ext cx="530352" cy="530352"/>
          </a:xfrm>
          <a:prstGeom prst="rect">
            <a:avLst/>
          </a:prstGeom>
          <a:noFill/>
          <a:ln/>
        </p:spPr>
        <p:txBody>
          <a:bodyPr wrap="square" lIns="0" tIns="0" rIns="0" bIns="0" rtlCol="0" anchor="ctr"/>
          <a:lstStyle/>
          <a:p>
            <a:pPr algn="ctr" indent="0" marL="0">
              <a:buNone/>
            </a:pPr>
            <a:r>
              <a:rPr lang="en-US" sz="2000" b="1" dirty="0">
                <a:solidFill>
                  <a:srgbClr val="FFFFFF"/>
                </a:solidFill>
              </a:rPr>
              <a:t>2</a:t>
            </a:r>
            <a:endParaRPr lang="en-US" sz="2000" dirty="0"/>
          </a:p>
        </p:txBody>
      </p:sp>
      <p:sp>
        <p:nvSpPr>
          <p:cNvPr id="6" name="Text 4"/>
          <p:cNvSpPr/>
          <p:nvPr/>
        </p:nvSpPr>
        <p:spPr>
          <a:xfrm>
            <a:off x="1115568" y="0"/>
            <a:ext cx="10058400" cy="749808"/>
          </a:xfrm>
          <a:prstGeom prst="rect">
            <a:avLst/>
          </a:prstGeom>
          <a:noFill/>
          <a:ln/>
        </p:spPr>
        <p:txBody>
          <a:bodyPr wrap="square" lIns="0" tIns="0" rIns="0" bIns="0" rtlCol="0" anchor="ctr"/>
          <a:lstStyle/>
          <a:p>
            <a:pPr indent="0" marL="0">
              <a:buNone/>
            </a:pPr>
            <a:r>
              <a:rPr lang="en-US" sz="1400" b="1" spc="80" kern="0" dirty="0">
                <a:solidFill>
                  <a:srgbClr val="FFFFFF"/>
                </a:solidFill>
              </a:rPr>
              <a:t>PART 2  |  STEP 2: PROVISION &amp; PREPARE</a:t>
            </a:r>
            <a:endParaRPr lang="en-US" sz="1400" dirty="0"/>
          </a:p>
        </p:txBody>
      </p:sp>
      <p:sp>
        <p:nvSpPr>
          <p:cNvPr id="7" name="Shape 5"/>
          <p:cNvSpPr/>
          <p:nvPr/>
        </p:nvSpPr>
        <p:spPr>
          <a:xfrm>
            <a:off x="10607040" y="164592"/>
            <a:ext cx="1417320" cy="420624"/>
          </a:xfrm>
          <a:prstGeom prst="rect">
            <a:avLst/>
          </a:prstGeom>
          <a:solidFill>
            <a:srgbClr val="00796B"/>
          </a:solidFill>
          <a:ln/>
        </p:spPr>
      </p:sp>
      <p:sp>
        <p:nvSpPr>
          <p:cNvPr id="8" name="Text 6"/>
          <p:cNvSpPr/>
          <p:nvPr/>
        </p:nvSpPr>
        <p:spPr>
          <a:xfrm>
            <a:off x="10607040" y="164592"/>
            <a:ext cx="1417320" cy="420624"/>
          </a:xfrm>
          <a:prstGeom prst="rect">
            <a:avLst/>
          </a:prstGeom>
          <a:noFill/>
          <a:ln/>
        </p:spPr>
        <p:txBody>
          <a:bodyPr wrap="square" lIns="0" tIns="0" rIns="0" bIns="0" rtlCol="0" anchor="ctr"/>
          <a:lstStyle/>
          <a:p>
            <a:pPr algn="ctr" indent="0" marL="0">
              <a:buNone/>
            </a:pPr>
            <a:r>
              <a:rPr lang="en-US" sz="900" b="1" dirty="0">
                <a:solidFill>
                  <a:srgbClr val="FFFFFF"/>
                </a:solidFill>
              </a:rPr>
              <a:t>~ 4–8 Weeks</a:t>
            </a:r>
            <a:endParaRPr lang="en-US" sz="900" dirty="0"/>
          </a:p>
        </p:txBody>
      </p:sp>
      <p:sp>
        <p:nvSpPr>
          <p:cNvPr id="9" name="Shape 7"/>
          <p:cNvSpPr/>
          <p:nvPr/>
        </p:nvSpPr>
        <p:spPr>
          <a:xfrm>
            <a:off x="228600" y="841248"/>
            <a:ext cx="11704320" cy="868680"/>
          </a:xfrm>
          <a:prstGeom prst="rect">
            <a:avLst/>
          </a:prstGeom>
          <a:solidFill>
            <a:srgbClr val="E0F2F1"/>
          </a:solidFill>
          <a:ln/>
        </p:spPr>
      </p:sp>
      <p:sp>
        <p:nvSpPr>
          <p:cNvPr id="10" name="Shape 8"/>
          <p:cNvSpPr/>
          <p:nvPr/>
        </p:nvSpPr>
        <p:spPr>
          <a:xfrm>
            <a:off x="228600" y="841248"/>
            <a:ext cx="64008" cy="868680"/>
          </a:xfrm>
          <a:prstGeom prst="rect">
            <a:avLst/>
          </a:prstGeom>
          <a:solidFill>
            <a:srgbClr val="00796B"/>
          </a:solidFill>
          <a:ln/>
        </p:spPr>
      </p:sp>
      <p:sp>
        <p:nvSpPr>
          <p:cNvPr id="11" name="Text 9"/>
          <p:cNvSpPr/>
          <p:nvPr/>
        </p:nvSpPr>
        <p:spPr>
          <a:xfrm>
            <a:off x="411480" y="859536"/>
            <a:ext cx="11338560" cy="256032"/>
          </a:xfrm>
          <a:prstGeom prst="rect">
            <a:avLst/>
          </a:prstGeom>
          <a:noFill/>
          <a:ln/>
        </p:spPr>
        <p:txBody>
          <a:bodyPr wrap="square" lIns="0" tIns="0" rIns="0" bIns="0" rtlCol="0" anchor="ctr"/>
          <a:lstStyle/>
          <a:p>
            <a:pPr indent="0" marL="0">
              <a:buNone/>
            </a:pPr>
            <a:r>
              <a:rPr lang="en-US" sz="1100" b="1" dirty="0">
                <a:solidFill>
                  <a:srgbClr val="00796B"/>
                </a:solidFill>
              </a:rPr>
              <a:t>The GCP environment is built and a clean S/4HANA system is stood up — ready to receive the migration.</a:t>
            </a:r>
            <a:endParaRPr lang="en-US" sz="1100" dirty="0"/>
          </a:p>
        </p:txBody>
      </p:sp>
      <p:sp>
        <p:nvSpPr>
          <p:cNvPr id="12" name="Text 10"/>
          <p:cNvSpPr/>
          <p:nvPr/>
        </p:nvSpPr>
        <p:spPr>
          <a:xfrm>
            <a:off x="411480" y="1124712"/>
            <a:ext cx="11338560" cy="521208"/>
          </a:xfrm>
          <a:prstGeom prst="rect">
            <a:avLst/>
          </a:prstGeom>
          <a:noFill/>
          <a:ln/>
        </p:spPr>
        <p:txBody>
          <a:bodyPr wrap="square" lIns="0" tIns="0" rIns="0" bIns="0" rtlCol="0" anchor="ctr"/>
          <a:lstStyle/>
          <a:p>
            <a:pPr indent="0" marL="0">
              <a:buNone/>
            </a:pPr>
            <a:r>
              <a:rPr lang="en-US" sz="920" dirty="0">
                <a:solidFill>
                  <a:srgbClr val="263238"/>
                </a:solidFill>
              </a:rPr>
              <a:t>With the assessment complete and the project approved, this phase sets up the technical foundation. SAP provisions the GCP Dammam infrastructure — the actual servers, storage, and network — and installs a brand-new, empty S/4HANA system on top. In parallel, your team prepares the migration factory: the tools, scripts, and working environments needed for the actual conversion.</a:t>
            </a:r>
            <a:endParaRPr lang="en-US" sz="920" dirty="0"/>
          </a:p>
        </p:txBody>
      </p:sp>
      <p:sp>
        <p:nvSpPr>
          <p:cNvPr id="13" name="Shape 11"/>
          <p:cNvSpPr/>
          <p:nvPr/>
        </p:nvSpPr>
        <p:spPr>
          <a:xfrm>
            <a:off x="228600" y="1810512"/>
            <a:ext cx="5623560" cy="365760"/>
          </a:xfrm>
          <a:prstGeom prst="rect">
            <a:avLst/>
          </a:prstGeom>
          <a:solidFill>
            <a:srgbClr val="1565C0"/>
          </a:solidFill>
          <a:ln/>
        </p:spPr>
      </p:sp>
      <p:sp>
        <p:nvSpPr>
          <p:cNvPr id="14" name="Text 12"/>
          <p:cNvSpPr/>
          <p:nvPr/>
        </p:nvSpPr>
        <p:spPr>
          <a:xfrm>
            <a:off x="320040" y="1810512"/>
            <a:ext cx="5440680" cy="365760"/>
          </a:xfrm>
          <a:prstGeom prst="rect">
            <a:avLst/>
          </a:prstGeom>
          <a:noFill/>
          <a:ln/>
        </p:spPr>
        <p:txBody>
          <a:bodyPr wrap="square" lIns="0" tIns="0" rIns="0" bIns="0" rtlCol="0" anchor="ctr"/>
          <a:lstStyle/>
          <a:p>
            <a:pPr indent="0" marL="0">
              <a:buNone/>
            </a:pPr>
            <a:r>
              <a:rPr lang="en-US" sz="950" b="1" dirty="0">
                <a:solidFill>
                  <a:srgbClr val="FFFFFF"/>
                </a:solidFill>
              </a:rPr>
              <a:t>SAP'S ROLE — What SAP Does &amp; How</a:t>
            </a:r>
            <a:endParaRPr lang="en-US" sz="950" dirty="0"/>
          </a:p>
        </p:txBody>
      </p:sp>
      <p:sp>
        <p:nvSpPr>
          <p:cNvPr id="15" name="Shape 13"/>
          <p:cNvSpPr/>
          <p:nvPr/>
        </p:nvSpPr>
        <p:spPr>
          <a:xfrm>
            <a:off x="228600" y="2231136"/>
            <a:ext cx="5623560" cy="841248"/>
          </a:xfrm>
          <a:prstGeom prst="rect">
            <a:avLst/>
          </a:prstGeom>
          <a:solidFill>
            <a:srgbClr val="FFFFFF"/>
          </a:solidFill>
          <a:ln/>
          <a:effectLst>
            <a:outerShdw sx="100000" sy="100000" kx="0" ky="0" algn="bl" rotWithShape="0" blurRad="88900" dist="25400" dir="8100000">
              <a:srgbClr val="000000">
                <a:alpha val="9000"/>
              </a:srgbClr>
            </a:outerShdw>
          </a:effectLst>
        </p:spPr>
      </p:sp>
      <p:sp>
        <p:nvSpPr>
          <p:cNvPr id="16" name="Shape 14"/>
          <p:cNvSpPr/>
          <p:nvPr/>
        </p:nvSpPr>
        <p:spPr>
          <a:xfrm>
            <a:off x="228600" y="2231136"/>
            <a:ext cx="54864" cy="841248"/>
          </a:xfrm>
          <a:prstGeom prst="rect">
            <a:avLst/>
          </a:prstGeom>
          <a:solidFill>
            <a:srgbClr val="1565C0"/>
          </a:solidFill>
          <a:ln/>
        </p:spPr>
      </p:sp>
      <p:sp>
        <p:nvSpPr>
          <p:cNvPr id="17" name="Text 15"/>
          <p:cNvSpPr/>
          <p:nvPr/>
        </p:nvSpPr>
        <p:spPr>
          <a:xfrm>
            <a:off x="347472" y="2286000"/>
            <a:ext cx="5349240" cy="237744"/>
          </a:xfrm>
          <a:prstGeom prst="rect">
            <a:avLst/>
          </a:prstGeom>
          <a:noFill/>
          <a:ln/>
        </p:spPr>
        <p:txBody>
          <a:bodyPr wrap="square" lIns="0" tIns="0" rIns="0" bIns="0" rtlCol="0" anchor="ctr"/>
          <a:lstStyle/>
          <a:p>
            <a:pPr indent="0" marL="0">
              <a:buNone/>
            </a:pPr>
            <a:r>
              <a:rPr lang="en-US" sz="920" b="1" dirty="0">
                <a:solidFill>
                  <a:srgbClr val="1565C0"/>
                </a:solidFill>
              </a:rPr>
              <a:t>Provisions the GCP Infrastructure (Automated via SAP)</a:t>
            </a:r>
            <a:endParaRPr lang="en-US" sz="920" dirty="0"/>
          </a:p>
        </p:txBody>
      </p:sp>
      <p:sp>
        <p:nvSpPr>
          <p:cNvPr id="18" name="Text 16"/>
          <p:cNvSpPr/>
          <p:nvPr/>
        </p:nvSpPr>
        <p:spPr>
          <a:xfrm>
            <a:off x="347472" y="2542032"/>
            <a:ext cx="5349240" cy="475488"/>
          </a:xfrm>
          <a:prstGeom prst="rect">
            <a:avLst/>
          </a:prstGeom>
          <a:noFill/>
          <a:ln/>
        </p:spPr>
        <p:txBody>
          <a:bodyPr wrap="square" lIns="0" tIns="0" rIns="0" bIns="0" rtlCol="0" anchor="ctr"/>
          <a:lstStyle/>
          <a:p>
            <a:pPr indent="0" marL="0">
              <a:buNone/>
            </a:pPr>
            <a:r>
              <a:rPr lang="en-US" sz="830" dirty="0">
                <a:solidFill>
                  <a:srgbClr val="37474F"/>
                </a:solidFill>
              </a:rPr>
              <a:t>Using pre-built Terraform automation scripts (certified jointly by SAP and Google), SAP deploys the full GCP environment in GCP Dammam (me-central2): high-memory M4 virtual machines for HANA, storage volumes, Virtual Private Cloud (VPC) networking, firewall rules, load balancers, and High Availability (HA) clustering using Pacemaker — so if one server fails, the system automatically switches to a standby. This typically takes 3–7 days.</a:t>
            </a:r>
            <a:endParaRPr lang="en-US" sz="830" dirty="0"/>
          </a:p>
        </p:txBody>
      </p:sp>
      <p:sp>
        <p:nvSpPr>
          <p:cNvPr id="19" name="Shape 17"/>
          <p:cNvSpPr/>
          <p:nvPr/>
        </p:nvSpPr>
        <p:spPr>
          <a:xfrm>
            <a:off x="228600" y="3145536"/>
            <a:ext cx="5623560" cy="841248"/>
          </a:xfrm>
          <a:prstGeom prst="rect">
            <a:avLst/>
          </a:prstGeom>
          <a:solidFill>
            <a:srgbClr val="E3F2FD"/>
          </a:solidFill>
          <a:ln/>
          <a:effectLst>
            <a:outerShdw sx="100000" sy="100000" kx="0" ky="0" algn="bl" rotWithShape="0" blurRad="88900" dist="25400" dir="8100000">
              <a:srgbClr val="000000">
                <a:alpha val="9000"/>
              </a:srgbClr>
            </a:outerShdw>
          </a:effectLst>
        </p:spPr>
      </p:sp>
      <p:sp>
        <p:nvSpPr>
          <p:cNvPr id="20" name="Shape 18"/>
          <p:cNvSpPr/>
          <p:nvPr/>
        </p:nvSpPr>
        <p:spPr>
          <a:xfrm>
            <a:off x="228600" y="3145536"/>
            <a:ext cx="54864" cy="841248"/>
          </a:xfrm>
          <a:prstGeom prst="rect">
            <a:avLst/>
          </a:prstGeom>
          <a:solidFill>
            <a:srgbClr val="1565C0"/>
          </a:solidFill>
          <a:ln/>
        </p:spPr>
      </p:sp>
      <p:sp>
        <p:nvSpPr>
          <p:cNvPr id="21" name="Text 19"/>
          <p:cNvSpPr/>
          <p:nvPr/>
        </p:nvSpPr>
        <p:spPr>
          <a:xfrm>
            <a:off x="347472" y="3200400"/>
            <a:ext cx="5349240" cy="237744"/>
          </a:xfrm>
          <a:prstGeom prst="rect">
            <a:avLst/>
          </a:prstGeom>
          <a:noFill/>
          <a:ln/>
        </p:spPr>
        <p:txBody>
          <a:bodyPr wrap="square" lIns="0" tIns="0" rIns="0" bIns="0" rtlCol="0" anchor="ctr"/>
          <a:lstStyle/>
          <a:p>
            <a:pPr indent="0" marL="0">
              <a:buNone/>
            </a:pPr>
            <a:r>
              <a:rPr lang="en-US" sz="920" b="1" dirty="0">
                <a:solidFill>
                  <a:srgbClr val="1565C0"/>
                </a:solidFill>
              </a:rPr>
              <a:t>Installs a Clean S/4HANA System (the Target Shell)</a:t>
            </a:r>
            <a:endParaRPr lang="en-US" sz="920" dirty="0"/>
          </a:p>
        </p:txBody>
      </p:sp>
      <p:sp>
        <p:nvSpPr>
          <p:cNvPr id="22" name="Text 20"/>
          <p:cNvSpPr/>
          <p:nvPr/>
        </p:nvSpPr>
        <p:spPr>
          <a:xfrm>
            <a:off x="347472" y="3456432"/>
            <a:ext cx="5349240" cy="475488"/>
          </a:xfrm>
          <a:prstGeom prst="rect">
            <a:avLst/>
          </a:prstGeom>
          <a:noFill/>
          <a:ln/>
        </p:spPr>
        <p:txBody>
          <a:bodyPr wrap="square" lIns="0" tIns="0" rIns="0" bIns="0" rtlCol="0" anchor="ctr"/>
          <a:lstStyle/>
          <a:p>
            <a:pPr indent="0" marL="0">
              <a:buNone/>
            </a:pPr>
            <a:r>
              <a:rPr lang="en-US" sz="830" dirty="0">
                <a:solidFill>
                  <a:srgbClr val="37474F"/>
                </a:solidFill>
              </a:rPr>
              <a:t>SAP installs a fresh, empty SAP S/4HANA system on the provisioned GCP infrastructure. This is the 'destination' system — currently empty of any customer data or configuration, but fully running and certified. SAP also installs the required transport landscape (Development → Quality → Production system chain).</a:t>
            </a:r>
            <a:endParaRPr lang="en-US" sz="830" dirty="0"/>
          </a:p>
        </p:txBody>
      </p:sp>
      <p:sp>
        <p:nvSpPr>
          <p:cNvPr id="23" name="Shape 21"/>
          <p:cNvSpPr/>
          <p:nvPr/>
        </p:nvSpPr>
        <p:spPr>
          <a:xfrm>
            <a:off x="228600" y="4059936"/>
            <a:ext cx="5623560" cy="841248"/>
          </a:xfrm>
          <a:prstGeom prst="rect">
            <a:avLst/>
          </a:prstGeom>
          <a:solidFill>
            <a:srgbClr val="FFFFFF"/>
          </a:solidFill>
          <a:ln/>
          <a:effectLst>
            <a:outerShdw sx="100000" sy="100000" kx="0" ky="0" algn="bl" rotWithShape="0" blurRad="88900" dist="25400" dir="8100000">
              <a:srgbClr val="000000">
                <a:alpha val="9000"/>
              </a:srgbClr>
            </a:outerShdw>
          </a:effectLst>
        </p:spPr>
      </p:sp>
      <p:sp>
        <p:nvSpPr>
          <p:cNvPr id="24" name="Shape 22"/>
          <p:cNvSpPr/>
          <p:nvPr/>
        </p:nvSpPr>
        <p:spPr>
          <a:xfrm>
            <a:off x="228600" y="4059936"/>
            <a:ext cx="54864" cy="841248"/>
          </a:xfrm>
          <a:prstGeom prst="rect">
            <a:avLst/>
          </a:prstGeom>
          <a:solidFill>
            <a:srgbClr val="1565C0"/>
          </a:solidFill>
          <a:ln/>
        </p:spPr>
      </p:sp>
      <p:sp>
        <p:nvSpPr>
          <p:cNvPr id="25" name="Text 23"/>
          <p:cNvSpPr/>
          <p:nvPr/>
        </p:nvSpPr>
        <p:spPr>
          <a:xfrm>
            <a:off x="347472" y="4114800"/>
            <a:ext cx="5349240" cy="237744"/>
          </a:xfrm>
          <a:prstGeom prst="rect">
            <a:avLst/>
          </a:prstGeom>
          <a:noFill/>
          <a:ln/>
        </p:spPr>
        <p:txBody>
          <a:bodyPr wrap="square" lIns="0" tIns="0" rIns="0" bIns="0" rtlCol="0" anchor="ctr"/>
          <a:lstStyle/>
          <a:p>
            <a:pPr indent="0" marL="0">
              <a:buNone/>
            </a:pPr>
            <a:r>
              <a:rPr lang="en-US" sz="920" b="1" dirty="0">
                <a:solidFill>
                  <a:srgbClr val="1565C0"/>
                </a:solidFill>
              </a:rPr>
              <a:t>Configures the SAP Cloud ALM Project Environment</a:t>
            </a:r>
            <a:endParaRPr lang="en-US" sz="920" dirty="0"/>
          </a:p>
        </p:txBody>
      </p:sp>
      <p:sp>
        <p:nvSpPr>
          <p:cNvPr id="26" name="Text 24"/>
          <p:cNvSpPr/>
          <p:nvPr/>
        </p:nvSpPr>
        <p:spPr>
          <a:xfrm>
            <a:off x="347472" y="4370832"/>
            <a:ext cx="5349240" cy="475488"/>
          </a:xfrm>
          <a:prstGeom prst="rect">
            <a:avLst/>
          </a:prstGeom>
          <a:noFill/>
          <a:ln/>
        </p:spPr>
        <p:txBody>
          <a:bodyPr wrap="square" lIns="0" tIns="0" rIns="0" bIns="0" rtlCol="0" anchor="ctr"/>
          <a:lstStyle/>
          <a:p>
            <a:pPr indent="0" marL="0">
              <a:buNone/>
            </a:pPr>
            <a:r>
              <a:rPr lang="en-US" sz="830" dirty="0">
                <a:solidFill>
                  <a:srgbClr val="37474F"/>
                </a:solidFill>
              </a:rPr>
              <a:t>SAP Cloud ALM is set up as the project's central control tower — tracking requirements, test cases, defects, and change requests throughout the migration. Think of it as the project's mission-control dashboard.</a:t>
            </a:r>
            <a:endParaRPr lang="en-US" sz="830" dirty="0"/>
          </a:p>
        </p:txBody>
      </p:sp>
      <p:sp>
        <p:nvSpPr>
          <p:cNvPr id="27" name="Shape 25"/>
          <p:cNvSpPr/>
          <p:nvPr/>
        </p:nvSpPr>
        <p:spPr>
          <a:xfrm>
            <a:off x="6309360" y="1810512"/>
            <a:ext cx="5623560" cy="365760"/>
          </a:xfrm>
          <a:prstGeom prst="rect">
            <a:avLst/>
          </a:prstGeom>
          <a:solidFill>
            <a:srgbClr val="00796B"/>
          </a:solidFill>
          <a:ln/>
        </p:spPr>
      </p:sp>
      <p:sp>
        <p:nvSpPr>
          <p:cNvPr id="28" name="Text 26"/>
          <p:cNvSpPr/>
          <p:nvPr/>
        </p:nvSpPr>
        <p:spPr>
          <a:xfrm>
            <a:off x="6400800" y="1810512"/>
            <a:ext cx="5440680" cy="365760"/>
          </a:xfrm>
          <a:prstGeom prst="rect">
            <a:avLst/>
          </a:prstGeom>
          <a:noFill/>
          <a:ln/>
        </p:spPr>
        <p:txBody>
          <a:bodyPr wrap="square" lIns="0" tIns="0" rIns="0" bIns="0" rtlCol="0" anchor="ctr"/>
          <a:lstStyle/>
          <a:p>
            <a:pPr indent="0" marL="0">
              <a:buNone/>
            </a:pPr>
            <a:r>
              <a:rPr lang="en-US" sz="950" b="1" dirty="0">
                <a:solidFill>
                  <a:srgbClr val="FFFFFF"/>
                </a:solidFill>
              </a:rPr>
              <a:t>YOUR TEAM'S ROLE — What the SI Partner Does</a:t>
            </a:r>
            <a:endParaRPr lang="en-US" sz="950" dirty="0"/>
          </a:p>
        </p:txBody>
      </p:sp>
      <p:sp>
        <p:nvSpPr>
          <p:cNvPr id="29" name="Shape 27"/>
          <p:cNvSpPr/>
          <p:nvPr/>
        </p:nvSpPr>
        <p:spPr>
          <a:xfrm>
            <a:off x="6309360" y="2231136"/>
            <a:ext cx="5623560" cy="841248"/>
          </a:xfrm>
          <a:prstGeom prst="rect">
            <a:avLst/>
          </a:prstGeom>
          <a:solidFill>
            <a:srgbClr val="FFFFFF"/>
          </a:solidFill>
          <a:ln/>
          <a:effectLst>
            <a:outerShdw sx="100000" sy="100000" kx="0" ky="0" algn="bl" rotWithShape="0" blurRad="88900" dist="25400" dir="8100000">
              <a:srgbClr val="000000">
                <a:alpha val="9000"/>
              </a:srgbClr>
            </a:outerShdw>
          </a:effectLst>
        </p:spPr>
      </p:sp>
      <p:sp>
        <p:nvSpPr>
          <p:cNvPr id="30" name="Shape 28"/>
          <p:cNvSpPr/>
          <p:nvPr/>
        </p:nvSpPr>
        <p:spPr>
          <a:xfrm>
            <a:off x="6309360" y="2231136"/>
            <a:ext cx="54864" cy="841248"/>
          </a:xfrm>
          <a:prstGeom prst="rect">
            <a:avLst/>
          </a:prstGeom>
          <a:solidFill>
            <a:srgbClr val="00796B"/>
          </a:solidFill>
          <a:ln/>
        </p:spPr>
      </p:sp>
      <p:sp>
        <p:nvSpPr>
          <p:cNvPr id="31" name="Text 29"/>
          <p:cNvSpPr/>
          <p:nvPr/>
        </p:nvSpPr>
        <p:spPr>
          <a:xfrm>
            <a:off x="6428232" y="2286000"/>
            <a:ext cx="5349240" cy="237744"/>
          </a:xfrm>
          <a:prstGeom prst="rect">
            <a:avLst/>
          </a:prstGeom>
          <a:noFill/>
          <a:ln/>
        </p:spPr>
        <p:txBody>
          <a:bodyPr wrap="square" lIns="0" tIns="0" rIns="0" bIns="0" rtlCol="0" anchor="ctr"/>
          <a:lstStyle/>
          <a:p>
            <a:pPr indent="0" marL="0">
              <a:buNone/>
            </a:pPr>
            <a:r>
              <a:rPr lang="en-US" sz="920" b="1" dirty="0">
                <a:solidFill>
                  <a:srgbClr val="00796B"/>
                </a:solidFill>
              </a:rPr>
              <a:t>Set Up the Migration Project Environment &amp; Governance</a:t>
            </a:r>
            <a:endParaRPr lang="en-US" sz="920" dirty="0"/>
          </a:p>
        </p:txBody>
      </p:sp>
      <p:sp>
        <p:nvSpPr>
          <p:cNvPr id="32" name="Text 30"/>
          <p:cNvSpPr/>
          <p:nvPr/>
        </p:nvSpPr>
        <p:spPr>
          <a:xfrm>
            <a:off x="6428232" y="2542032"/>
            <a:ext cx="5349240" cy="475488"/>
          </a:xfrm>
          <a:prstGeom prst="rect">
            <a:avLst/>
          </a:prstGeom>
          <a:noFill/>
          <a:ln/>
        </p:spPr>
        <p:txBody>
          <a:bodyPr wrap="square" lIns="0" tIns="0" rIns="0" bIns="0" rtlCol="0" anchor="ctr"/>
          <a:lstStyle/>
          <a:p>
            <a:pPr indent="0" marL="0">
              <a:buNone/>
            </a:pPr>
            <a:r>
              <a:rPr lang="en-US" sz="830" dirty="0">
                <a:solidFill>
                  <a:srgbClr val="37474F"/>
                </a:solidFill>
              </a:rPr>
              <a:t>Your team establishes the project operating model: project management office, weekly steering committee cadence, RAID log (Risks, Actions, Issues, Dependencies), communication plan, and escalation paths. The project charter is signed off by both the customer and your leadership.</a:t>
            </a:r>
            <a:endParaRPr lang="en-US" sz="830" dirty="0"/>
          </a:p>
        </p:txBody>
      </p:sp>
      <p:sp>
        <p:nvSpPr>
          <p:cNvPr id="33" name="Shape 31"/>
          <p:cNvSpPr/>
          <p:nvPr/>
        </p:nvSpPr>
        <p:spPr>
          <a:xfrm>
            <a:off x="6309360" y="3145536"/>
            <a:ext cx="5623560" cy="841248"/>
          </a:xfrm>
          <a:prstGeom prst="rect">
            <a:avLst/>
          </a:prstGeom>
          <a:solidFill>
            <a:srgbClr val="E0F2F1"/>
          </a:solidFill>
          <a:ln/>
          <a:effectLst>
            <a:outerShdw sx="100000" sy="100000" kx="0" ky="0" algn="bl" rotWithShape="0" blurRad="88900" dist="25400" dir="8100000">
              <a:srgbClr val="000000">
                <a:alpha val="9000"/>
              </a:srgbClr>
            </a:outerShdw>
          </a:effectLst>
        </p:spPr>
      </p:sp>
      <p:sp>
        <p:nvSpPr>
          <p:cNvPr id="34" name="Shape 32"/>
          <p:cNvSpPr/>
          <p:nvPr/>
        </p:nvSpPr>
        <p:spPr>
          <a:xfrm>
            <a:off x="6309360" y="3145536"/>
            <a:ext cx="54864" cy="841248"/>
          </a:xfrm>
          <a:prstGeom prst="rect">
            <a:avLst/>
          </a:prstGeom>
          <a:solidFill>
            <a:srgbClr val="00796B"/>
          </a:solidFill>
          <a:ln/>
        </p:spPr>
      </p:sp>
      <p:sp>
        <p:nvSpPr>
          <p:cNvPr id="35" name="Text 33"/>
          <p:cNvSpPr/>
          <p:nvPr/>
        </p:nvSpPr>
        <p:spPr>
          <a:xfrm>
            <a:off x="6428232" y="3200400"/>
            <a:ext cx="5349240" cy="237744"/>
          </a:xfrm>
          <a:prstGeom prst="rect">
            <a:avLst/>
          </a:prstGeom>
          <a:noFill/>
          <a:ln/>
        </p:spPr>
        <p:txBody>
          <a:bodyPr wrap="square" lIns="0" tIns="0" rIns="0" bIns="0" rtlCol="0" anchor="ctr"/>
          <a:lstStyle/>
          <a:p>
            <a:pPr indent="0" marL="0">
              <a:buNone/>
            </a:pPr>
            <a:r>
              <a:rPr lang="en-US" sz="920" b="1" dirty="0">
                <a:solidFill>
                  <a:srgbClr val="00796B"/>
                </a:solidFill>
              </a:rPr>
              <a:t>Install &amp; Configure Migration Tooling on ECC Side</a:t>
            </a:r>
            <a:endParaRPr lang="en-US" sz="920" dirty="0"/>
          </a:p>
        </p:txBody>
      </p:sp>
      <p:sp>
        <p:nvSpPr>
          <p:cNvPr id="36" name="Text 34"/>
          <p:cNvSpPr/>
          <p:nvPr/>
        </p:nvSpPr>
        <p:spPr>
          <a:xfrm>
            <a:off x="6428232" y="3456432"/>
            <a:ext cx="5349240" cy="475488"/>
          </a:xfrm>
          <a:prstGeom prst="rect">
            <a:avLst/>
          </a:prstGeom>
          <a:noFill/>
          <a:ln/>
        </p:spPr>
        <p:txBody>
          <a:bodyPr wrap="square" lIns="0" tIns="0" rIns="0" bIns="0" rtlCol="0" anchor="ctr"/>
          <a:lstStyle/>
          <a:p>
            <a:pPr indent="0" marL="0">
              <a:buNone/>
            </a:pPr>
            <a:r>
              <a:rPr lang="en-US" sz="830" dirty="0">
                <a:solidFill>
                  <a:srgbClr val="37474F"/>
                </a:solidFill>
              </a:rPr>
              <a:t>Your Basis consultants install SAP's SUM (Software Update Manager) tool on the existing ECC system — this is the engine that will perform the actual conversion in Step 3. They also configure the Data Migration Cockpit for data extraction, set up the ABAP Test Cockpit for code scanning, and establish the secure network connections (VPN tunnels) between the customer's current environment and the new GCP Dammam environment.</a:t>
            </a:r>
            <a:endParaRPr lang="en-US" sz="830" dirty="0"/>
          </a:p>
        </p:txBody>
      </p:sp>
      <p:sp>
        <p:nvSpPr>
          <p:cNvPr id="37" name="Shape 35"/>
          <p:cNvSpPr/>
          <p:nvPr/>
        </p:nvSpPr>
        <p:spPr>
          <a:xfrm>
            <a:off x="6309360" y="4059936"/>
            <a:ext cx="5623560" cy="841248"/>
          </a:xfrm>
          <a:prstGeom prst="rect">
            <a:avLst/>
          </a:prstGeom>
          <a:solidFill>
            <a:srgbClr val="FFFFFF"/>
          </a:solidFill>
          <a:ln/>
          <a:effectLst>
            <a:outerShdw sx="100000" sy="100000" kx="0" ky="0" algn="bl" rotWithShape="0" blurRad="88900" dist="25400" dir="8100000">
              <a:srgbClr val="000000">
                <a:alpha val="9000"/>
              </a:srgbClr>
            </a:outerShdw>
          </a:effectLst>
        </p:spPr>
      </p:sp>
      <p:sp>
        <p:nvSpPr>
          <p:cNvPr id="38" name="Shape 36"/>
          <p:cNvSpPr/>
          <p:nvPr/>
        </p:nvSpPr>
        <p:spPr>
          <a:xfrm>
            <a:off x="6309360" y="4059936"/>
            <a:ext cx="54864" cy="841248"/>
          </a:xfrm>
          <a:prstGeom prst="rect">
            <a:avLst/>
          </a:prstGeom>
          <a:solidFill>
            <a:srgbClr val="00796B"/>
          </a:solidFill>
          <a:ln/>
        </p:spPr>
      </p:sp>
      <p:sp>
        <p:nvSpPr>
          <p:cNvPr id="39" name="Text 37"/>
          <p:cNvSpPr/>
          <p:nvPr/>
        </p:nvSpPr>
        <p:spPr>
          <a:xfrm>
            <a:off x="6428232" y="4114800"/>
            <a:ext cx="5349240" cy="237744"/>
          </a:xfrm>
          <a:prstGeom prst="rect">
            <a:avLst/>
          </a:prstGeom>
          <a:noFill/>
          <a:ln/>
        </p:spPr>
        <p:txBody>
          <a:bodyPr wrap="square" lIns="0" tIns="0" rIns="0" bIns="0" rtlCol="0" anchor="ctr"/>
          <a:lstStyle/>
          <a:p>
            <a:pPr indent="0" marL="0">
              <a:buNone/>
            </a:pPr>
            <a:r>
              <a:rPr lang="en-US" sz="920" b="1" dirty="0">
                <a:solidFill>
                  <a:srgbClr val="00796B"/>
                </a:solidFill>
              </a:rPr>
              <a:t>Complete the Fit-to-Standard Configuration Blueprint</a:t>
            </a:r>
            <a:endParaRPr lang="en-US" sz="920" dirty="0"/>
          </a:p>
        </p:txBody>
      </p:sp>
      <p:sp>
        <p:nvSpPr>
          <p:cNvPr id="40" name="Text 38"/>
          <p:cNvSpPr/>
          <p:nvPr/>
        </p:nvSpPr>
        <p:spPr>
          <a:xfrm>
            <a:off x="6428232" y="4370832"/>
            <a:ext cx="5349240" cy="475488"/>
          </a:xfrm>
          <a:prstGeom prst="rect">
            <a:avLst/>
          </a:prstGeom>
          <a:noFill/>
          <a:ln/>
        </p:spPr>
        <p:txBody>
          <a:bodyPr wrap="square" lIns="0" tIns="0" rIns="0" bIns="0" rtlCol="0" anchor="ctr"/>
          <a:lstStyle/>
          <a:p>
            <a:pPr indent="0" marL="0">
              <a:buNone/>
            </a:pPr>
            <a:r>
              <a:rPr lang="en-US" sz="830" dirty="0">
                <a:solidFill>
                  <a:srgbClr val="37474F"/>
                </a:solidFill>
              </a:rPr>
              <a:t>Your functional consultants finalise the configuration blueprint — a detailed design document specifying how every SAP module will be set up for this customer. For example: which company codes, which chart of accounts, which approval workflow steps, which document types. This becomes the master instruction set for all configuration work.</a:t>
            </a:r>
            <a:endParaRPr lang="en-US" sz="830" dirty="0"/>
          </a:p>
        </p:txBody>
      </p:sp>
      <p:sp>
        <p:nvSpPr>
          <p:cNvPr id="41" name="Shape 39"/>
          <p:cNvSpPr/>
          <p:nvPr/>
        </p:nvSpPr>
        <p:spPr>
          <a:xfrm>
            <a:off x="228600" y="6446520"/>
            <a:ext cx="11704320" cy="329184"/>
          </a:xfrm>
          <a:prstGeom prst="rect">
            <a:avLst/>
          </a:prstGeom>
          <a:solidFill>
            <a:srgbClr val="F1F5F9"/>
          </a:solidFill>
          <a:ln/>
        </p:spPr>
      </p:sp>
      <p:sp>
        <p:nvSpPr>
          <p:cNvPr id="42" name="Text 40"/>
          <p:cNvSpPr/>
          <p:nvPr/>
        </p:nvSpPr>
        <p:spPr>
          <a:xfrm>
            <a:off x="365760" y="6473952"/>
            <a:ext cx="2011680" cy="274320"/>
          </a:xfrm>
          <a:prstGeom prst="rect">
            <a:avLst/>
          </a:prstGeom>
          <a:noFill/>
          <a:ln/>
        </p:spPr>
        <p:txBody>
          <a:bodyPr wrap="square" lIns="0" tIns="0" rIns="0" bIns="0" rtlCol="0" anchor="ctr"/>
          <a:lstStyle/>
          <a:p>
            <a:pPr indent="0" marL="0">
              <a:buNone/>
            </a:pPr>
            <a:r>
              <a:rPr lang="en-US" sz="750" b="1" dirty="0">
                <a:solidFill>
                  <a:srgbClr val="37474F"/>
                </a:solidFill>
              </a:rPr>
              <a:t>KEY TOOLS USED IN THIS STEP:</a:t>
            </a:r>
            <a:endParaRPr lang="en-US" sz="750" dirty="0"/>
          </a:p>
        </p:txBody>
      </p:sp>
      <p:sp>
        <p:nvSpPr>
          <p:cNvPr id="43" name="Text 41"/>
          <p:cNvSpPr/>
          <p:nvPr/>
        </p:nvSpPr>
        <p:spPr>
          <a:xfrm>
            <a:off x="2423160" y="6473952"/>
            <a:ext cx="9326880" cy="274320"/>
          </a:xfrm>
          <a:prstGeom prst="rect">
            <a:avLst/>
          </a:prstGeom>
          <a:noFill/>
          <a:ln/>
        </p:spPr>
        <p:txBody>
          <a:bodyPr wrap="square" lIns="0" tIns="0" rIns="0" bIns="0" rtlCol="0" anchor="ctr"/>
          <a:lstStyle/>
          <a:p>
            <a:pPr indent="0" marL="0">
              <a:buNone/>
            </a:pPr>
            <a:r>
              <a:rPr lang="en-US" sz="780" dirty="0">
                <a:solidFill>
                  <a:srgbClr val="37474F"/>
                </a:solidFill>
              </a:rPr>
              <a:t>SAP SUM (Software Update Manager)  ·  GCP Terraform Templates (SAP-certified)  ·  SAP Cloud ALM  ·  SAP Migration Cockpit  ·  ABAP Test Cockpit  ·  GCP Workload Manager</a:t>
            </a:r>
            <a:endParaRPr lang="en-US" sz="78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8FAFD"/>
        </a:solidFill>
      </p:bgPr>
    </p:bg>
    <p:spTree>
      <p:nvGrpSpPr>
        <p:cNvPr id="1" name=""/>
        <p:cNvGrpSpPr/>
        <p:nvPr/>
      </p:nvGrpSpPr>
      <p:grpSpPr>
        <a:xfrm>
          <a:off x="0" y="0"/>
          <a:ext cx="0" cy="0"/>
          <a:chOff x="0" y="0"/>
          <a:chExt cx="0" cy="0"/>
        </a:xfrm>
      </p:grpSpPr>
      <p:sp>
        <p:nvSpPr>
          <p:cNvPr id="2" name="Shape 0"/>
          <p:cNvSpPr/>
          <p:nvPr/>
        </p:nvSpPr>
        <p:spPr>
          <a:xfrm>
            <a:off x="0" y="0"/>
            <a:ext cx="12161520" cy="749808"/>
          </a:xfrm>
          <a:prstGeom prst="rect">
            <a:avLst/>
          </a:prstGeom>
          <a:solidFill>
            <a:srgbClr val="0D1B2A"/>
          </a:solidFill>
          <a:ln/>
        </p:spPr>
      </p:sp>
      <p:sp>
        <p:nvSpPr>
          <p:cNvPr id="3" name="Shape 1"/>
          <p:cNvSpPr/>
          <p:nvPr/>
        </p:nvSpPr>
        <p:spPr>
          <a:xfrm>
            <a:off x="0" y="0"/>
            <a:ext cx="274320" cy="749808"/>
          </a:xfrm>
          <a:prstGeom prst="rect">
            <a:avLst/>
          </a:prstGeom>
          <a:solidFill>
            <a:srgbClr val="4A148C"/>
          </a:solidFill>
          <a:ln/>
        </p:spPr>
      </p:sp>
      <p:sp>
        <p:nvSpPr>
          <p:cNvPr id="4" name="Shape 2"/>
          <p:cNvSpPr/>
          <p:nvPr/>
        </p:nvSpPr>
        <p:spPr>
          <a:xfrm>
            <a:off x="457200" y="109728"/>
            <a:ext cx="530352" cy="530352"/>
          </a:xfrm>
          <a:prstGeom prst="rect">
            <a:avLst/>
          </a:prstGeom>
          <a:solidFill>
            <a:srgbClr val="4A148C"/>
          </a:solidFill>
          <a:ln/>
        </p:spPr>
      </p:sp>
      <p:sp>
        <p:nvSpPr>
          <p:cNvPr id="5" name="Text 3"/>
          <p:cNvSpPr/>
          <p:nvPr/>
        </p:nvSpPr>
        <p:spPr>
          <a:xfrm>
            <a:off x="457200" y="109728"/>
            <a:ext cx="530352" cy="530352"/>
          </a:xfrm>
          <a:prstGeom prst="rect">
            <a:avLst/>
          </a:prstGeom>
          <a:noFill/>
          <a:ln/>
        </p:spPr>
        <p:txBody>
          <a:bodyPr wrap="square" lIns="0" tIns="0" rIns="0" bIns="0" rtlCol="0" anchor="ctr"/>
          <a:lstStyle/>
          <a:p>
            <a:pPr algn="ctr" indent="0" marL="0">
              <a:buNone/>
            </a:pPr>
            <a:r>
              <a:rPr lang="en-US" sz="2000" b="1" dirty="0">
                <a:solidFill>
                  <a:srgbClr val="FFFFFF"/>
                </a:solidFill>
              </a:rPr>
              <a:t>3</a:t>
            </a:r>
            <a:endParaRPr lang="en-US" sz="2000" dirty="0"/>
          </a:p>
        </p:txBody>
      </p:sp>
      <p:sp>
        <p:nvSpPr>
          <p:cNvPr id="6" name="Text 4"/>
          <p:cNvSpPr/>
          <p:nvPr/>
        </p:nvSpPr>
        <p:spPr>
          <a:xfrm>
            <a:off x="1115568" y="0"/>
            <a:ext cx="10058400" cy="749808"/>
          </a:xfrm>
          <a:prstGeom prst="rect">
            <a:avLst/>
          </a:prstGeom>
          <a:noFill/>
          <a:ln/>
        </p:spPr>
        <p:txBody>
          <a:bodyPr wrap="square" lIns="0" tIns="0" rIns="0" bIns="0" rtlCol="0" anchor="ctr"/>
          <a:lstStyle/>
          <a:p>
            <a:pPr indent="0" marL="0">
              <a:buNone/>
            </a:pPr>
            <a:r>
              <a:rPr lang="en-US" sz="1400" b="1" spc="80" kern="0" dirty="0">
                <a:solidFill>
                  <a:srgbClr val="FFFFFF"/>
                </a:solidFill>
              </a:rPr>
              <a:t>PART 2  |  STEP 3: CONVERT &amp; MIGRATE (THE TECHNICAL HEART)</a:t>
            </a:r>
            <a:endParaRPr lang="en-US" sz="1400" dirty="0"/>
          </a:p>
        </p:txBody>
      </p:sp>
      <p:sp>
        <p:nvSpPr>
          <p:cNvPr id="7" name="Shape 5"/>
          <p:cNvSpPr/>
          <p:nvPr/>
        </p:nvSpPr>
        <p:spPr>
          <a:xfrm>
            <a:off x="10607040" y="164592"/>
            <a:ext cx="1417320" cy="420624"/>
          </a:xfrm>
          <a:prstGeom prst="rect">
            <a:avLst/>
          </a:prstGeom>
          <a:solidFill>
            <a:srgbClr val="4A148C"/>
          </a:solidFill>
          <a:ln/>
        </p:spPr>
      </p:sp>
      <p:sp>
        <p:nvSpPr>
          <p:cNvPr id="8" name="Text 6"/>
          <p:cNvSpPr/>
          <p:nvPr/>
        </p:nvSpPr>
        <p:spPr>
          <a:xfrm>
            <a:off x="10607040" y="164592"/>
            <a:ext cx="1417320" cy="420624"/>
          </a:xfrm>
          <a:prstGeom prst="rect">
            <a:avLst/>
          </a:prstGeom>
          <a:noFill/>
          <a:ln/>
        </p:spPr>
        <p:txBody>
          <a:bodyPr wrap="square" lIns="0" tIns="0" rIns="0" bIns="0" rtlCol="0" anchor="ctr"/>
          <a:lstStyle/>
          <a:p>
            <a:pPr algn="ctr" indent="0" marL="0">
              <a:buNone/>
            </a:pPr>
            <a:r>
              <a:rPr lang="en-US" sz="900" b="1" dirty="0">
                <a:solidFill>
                  <a:srgbClr val="FFFFFF"/>
                </a:solidFill>
              </a:rPr>
              <a:t>~ 3–7 Days (Intensive)</a:t>
            </a:r>
            <a:endParaRPr lang="en-US" sz="900" dirty="0"/>
          </a:p>
        </p:txBody>
      </p:sp>
      <p:sp>
        <p:nvSpPr>
          <p:cNvPr id="9" name="Shape 7"/>
          <p:cNvSpPr/>
          <p:nvPr/>
        </p:nvSpPr>
        <p:spPr>
          <a:xfrm>
            <a:off x="228600" y="841248"/>
            <a:ext cx="11704320" cy="868680"/>
          </a:xfrm>
          <a:prstGeom prst="rect">
            <a:avLst/>
          </a:prstGeom>
          <a:solidFill>
            <a:srgbClr val="F3E5F5"/>
          </a:solidFill>
          <a:ln/>
        </p:spPr>
      </p:sp>
      <p:sp>
        <p:nvSpPr>
          <p:cNvPr id="10" name="Shape 8"/>
          <p:cNvSpPr/>
          <p:nvPr/>
        </p:nvSpPr>
        <p:spPr>
          <a:xfrm>
            <a:off x="228600" y="841248"/>
            <a:ext cx="64008" cy="868680"/>
          </a:xfrm>
          <a:prstGeom prst="rect">
            <a:avLst/>
          </a:prstGeom>
          <a:solidFill>
            <a:srgbClr val="4A148C"/>
          </a:solidFill>
          <a:ln/>
        </p:spPr>
      </p:sp>
      <p:sp>
        <p:nvSpPr>
          <p:cNvPr id="11" name="Text 9"/>
          <p:cNvSpPr/>
          <p:nvPr/>
        </p:nvSpPr>
        <p:spPr>
          <a:xfrm>
            <a:off x="411480" y="859536"/>
            <a:ext cx="11338560" cy="256032"/>
          </a:xfrm>
          <a:prstGeom prst="rect">
            <a:avLst/>
          </a:prstGeom>
          <a:noFill/>
          <a:ln/>
        </p:spPr>
        <p:txBody>
          <a:bodyPr wrap="square" lIns="0" tIns="0" rIns="0" bIns="0" rtlCol="0" anchor="ctr"/>
          <a:lstStyle/>
          <a:p>
            <a:pPr indent="0" marL="0">
              <a:buNone/>
            </a:pPr>
            <a:r>
              <a:rPr lang="en-US" sz="1100" b="1" dirty="0">
                <a:solidFill>
                  <a:srgbClr val="4A148C"/>
                </a:solidFill>
              </a:rPr>
              <a:t>The existing ECC system is technically converted into S/4HANA — database, software version, and all data in one operation.</a:t>
            </a:r>
            <a:endParaRPr lang="en-US" sz="1100" dirty="0"/>
          </a:p>
        </p:txBody>
      </p:sp>
      <p:sp>
        <p:nvSpPr>
          <p:cNvPr id="12" name="Text 10"/>
          <p:cNvSpPr/>
          <p:nvPr/>
        </p:nvSpPr>
        <p:spPr>
          <a:xfrm>
            <a:off x="411480" y="1124712"/>
            <a:ext cx="11338560" cy="521208"/>
          </a:xfrm>
          <a:prstGeom prst="rect">
            <a:avLst/>
          </a:prstGeom>
          <a:noFill/>
          <a:ln/>
        </p:spPr>
        <p:txBody>
          <a:bodyPr wrap="square" lIns="0" tIns="0" rIns="0" bIns="0" rtlCol="0" anchor="ctr"/>
          <a:lstStyle/>
          <a:p>
            <a:pPr indent="0" marL="0">
              <a:buNone/>
            </a:pPr>
            <a:r>
              <a:rPr lang="en-US" sz="920" dirty="0">
                <a:solidFill>
                  <a:srgbClr val="263238"/>
                </a:solidFill>
              </a:rPr>
              <a:t>This is the most technically complex step — the moment where the old system becomes S/4HANA. SAP's SUM+DMO tool runs the conversion, simultaneously upgrading the SAP software version AND migrating the database from the old format to the new HANA in-memory format. This step typically runs over a weekend (the 'conversion weekend') because the production system must be taken offline. Your team monitors, manages, and validates the entire process.</a:t>
            </a:r>
            <a:endParaRPr lang="en-US" sz="920" dirty="0"/>
          </a:p>
        </p:txBody>
      </p:sp>
      <p:sp>
        <p:nvSpPr>
          <p:cNvPr id="13" name="Shape 11"/>
          <p:cNvSpPr/>
          <p:nvPr/>
        </p:nvSpPr>
        <p:spPr>
          <a:xfrm>
            <a:off x="228600" y="1810512"/>
            <a:ext cx="5623560" cy="365760"/>
          </a:xfrm>
          <a:prstGeom prst="rect">
            <a:avLst/>
          </a:prstGeom>
          <a:solidFill>
            <a:srgbClr val="1565C0"/>
          </a:solidFill>
          <a:ln/>
        </p:spPr>
      </p:sp>
      <p:sp>
        <p:nvSpPr>
          <p:cNvPr id="14" name="Text 12"/>
          <p:cNvSpPr/>
          <p:nvPr/>
        </p:nvSpPr>
        <p:spPr>
          <a:xfrm>
            <a:off x="320040" y="1810512"/>
            <a:ext cx="5440680" cy="365760"/>
          </a:xfrm>
          <a:prstGeom prst="rect">
            <a:avLst/>
          </a:prstGeom>
          <a:noFill/>
          <a:ln/>
        </p:spPr>
        <p:txBody>
          <a:bodyPr wrap="square" lIns="0" tIns="0" rIns="0" bIns="0" rtlCol="0" anchor="ctr"/>
          <a:lstStyle/>
          <a:p>
            <a:pPr indent="0" marL="0">
              <a:buNone/>
            </a:pPr>
            <a:r>
              <a:rPr lang="en-US" sz="950" b="1" dirty="0">
                <a:solidFill>
                  <a:srgbClr val="FFFFFF"/>
                </a:solidFill>
              </a:rPr>
              <a:t>SAP'S ROLE — What SAP Does &amp; How</a:t>
            </a:r>
            <a:endParaRPr lang="en-US" sz="950" dirty="0"/>
          </a:p>
        </p:txBody>
      </p:sp>
      <p:sp>
        <p:nvSpPr>
          <p:cNvPr id="15" name="Shape 13"/>
          <p:cNvSpPr/>
          <p:nvPr/>
        </p:nvSpPr>
        <p:spPr>
          <a:xfrm>
            <a:off x="228600" y="2231136"/>
            <a:ext cx="5623560" cy="841248"/>
          </a:xfrm>
          <a:prstGeom prst="rect">
            <a:avLst/>
          </a:prstGeom>
          <a:solidFill>
            <a:srgbClr val="FFFFFF"/>
          </a:solidFill>
          <a:ln/>
          <a:effectLst>
            <a:outerShdw sx="100000" sy="100000" kx="0" ky="0" algn="bl" rotWithShape="0" blurRad="88900" dist="25400" dir="8100000">
              <a:srgbClr val="000000">
                <a:alpha val="9000"/>
              </a:srgbClr>
            </a:outerShdw>
          </a:effectLst>
        </p:spPr>
      </p:sp>
      <p:sp>
        <p:nvSpPr>
          <p:cNvPr id="16" name="Shape 14"/>
          <p:cNvSpPr/>
          <p:nvPr/>
        </p:nvSpPr>
        <p:spPr>
          <a:xfrm>
            <a:off x="228600" y="2231136"/>
            <a:ext cx="54864" cy="841248"/>
          </a:xfrm>
          <a:prstGeom prst="rect">
            <a:avLst/>
          </a:prstGeom>
          <a:solidFill>
            <a:srgbClr val="1565C0"/>
          </a:solidFill>
          <a:ln/>
        </p:spPr>
      </p:sp>
      <p:sp>
        <p:nvSpPr>
          <p:cNvPr id="17" name="Text 15"/>
          <p:cNvSpPr/>
          <p:nvPr/>
        </p:nvSpPr>
        <p:spPr>
          <a:xfrm>
            <a:off x="347472" y="2286000"/>
            <a:ext cx="5349240" cy="237744"/>
          </a:xfrm>
          <a:prstGeom prst="rect">
            <a:avLst/>
          </a:prstGeom>
          <a:noFill/>
          <a:ln/>
        </p:spPr>
        <p:txBody>
          <a:bodyPr wrap="square" lIns="0" tIns="0" rIns="0" bIns="0" rtlCol="0" anchor="ctr"/>
          <a:lstStyle/>
          <a:p>
            <a:pPr indent="0" marL="0">
              <a:buNone/>
            </a:pPr>
            <a:r>
              <a:rPr lang="en-US" sz="920" b="1" dirty="0">
                <a:solidFill>
                  <a:srgbClr val="1565C0"/>
                </a:solidFill>
              </a:rPr>
              <a:t>SUM+DMO Tool: Simultaneous Upgrade + DB Migration</a:t>
            </a:r>
            <a:endParaRPr lang="en-US" sz="920" dirty="0"/>
          </a:p>
        </p:txBody>
      </p:sp>
      <p:sp>
        <p:nvSpPr>
          <p:cNvPr id="18" name="Text 16"/>
          <p:cNvSpPr/>
          <p:nvPr/>
        </p:nvSpPr>
        <p:spPr>
          <a:xfrm>
            <a:off x="347472" y="2542032"/>
            <a:ext cx="5349240" cy="475488"/>
          </a:xfrm>
          <a:prstGeom prst="rect">
            <a:avLst/>
          </a:prstGeom>
          <a:noFill/>
          <a:ln/>
        </p:spPr>
        <p:txBody>
          <a:bodyPr wrap="square" lIns="0" tIns="0" rIns="0" bIns="0" rtlCol="0" anchor="ctr"/>
          <a:lstStyle/>
          <a:p>
            <a:pPr indent="0" marL="0">
              <a:buNone/>
            </a:pPr>
            <a:r>
              <a:rPr lang="en-US" sz="830" dirty="0">
                <a:solidFill>
                  <a:srgbClr val="37474F"/>
                </a:solidFill>
              </a:rPr>
              <a:t>SAP's Software Update Manager with Database Migration Option (SUM+DMO) runs the actual conversion. It does three things at once: (1) upgrades the SAP software from ECC to S/4HANA, (2) migrates the database from Oracle/DB2/SQL Server to SAP HANA, (3) converts all data tables to HANA's optimised column-store format. This is a fully automated SAP-provided tool — not custom code.</a:t>
            </a:r>
            <a:endParaRPr lang="en-US" sz="830" dirty="0"/>
          </a:p>
        </p:txBody>
      </p:sp>
      <p:sp>
        <p:nvSpPr>
          <p:cNvPr id="19" name="Shape 17"/>
          <p:cNvSpPr/>
          <p:nvPr/>
        </p:nvSpPr>
        <p:spPr>
          <a:xfrm>
            <a:off x="228600" y="3145536"/>
            <a:ext cx="5623560" cy="841248"/>
          </a:xfrm>
          <a:prstGeom prst="rect">
            <a:avLst/>
          </a:prstGeom>
          <a:solidFill>
            <a:srgbClr val="E3F2FD"/>
          </a:solidFill>
          <a:ln/>
          <a:effectLst>
            <a:outerShdw sx="100000" sy="100000" kx="0" ky="0" algn="bl" rotWithShape="0" blurRad="88900" dist="25400" dir="8100000">
              <a:srgbClr val="000000">
                <a:alpha val="9000"/>
              </a:srgbClr>
            </a:outerShdw>
          </a:effectLst>
        </p:spPr>
      </p:sp>
      <p:sp>
        <p:nvSpPr>
          <p:cNvPr id="20" name="Shape 18"/>
          <p:cNvSpPr/>
          <p:nvPr/>
        </p:nvSpPr>
        <p:spPr>
          <a:xfrm>
            <a:off x="228600" y="3145536"/>
            <a:ext cx="54864" cy="841248"/>
          </a:xfrm>
          <a:prstGeom prst="rect">
            <a:avLst/>
          </a:prstGeom>
          <a:solidFill>
            <a:srgbClr val="1565C0"/>
          </a:solidFill>
          <a:ln/>
        </p:spPr>
      </p:sp>
      <p:sp>
        <p:nvSpPr>
          <p:cNvPr id="21" name="Text 19"/>
          <p:cNvSpPr/>
          <p:nvPr/>
        </p:nvSpPr>
        <p:spPr>
          <a:xfrm>
            <a:off x="347472" y="3200400"/>
            <a:ext cx="5349240" cy="237744"/>
          </a:xfrm>
          <a:prstGeom prst="rect">
            <a:avLst/>
          </a:prstGeom>
          <a:noFill/>
          <a:ln/>
        </p:spPr>
        <p:txBody>
          <a:bodyPr wrap="square" lIns="0" tIns="0" rIns="0" bIns="0" rtlCol="0" anchor="ctr"/>
          <a:lstStyle/>
          <a:p>
            <a:pPr indent="0" marL="0">
              <a:buNone/>
            </a:pPr>
            <a:r>
              <a:rPr lang="en-US" sz="920" b="1" dirty="0">
                <a:solidFill>
                  <a:srgbClr val="1565C0"/>
                </a:solidFill>
              </a:rPr>
              <a:t>Handles Data Structure Simplification Automatically</a:t>
            </a:r>
            <a:endParaRPr lang="en-US" sz="920" dirty="0"/>
          </a:p>
        </p:txBody>
      </p:sp>
      <p:sp>
        <p:nvSpPr>
          <p:cNvPr id="22" name="Text 20"/>
          <p:cNvSpPr/>
          <p:nvPr/>
        </p:nvSpPr>
        <p:spPr>
          <a:xfrm>
            <a:off x="347472" y="3456432"/>
            <a:ext cx="5349240" cy="475488"/>
          </a:xfrm>
          <a:prstGeom prst="rect">
            <a:avLst/>
          </a:prstGeom>
          <a:noFill/>
          <a:ln/>
        </p:spPr>
        <p:txBody>
          <a:bodyPr wrap="square" lIns="0" tIns="0" rIns="0" bIns="0" rtlCol="0" anchor="ctr"/>
          <a:lstStyle/>
          <a:p>
            <a:pPr indent="0" marL="0">
              <a:buNone/>
            </a:pPr>
            <a:r>
              <a:rPr lang="en-US" sz="830" dirty="0">
                <a:solidFill>
                  <a:srgbClr val="37474F"/>
                </a:solidFill>
              </a:rPr>
              <a:t>S/4HANA has a fundamentally different, simpler database structure than ECC. For example, ECC has two separate finance tables (BSEG and BKPF); S/4HANA merges them into one (ACDOCA). SAP's tool handles all these structural conversions automatically during the migration run — the 30+ years of SAP table design changes are applied without manual intervention.</a:t>
            </a:r>
            <a:endParaRPr lang="en-US" sz="830" dirty="0"/>
          </a:p>
        </p:txBody>
      </p:sp>
      <p:sp>
        <p:nvSpPr>
          <p:cNvPr id="23" name="Shape 21"/>
          <p:cNvSpPr/>
          <p:nvPr/>
        </p:nvSpPr>
        <p:spPr>
          <a:xfrm>
            <a:off x="228600" y="4059936"/>
            <a:ext cx="5623560" cy="841248"/>
          </a:xfrm>
          <a:prstGeom prst="rect">
            <a:avLst/>
          </a:prstGeom>
          <a:solidFill>
            <a:srgbClr val="FFFFFF"/>
          </a:solidFill>
          <a:ln/>
          <a:effectLst>
            <a:outerShdw sx="100000" sy="100000" kx="0" ky="0" algn="bl" rotWithShape="0" blurRad="88900" dist="25400" dir="8100000">
              <a:srgbClr val="000000">
                <a:alpha val="9000"/>
              </a:srgbClr>
            </a:outerShdw>
          </a:effectLst>
        </p:spPr>
      </p:sp>
      <p:sp>
        <p:nvSpPr>
          <p:cNvPr id="24" name="Shape 22"/>
          <p:cNvSpPr/>
          <p:nvPr/>
        </p:nvSpPr>
        <p:spPr>
          <a:xfrm>
            <a:off x="228600" y="4059936"/>
            <a:ext cx="54864" cy="841248"/>
          </a:xfrm>
          <a:prstGeom prst="rect">
            <a:avLst/>
          </a:prstGeom>
          <a:solidFill>
            <a:srgbClr val="1565C0"/>
          </a:solidFill>
          <a:ln/>
        </p:spPr>
      </p:sp>
      <p:sp>
        <p:nvSpPr>
          <p:cNvPr id="25" name="Text 23"/>
          <p:cNvSpPr/>
          <p:nvPr/>
        </p:nvSpPr>
        <p:spPr>
          <a:xfrm>
            <a:off x="347472" y="4114800"/>
            <a:ext cx="5349240" cy="237744"/>
          </a:xfrm>
          <a:prstGeom prst="rect">
            <a:avLst/>
          </a:prstGeom>
          <a:noFill/>
          <a:ln/>
        </p:spPr>
        <p:txBody>
          <a:bodyPr wrap="square" lIns="0" tIns="0" rIns="0" bIns="0" rtlCol="0" anchor="ctr"/>
          <a:lstStyle/>
          <a:p>
            <a:pPr indent="0" marL="0">
              <a:buNone/>
            </a:pPr>
            <a:r>
              <a:rPr lang="en-US" sz="920" b="1" dirty="0">
                <a:solidFill>
                  <a:srgbClr val="1565C0"/>
                </a:solidFill>
              </a:rPr>
              <a:t>Manages the System Downtime Window</a:t>
            </a:r>
            <a:endParaRPr lang="en-US" sz="920" dirty="0"/>
          </a:p>
        </p:txBody>
      </p:sp>
      <p:sp>
        <p:nvSpPr>
          <p:cNvPr id="26" name="Text 24"/>
          <p:cNvSpPr/>
          <p:nvPr/>
        </p:nvSpPr>
        <p:spPr>
          <a:xfrm>
            <a:off x="347472" y="4370832"/>
            <a:ext cx="5349240" cy="475488"/>
          </a:xfrm>
          <a:prstGeom prst="rect">
            <a:avLst/>
          </a:prstGeom>
          <a:noFill/>
          <a:ln/>
        </p:spPr>
        <p:txBody>
          <a:bodyPr wrap="square" lIns="0" tIns="0" rIns="0" bIns="0" rtlCol="0" anchor="ctr"/>
          <a:lstStyle/>
          <a:p>
            <a:pPr indent="0" marL="0">
              <a:buNone/>
            </a:pPr>
            <a:r>
              <a:rPr lang="en-US" sz="830" dirty="0">
                <a:solidFill>
                  <a:srgbClr val="37474F"/>
                </a:solidFill>
              </a:rPr>
              <a:t>SAP guarantees and manages the conversion window — the period when the production system is offline. Under RISE with SAP, the infrastructure resources (CPU, RAM) are temporarily scaled up to maximum during conversion to run the SUM+DMO tool as fast as possible, minimising downtime. SAP has run thousands of these conversions globally and has optimisation techniques to reduce the window.</a:t>
            </a:r>
            <a:endParaRPr lang="en-US" sz="830" dirty="0"/>
          </a:p>
        </p:txBody>
      </p:sp>
      <p:sp>
        <p:nvSpPr>
          <p:cNvPr id="27" name="Shape 25"/>
          <p:cNvSpPr/>
          <p:nvPr/>
        </p:nvSpPr>
        <p:spPr>
          <a:xfrm>
            <a:off x="6309360" y="1810512"/>
            <a:ext cx="5623560" cy="365760"/>
          </a:xfrm>
          <a:prstGeom prst="rect">
            <a:avLst/>
          </a:prstGeom>
          <a:solidFill>
            <a:srgbClr val="00796B"/>
          </a:solidFill>
          <a:ln/>
        </p:spPr>
      </p:sp>
      <p:sp>
        <p:nvSpPr>
          <p:cNvPr id="28" name="Text 26"/>
          <p:cNvSpPr/>
          <p:nvPr/>
        </p:nvSpPr>
        <p:spPr>
          <a:xfrm>
            <a:off x="6400800" y="1810512"/>
            <a:ext cx="5440680" cy="365760"/>
          </a:xfrm>
          <a:prstGeom prst="rect">
            <a:avLst/>
          </a:prstGeom>
          <a:noFill/>
          <a:ln/>
        </p:spPr>
        <p:txBody>
          <a:bodyPr wrap="square" lIns="0" tIns="0" rIns="0" bIns="0" rtlCol="0" anchor="ctr"/>
          <a:lstStyle/>
          <a:p>
            <a:pPr indent="0" marL="0">
              <a:buNone/>
            </a:pPr>
            <a:r>
              <a:rPr lang="en-US" sz="950" b="1" dirty="0">
                <a:solidFill>
                  <a:srgbClr val="FFFFFF"/>
                </a:solidFill>
              </a:rPr>
              <a:t>YOUR TEAM'S ROLE — What the SI Partner Does</a:t>
            </a:r>
            <a:endParaRPr lang="en-US" sz="950" dirty="0"/>
          </a:p>
        </p:txBody>
      </p:sp>
      <p:sp>
        <p:nvSpPr>
          <p:cNvPr id="29" name="Shape 27"/>
          <p:cNvSpPr/>
          <p:nvPr/>
        </p:nvSpPr>
        <p:spPr>
          <a:xfrm>
            <a:off x="6309360" y="2231136"/>
            <a:ext cx="5623560" cy="841248"/>
          </a:xfrm>
          <a:prstGeom prst="rect">
            <a:avLst/>
          </a:prstGeom>
          <a:solidFill>
            <a:srgbClr val="FFFFFF"/>
          </a:solidFill>
          <a:ln/>
          <a:effectLst>
            <a:outerShdw sx="100000" sy="100000" kx="0" ky="0" algn="bl" rotWithShape="0" blurRad="88900" dist="25400" dir="8100000">
              <a:srgbClr val="000000">
                <a:alpha val="9000"/>
              </a:srgbClr>
            </a:outerShdw>
          </a:effectLst>
        </p:spPr>
      </p:sp>
      <p:sp>
        <p:nvSpPr>
          <p:cNvPr id="30" name="Shape 28"/>
          <p:cNvSpPr/>
          <p:nvPr/>
        </p:nvSpPr>
        <p:spPr>
          <a:xfrm>
            <a:off x="6309360" y="2231136"/>
            <a:ext cx="54864" cy="841248"/>
          </a:xfrm>
          <a:prstGeom prst="rect">
            <a:avLst/>
          </a:prstGeom>
          <a:solidFill>
            <a:srgbClr val="00796B"/>
          </a:solidFill>
          <a:ln/>
        </p:spPr>
      </p:sp>
      <p:sp>
        <p:nvSpPr>
          <p:cNvPr id="31" name="Text 29"/>
          <p:cNvSpPr/>
          <p:nvPr/>
        </p:nvSpPr>
        <p:spPr>
          <a:xfrm>
            <a:off x="6428232" y="2286000"/>
            <a:ext cx="5349240" cy="237744"/>
          </a:xfrm>
          <a:prstGeom prst="rect">
            <a:avLst/>
          </a:prstGeom>
          <a:noFill/>
          <a:ln/>
        </p:spPr>
        <p:txBody>
          <a:bodyPr wrap="square" lIns="0" tIns="0" rIns="0" bIns="0" rtlCol="0" anchor="ctr"/>
          <a:lstStyle/>
          <a:p>
            <a:pPr indent="0" marL="0">
              <a:buNone/>
            </a:pPr>
            <a:r>
              <a:rPr lang="en-US" sz="920" b="1" dirty="0">
                <a:solidFill>
                  <a:srgbClr val="00796B"/>
                </a:solidFill>
              </a:rPr>
              <a:t>Manage the Conversion Weekend War Room</a:t>
            </a:r>
            <a:endParaRPr lang="en-US" sz="920" dirty="0"/>
          </a:p>
        </p:txBody>
      </p:sp>
      <p:sp>
        <p:nvSpPr>
          <p:cNvPr id="32" name="Text 30"/>
          <p:cNvSpPr/>
          <p:nvPr/>
        </p:nvSpPr>
        <p:spPr>
          <a:xfrm>
            <a:off x="6428232" y="2542032"/>
            <a:ext cx="5349240" cy="475488"/>
          </a:xfrm>
          <a:prstGeom prst="rect">
            <a:avLst/>
          </a:prstGeom>
          <a:noFill/>
          <a:ln/>
        </p:spPr>
        <p:txBody>
          <a:bodyPr wrap="square" lIns="0" tIns="0" rIns="0" bIns="0" rtlCol="0" anchor="ctr"/>
          <a:lstStyle/>
          <a:p>
            <a:pPr indent="0" marL="0">
              <a:buNone/>
            </a:pPr>
            <a:r>
              <a:rPr lang="en-US" sz="830" dirty="0">
                <a:solidFill>
                  <a:srgbClr val="37474F"/>
                </a:solidFill>
              </a:rPr>
              <a:t>Your team runs a 24/7 war room during the conversion weekend — typically 30–70 hours continuous. Your Basis team monitors the SUM+DMO tool's progress in real time, ready to intervene if the tool encounters an error. Your functional leads are on standby to validate outputs. A detailed cutover plan with minute-by-minute tasks and rollback triggers is executed.</a:t>
            </a:r>
            <a:endParaRPr lang="en-US" sz="830" dirty="0"/>
          </a:p>
        </p:txBody>
      </p:sp>
      <p:sp>
        <p:nvSpPr>
          <p:cNvPr id="33" name="Shape 31"/>
          <p:cNvSpPr/>
          <p:nvPr/>
        </p:nvSpPr>
        <p:spPr>
          <a:xfrm>
            <a:off x="6309360" y="3145536"/>
            <a:ext cx="5623560" cy="841248"/>
          </a:xfrm>
          <a:prstGeom prst="rect">
            <a:avLst/>
          </a:prstGeom>
          <a:solidFill>
            <a:srgbClr val="E0F2F1"/>
          </a:solidFill>
          <a:ln/>
          <a:effectLst>
            <a:outerShdw sx="100000" sy="100000" kx="0" ky="0" algn="bl" rotWithShape="0" blurRad="88900" dist="25400" dir="8100000">
              <a:srgbClr val="000000">
                <a:alpha val="9000"/>
              </a:srgbClr>
            </a:outerShdw>
          </a:effectLst>
        </p:spPr>
      </p:sp>
      <p:sp>
        <p:nvSpPr>
          <p:cNvPr id="34" name="Shape 32"/>
          <p:cNvSpPr/>
          <p:nvPr/>
        </p:nvSpPr>
        <p:spPr>
          <a:xfrm>
            <a:off x="6309360" y="3145536"/>
            <a:ext cx="54864" cy="841248"/>
          </a:xfrm>
          <a:prstGeom prst="rect">
            <a:avLst/>
          </a:prstGeom>
          <a:solidFill>
            <a:srgbClr val="00796B"/>
          </a:solidFill>
          <a:ln/>
        </p:spPr>
      </p:sp>
      <p:sp>
        <p:nvSpPr>
          <p:cNvPr id="35" name="Text 33"/>
          <p:cNvSpPr/>
          <p:nvPr/>
        </p:nvSpPr>
        <p:spPr>
          <a:xfrm>
            <a:off x="6428232" y="3200400"/>
            <a:ext cx="5349240" cy="237744"/>
          </a:xfrm>
          <a:prstGeom prst="rect">
            <a:avLst/>
          </a:prstGeom>
          <a:noFill/>
          <a:ln/>
        </p:spPr>
        <p:txBody>
          <a:bodyPr wrap="square" lIns="0" tIns="0" rIns="0" bIns="0" rtlCol="0" anchor="ctr"/>
          <a:lstStyle/>
          <a:p>
            <a:pPr indent="0" marL="0">
              <a:buNone/>
            </a:pPr>
            <a:r>
              <a:rPr lang="en-US" sz="920" b="1" dirty="0">
                <a:solidFill>
                  <a:srgbClr val="00796B"/>
                </a:solidFill>
              </a:rPr>
              <a:t>Execute Data Migration Runs (Master Data &amp; Open Items)</a:t>
            </a:r>
            <a:endParaRPr lang="en-US" sz="920" dirty="0"/>
          </a:p>
        </p:txBody>
      </p:sp>
      <p:sp>
        <p:nvSpPr>
          <p:cNvPr id="36" name="Text 34"/>
          <p:cNvSpPr/>
          <p:nvPr/>
        </p:nvSpPr>
        <p:spPr>
          <a:xfrm>
            <a:off x="6428232" y="3456432"/>
            <a:ext cx="5349240" cy="475488"/>
          </a:xfrm>
          <a:prstGeom prst="rect">
            <a:avLst/>
          </a:prstGeom>
          <a:noFill/>
          <a:ln/>
        </p:spPr>
        <p:txBody>
          <a:bodyPr wrap="square" lIns="0" tIns="0" rIns="0" bIns="0" rtlCol="0" anchor="ctr"/>
          <a:lstStyle/>
          <a:p>
            <a:pPr indent="0" marL="0">
              <a:buNone/>
            </a:pPr>
            <a:r>
              <a:rPr lang="en-US" sz="830" dirty="0">
                <a:solidFill>
                  <a:srgbClr val="37474F"/>
                </a:solidFill>
              </a:rPr>
              <a:t>While SUM+DMO handles the conversion of existing ECC data, your team separately migrates data that needs transformation: master data (vendor details, customer records, material master) and open items (purchase orders not yet closed, sales orders in progress, open invoices). Using the SAP Migration Cockpit, your team runs multiple test loads before the final production load.</a:t>
            </a:r>
            <a:endParaRPr lang="en-US" sz="830" dirty="0"/>
          </a:p>
        </p:txBody>
      </p:sp>
      <p:sp>
        <p:nvSpPr>
          <p:cNvPr id="37" name="Shape 35"/>
          <p:cNvSpPr/>
          <p:nvPr/>
        </p:nvSpPr>
        <p:spPr>
          <a:xfrm>
            <a:off x="6309360" y="4059936"/>
            <a:ext cx="5623560" cy="841248"/>
          </a:xfrm>
          <a:prstGeom prst="rect">
            <a:avLst/>
          </a:prstGeom>
          <a:solidFill>
            <a:srgbClr val="FFFFFF"/>
          </a:solidFill>
          <a:ln/>
          <a:effectLst>
            <a:outerShdw sx="100000" sy="100000" kx="0" ky="0" algn="bl" rotWithShape="0" blurRad="88900" dist="25400" dir="8100000">
              <a:srgbClr val="000000">
                <a:alpha val="9000"/>
              </a:srgbClr>
            </a:outerShdw>
          </a:effectLst>
        </p:spPr>
      </p:sp>
      <p:sp>
        <p:nvSpPr>
          <p:cNvPr id="38" name="Shape 36"/>
          <p:cNvSpPr/>
          <p:nvPr/>
        </p:nvSpPr>
        <p:spPr>
          <a:xfrm>
            <a:off x="6309360" y="4059936"/>
            <a:ext cx="54864" cy="841248"/>
          </a:xfrm>
          <a:prstGeom prst="rect">
            <a:avLst/>
          </a:prstGeom>
          <a:solidFill>
            <a:srgbClr val="00796B"/>
          </a:solidFill>
          <a:ln/>
        </p:spPr>
      </p:sp>
      <p:sp>
        <p:nvSpPr>
          <p:cNvPr id="39" name="Text 37"/>
          <p:cNvSpPr/>
          <p:nvPr/>
        </p:nvSpPr>
        <p:spPr>
          <a:xfrm>
            <a:off x="6428232" y="4114800"/>
            <a:ext cx="5349240" cy="237744"/>
          </a:xfrm>
          <a:prstGeom prst="rect">
            <a:avLst/>
          </a:prstGeom>
          <a:noFill/>
          <a:ln/>
        </p:spPr>
        <p:txBody>
          <a:bodyPr wrap="square" lIns="0" tIns="0" rIns="0" bIns="0" rtlCol="0" anchor="ctr"/>
          <a:lstStyle/>
          <a:p>
            <a:pPr indent="0" marL="0">
              <a:buNone/>
            </a:pPr>
            <a:r>
              <a:rPr lang="en-US" sz="920" b="1" dirty="0">
                <a:solidFill>
                  <a:srgbClr val="00796B"/>
                </a:solidFill>
              </a:rPr>
              <a:t>Validate System Integrity Post-Conversion</a:t>
            </a:r>
            <a:endParaRPr lang="en-US" sz="920" dirty="0"/>
          </a:p>
        </p:txBody>
      </p:sp>
      <p:sp>
        <p:nvSpPr>
          <p:cNvPr id="40" name="Text 38"/>
          <p:cNvSpPr/>
          <p:nvPr/>
        </p:nvSpPr>
        <p:spPr>
          <a:xfrm>
            <a:off x="6428232" y="4370832"/>
            <a:ext cx="5349240" cy="475488"/>
          </a:xfrm>
          <a:prstGeom prst="rect">
            <a:avLst/>
          </a:prstGeom>
          <a:noFill/>
          <a:ln/>
        </p:spPr>
        <p:txBody>
          <a:bodyPr wrap="square" lIns="0" tIns="0" rIns="0" bIns="0" rtlCol="0" anchor="ctr"/>
          <a:lstStyle/>
          <a:p>
            <a:pPr indent="0" marL="0">
              <a:buNone/>
            </a:pPr>
            <a:r>
              <a:rPr lang="en-US" sz="830" dirty="0">
                <a:solidFill>
                  <a:srgbClr val="37474F"/>
                </a:solidFill>
              </a:rPr>
              <a:t>Immediately after the SUM+DMO tool completes, your team runs a structured series of technical checks: Can users log in? Are all SAP modules starting correctly? Are the financial balances matching the pre-conversion totals? Are all integrations alive? This go/no-go checklist determines whether to proceed to go-live or execute the rollback plan.</a:t>
            </a:r>
            <a:endParaRPr lang="en-US" sz="830" dirty="0"/>
          </a:p>
        </p:txBody>
      </p:sp>
      <p:sp>
        <p:nvSpPr>
          <p:cNvPr id="41" name="Shape 39"/>
          <p:cNvSpPr/>
          <p:nvPr/>
        </p:nvSpPr>
        <p:spPr>
          <a:xfrm>
            <a:off x="228600" y="6446520"/>
            <a:ext cx="11704320" cy="329184"/>
          </a:xfrm>
          <a:prstGeom prst="rect">
            <a:avLst/>
          </a:prstGeom>
          <a:solidFill>
            <a:srgbClr val="F1F5F9"/>
          </a:solidFill>
          <a:ln/>
        </p:spPr>
      </p:sp>
      <p:sp>
        <p:nvSpPr>
          <p:cNvPr id="42" name="Text 40"/>
          <p:cNvSpPr/>
          <p:nvPr/>
        </p:nvSpPr>
        <p:spPr>
          <a:xfrm>
            <a:off x="365760" y="6473952"/>
            <a:ext cx="2011680" cy="274320"/>
          </a:xfrm>
          <a:prstGeom prst="rect">
            <a:avLst/>
          </a:prstGeom>
          <a:noFill/>
          <a:ln/>
        </p:spPr>
        <p:txBody>
          <a:bodyPr wrap="square" lIns="0" tIns="0" rIns="0" bIns="0" rtlCol="0" anchor="ctr"/>
          <a:lstStyle/>
          <a:p>
            <a:pPr indent="0" marL="0">
              <a:buNone/>
            </a:pPr>
            <a:r>
              <a:rPr lang="en-US" sz="750" b="1" dirty="0">
                <a:solidFill>
                  <a:srgbClr val="37474F"/>
                </a:solidFill>
              </a:rPr>
              <a:t>KEY TOOLS USED IN THIS STEP:</a:t>
            </a:r>
            <a:endParaRPr lang="en-US" sz="750" dirty="0"/>
          </a:p>
        </p:txBody>
      </p:sp>
      <p:sp>
        <p:nvSpPr>
          <p:cNvPr id="43" name="Text 41"/>
          <p:cNvSpPr/>
          <p:nvPr/>
        </p:nvSpPr>
        <p:spPr>
          <a:xfrm>
            <a:off x="2423160" y="6473952"/>
            <a:ext cx="9326880" cy="274320"/>
          </a:xfrm>
          <a:prstGeom prst="rect">
            <a:avLst/>
          </a:prstGeom>
          <a:noFill/>
          <a:ln/>
        </p:spPr>
        <p:txBody>
          <a:bodyPr wrap="square" lIns="0" tIns="0" rIns="0" bIns="0" rtlCol="0" anchor="ctr"/>
          <a:lstStyle/>
          <a:p>
            <a:pPr indent="0" marL="0">
              <a:buNone/>
            </a:pPr>
            <a:r>
              <a:rPr lang="en-US" sz="780" dirty="0">
                <a:solidFill>
                  <a:srgbClr val="37474F"/>
                </a:solidFill>
              </a:rPr>
              <a:t>SAP SUM+DMO (Software Update Manager + DB Migration Option)  ·  SAP Migration Cockpit  ·  SAPup Monitoring Tools  ·  GCP Operations Suite (monitoring)  ·  Basis Cutover Playbook</a:t>
            </a:r>
            <a:endParaRPr lang="en-US" sz="78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8FAFD"/>
        </a:solidFill>
      </p:bgPr>
    </p:bg>
    <p:spTree>
      <p:nvGrpSpPr>
        <p:cNvPr id="1" name=""/>
        <p:cNvGrpSpPr/>
        <p:nvPr/>
      </p:nvGrpSpPr>
      <p:grpSpPr>
        <a:xfrm>
          <a:off x="0" y="0"/>
          <a:ext cx="0" cy="0"/>
          <a:chOff x="0" y="0"/>
          <a:chExt cx="0" cy="0"/>
        </a:xfrm>
      </p:grpSpPr>
      <p:sp>
        <p:nvSpPr>
          <p:cNvPr id="2" name="Shape 0"/>
          <p:cNvSpPr/>
          <p:nvPr/>
        </p:nvSpPr>
        <p:spPr>
          <a:xfrm>
            <a:off x="0" y="0"/>
            <a:ext cx="12161520" cy="749808"/>
          </a:xfrm>
          <a:prstGeom prst="rect">
            <a:avLst/>
          </a:prstGeom>
          <a:solidFill>
            <a:srgbClr val="0D1B2A"/>
          </a:solidFill>
          <a:ln/>
        </p:spPr>
      </p:sp>
      <p:sp>
        <p:nvSpPr>
          <p:cNvPr id="3" name="Shape 1"/>
          <p:cNvSpPr/>
          <p:nvPr/>
        </p:nvSpPr>
        <p:spPr>
          <a:xfrm>
            <a:off x="0" y="0"/>
            <a:ext cx="274320" cy="749808"/>
          </a:xfrm>
          <a:prstGeom prst="rect">
            <a:avLst/>
          </a:prstGeom>
          <a:solidFill>
            <a:srgbClr val="E65100"/>
          </a:solidFill>
          <a:ln/>
        </p:spPr>
      </p:sp>
      <p:sp>
        <p:nvSpPr>
          <p:cNvPr id="4" name="Shape 2"/>
          <p:cNvSpPr/>
          <p:nvPr/>
        </p:nvSpPr>
        <p:spPr>
          <a:xfrm>
            <a:off x="457200" y="109728"/>
            <a:ext cx="530352" cy="530352"/>
          </a:xfrm>
          <a:prstGeom prst="rect">
            <a:avLst/>
          </a:prstGeom>
          <a:solidFill>
            <a:srgbClr val="E65100"/>
          </a:solidFill>
          <a:ln/>
        </p:spPr>
      </p:sp>
      <p:sp>
        <p:nvSpPr>
          <p:cNvPr id="5" name="Text 3"/>
          <p:cNvSpPr/>
          <p:nvPr/>
        </p:nvSpPr>
        <p:spPr>
          <a:xfrm>
            <a:off x="457200" y="109728"/>
            <a:ext cx="530352" cy="530352"/>
          </a:xfrm>
          <a:prstGeom prst="rect">
            <a:avLst/>
          </a:prstGeom>
          <a:noFill/>
          <a:ln/>
        </p:spPr>
        <p:txBody>
          <a:bodyPr wrap="square" lIns="0" tIns="0" rIns="0" bIns="0" rtlCol="0" anchor="ctr"/>
          <a:lstStyle/>
          <a:p>
            <a:pPr algn="ctr" indent="0" marL="0">
              <a:buNone/>
            </a:pPr>
            <a:r>
              <a:rPr lang="en-US" sz="2000" b="1" dirty="0">
                <a:solidFill>
                  <a:srgbClr val="FFFFFF"/>
                </a:solidFill>
              </a:rPr>
              <a:t>4</a:t>
            </a:r>
            <a:endParaRPr lang="en-US" sz="2000" dirty="0"/>
          </a:p>
        </p:txBody>
      </p:sp>
      <p:sp>
        <p:nvSpPr>
          <p:cNvPr id="6" name="Text 4"/>
          <p:cNvSpPr/>
          <p:nvPr/>
        </p:nvSpPr>
        <p:spPr>
          <a:xfrm>
            <a:off x="1115568" y="0"/>
            <a:ext cx="10058400" cy="749808"/>
          </a:xfrm>
          <a:prstGeom prst="rect">
            <a:avLst/>
          </a:prstGeom>
          <a:noFill/>
          <a:ln/>
        </p:spPr>
        <p:txBody>
          <a:bodyPr wrap="square" lIns="0" tIns="0" rIns="0" bIns="0" rtlCol="0" anchor="ctr"/>
          <a:lstStyle/>
          <a:p>
            <a:pPr indent="0" marL="0">
              <a:buNone/>
            </a:pPr>
            <a:r>
              <a:rPr lang="en-US" sz="1400" b="1" spc="80" kern="0" dirty="0">
                <a:solidFill>
                  <a:srgbClr val="FFFFFF"/>
                </a:solidFill>
              </a:rPr>
              <a:t>PART 2  |  STEP 4: REMEDIATE, CONFIGURE &amp; TEST</a:t>
            </a:r>
            <a:endParaRPr lang="en-US" sz="1400" dirty="0"/>
          </a:p>
        </p:txBody>
      </p:sp>
      <p:sp>
        <p:nvSpPr>
          <p:cNvPr id="7" name="Shape 5"/>
          <p:cNvSpPr/>
          <p:nvPr/>
        </p:nvSpPr>
        <p:spPr>
          <a:xfrm>
            <a:off x="10607040" y="164592"/>
            <a:ext cx="1417320" cy="420624"/>
          </a:xfrm>
          <a:prstGeom prst="rect">
            <a:avLst/>
          </a:prstGeom>
          <a:solidFill>
            <a:srgbClr val="E65100"/>
          </a:solidFill>
          <a:ln/>
        </p:spPr>
      </p:sp>
      <p:sp>
        <p:nvSpPr>
          <p:cNvPr id="8" name="Text 6"/>
          <p:cNvSpPr/>
          <p:nvPr/>
        </p:nvSpPr>
        <p:spPr>
          <a:xfrm>
            <a:off x="10607040" y="164592"/>
            <a:ext cx="1417320" cy="420624"/>
          </a:xfrm>
          <a:prstGeom prst="rect">
            <a:avLst/>
          </a:prstGeom>
          <a:noFill/>
          <a:ln/>
        </p:spPr>
        <p:txBody>
          <a:bodyPr wrap="square" lIns="0" tIns="0" rIns="0" bIns="0" rtlCol="0" anchor="ctr"/>
          <a:lstStyle/>
          <a:p>
            <a:pPr algn="ctr" indent="0" marL="0">
              <a:buNone/>
            </a:pPr>
            <a:r>
              <a:rPr lang="en-US" sz="900" b="1" dirty="0">
                <a:solidFill>
                  <a:srgbClr val="FFFFFF"/>
                </a:solidFill>
              </a:rPr>
              <a:t>~ 12–20 Weeks</a:t>
            </a:r>
            <a:endParaRPr lang="en-US" sz="900" dirty="0"/>
          </a:p>
        </p:txBody>
      </p:sp>
      <p:sp>
        <p:nvSpPr>
          <p:cNvPr id="9" name="Shape 7"/>
          <p:cNvSpPr/>
          <p:nvPr/>
        </p:nvSpPr>
        <p:spPr>
          <a:xfrm>
            <a:off x="228600" y="841248"/>
            <a:ext cx="11704320" cy="868680"/>
          </a:xfrm>
          <a:prstGeom prst="rect">
            <a:avLst/>
          </a:prstGeom>
          <a:solidFill>
            <a:srgbClr val="FFF3E0"/>
          </a:solidFill>
          <a:ln/>
        </p:spPr>
      </p:sp>
      <p:sp>
        <p:nvSpPr>
          <p:cNvPr id="10" name="Shape 8"/>
          <p:cNvSpPr/>
          <p:nvPr/>
        </p:nvSpPr>
        <p:spPr>
          <a:xfrm>
            <a:off x="228600" y="841248"/>
            <a:ext cx="64008" cy="868680"/>
          </a:xfrm>
          <a:prstGeom prst="rect">
            <a:avLst/>
          </a:prstGeom>
          <a:solidFill>
            <a:srgbClr val="E65100"/>
          </a:solidFill>
          <a:ln/>
        </p:spPr>
      </p:sp>
      <p:sp>
        <p:nvSpPr>
          <p:cNvPr id="11" name="Text 9"/>
          <p:cNvSpPr/>
          <p:nvPr/>
        </p:nvSpPr>
        <p:spPr>
          <a:xfrm>
            <a:off x="411480" y="859536"/>
            <a:ext cx="11338560" cy="256032"/>
          </a:xfrm>
          <a:prstGeom prst="rect">
            <a:avLst/>
          </a:prstGeom>
          <a:noFill/>
          <a:ln/>
        </p:spPr>
        <p:txBody>
          <a:bodyPr wrap="square" lIns="0" tIns="0" rIns="0" bIns="0" rtlCol="0" anchor="ctr"/>
          <a:lstStyle/>
          <a:p>
            <a:pPr indent="0" marL="0">
              <a:buNone/>
            </a:pPr>
            <a:r>
              <a:rPr lang="en-US" sz="1100" b="1" dirty="0">
                <a:solidFill>
                  <a:srgbClr val="E65100"/>
                </a:solidFill>
              </a:rPr>
              <a:t>All custom programs are fixed for S/4HANA, the system is fully configured, and rigorous testing is conducted.</a:t>
            </a:r>
            <a:endParaRPr lang="en-US" sz="1100" dirty="0"/>
          </a:p>
        </p:txBody>
      </p:sp>
      <p:sp>
        <p:nvSpPr>
          <p:cNvPr id="12" name="Text 10"/>
          <p:cNvSpPr/>
          <p:nvPr/>
        </p:nvSpPr>
        <p:spPr>
          <a:xfrm>
            <a:off x="411480" y="1124712"/>
            <a:ext cx="11338560" cy="521208"/>
          </a:xfrm>
          <a:prstGeom prst="rect">
            <a:avLst/>
          </a:prstGeom>
          <a:noFill/>
          <a:ln/>
        </p:spPr>
        <p:txBody>
          <a:bodyPr wrap="square" lIns="0" tIns="0" rIns="0" bIns="0" rtlCol="0" anchor="ctr"/>
          <a:lstStyle/>
          <a:p>
            <a:pPr indent="0" marL="0">
              <a:buNone/>
            </a:pPr>
            <a:r>
              <a:rPr lang="en-US" sz="920" dirty="0">
                <a:solidFill>
                  <a:srgbClr val="263238"/>
                </a:solidFill>
              </a:rPr>
              <a:t>Post-conversion, the system runs S/4HANA but is not yet ready for business use — custom code may have broken, configuration hasn't been fully set up for the customer's specific business requirements, and all processes must be tested. This is typically the longest phase of the project, requiring deep expertise across all SAP modules. Your team is at peak capacity during this phase.</a:t>
            </a:r>
            <a:endParaRPr lang="en-US" sz="920" dirty="0"/>
          </a:p>
        </p:txBody>
      </p:sp>
      <p:sp>
        <p:nvSpPr>
          <p:cNvPr id="13" name="Shape 11"/>
          <p:cNvSpPr/>
          <p:nvPr/>
        </p:nvSpPr>
        <p:spPr>
          <a:xfrm>
            <a:off x="228600" y="1810512"/>
            <a:ext cx="5623560" cy="365760"/>
          </a:xfrm>
          <a:prstGeom prst="rect">
            <a:avLst/>
          </a:prstGeom>
          <a:solidFill>
            <a:srgbClr val="1565C0"/>
          </a:solidFill>
          <a:ln/>
        </p:spPr>
      </p:sp>
      <p:sp>
        <p:nvSpPr>
          <p:cNvPr id="14" name="Text 12"/>
          <p:cNvSpPr/>
          <p:nvPr/>
        </p:nvSpPr>
        <p:spPr>
          <a:xfrm>
            <a:off x="320040" y="1810512"/>
            <a:ext cx="5440680" cy="365760"/>
          </a:xfrm>
          <a:prstGeom prst="rect">
            <a:avLst/>
          </a:prstGeom>
          <a:noFill/>
          <a:ln/>
        </p:spPr>
        <p:txBody>
          <a:bodyPr wrap="square" lIns="0" tIns="0" rIns="0" bIns="0" rtlCol="0" anchor="ctr"/>
          <a:lstStyle/>
          <a:p>
            <a:pPr indent="0" marL="0">
              <a:buNone/>
            </a:pPr>
            <a:r>
              <a:rPr lang="en-US" sz="950" b="1" dirty="0">
                <a:solidFill>
                  <a:srgbClr val="FFFFFF"/>
                </a:solidFill>
              </a:rPr>
              <a:t>SAP'S ROLE — What SAP Does &amp; How</a:t>
            </a:r>
            <a:endParaRPr lang="en-US" sz="950" dirty="0"/>
          </a:p>
        </p:txBody>
      </p:sp>
      <p:sp>
        <p:nvSpPr>
          <p:cNvPr id="15" name="Shape 13"/>
          <p:cNvSpPr/>
          <p:nvPr/>
        </p:nvSpPr>
        <p:spPr>
          <a:xfrm>
            <a:off x="228600" y="2231136"/>
            <a:ext cx="5623560" cy="841248"/>
          </a:xfrm>
          <a:prstGeom prst="rect">
            <a:avLst/>
          </a:prstGeom>
          <a:solidFill>
            <a:srgbClr val="FFFFFF"/>
          </a:solidFill>
          <a:ln/>
          <a:effectLst>
            <a:outerShdw sx="100000" sy="100000" kx="0" ky="0" algn="bl" rotWithShape="0" blurRad="88900" dist="25400" dir="8100000">
              <a:srgbClr val="000000">
                <a:alpha val="9000"/>
              </a:srgbClr>
            </a:outerShdw>
          </a:effectLst>
        </p:spPr>
      </p:sp>
      <p:sp>
        <p:nvSpPr>
          <p:cNvPr id="16" name="Shape 14"/>
          <p:cNvSpPr/>
          <p:nvPr/>
        </p:nvSpPr>
        <p:spPr>
          <a:xfrm>
            <a:off x="228600" y="2231136"/>
            <a:ext cx="54864" cy="841248"/>
          </a:xfrm>
          <a:prstGeom prst="rect">
            <a:avLst/>
          </a:prstGeom>
          <a:solidFill>
            <a:srgbClr val="1565C0"/>
          </a:solidFill>
          <a:ln/>
        </p:spPr>
      </p:sp>
      <p:sp>
        <p:nvSpPr>
          <p:cNvPr id="17" name="Text 15"/>
          <p:cNvSpPr/>
          <p:nvPr/>
        </p:nvSpPr>
        <p:spPr>
          <a:xfrm>
            <a:off x="347472" y="2286000"/>
            <a:ext cx="5349240" cy="237744"/>
          </a:xfrm>
          <a:prstGeom prst="rect">
            <a:avLst/>
          </a:prstGeom>
          <a:noFill/>
          <a:ln/>
        </p:spPr>
        <p:txBody>
          <a:bodyPr wrap="square" lIns="0" tIns="0" rIns="0" bIns="0" rtlCol="0" anchor="ctr"/>
          <a:lstStyle/>
          <a:p>
            <a:pPr indent="0" marL="0">
              <a:buNone/>
            </a:pPr>
            <a:r>
              <a:rPr lang="en-US" sz="920" b="1" dirty="0">
                <a:solidFill>
                  <a:srgbClr val="1565C0"/>
                </a:solidFill>
              </a:rPr>
              <a:t>Provides ABAP Test Cockpit (ATC) — Automated Code Scanner</a:t>
            </a:r>
            <a:endParaRPr lang="en-US" sz="920" dirty="0"/>
          </a:p>
        </p:txBody>
      </p:sp>
      <p:sp>
        <p:nvSpPr>
          <p:cNvPr id="18" name="Text 16"/>
          <p:cNvSpPr/>
          <p:nvPr/>
        </p:nvSpPr>
        <p:spPr>
          <a:xfrm>
            <a:off x="347472" y="2542032"/>
            <a:ext cx="5349240" cy="475488"/>
          </a:xfrm>
          <a:prstGeom prst="rect">
            <a:avLst/>
          </a:prstGeom>
          <a:noFill/>
          <a:ln/>
        </p:spPr>
        <p:txBody>
          <a:bodyPr wrap="square" lIns="0" tIns="0" rIns="0" bIns="0" rtlCol="0" anchor="ctr"/>
          <a:lstStyle/>
          <a:p>
            <a:pPr indent="0" marL="0">
              <a:buNone/>
            </a:pPr>
            <a:r>
              <a:rPr lang="en-US" sz="830" dirty="0">
                <a:solidFill>
                  <a:srgbClr val="37474F"/>
                </a:solidFill>
              </a:rPr>
              <a:t>SAP's ATC tool automatically scans all the customer's custom ABAP code and flags which programs will break in S/4HANA and why. It categorises findings by severity: errors (must be fixed), warnings (should be fixed), and information (best practice). This prioritisation list guides your developers on where to focus first.</a:t>
            </a:r>
            <a:endParaRPr lang="en-US" sz="830" dirty="0"/>
          </a:p>
        </p:txBody>
      </p:sp>
      <p:sp>
        <p:nvSpPr>
          <p:cNvPr id="19" name="Shape 17"/>
          <p:cNvSpPr/>
          <p:nvPr/>
        </p:nvSpPr>
        <p:spPr>
          <a:xfrm>
            <a:off x="228600" y="3145536"/>
            <a:ext cx="5623560" cy="841248"/>
          </a:xfrm>
          <a:prstGeom prst="rect">
            <a:avLst/>
          </a:prstGeom>
          <a:solidFill>
            <a:srgbClr val="E3F2FD"/>
          </a:solidFill>
          <a:ln/>
          <a:effectLst>
            <a:outerShdw sx="100000" sy="100000" kx="0" ky="0" algn="bl" rotWithShape="0" blurRad="88900" dist="25400" dir="8100000">
              <a:srgbClr val="000000">
                <a:alpha val="9000"/>
              </a:srgbClr>
            </a:outerShdw>
          </a:effectLst>
        </p:spPr>
      </p:sp>
      <p:sp>
        <p:nvSpPr>
          <p:cNvPr id="20" name="Shape 18"/>
          <p:cNvSpPr/>
          <p:nvPr/>
        </p:nvSpPr>
        <p:spPr>
          <a:xfrm>
            <a:off x="228600" y="3145536"/>
            <a:ext cx="54864" cy="841248"/>
          </a:xfrm>
          <a:prstGeom prst="rect">
            <a:avLst/>
          </a:prstGeom>
          <a:solidFill>
            <a:srgbClr val="1565C0"/>
          </a:solidFill>
          <a:ln/>
        </p:spPr>
      </p:sp>
      <p:sp>
        <p:nvSpPr>
          <p:cNvPr id="21" name="Text 19"/>
          <p:cNvSpPr/>
          <p:nvPr/>
        </p:nvSpPr>
        <p:spPr>
          <a:xfrm>
            <a:off x="347472" y="3200400"/>
            <a:ext cx="5349240" cy="237744"/>
          </a:xfrm>
          <a:prstGeom prst="rect">
            <a:avLst/>
          </a:prstGeom>
          <a:noFill/>
          <a:ln/>
        </p:spPr>
        <p:txBody>
          <a:bodyPr wrap="square" lIns="0" tIns="0" rIns="0" bIns="0" rtlCol="0" anchor="ctr"/>
          <a:lstStyle/>
          <a:p>
            <a:pPr indent="0" marL="0">
              <a:buNone/>
            </a:pPr>
            <a:r>
              <a:rPr lang="en-US" sz="920" b="1" dirty="0">
                <a:solidFill>
                  <a:srgbClr val="1565C0"/>
                </a:solidFill>
              </a:rPr>
              <a:t>Provides SAP Fiori — The New S/4HANA User Interface</a:t>
            </a:r>
            <a:endParaRPr lang="en-US" sz="920" dirty="0"/>
          </a:p>
        </p:txBody>
      </p:sp>
      <p:sp>
        <p:nvSpPr>
          <p:cNvPr id="22" name="Text 20"/>
          <p:cNvSpPr/>
          <p:nvPr/>
        </p:nvSpPr>
        <p:spPr>
          <a:xfrm>
            <a:off x="347472" y="3456432"/>
            <a:ext cx="5349240" cy="475488"/>
          </a:xfrm>
          <a:prstGeom prst="rect">
            <a:avLst/>
          </a:prstGeom>
          <a:noFill/>
          <a:ln/>
        </p:spPr>
        <p:txBody>
          <a:bodyPr wrap="square" lIns="0" tIns="0" rIns="0" bIns="0" rtlCol="0" anchor="ctr"/>
          <a:lstStyle/>
          <a:p>
            <a:pPr indent="0" marL="0">
              <a:buNone/>
            </a:pPr>
            <a:r>
              <a:rPr lang="en-US" sz="830" dirty="0">
                <a:solidFill>
                  <a:srgbClr val="37474F"/>
                </a:solidFill>
              </a:rPr>
              <a:t>S/4HANA replaces the old SAP GUI (the green-screen interface) with SAP Fiori — a modern, browser-based, mobile-friendly interface. SAP provides all the standard Fiori apps out of the box. Custom Fiori apps and role-based app catalogues are configured by your team.</a:t>
            </a:r>
            <a:endParaRPr lang="en-US" sz="830" dirty="0"/>
          </a:p>
        </p:txBody>
      </p:sp>
      <p:sp>
        <p:nvSpPr>
          <p:cNvPr id="23" name="Shape 21"/>
          <p:cNvSpPr/>
          <p:nvPr/>
        </p:nvSpPr>
        <p:spPr>
          <a:xfrm>
            <a:off x="228600" y="4059936"/>
            <a:ext cx="5623560" cy="841248"/>
          </a:xfrm>
          <a:prstGeom prst="rect">
            <a:avLst/>
          </a:prstGeom>
          <a:solidFill>
            <a:srgbClr val="FFFFFF"/>
          </a:solidFill>
          <a:ln/>
          <a:effectLst>
            <a:outerShdw sx="100000" sy="100000" kx="0" ky="0" algn="bl" rotWithShape="0" blurRad="88900" dist="25400" dir="8100000">
              <a:srgbClr val="000000">
                <a:alpha val="9000"/>
              </a:srgbClr>
            </a:outerShdw>
          </a:effectLst>
        </p:spPr>
      </p:sp>
      <p:sp>
        <p:nvSpPr>
          <p:cNvPr id="24" name="Shape 22"/>
          <p:cNvSpPr/>
          <p:nvPr/>
        </p:nvSpPr>
        <p:spPr>
          <a:xfrm>
            <a:off x="228600" y="4059936"/>
            <a:ext cx="54864" cy="841248"/>
          </a:xfrm>
          <a:prstGeom prst="rect">
            <a:avLst/>
          </a:prstGeom>
          <a:solidFill>
            <a:srgbClr val="1565C0"/>
          </a:solidFill>
          <a:ln/>
        </p:spPr>
      </p:sp>
      <p:sp>
        <p:nvSpPr>
          <p:cNvPr id="25" name="Text 23"/>
          <p:cNvSpPr/>
          <p:nvPr/>
        </p:nvSpPr>
        <p:spPr>
          <a:xfrm>
            <a:off x="347472" y="4114800"/>
            <a:ext cx="5349240" cy="237744"/>
          </a:xfrm>
          <a:prstGeom prst="rect">
            <a:avLst/>
          </a:prstGeom>
          <a:noFill/>
          <a:ln/>
        </p:spPr>
        <p:txBody>
          <a:bodyPr wrap="square" lIns="0" tIns="0" rIns="0" bIns="0" rtlCol="0" anchor="ctr"/>
          <a:lstStyle/>
          <a:p>
            <a:pPr indent="0" marL="0">
              <a:buNone/>
            </a:pPr>
            <a:r>
              <a:rPr lang="en-US" sz="920" b="1" dirty="0">
                <a:solidFill>
                  <a:srgbClr val="1565C0"/>
                </a:solidFill>
              </a:rPr>
              <a:t>Delivers S/4HANA Best Practice Activation Content</a:t>
            </a:r>
            <a:endParaRPr lang="en-US" sz="920" dirty="0"/>
          </a:p>
        </p:txBody>
      </p:sp>
      <p:sp>
        <p:nvSpPr>
          <p:cNvPr id="26" name="Text 24"/>
          <p:cNvSpPr/>
          <p:nvPr/>
        </p:nvSpPr>
        <p:spPr>
          <a:xfrm>
            <a:off x="347472" y="4370832"/>
            <a:ext cx="5349240" cy="475488"/>
          </a:xfrm>
          <a:prstGeom prst="rect">
            <a:avLst/>
          </a:prstGeom>
          <a:noFill/>
          <a:ln/>
        </p:spPr>
        <p:txBody>
          <a:bodyPr wrap="square" lIns="0" tIns="0" rIns="0" bIns="0" rtlCol="0" anchor="ctr"/>
          <a:lstStyle/>
          <a:p>
            <a:pPr indent="0" marL="0">
              <a:buNone/>
            </a:pPr>
            <a:r>
              <a:rPr lang="en-US" sz="830" dirty="0">
                <a:solidFill>
                  <a:srgbClr val="37474F"/>
                </a:solidFill>
              </a:rPr>
              <a:t>SAP provides pre-built configuration content for 50+ industries and 20+ lines of business. Your team activates the relevant best-practice scenarios (e.g., 'Procurement for Oil &amp; Gas in KSA') as a starting baseline, then customises from there — significantly faster than configuring from scratch.</a:t>
            </a:r>
            <a:endParaRPr lang="en-US" sz="830" dirty="0"/>
          </a:p>
        </p:txBody>
      </p:sp>
      <p:sp>
        <p:nvSpPr>
          <p:cNvPr id="27" name="Shape 25"/>
          <p:cNvSpPr/>
          <p:nvPr/>
        </p:nvSpPr>
        <p:spPr>
          <a:xfrm>
            <a:off x="6309360" y="1810512"/>
            <a:ext cx="5623560" cy="365760"/>
          </a:xfrm>
          <a:prstGeom prst="rect">
            <a:avLst/>
          </a:prstGeom>
          <a:solidFill>
            <a:srgbClr val="00796B"/>
          </a:solidFill>
          <a:ln/>
        </p:spPr>
      </p:sp>
      <p:sp>
        <p:nvSpPr>
          <p:cNvPr id="28" name="Text 26"/>
          <p:cNvSpPr/>
          <p:nvPr/>
        </p:nvSpPr>
        <p:spPr>
          <a:xfrm>
            <a:off x="6400800" y="1810512"/>
            <a:ext cx="5440680" cy="365760"/>
          </a:xfrm>
          <a:prstGeom prst="rect">
            <a:avLst/>
          </a:prstGeom>
          <a:noFill/>
          <a:ln/>
        </p:spPr>
        <p:txBody>
          <a:bodyPr wrap="square" lIns="0" tIns="0" rIns="0" bIns="0" rtlCol="0" anchor="ctr"/>
          <a:lstStyle/>
          <a:p>
            <a:pPr indent="0" marL="0">
              <a:buNone/>
            </a:pPr>
            <a:r>
              <a:rPr lang="en-US" sz="950" b="1" dirty="0">
                <a:solidFill>
                  <a:srgbClr val="FFFFFF"/>
                </a:solidFill>
              </a:rPr>
              <a:t>YOUR TEAM'S ROLE — What the SI Partner Does</a:t>
            </a:r>
            <a:endParaRPr lang="en-US" sz="950" dirty="0"/>
          </a:p>
        </p:txBody>
      </p:sp>
      <p:sp>
        <p:nvSpPr>
          <p:cNvPr id="29" name="Shape 27"/>
          <p:cNvSpPr/>
          <p:nvPr/>
        </p:nvSpPr>
        <p:spPr>
          <a:xfrm>
            <a:off x="6309360" y="2231136"/>
            <a:ext cx="5623560" cy="841248"/>
          </a:xfrm>
          <a:prstGeom prst="rect">
            <a:avLst/>
          </a:prstGeom>
          <a:solidFill>
            <a:srgbClr val="FFFFFF"/>
          </a:solidFill>
          <a:ln/>
          <a:effectLst>
            <a:outerShdw sx="100000" sy="100000" kx="0" ky="0" algn="bl" rotWithShape="0" blurRad="88900" dist="25400" dir="8100000">
              <a:srgbClr val="000000">
                <a:alpha val="9000"/>
              </a:srgbClr>
            </a:outerShdw>
          </a:effectLst>
        </p:spPr>
      </p:sp>
      <p:sp>
        <p:nvSpPr>
          <p:cNvPr id="30" name="Shape 28"/>
          <p:cNvSpPr/>
          <p:nvPr/>
        </p:nvSpPr>
        <p:spPr>
          <a:xfrm>
            <a:off x="6309360" y="2231136"/>
            <a:ext cx="54864" cy="841248"/>
          </a:xfrm>
          <a:prstGeom prst="rect">
            <a:avLst/>
          </a:prstGeom>
          <a:solidFill>
            <a:srgbClr val="00796B"/>
          </a:solidFill>
          <a:ln/>
        </p:spPr>
      </p:sp>
      <p:sp>
        <p:nvSpPr>
          <p:cNvPr id="31" name="Text 29"/>
          <p:cNvSpPr/>
          <p:nvPr/>
        </p:nvSpPr>
        <p:spPr>
          <a:xfrm>
            <a:off x="6428232" y="2286000"/>
            <a:ext cx="5349240" cy="237744"/>
          </a:xfrm>
          <a:prstGeom prst="rect">
            <a:avLst/>
          </a:prstGeom>
          <a:noFill/>
          <a:ln/>
        </p:spPr>
        <p:txBody>
          <a:bodyPr wrap="square" lIns="0" tIns="0" rIns="0" bIns="0" rtlCol="0" anchor="ctr"/>
          <a:lstStyle/>
          <a:p>
            <a:pPr indent="0" marL="0">
              <a:buNone/>
            </a:pPr>
            <a:r>
              <a:rPr lang="en-US" sz="920" b="1" dirty="0">
                <a:solidFill>
                  <a:srgbClr val="00796B"/>
                </a:solidFill>
              </a:rPr>
              <a:t>Custom Code Remediation (ABAP Development)</a:t>
            </a:r>
            <a:endParaRPr lang="en-US" sz="920" dirty="0"/>
          </a:p>
        </p:txBody>
      </p:sp>
      <p:sp>
        <p:nvSpPr>
          <p:cNvPr id="32" name="Text 30"/>
          <p:cNvSpPr/>
          <p:nvPr/>
        </p:nvSpPr>
        <p:spPr>
          <a:xfrm>
            <a:off x="6428232" y="2542032"/>
            <a:ext cx="5349240" cy="475488"/>
          </a:xfrm>
          <a:prstGeom prst="rect">
            <a:avLst/>
          </a:prstGeom>
          <a:noFill/>
          <a:ln/>
        </p:spPr>
        <p:txBody>
          <a:bodyPr wrap="square" lIns="0" tIns="0" rIns="0" bIns="0" rtlCol="0" anchor="ctr"/>
          <a:lstStyle/>
          <a:p>
            <a:pPr indent="0" marL="0">
              <a:buNone/>
            </a:pPr>
            <a:r>
              <a:rPr lang="en-US" sz="830" dirty="0">
                <a:solidFill>
                  <a:srgbClr val="37474F"/>
                </a:solidFill>
              </a:rPr>
              <a:t>Your ABAP developers fix every custom program identified by the ATC scan. For example: a custom Arabic invoice printing program written in 2008 may use a database table that no longer exists in S/4HANA — your developer rewrites it to use the new table. A programme with 3,000 custom objects typically requires 8,000–15,000 developer hours of remediation work.</a:t>
            </a:r>
            <a:endParaRPr lang="en-US" sz="830" dirty="0"/>
          </a:p>
        </p:txBody>
      </p:sp>
      <p:sp>
        <p:nvSpPr>
          <p:cNvPr id="33" name="Shape 31"/>
          <p:cNvSpPr/>
          <p:nvPr/>
        </p:nvSpPr>
        <p:spPr>
          <a:xfrm>
            <a:off x="6309360" y="3145536"/>
            <a:ext cx="5623560" cy="841248"/>
          </a:xfrm>
          <a:prstGeom prst="rect">
            <a:avLst/>
          </a:prstGeom>
          <a:solidFill>
            <a:srgbClr val="E0F2F1"/>
          </a:solidFill>
          <a:ln/>
          <a:effectLst>
            <a:outerShdw sx="100000" sy="100000" kx="0" ky="0" algn="bl" rotWithShape="0" blurRad="88900" dist="25400" dir="8100000">
              <a:srgbClr val="000000">
                <a:alpha val="9000"/>
              </a:srgbClr>
            </a:outerShdw>
          </a:effectLst>
        </p:spPr>
      </p:sp>
      <p:sp>
        <p:nvSpPr>
          <p:cNvPr id="34" name="Shape 32"/>
          <p:cNvSpPr/>
          <p:nvPr/>
        </p:nvSpPr>
        <p:spPr>
          <a:xfrm>
            <a:off x="6309360" y="3145536"/>
            <a:ext cx="54864" cy="841248"/>
          </a:xfrm>
          <a:prstGeom prst="rect">
            <a:avLst/>
          </a:prstGeom>
          <a:solidFill>
            <a:srgbClr val="00796B"/>
          </a:solidFill>
          <a:ln/>
        </p:spPr>
      </p:sp>
      <p:sp>
        <p:nvSpPr>
          <p:cNvPr id="35" name="Text 33"/>
          <p:cNvSpPr/>
          <p:nvPr/>
        </p:nvSpPr>
        <p:spPr>
          <a:xfrm>
            <a:off x="6428232" y="3200400"/>
            <a:ext cx="5349240" cy="237744"/>
          </a:xfrm>
          <a:prstGeom prst="rect">
            <a:avLst/>
          </a:prstGeom>
          <a:noFill/>
          <a:ln/>
        </p:spPr>
        <p:txBody>
          <a:bodyPr wrap="square" lIns="0" tIns="0" rIns="0" bIns="0" rtlCol="0" anchor="ctr"/>
          <a:lstStyle/>
          <a:p>
            <a:pPr indent="0" marL="0">
              <a:buNone/>
            </a:pPr>
            <a:r>
              <a:rPr lang="en-US" sz="920" b="1" dirty="0">
                <a:solidFill>
                  <a:srgbClr val="00796B"/>
                </a:solidFill>
              </a:rPr>
              <a:t>Full SAP Configuration Across All Modules</a:t>
            </a:r>
            <a:endParaRPr lang="en-US" sz="920" dirty="0"/>
          </a:p>
        </p:txBody>
      </p:sp>
      <p:sp>
        <p:nvSpPr>
          <p:cNvPr id="36" name="Text 34"/>
          <p:cNvSpPr/>
          <p:nvPr/>
        </p:nvSpPr>
        <p:spPr>
          <a:xfrm>
            <a:off x="6428232" y="3456432"/>
            <a:ext cx="5349240" cy="475488"/>
          </a:xfrm>
          <a:prstGeom prst="rect">
            <a:avLst/>
          </a:prstGeom>
          <a:noFill/>
          <a:ln/>
        </p:spPr>
        <p:txBody>
          <a:bodyPr wrap="square" lIns="0" tIns="0" rIns="0" bIns="0" rtlCol="0" anchor="ctr"/>
          <a:lstStyle/>
          <a:p>
            <a:pPr indent="0" marL="0">
              <a:buNone/>
            </a:pPr>
            <a:r>
              <a:rPr lang="en-US" sz="830" dirty="0">
                <a:solidFill>
                  <a:srgbClr val="37474F"/>
                </a:solidFill>
              </a:rPr>
              <a:t>Your functional consultants configure every activated SAP module — Finance (GL, AP, AR, Asset Accounting), Procurement (Purchase Orders, Supplier Management), Supply Chain, HR — according to the blueprint designed in Step 1. For a KSA customer, this includes local requirements: Arabic language settings, Zakat tax configuration, ZATCA e-invoicing setup, Hijri calendar support, and Riyal currency handling.</a:t>
            </a:r>
            <a:endParaRPr lang="en-US" sz="830" dirty="0"/>
          </a:p>
        </p:txBody>
      </p:sp>
      <p:sp>
        <p:nvSpPr>
          <p:cNvPr id="37" name="Shape 35"/>
          <p:cNvSpPr/>
          <p:nvPr/>
        </p:nvSpPr>
        <p:spPr>
          <a:xfrm>
            <a:off x="6309360" y="4059936"/>
            <a:ext cx="5623560" cy="841248"/>
          </a:xfrm>
          <a:prstGeom prst="rect">
            <a:avLst/>
          </a:prstGeom>
          <a:solidFill>
            <a:srgbClr val="FFFFFF"/>
          </a:solidFill>
          <a:ln/>
          <a:effectLst>
            <a:outerShdw sx="100000" sy="100000" kx="0" ky="0" algn="bl" rotWithShape="0" blurRad="88900" dist="25400" dir="8100000">
              <a:srgbClr val="000000">
                <a:alpha val="9000"/>
              </a:srgbClr>
            </a:outerShdw>
          </a:effectLst>
        </p:spPr>
      </p:sp>
      <p:sp>
        <p:nvSpPr>
          <p:cNvPr id="38" name="Shape 36"/>
          <p:cNvSpPr/>
          <p:nvPr/>
        </p:nvSpPr>
        <p:spPr>
          <a:xfrm>
            <a:off x="6309360" y="4059936"/>
            <a:ext cx="54864" cy="841248"/>
          </a:xfrm>
          <a:prstGeom prst="rect">
            <a:avLst/>
          </a:prstGeom>
          <a:solidFill>
            <a:srgbClr val="00796B"/>
          </a:solidFill>
          <a:ln/>
        </p:spPr>
      </p:sp>
      <p:sp>
        <p:nvSpPr>
          <p:cNvPr id="39" name="Text 37"/>
          <p:cNvSpPr/>
          <p:nvPr/>
        </p:nvSpPr>
        <p:spPr>
          <a:xfrm>
            <a:off x="6428232" y="4114800"/>
            <a:ext cx="5349240" cy="237744"/>
          </a:xfrm>
          <a:prstGeom prst="rect">
            <a:avLst/>
          </a:prstGeom>
          <a:noFill/>
          <a:ln/>
        </p:spPr>
        <p:txBody>
          <a:bodyPr wrap="square" lIns="0" tIns="0" rIns="0" bIns="0" rtlCol="0" anchor="ctr"/>
          <a:lstStyle/>
          <a:p>
            <a:pPr indent="0" marL="0">
              <a:buNone/>
            </a:pPr>
            <a:r>
              <a:rPr lang="en-US" sz="920" b="1" dirty="0">
                <a:solidFill>
                  <a:srgbClr val="00796B"/>
                </a:solidFill>
              </a:rPr>
              <a:t>Three-Phase Testing: Unit → Integration → UAT</a:t>
            </a:r>
            <a:endParaRPr lang="en-US" sz="920" dirty="0"/>
          </a:p>
        </p:txBody>
      </p:sp>
      <p:sp>
        <p:nvSpPr>
          <p:cNvPr id="40" name="Text 38"/>
          <p:cNvSpPr/>
          <p:nvPr/>
        </p:nvSpPr>
        <p:spPr>
          <a:xfrm>
            <a:off x="6428232" y="4370832"/>
            <a:ext cx="5349240" cy="475488"/>
          </a:xfrm>
          <a:prstGeom prst="rect">
            <a:avLst/>
          </a:prstGeom>
          <a:noFill/>
          <a:ln/>
        </p:spPr>
        <p:txBody>
          <a:bodyPr wrap="square" lIns="0" tIns="0" rIns="0" bIns="0" rtlCol="0" anchor="ctr"/>
          <a:lstStyle/>
          <a:p>
            <a:pPr indent="0" marL="0">
              <a:buNone/>
            </a:pPr>
            <a:r>
              <a:rPr lang="en-US" sz="830" dirty="0">
                <a:solidFill>
                  <a:srgbClr val="37474F"/>
                </a:solidFill>
              </a:rPr>
              <a:t>Your QA team runs three rounds of testing: (1) Unit testing — each configured process works in isolation; (2) Integration testing — processes flow correctly end-to-end across modules (e.g., a purchase order in Procurement correctly creates an invoice in Finance); (3) UAT (User Acceptance Testing) — the customer's own staff test the system in their language, using their real data scenarios, confirming they can do their daily jobs.</a:t>
            </a:r>
            <a:endParaRPr lang="en-US" sz="830" dirty="0"/>
          </a:p>
        </p:txBody>
      </p:sp>
      <p:sp>
        <p:nvSpPr>
          <p:cNvPr id="41" name="Shape 39"/>
          <p:cNvSpPr/>
          <p:nvPr/>
        </p:nvSpPr>
        <p:spPr>
          <a:xfrm>
            <a:off x="228600" y="6446520"/>
            <a:ext cx="11704320" cy="329184"/>
          </a:xfrm>
          <a:prstGeom prst="rect">
            <a:avLst/>
          </a:prstGeom>
          <a:solidFill>
            <a:srgbClr val="F1F5F9"/>
          </a:solidFill>
          <a:ln/>
        </p:spPr>
      </p:sp>
      <p:sp>
        <p:nvSpPr>
          <p:cNvPr id="42" name="Text 40"/>
          <p:cNvSpPr/>
          <p:nvPr/>
        </p:nvSpPr>
        <p:spPr>
          <a:xfrm>
            <a:off x="365760" y="6473952"/>
            <a:ext cx="2011680" cy="274320"/>
          </a:xfrm>
          <a:prstGeom prst="rect">
            <a:avLst/>
          </a:prstGeom>
          <a:noFill/>
          <a:ln/>
        </p:spPr>
        <p:txBody>
          <a:bodyPr wrap="square" lIns="0" tIns="0" rIns="0" bIns="0" rtlCol="0" anchor="ctr"/>
          <a:lstStyle/>
          <a:p>
            <a:pPr indent="0" marL="0">
              <a:buNone/>
            </a:pPr>
            <a:r>
              <a:rPr lang="en-US" sz="750" b="1" dirty="0">
                <a:solidFill>
                  <a:srgbClr val="37474F"/>
                </a:solidFill>
              </a:rPr>
              <a:t>KEY TOOLS USED IN THIS STEP:</a:t>
            </a:r>
            <a:endParaRPr lang="en-US" sz="750" dirty="0"/>
          </a:p>
        </p:txBody>
      </p:sp>
      <p:sp>
        <p:nvSpPr>
          <p:cNvPr id="43" name="Text 41"/>
          <p:cNvSpPr/>
          <p:nvPr/>
        </p:nvSpPr>
        <p:spPr>
          <a:xfrm>
            <a:off x="2423160" y="6473952"/>
            <a:ext cx="9326880" cy="274320"/>
          </a:xfrm>
          <a:prstGeom prst="rect">
            <a:avLst/>
          </a:prstGeom>
          <a:noFill/>
          <a:ln/>
        </p:spPr>
        <p:txBody>
          <a:bodyPr wrap="square" lIns="0" tIns="0" rIns="0" bIns="0" rtlCol="0" anchor="ctr"/>
          <a:lstStyle/>
          <a:p>
            <a:pPr indent="0" marL="0">
              <a:buNone/>
            </a:pPr>
            <a:r>
              <a:rPr lang="en-US" sz="780" dirty="0">
                <a:solidFill>
                  <a:srgbClr val="37474F"/>
                </a:solidFill>
              </a:rPr>
              <a:t>SAP ABAP Test Cockpit (ATC)  ·  SAP Fiori Launchpad  ·  SAP Best Practice Explorer  ·  SAP Cloud ALM (Test Management)  ·  ZATCA API (Saudi e-invoicing)  ·  SAP Solution Manager</a:t>
            </a:r>
            <a:endParaRPr lang="en-US" sz="78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8FAFD"/>
        </a:solidFill>
      </p:bgPr>
    </p:bg>
    <p:spTree>
      <p:nvGrpSpPr>
        <p:cNvPr id="1" name=""/>
        <p:cNvGrpSpPr/>
        <p:nvPr/>
      </p:nvGrpSpPr>
      <p:grpSpPr>
        <a:xfrm>
          <a:off x="0" y="0"/>
          <a:ext cx="0" cy="0"/>
          <a:chOff x="0" y="0"/>
          <a:chExt cx="0" cy="0"/>
        </a:xfrm>
      </p:grpSpPr>
      <p:sp>
        <p:nvSpPr>
          <p:cNvPr id="2" name="Shape 0"/>
          <p:cNvSpPr/>
          <p:nvPr/>
        </p:nvSpPr>
        <p:spPr>
          <a:xfrm>
            <a:off x="0" y="0"/>
            <a:ext cx="12161520" cy="749808"/>
          </a:xfrm>
          <a:prstGeom prst="rect">
            <a:avLst/>
          </a:prstGeom>
          <a:solidFill>
            <a:srgbClr val="0D1B2A"/>
          </a:solidFill>
          <a:ln/>
        </p:spPr>
      </p:sp>
      <p:sp>
        <p:nvSpPr>
          <p:cNvPr id="3" name="Shape 1"/>
          <p:cNvSpPr/>
          <p:nvPr/>
        </p:nvSpPr>
        <p:spPr>
          <a:xfrm>
            <a:off x="0" y="0"/>
            <a:ext cx="274320" cy="749808"/>
          </a:xfrm>
          <a:prstGeom prst="rect">
            <a:avLst/>
          </a:prstGeom>
          <a:solidFill>
            <a:srgbClr val="2E7D32"/>
          </a:solidFill>
          <a:ln/>
        </p:spPr>
      </p:sp>
      <p:sp>
        <p:nvSpPr>
          <p:cNvPr id="4" name="Shape 2"/>
          <p:cNvSpPr/>
          <p:nvPr/>
        </p:nvSpPr>
        <p:spPr>
          <a:xfrm>
            <a:off x="457200" y="109728"/>
            <a:ext cx="530352" cy="530352"/>
          </a:xfrm>
          <a:prstGeom prst="rect">
            <a:avLst/>
          </a:prstGeom>
          <a:solidFill>
            <a:srgbClr val="2E7D32"/>
          </a:solidFill>
          <a:ln/>
        </p:spPr>
      </p:sp>
      <p:sp>
        <p:nvSpPr>
          <p:cNvPr id="5" name="Text 3"/>
          <p:cNvSpPr/>
          <p:nvPr/>
        </p:nvSpPr>
        <p:spPr>
          <a:xfrm>
            <a:off x="457200" y="109728"/>
            <a:ext cx="530352" cy="530352"/>
          </a:xfrm>
          <a:prstGeom prst="rect">
            <a:avLst/>
          </a:prstGeom>
          <a:noFill/>
          <a:ln/>
        </p:spPr>
        <p:txBody>
          <a:bodyPr wrap="square" lIns="0" tIns="0" rIns="0" bIns="0" rtlCol="0" anchor="ctr"/>
          <a:lstStyle/>
          <a:p>
            <a:pPr algn="ctr" indent="0" marL="0">
              <a:buNone/>
            </a:pPr>
            <a:r>
              <a:rPr lang="en-US" sz="2000" b="1" dirty="0">
                <a:solidFill>
                  <a:srgbClr val="FFFFFF"/>
                </a:solidFill>
              </a:rPr>
              <a:t>5</a:t>
            </a:r>
            <a:endParaRPr lang="en-US" sz="2000" dirty="0"/>
          </a:p>
        </p:txBody>
      </p:sp>
      <p:sp>
        <p:nvSpPr>
          <p:cNvPr id="6" name="Text 4"/>
          <p:cNvSpPr/>
          <p:nvPr/>
        </p:nvSpPr>
        <p:spPr>
          <a:xfrm>
            <a:off x="1115568" y="0"/>
            <a:ext cx="10058400" cy="749808"/>
          </a:xfrm>
          <a:prstGeom prst="rect">
            <a:avLst/>
          </a:prstGeom>
          <a:noFill/>
          <a:ln/>
        </p:spPr>
        <p:txBody>
          <a:bodyPr wrap="square" lIns="0" tIns="0" rIns="0" bIns="0" rtlCol="0" anchor="ctr"/>
          <a:lstStyle/>
          <a:p>
            <a:pPr indent="0" marL="0">
              <a:buNone/>
            </a:pPr>
            <a:r>
              <a:rPr lang="en-US" sz="1400" b="1" spc="80" kern="0" dirty="0">
                <a:solidFill>
                  <a:srgbClr val="FFFFFF"/>
                </a:solidFill>
              </a:rPr>
              <a:t>PART 2  |  STEP 5: CUT-OVER, GO-LIVE &amp; HYPERCARE</a:t>
            </a:r>
            <a:endParaRPr lang="en-US" sz="1400" dirty="0"/>
          </a:p>
        </p:txBody>
      </p:sp>
      <p:sp>
        <p:nvSpPr>
          <p:cNvPr id="7" name="Shape 5"/>
          <p:cNvSpPr/>
          <p:nvPr/>
        </p:nvSpPr>
        <p:spPr>
          <a:xfrm>
            <a:off x="10607040" y="164592"/>
            <a:ext cx="1417320" cy="420624"/>
          </a:xfrm>
          <a:prstGeom prst="rect">
            <a:avLst/>
          </a:prstGeom>
          <a:solidFill>
            <a:srgbClr val="2E7D32"/>
          </a:solidFill>
          <a:ln/>
        </p:spPr>
      </p:sp>
      <p:sp>
        <p:nvSpPr>
          <p:cNvPr id="8" name="Text 6"/>
          <p:cNvSpPr/>
          <p:nvPr/>
        </p:nvSpPr>
        <p:spPr>
          <a:xfrm>
            <a:off x="10607040" y="164592"/>
            <a:ext cx="1417320" cy="420624"/>
          </a:xfrm>
          <a:prstGeom prst="rect">
            <a:avLst/>
          </a:prstGeom>
          <a:noFill/>
          <a:ln/>
        </p:spPr>
        <p:txBody>
          <a:bodyPr wrap="square" lIns="0" tIns="0" rIns="0" bIns="0" rtlCol="0" anchor="ctr"/>
          <a:lstStyle/>
          <a:p>
            <a:pPr algn="ctr" indent="0" marL="0">
              <a:buNone/>
            </a:pPr>
            <a:r>
              <a:rPr lang="en-US" sz="900" b="1" dirty="0">
                <a:solidFill>
                  <a:srgbClr val="FFFFFF"/>
                </a:solidFill>
              </a:rPr>
              <a:t>~ 2–4 Weeks Cutover + 4–8 Weeks Hypercare</a:t>
            </a:r>
            <a:endParaRPr lang="en-US" sz="900" dirty="0"/>
          </a:p>
        </p:txBody>
      </p:sp>
      <p:sp>
        <p:nvSpPr>
          <p:cNvPr id="9" name="Shape 7"/>
          <p:cNvSpPr/>
          <p:nvPr/>
        </p:nvSpPr>
        <p:spPr>
          <a:xfrm>
            <a:off x="228600" y="841248"/>
            <a:ext cx="11704320" cy="868680"/>
          </a:xfrm>
          <a:prstGeom prst="rect">
            <a:avLst/>
          </a:prstGeom>
          <a:solidFill>
            <a:srgbClr val="E8F5E9"/>
          </a:solidFill>
          <a:ln/>
        </p:spPr>
      </p:sp>
      <p:sp>
        <p:nvSpPr>
          <p:cNvPr id="10" name="Shape 8"/>
          <p:cNvSpPr/>
          <p:nvPr/>
        </p:nvSpPr>
        <p:spPr>
          <a:xfrm>
            <a:off x="228600" y="841248"/>
            <a:ext cx="64008" cy="868680"/>
          </a:xfrm>
          <a:prstGeom prst="rect">
            <a:avLst/>
          </a:prstGeom>
          <a:solidFill>
            <a:srgbClr val="2E7D32"/>
          </a:solidFill>
          <a:ln/>
        </p:spPr>
      </p:sp>
      <p:sp>
        <p:nvSpPr>
          <p:cNvPr id="11" name="Text 9"/>
          <p:cNvSpPr/>
          <p:nvPr/>
        </p:nvSpPr>
        <p:spPr>
          <a:xfrm>
            <a:off x="411480" y="859536"/>
            <a:ext cx="11338560" cy="256032"/>
          </a:xfrm>
          <a:prstGeom prst="rect">
            <a:avLst/>
          </a:prstGeom>
          <a:noFill/>
          <a:ln/>
        </p:spPr>
        <p:txBody>
          <a:bodyPr wrap="square" lIns="0" tIns="0" rIns="0" bIns="0" rtlCol="0" anchor="ctr"/>
          <a:lstStyle/>
          <a:p>
            <a:pPr indent="0" marL="0">
              <a:buNone/>
            </a:pPr>
            <a:r>
              <a:rPr lang="en-US" sz="1100" b="1" dirty="0">
                <a:solidFill>
                  <a:srgbClr val="2E7D32"/>
                </a:solidFill>
              </a:rPr>
              <a:t>The final switch from old system to new — and intensive support in the critical weeks after launch.</a:t>
            </a:r>
            <a:endParaRPr lang="en-US" sz="1100" dirty="0"/>
          </a:p>
        </p:txBody>
      </p:sp>
      <p:sp>
        <p:nvSpPr>
          <p:cNvPr id="12" name="Text 10"/>
          <p:cNvSpPr/>
          <p:nvPr/>
        </p:nvSpPr>
        <p:spPr>
          <a:xfrm>
            <a:off x="411480" y="1124712"/>
            <a:ext cx="11338560" cy="521208"/>
          </a:xfrm>
          <a:prstGeom prst="rect">
            <a:avLst/>
          </a:prstGeom>
          <a:noFill/>
          <a:ln/>
        </p:spPr>
        <p:txBody>
          <a:bodyPr wrap="square" lIns="0" tIns="0" rIns="0" bIns="0" rtlCol="0" anchor="ctr"/>
          <a:lstStyle/>
          <a:p>
            <a:pPr indent="0" marL="0">
              <a:buNone/>
            </a:pPr>
            <a:r>
              <a:rPr lang="en-US" sz="920" dirty="0">
                <a:solidFill>
                  <a:srgbClr val="263238"/>
                </a:solidFill>
              </a:rPr>
              <a:t>Cutover is the precise, timed sequence of activities that switches the business from the old ECC system to the new S/4HANA on GCP — permanently. It is executed over a controlled downtime window (typically a long weekend). Once complete, the old system is decommissioned and S/4HANA becomes the system of record. The following 4–8 weeks are called 'hypercare' — an intensive support period where your team is on-site to resolve issues immediately.</a:t>
            </a:r>
            <a:endParaRPr lang="en-US" sz="920" dirty="0"/>
          </a:p>
        </p:txBody>
      </p:sp>
      <p:sp>
        <p:nvSpPr>
          <p:cNvPr id="13" name="Shape 11"/>
          <p:cNvSpPr/>
          <p:nvPr/>
        </p:nvSpPr>
        <p:spPr>
          <a:xfrm>
            <a:off x="228600" y="1810512"/>
            <a:ext cx="5623560" cy="365760"/>
          </a:xfrm>
          <a:prstGeom prst="rect">
            <a:avLst/>
          </a:prstGeom>
          <a:solidFill>
            <a:srgbClr val="1565C0"/>
          </a:solidFill>
          <a:ln/>
        </p:spPr>
      </p:sp>
      <p:sp>
        <p:nvSpPr>
          <p:cNvPr id="14" name="Text 12"/>
          <p:cNvSpPr/>
          <p:nvPr/>
        </p:nvSpPr>
        <p:spPr>
          <a:xfrm>
            <a:off x="320040" y="1810512"/>
            <a:ext cx="5440680" cy="365760"/>
          </a:xfrm>
          <a:prstGeom prst="rect">
            <a:avLst/>
          </a:prstGeom>
          <a:noFill/>
          <a:ln/>
        </p:spPr>
        <p:txBody>
          <a:bodyPr wrap="square" lIns="0" tIns="0" rIns="0" bIns="0" rtlCol="0" anchor="ctr"/>
          <a:lstStyle/>
          <a:p>
            <a:pPr indent="0" marL="0">
              <a:buNone/>
            </a:pPr>
            <a:r>
              <a:rPr lang="en-US" sz="950" b="1" dirty="0">
                <a:solidFill>
                  <a:srgbClr val="FFFFFF"/>
                </a:solidFill>
              </a:rPr>
              <a:t>SAP'S ROLE — What SAP Does &amp; How</a:t>
            </a:r>
            <a:endParaRPr lang="en-US" sz="950" dirty="0"/>
          </a:p>
        </p:txBody>
      </p:sp>
      <p:sp>
        <p:nvSpPr>
          <p:cNvPr id="15" name="Shape 13"/>
          <p:cNvSpPr/>
          <p:nvPr/>
        </p:nvSpPr>
        <p:spPr>
          <a:xfrm>
            <a:off x="228600" y="2231136"/>
            <a:ext cx="5623560" cy="841248"/>
          </a:xfrm>
          <a:prstGeom prst="rect">
            <a:avLst/>
          </a:prstGeom>
          <a:solidFill>
            <a:srgbClr val="FFFFFF"/>
          </a:solidFill>
          <a:ln/>
          <a:effectLst>
            <a:outerShdw sx="100000" sy="100000" kx="0" ky="0" algn="bl" rotWithShape="0" blurRad="88900" dist="25400" dir="8100000">
              <a:srgbClr val="000000">
                <a:alpha val="9000"/>
              </a:srgbClr>
            </a:outerShdw>
          </a:effectLst>
        </p:spPr>
      </p:sp>
      <p:sp>
        <p:nvSpPr>
          <p:cNvPr id="16" name="Shape 14"/>
          <p:cNvSpPr/>
          <p:nvPr/>
        </p:nvSpPr>
        <p:spPr>
          <a:xfrm>
            <a:off x="228600" y="2231136"/>
            <a:ext cx="54864" cy="841248"/>
          </a:xfrm>
          <a:prstGeom prst="rect">
            <a:avLst/>
          </a:prstGeom>
          <a:solidFill>
            <a:srgbClr val="1565C0"/>
          </a:solidFill>
          <a:ln/>
        </p:spPr>
      </p:sp>
      <p:sp>
        <p:nvSpPr>
          <p:cNvPr id="17" name="Text 15"/>
          <p:cNvSpPr/>
          <p:nvPr/>
        </p:nvSpPr>
        <p:spPr>
          <a:xfrm>
            <a:off x="347472" y="2286000"/>
            <a:ext cx="5349240" cy="237744"/>
          </a:xfrm>
          <a:prstGeom prst="rect">
            <a:avLst/>
          </a:prstGeom>
          <a:noFill/>
          <a:ln/>
        </p:spPr>
        <p:txBody>
          <a:bodyPr wrap="square" lIns="0" tIns="0" rIns="0" bIns="0" rtlCol="0" anchor="ctr"/>
          <a:lstStyle/>
          <a:p>
            <a:pPr indent="0" marL="0">
              <a:buNone/>
            </a:pPr>
            <a:r>
              <a:rPr lang="en-US" sz="920" b="1" dirty="0">
                <a:solidFill>
                  <a:srgbClr val="1565C0"/>
                </a:solidFill>
              </a:rPr>
              <a:t>Manages Infrastructure Cutover on GCP Side</a:t>
            </a:r>
            <a:endParaRPr lang="en-US" sz="920" dirty="0"/>
          </a:p>
        </p:txBody>
      </p:sp>
      <p:sp>
        <p:nvSpPr>
          <p:cNvPr id="18" name="Text 16"/>
          <p:cNvSpPr/>
          <p:nvPr/>
        </p:nvSpPr>
        <p:spPr>
          <a:xfrm>
            <a:off x="347472" y="2542032"/>
            <a:ext cx="5349240" cy="475488"/>
          </a:xfrm>
          <a:prstGeom prst="rect">
            <a:avLst/>
          </a:prstGeom>
          <a:noFill/>
          <a:ln/>
        </p:spPr>
        <p:txBody>
          <a:bodyPr wrap="square" lIns="0" tIns="0" rIns="0" bIns="0" rtlCol="0" anchor="ctr"/>
          <a:lstStyle/>
          <a:p>
            <a:pPr indent="0" marL="0">
              <a:buNone/>
            </a:pPr>
            <a:r>
              <a:rPr lang="en-US" sz="830" dirty="0">
                <a:solidFill>
                  <a:srgbClr val="37474F"/>
                </a:solidFill>
              </a:rPr>
              <a:t>SAP performs the final infrastructure activities: switching DNS records (so all user connections point to the new GCP system instead of the old one), deactivating the old SAP local cloud environment, and scaling the GCP system from the migration configuration to the production-optimised configuration.</a:t>
            </a:r>
            <a:endParaRPr lang="en-US" sz="830" dirty="0"/>
          </a:p>
        </p:txBody>
      </p:sp>
      <p:sp>
        <p:nvSpPr>
          <p:cNvPr id="19" name="Shape 17"/>
          <p:cNvSpPr/>
          <p:nvPr/>
        </p:nvSpPr>
        <p:spPr>
          <a:xfrm>
            <a:off x="228600" y="3145536"/>
            <a:ext cx="5623560" cy="841248"/>
          </a:xfrm>
          <a:prstGeom prst="rect">
            <a:avLst/>
          </a:prstGeom>
          <a:solidFill>
            <a:srgbClr val="E3F2FD"/>
          </a:solidFill>
          <a:ln/>
          <a:effectLst>
            <a:outerShdw sx="100000" sy="100000" kx="0" ky="0" algn="bl" rotWithShape="0" blurRad="88900" dist="25400" dir="8100000">
              <a:srgbClr val="000000">
                <a:alpha val="9000"/>
              </a:srgbClr>
            </a:outerShdw>
          </a:effectLst>
        </p:spPr>
      </p:sp>
      <p:sp>
        <p:nvSpPr>
          <p:cNvPr id="20" name="Shape 18"/>
          <p:cNvSpPr/>
          <p:nvPr/>
        </p:nvSpPr>
        <p:spPr>
          <a:xfrm>
            <a:off x="228600" y="3145536"/>
            <a:ext cx="54864" cy="841248"/>
          </a:xfrm>
          <a:prstGeom prst="rect">
            <a:avLst/>
          </a:prstGeom>
          <a:solidFill>
            <a:srgbClr val="1565C0"/>
          </a:solidFill>
          <a:ln/>
        </p:spPr>
      </p:sp>
      <p:sp>
        <p:nvSpPr>
          <p:cNvPr id="21" name="Text 19"/>
          <p:cNvSpPr/>
          <p:nvPr/>
        </p:nvSpPr>
        <p:spPr>
          <a:xfrm>
            <a:off x="347472" y="3200400"/>
            <a:ext cx="5349240" cy="237744"/>
          </a:xfrm>
          <a:prstGeom prst="rect">
            <a:avLst/>
          </a:prstGeom>
          <a:noFill/>
          <a:ln/>
        </p:spPr>
        <p:txBody>
          <a:bodyPr wrap="square" lIns="0" tIns="0" rIns="0" bIns="0" rtlCol="0" anchor="ctr"/>
          <a:lstStyle/>
          <a:p>
            <a:pPr indent="0" marL="0">
              <a:buNone/>
            </a:pPr>
            <a:r>
              <a:rPr lang="en-US" sz="920" b="1" dirty="0">
                <a:solidFill>
                  <a:srgbClr val="1565C0"/>
                </a:solidFill>
              </a:rPr>
              <a:t>Activates Production Monitoring &amp; Alerting</a:t>
            </a:r>
            <a:endParaRPr lang="en-US" sz="920" dirty="0"/>
          </a:p>
        </p:txBody>
      </p:sp>
      <p:sp>
        <p:nvSpPr>
          <p:cNvPr id="22" name="Text 20"/>
          <p:cNvSpPr/>
          <p:nvPr/>
        </p:nvSpPr>
        <p:spPr>
          <a:xfrm>
            <a:off x="347472" y="3456432"/>
            <a:ext cx="5349240" cy="475488"/>
          </a:xfrm>
          <a:prstGeom prst="rect">
            <a:avLst/>
          </a:prstGeom>
          <a:noFill/>
          <a:ln/>
        </p:spPr>
        <p:txBody>
          <a:bodyPr wrap="square" lIns="0" tIns="0" rIns="0" bIns="0" rtlCol="0" anchor="ctr"/>
          <a:lstStyle/>
          <a:p>
            <a:pPr indent="0" marL="0">
              <a:buNone/>
            </a:pPr>
            <a:r>
              <a:rPr lang="en-US" sz="830" dirty="0">
                <a:solidFill>
                  <a:srgbClr val="37474F"/>
                </a:solidFill>
              </a:rPr>
              <a:t>SAP activates the full operations monitoring stack — GCP Operations Suite dashboards, SAP Focused Run alerts, HANA database performance monitors, and the RISE SLA tracking dashboard. From this point, SAP is responsible for infrastructure uptime per the RISE SLA.</a:t>
            </a:r>
            <a:endParaRPr lang="en-US" sz="830" dirty="0"/>
          </a:p>
        </p:txBody>
      </p:sp>
      <p:sp>
        <p:nvSpPr>
          <p:cNvPr id="23" name="Shape 21"/>
          <p:cNvSpPr/>
          <p:nvPr/>
        </p:nvSpPr>
        <p:spPr>
          <a:xfrm>
            <a:off x="228600" y="4059936"/>
            <a:ext cx="5623560" cy="841248"/>
          </a:xfrm>
          <a:prstGeom prst="rect">
            <a:avLst/>
          </a:prstGeom>
          <a:solidFill>
            <a:srgbClr val="FFFFFF"/>
          </a:solidFill>
          <a:ln/>
          <a:effectLst>
            <a:outerShdw sx="100000" sy="100000" kx="0" ky="0" algn="bl" rotWithShape="0" blurRad="88900" dist="25400" dir="8100000">
              <a:srgbClr val="000000">
                <a:alpha val="9000"/>
              </a:srgbClr>
            </a:outerShdw>
          </a:effectLst>
        </p:spPr>
      </p:sp>
      <p:sp>
        <p:nvSpPr>
          <p:cNvPr id="24" name="Shape 22"/>
          <p:cNvSpPr/>
          <p:nvPr/>
        </p:nvSpPr>
        <p:spPr>
          <a:xfrm>
            <a:off x="228600" y="4059936"/>
            <a:ext cx="54864" cy="841248"/>
          </a:xfrm>
          <a:prstGeom prst="rect">
            <a:avLst/>
          </a:prstGeom>
          <a:solidFill>
            <a:srgbClr val="1565C0"/>
          </a:solidFill>
          <a:ln/>
        </p:spPr>
      </p:sp>
      <p:sp>
        <p:nvSpPr>
          <p:cNvPr id="25" name="Text 23"/>
          <p:cNvSpPr/>
          <p:nvPr/>
        </p:nvSpPr>
        <p:spPr>
          <a:xfrm>
            <a:off x="347472" y="4114800"/>
            <a:ext cx="5349240" cy="237744"/>
          </a:xfrm>
          <a:prstGeom prst="rect">
            <a:avLst/>
          </a:prstGeom>
          <a:noFill/>
          <a:ln/>
        </p:spPr>
        <p:txBody>
          <a:bodyPr wrap="square" lIns="0" tIns="0" rIns="0" bIns="0" rtlCol="0" anchor="ctr"/>
          <a:lstStyle/>
          <a:p>
            <a:pPr indent="0" marL="0">
              <a:buNone/>
            </a:pPr>
            <a:r>
              <a:rPr lang="en-US" sz="920" b="1" dirty="0">
                <a:solidFill>
                  <a:srgbClr val="1565C0"/>
                </a:solidFill>
              </a:rPr>
              <a:t>Takes Over Managed Operations Post-Go-Live</a:t>
            </a:r>
            <a:endParaRPr lang="en-US" sz="920" dirty="0"/>
          </a:p>
        </p:txBody>
      </p:sp>
      <p:sp>
        <p:nvSpPr>
          <p:cNvPr id="26" name="Text 24"/>
          <p:cNvSpPr/>
          <p:nvPr/>
        </p:nvSpPr>
        <p:spPr>
          <a:xfrm>
            <a:off x="347472" y="4370832"/>
            <a:ext cx="5349240" cy="475488"/>
          </a:xfrm>
          <a:prstGeom prst="rect">
            <a:avLst/>
          </a:prstGeom>
          <a:noFill/>
          <a:ln/>
        </p:spPr>
        <p:txBody>
          <a:bodyPr wrap="square" lIns="0" tIns="0" rIns="0" bIns="0" rtlCol="0" anchor="ctr"/>
          <a:lstStyle/>
          <a:p>
            <a:pPr indent="0" marL="0">
              <a:buNone/>
            </a:pPr>
            <a:r>
              <a:rPr lang="en-US" sz="830" dirty="0">
                <a:solidFill>
                  <a:srgbClr val="37474F"/>
                </a:solidFill>
              </a:rPr>
              <a:t>From go-live onwards, SAP's Managed Cloud Operations team takes ownership of all infrastructure operations — 24/7 monitoring, incident response for infra issues, monthly patching, quarterly S/4HANA updates, and backup execution. The customer enters the 'run' phase of RISE.</a:t>
            </a:r>
            <a:endParaRPr lang="en-US" sz="830" dirty="0"/>
          </a:p>
        </p:txBody>
      </p:sp>
      <p:sp>
        <p:nvSpPr>
          <p:cNvPr id="27" name="Shape 25"/>
          <p:cNvSpPr/>
          <p:nvPr/>
        </p:nvSpPr>
        <p:spPr>
          <a:xfrm>
            <a:off x="6309360" y="1810512"/>
            <a:ext cx="5623560" cy="365760"/>
          </a:xfrm>
          <a:prstGeom prst="rect">
            <a:avLst/>
          </a:prstGeom>
          <a:solidFill>
            <a:srgbClr val="00796B"/>
          </a:solidFill>
          <a:ln/>
        </p:spPr>
      </p:sp>
      <p:sp>
        <p:nvSpPr>
          <p:cNvPr id="28" name="Text 26"/>
          <p:cNvSpPr/>
          <p:nvPr/>
        </p:nvSpPr>
        <p:spPr>
          <a:xfrm>
            <a:off x="6400800" y="1810512"/>
            <a:ext cx="5440680" cy="365760"/>
          </a:xfrm>
          <a:prstGeom prst="rect">
            <a:avLst/>
          </a:prstGeom>
          <a:noFill/>
          <a:ln/>
        </p:spPr>
        <p:txBody>
          <a:bodyPr wrap="square" lIns="0" tIns="0" rIns="0" bIns="0" rtlCol="0" anchor="ctr"/>
          <a:lstStyle/>
          <a:p>
            <a:pPr indent="0" marL="0">
              <a:buNone/>
            </a:pPr>
            <a:r>
              <a:rPr lang="en-US" sz="950" b="1" dirty="0">
                <a:solidFill>
                  <a:srgbClr val="FFFFFF"/>
                </a:solidFill>
              </a:rPr>
              <a:t>YOUR TEAM'S ROLE — What the SI Partner Does</a:t>
            </a:r>
            <a:endParaRPr lang="en-US" sz="950" dirty="0"/>
          </a:p>
        </p:txBody>
      </p:sp>
      <p:sp>
        <p:nvSpPr>
          <p:cNvPr id="29" name="Shape 27"/>
          <p:cNvSpPr/>
          <p:nvPr/>
        </p:nvSpPr>
        <p:spPr>
          <a:xfrm>
            <a:off x="6309360" y="2231136"/>
            <a:ext cx="5623560" cy="841248"/>
          </a:xfrm>
          <a:prstGeom prst="rect">
            <a:avLst/>
          </a:prstGeom>
          <a:solidFill>
            <a:srgbClr val="FFFFFF"/>
          </a:solidFill>
          <a:ln/>
          <a:effectLst>
            <a:outerShdw sx="100000" sy="100000" kx="0" ky="0" algn="bl" rotWithShape="0" blurRad="88900" dist="25400" dir="8100000">
              <a:srgbClr val="000000">
                <a:alpha val="9000"/>
              </a:srgbClr>
            </a:outerShdw>
          </a:effectLst>
        </p:spPr>
      </p:sp>
      <p:sp>
        <p:nvSpPr>
          <p:cNvPr id="30" name="Shape 28"/>
          <p:cNvSpPr/>
          <p:nvPr/>
        </p:nvSpPr>
        <p:spPr>
          <a:xfrm>
            <a:off x="6309360" y="2231136"/>
            <a:ext cx="54864" cy="841248"/>
          </a:xfrm>
          <a:prstGeom prst="rect">
            <a:avLst/>
          </a:prstGeom>
          <a:solidFill>
            <a:srgbClr val="00796B"/>
          </a:solidFill>
          <a:ln/>
        </p:spPr>
      </p:sp>
      <p:sp>
        <p:nvSpPr>
          <p:cNvPr id="31" name="Text 29"/>
          <p:cNvSpPr/>
          <p:nvPr/>
        </p:nvSpPr>
        <p:spPr>
          <a:xfrm>
            <a:off x="6428232" y="2286000"/>
            <a:ext cx="5349240" cy="237744"/>
          </a:xfrm>
          <a:prstGeom prst="rect">
            <a:avLst/>
          </a:prstGeom>
          <a:noFill/>
          <a:ln/>
        </p:spPr>
        <p:txBody>
          <a:bodyPr wrap="square" lIns="0" tIns="0" rIns="0" bIns="0" rtlCol="0" anchor="ctr"/>
          <a:lstStyle/>
          <a:p>
            <a:pPr indent="0" marL="0">
              <a:buNone/>
            </a:pPr>
            <a:r>
              <a:rPr lang="en-US" sz="920" b="1" dirty="0">
                <a:solidFill>
                  <a:srgbClr val="00796B"/>
                </a:solidFill>
              </a:rPr>
              <a:t>Execute the Cutover Playbook (Minute-by-Minute)</a:t>
            </a:r>
            <a:endParaRPr lang="en-US" sz="920" dirty="0"/>
          </a:p>
        </p:txBody>
      </p:sp>
      <p:sp>
        <p:nvSpPr>
          <p:cNvPr id="32" name="Text 30"/>
          <p:cNvSpPr/>
          <p:nvPr/>
        </p:nvSpPr>
        <p:spPr>
          <a:xfrm>
            <a:off x="6428232" y="2542032"/>
            <a:ext cx="5349240" cy="475488"/>
          </a:xfrm>
          <a:prstGeom prst="rect">
            <a:avLst/>
          </a:prstGeom>
          <a:noFill/>
          <a:ln/>
        </p:spPr>
        <p:txBody>
          <a:bodyPr wrap="square" lIns="0" tIns="0" rIns="0" bIns="0" rtlCol="0" anchor="ctr"/>
          <a:lstStyle/>
          <a:p>
            <a:pPr indent="0" marL="0">
              <a:buNone/>
            </a:pPr>
            <a:r>
              <a:rPr lang="en-US" sz="830" dirty="0">
                <a:solidFill>
                  <a:srgbClr val="37474F"/>
                </a:solidFill>
              </a:rPr>
              <a:t>Your team runs the cutover playbook — a precisely timed sequence of 200–400 individual tasks executed over the cutover weekend. Examples: stop all batch jobs on the old system (Friday 18:00), lock all users on old ECC (Friday 20:00), run final data reconciliation (Friday 22:00 – Saturday 06:00), complete final data loads on new S/4HANA (Saturday 06:00 – Sunday 12:00), open new system for users (Sunday 17:00). Every task has an owner, a duration, and a rollback trigger.</a:t>
            </a:r>
            <a:endParaRPr lang="en-US" sz="830" dirty="0"/>
          </a:p>
        </p:txBody>
      </p:sp>
      <p:sp>
        <p:nvSpPr>
          <p:cNvPr id="33" name="Shape 31"/>
          <p:cNvSpPr/>
          <p:nvPr/>
        </p:nvSpPr>
        <p:spPr>
          <a:xfrm>
            <a:off x="6309360" y="3145536"/>
            <a:ext cx="5623560" cy="841248"/>
          </a:xfrm>
          <a:prstGeom prst="rect">
            <a:avLst/>
          </a:prstGeom>
          <a:solidFill>
            <a:srgbClr val="E0F2F1"/>
          </a:solidFill>
          <a:ln/>
          <a:effectLst>
            <a:outerShdw sx="100000" sy="100000" kx="0" ky="0" algn="bl" rotWithShape="0" blurRad="88900" dist="25400" dir="8100000">
              <a:srgbClr val="000000">
                <a:alpha val="9000"/>
              </a:srgbClr>
            </a:outerShdw>
          </a:effectLst>
        </p:spPr>
      </p:sp>
      <p:sp>
        <p:nvSpPr>
          <p:cNvPr id="34" name="Shape 32"/>
          <p:cNvSpPr/>
          <p:nvPr/>
        </p:nvSpPr>
        <p:spPr>
          <a:xfrm>
            <a:off x="6309360" y="3145536"/>
            <a:ext cx="54864" cy="841248"/>
          </a:xfrm>
          <a:prstGeom prst="rect">
            <a:avLst/>
          </a:prstGeom>
          <a:solidFill>
            <a:srgbClr val="00796B"/>
          </a:solidFill>
          <a:ln/>
        </p:spPr>
      </p:sp>
      <p:sp>
        <p:nvSpPr>
          <p:cNvPr id="35" name="Text 33"/>
          <p:cNvSpPr/>
          <p:nvPr/>
        </p:nvSpPr>
        <p:spPr>
          <a:xfrm>
            <a:off x="6428232" y="3200400"/>
            <a:ext cx="5349240" cy="237744"/>
          </a:xfrm>
          <a:prstGeom prst="rect">
            <a:avLst/>
          </a:prstGeom>
          <a:noFill/>
          <a:ln/>
        </p:spPr>
        <p:txBody>
          <a:bodyPr wrap="square" lIns="0" tIns="0" rIns="0" bIns="0" rtlCol="0" anchor="ctr"/>
          <a:lstStyle/>
          <a:p>
            <a:pPr indent="0" marL="0">
              <a:buNone/>
            </a:pPr>
            <a:r>
              <a:rPr lang="en-US" sz="920" b="1" dirty="0">
                <a:solidFill>
                  <a:srgbClr val="00796B"/>
                </a:solidFill>
              </a:rPr>
              <a:t>Conduct Go-Live Readiness Checks &amp; Sign-Off</a:t>
            </a:r>
            <a:endParaRPr lang="en-US" sz="920" dirty="0"/>
          </a:p>
        </p:txBody>
      </p:sp>
      <p:sp>
        <p:nvSpPr>
          <p:cNvPr id="36" name="Text 34"/>
          <p:cNvSpPr/>
          <p:nvPr/>
        </p:nvSpPr>
        <p:spPr>
          <a:xfrm>
            <a:off x="6428232" y="3456432"/>
            <a:ext cx="5349240" cy="475488"/>
          </a:xfrm>
          <a:prstGeom prst="rect">
            <a:avLst/>
          </a:prstGeom>
          <a:noFill/>
          <a:ln/>
        </p:spPr>
        <p:txBody>
          <a:bodyPr wrap="square" lIns="0" tIns="0" rIns="0" bIns="0" rtlCol="0" anchor="ctr"/>
          <a:lstStyle/>
          <a:p>
            <a:pPr indent="0" marL="0">
              <a:buNone/>
            </a:pPr>
            <a:r>
              <a:rPr lang="en-US" sz="830" dirty="0">
                <a:solidFill>
                  <a:srgbClr val="37474F"/>
                </a:solidFill>
              </a:rPr>
              <a:t>Before opening the new system to users, your team completes a formal go-live readiness checklist: all critical business processes tested successfully? Financial opening balances reconciled to the cent? All integrations live and tested? Key users trained and certified? Helpdesk team briefed? SAP support lines open? The customer's CIO and your project director co-sign the go-live authorisation.</a:t>
            </a:r>
            <a:endParaRPr lang="en-US" sz="830" dirty="0"/>
          </a:p>
        </p:txBody>
      </p:sp>
      <p:sp>
        <p:nvSpPr>
          <p:cNvPr id="37" name="Shape 35"/>
          <p:cNvSpPr/>
          <p:nvPr/>
        </p:nvSpPr>
        <p:spPr>
          <a:xfrm>
            <a:off x="6309360" y="4059936"/>
            <a:ext cx="5623560" cy="841248"/>
          </a:xfrm>
          <a:prstGeom prst="rect">
            <a:avLst/>
          </a:prstGeom>
          <a:solidFill>
            <a:srgbClr val="FFFFFF"/>
          </a:solidFill>
          <a:ln/>
          <a:effectLst>
            <a:outerShdw sx="100000" sy="100000" kx="0" ky="0" algn="bl" rotWithShape="0" blurRad="88900" dist="25400" dir="8100000">
              <a:srgbClr val="000000">
                <a:alpha val="9000"/>
              </a:srgbClr>
            </a:outerShdw>
          </a:effectLst>
        </p:spPr>
      </p:sp>
      <p:sp>
        <p:nvSpPr>
          <p:cNvPr id="38" name="Shape 36"/>
          <p:cNvSpPr/>
          <p:nvPr/>
        </p:nvSpPr>
        <p:spPr>
          <a:xfrm>
            <a:off x="6309360" y="4059936"/>
            <a:ext cx="54864" cy="841248"/>
          </a:xfrm>
          <a:prstGeom prst="rect">
            <a:avLst/>
          </a:prstGeom>
          <a:solidFill>
            <a:srgbClr val="00796B"/>
          </a:solidFill>
          <a:ln/>
        </p:spPr>
      </p:sp>
      <p:sp>
        <p:nvSpPr>
          <p:cNvPr id="39" name="Text 37"/>
          <p:cNvSpPr/>
          <p:nvPr/>
        </p:nvSpPr>
        <p:spPr>
          <a:xfrm>
            <a:off x="6428232" y="4114800"/>
            <a:ext cx="5349240" cy="237744"/>
          </a:xfrm>
          <a:prstGeom prst="rect">
            <a:avLst/>
          </a:prstGeom>
          <a:noFill/>
          <a:ln/>
        </p:spPr>
        <p:txBody>
          <a:bodyPr wrap="square" lIns="0" tIns="0" rIns="0" bIns="0" rtlCol="0" anchor="ctr"/>
          <a:lstStyle/>
          <a:p>
            <a:pPr indent="0" marL="0">
              <a:buNone/>
            </a:pPr>
            <a:r>
              <a:rPr lang="en-US" sz="920" b="1" dirty="0">
                <a:solidFill>
                  <a:srgbClr val="00796B"/>
                </a:solidFill>
              </a:rPr>
              <a:t>Deliver 4–8 Weeks of Hypercare Support</a:t>
            </a:r>
            <a:endParaRPr lang="en-US" sz="920" dirty="0"/>
          </a:p>
        </p:txBody>
      </p:sp>
      <p:sp>
        <p:nvSpPr>
          <p:cNvPr id="40" name="Text 38"/>
          <p:cNvSpPr/>
          <p:nvPr/>
        </p:nvSpPr>
        <p:spPr>
          <a:xfrm>
            <a:off x="6428232" y="4370832"/>
            <a:ext cx="5349240" cy="475488"/>
          </a:xfrm>
          <a:prstGeom prst="rect">
            <a:avLst/>
          </a:prstGeom>
          <a:noFill/>
          <a:ln/>
        </p:spPr>
        <p:txBody>
          <a:bodyPr wrap="square" lIns="0" tIns="0" rIns="0" bIns="0" rtlCol="0" anchor="ctr"/>
          <a:lstStyle/>
          <a:p>
            <a:pPr indent="0" marL="0">
              <a:buNone/>
            </a:pPr>
            <a:r>
              <a:rPr lang="en-US" sz="830" dirty="0">
                <a:solidFill>
                  <a:srgbClr val="37474F"/>
                </a:solidFill>
              </a:rPr>
              <a:t>Your entire project team remains deployed at the customer site (or remotely available) for 4–8 weeks post-go-live. During hypercare, issues are prioritised and resolved same-day. Common hypercare issues: users can't find where a transaction moved to in Fiori, a custom report is producing wrong numbers, an integration to a bank portal is dropping a field. Your team resolves these in real time while training the customer's support team to handle future issues independently.</a:t>
            </a:r>
            <a:endParaRPr lang="en-US" sz="830" dirty="0"/>
          </a:p>
        </p:txBody>
      </p:sp>
      <p:sp>
        <p:nvSpPr>
          <p:cNvPr id="41" name="Shape 39"/>
          <p:cNvSpPr/>
          <p:nvPr/>
        </p:nvSpPr>
        <p:spPr>
          <a:xfrm>
            <a:off x="228600" y="6446520"/>
            <a:ext cx="11704320" cy="329184"/>
          </a:xfrm>
          <a:prstGeom prst="rect">
            <a:avLst/>
          </a:prstGeom>
          <a:solidFill>
            <a:srgbClr val="F1F5F9"/>
          </a:solidFill>
          <a:ln/>
        </p:spPr>
      </p:sp>
      <p:sp>
        <p:nvSpPr>
          <p:cNvPr id="42" name="Text 40"/>
          <p:cNvSpPr/>
          <p:nvPr/>
        </p:nvSpPr>
        <p:spPr>
          <a:xfrm>
            <a:off x="365760" y="6473952"/>
            <a:ext cx="2011680" cy="274320"/>
          </a:xfrm>
          <a:prstGeom prst="rect">
            <a:avLst/>
          </a:prstGeom>
          <a:noFill/>
          <a:ln/>
        </p:spPr>
        <p:txBody>
          <a:bodyPr wrap="square" lIns="0" tIns="0" rIns="0" bIns="0" rtlCol="0" anchor="ctr"/>
          <a:lstStyle/>
          <a:p>
            <a:pPr indent="0" marL="0">
              <a:buNone/>
            </a:pPr>
            <a:r>
              <a:rPr lang="en-US" sz="750" b="1" dirty="0">
                <a:solidFill>
                  <a:srgbClr val="37474F"/>
                </a:solidFill>
              </a:rPr>
              <a:t>KEY TOOLS USED IN THIS STEP:</a:t>
            </a:r>
            <a:endParaRPr lang="en-US" sz="750" dirty="0"/>
          </a:p>
        </p:txBody>
      </p:sp>
      <p:sp>
        <p:nvSpPr>
          <p:cNvPr id="43" name="Text 41"/>
          <p:cNvSpPr/>
          <p:nvPr/>
        </p:nvSpPr>
        <p:spPr>
          <a:xfrm>
            <a:off x="2423160" y="6473952"/>
            <a:ext cx="9326880" cy="274320"/>
          </a:xfrm>
          <a:prstGeom prst="rect">
            <a:avLst/>
          </a:prstGeom>
          <a:noFill/>
          <a:ln/>
        </p:spPr>
        <p:txBody>
          <a:bodyPr wrap="square" lIns="0" tIns="0" rIns="0" bIns="0" rtlCol="0" anchor="ctr"/>
          <a:lstStyle/>
          <a:p>
            <a:pPr indent="0" marL="0">
              <a:buNone/>
            </a:pPr>
            <a:r>
              <a:rPr lang="en-US" sz="780" dirty="0">
                <a:solidFill>
                  <a:srgbClr val="37474F"/>
                </a:solidFill>
              </a:rPr>
              <a:t>Cutover Playbook (custom per project)  ·  GCP Operations Suite  ·  SAP Focused Run / Cloud ALM Operations  ·  RISE Managed Operations Portal  ·  SAP Support Launchpad  ·  Hypercare Issue Tracker</a:t>
            </a:r>
            <a:endParaRPr lang="en-US" sz="78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8FAFD"/>
        </a:solidFill>
      </p:bgPr>
    </p:bg>
    <p:spTree>
      <p:nvGrpSpPr>
        <p:cNvPr id="1" name=""/>
        <p:cNvGrpSpPr/>
        <p:nvPr/>
      </p:nvGrpSpPr>
      <p:grpSpPr>
        <a:xfrm>
          <a:off x="0" y="0"/>
          <a:ext cx="0" cy="0"/>
          <a:chOff x="0" y="0"/>
          <a:chExt cx="0" cy="0"/>
        </a:xfrm>
      </p:grpSpPr>
      <p:sp>
        <p:nvSpPr>
          <p:cNvPr id="2" name="Shape 0"/>
          <p:cNvSpPr/>
          <p:nvPr/>
        </p:nvSpPr>
        <p:spPr>
          <a:xfrm>
            <a:off x="0" y="0"/>
            <a:ext cx="12161520" cy="749808"/>
          </a:xfrm>
          <a:prstGeom prst="rect">
            <a:avLst/>
          </a:prstGeom>
          <a:solidFill>
            <a:srgbClr val="0D1B2A"/>
          </a:solidFill>
          <a:ln/>
        </p:spPr>
      </p:sp>
      <p:sp>
        <p:nvSpPr>
          <p:cNvPr id="3" name="Shape 1"/>
          <p:cNvSpPr/>
          <p:nvPr/>
        </p:nvSpPr>
        <p:spPr>
          <a:xfrm>
            <a:off x="0" y="0"/>
            <a:ext cx="274320" cy="749808"/>
          </a:xfrm>
          <a:prstGeom prst="rect">
            <a:avLst/>
          </a:prstGeom>
          <a:solidFill>
            <a:srgbClr val="1E88E5"/>
          </a:solidFill>
          <a:ln/>
        </p:spPr>
      </p:sp>
      <p:sp>
        <p:nvSpPr>
          <p:cNvPr id="4" name="Text 2"/>
          <p:cNvSpPr/>
          <p:nvPr/>
        </p:nvSpPr>
        <p:spPr>
          <a:xfrm>
            <a:off x="502920" y="0"/>
            <a:ext cx="11430000" cy="749808"/>
          </a:xfrm>
          <a:prstGeom prst="rect">
            <a:avLst/>
          </a:prstGeom>
          <a:noFill/>
          <a:ln/>
        </p:spPr>
        <p:txBody>
          <a:bodyPr wrap="square" lIns="0" tIns="0" rIns="0" bIns="0" rtlCol="0" anchor="ctr"/>
          <a:lstStyle/>
          <a:p>
            <a:pPr indent="0" marL="0">
              <a:buNone/>
            </a:pPr>
            <a:r>
              <a:rPr lang="en-US" sz="1300" b="1" spc="80" kern="0" dirty="0">
                <a:solidFill>
                  <a:srgbClr val="FFFFFF"/>
                </a:solidFill>
              </a:rPr>
              <a:t>SUMMARY  |  THE COMPLETE BROWNFIELD + RISE JOURNEY — WHO DOES WHAT &amp; WHEN</a:t>
            </a:r>
            <a:endParaRPr lang="en-US" sz="1300" dirty="0"/>
          </a:p>
        </p:txBody>
      </p:sp>
      <p:sp>
        <p:nvSpPr>
          <p:cNvPr id="5" name="Shape 3"/>
          <p:cNvSpPr/>
          <p:nvPr/>
        </p:nvSpPr>
        <p:spPr>
          <a:xfrm>
            <a:off x="274320" y="1234440"/>
            <a:ext cx="11612880" cy="109728"/>
          </a:xfrm>
          <a:prstGeom prst="rect">
            <a:avLst/>
          </a:prstGeom>
          <a:solidFill>
            <a:srgbClr val="90A4AE">
              <a:alpha val="60000"/>
            </a:srgbClr>
          </a:solidFill>
          <a:ln/>
        </p:spPr>
      </p:sp>
      <p:sp>
        <p:nvSpPr>
          <p:cNvPr id="6" name="Shape 4"/>
          <p:cNvSpPr/>
          <p:nvPr/>
        </p:nvSpPr>
        <p:spPr>
          <a:xfrm>
            <a:off x="1133856" y="1115568"/>
            <a:ext cx="512064" cy="512064"/>
          </a:xfrm>
          <a:prstGeom prst="ellipse">
            <a:avLst/>
          </a:prstGeom>
          <a:solidFill>
            <a:srgbClr val="1565C0"/>
          </a:solidFill>
          <a:ln/>
        </p:spPr>
      </p:sp>
      <p:sp>
        <p:nvSpPr>
          <p:cNvPr id="7" name="Text 5"/>
          <p:cNvSpPr/>
          <p:nvPr/>
        </p:nvSpPr>
        <p:spPr>
          <a:xfrm>
            <a:off x="1133856" y="1115568"/>
            <a:ext cx="512064" cy="512064"/>
          </a:xfrm>
          <a:prstGeom prst="rect">
            <a:avLst/>
          </a:prstGeom>
          <a:noFill/>
          <a:ln/>
        </p:spPr>
        <p:txBody>
          <a:bodyPr wrap="square" lIns="0" tIns="0" rIns="0" bIns="0" rtlCol="0" anchor="ctr"/>
          <a:lstStyle/>
          <a:p>
            <a:pPr algn="ctr" indent="0" marL="0">
              <a:buNone/>
            </a:pPr>
            <a:r>
              <a:rPr lang="en-US" sz="1600" b="1" dirty="0">
                <a:solidFill>
                  <a:srgbClr val="FFFFFF"/>
                </a:solidFill>
              </a:rPr>
              <a:t>1</a:t>
            </a:r>
            <a:endParaRPr lang="en-US" sz="1600" dirty="0"/>
          </a:p>
        </p:txBody>
      </p:sp>
      <p:sp>
        <p:nvSpPr>
          <p:cNvPr id="8" name="Shape 6"/>
          <p:cNvSpPr/>
          <p:nvPr/>
        </p:nvSpPr>
        <p:spPr>
          <a:xfrm>
            <a:off x="274320" y="1719072"/>
            <a:ext cx="2231136" cy="621792"/>
          </a:xfrm>
          <a:prstGeom prst="rect">
            <a:avLst/>
          </a:prstGeom>
          <a:solidFill>
            <a:srgbClr val="1565C0"/>
          </a:solidFill>
          <a:ln/>
        </p:spPr>
      </p:sp>
      <p:sp>
        <p:nvSpPr>
          <p:cNvPr id="9" name="Text 7"/>
          <p:cNvSpPr/>
          <p:nvPr/>
        </p:nvSpPr>
        <p:spPr>
          <a:xfrm>
            <a:off x="274320" y="1737360"/>
            <a:ext cx="2231136" cy="320040"/>
          </a:xfrm>
          <a:prstGeom prst="rect">
            <a:avLst/>
          </a:prstGeom>
          <a:noFill/>
          <a:ln/>
        </p:spPr>
        <p:txBody>
          <a:bodyPr wrap="square" lIns="0" tIns="0" rIns="0" bIns="0" rtlCol="0" anchor="ctr"/>
          <a:lstStyle/>
          <a:p>
            <a:pPr algn="ctr" indent="0" marL="0">
              <a:buNone/>
            </a:pPr>
            <a:r>
              <a:rPr lang="en-US" sz="1300" b="1" dirty="0">
                <a:solidFill>
                  <a:srgbClr val="FFFFFF"/>
                </a:solidFill>
              </a:rPr>
              <a:t>DISCOVER</a:t>
            </a:r>
            <a:endParaRPr lang="en-US" sz="1300" dirty="0"/>
          </a:p>
        </p:txBody>
      </p:sp>
      <p:sp>
        <p:nvSpPr>
          <p:cNvPr id="10" name="Text 8"/>
          <p:cNvSpPr/>
          <p:nvPr/>
        </p:nvSpPr>
        <p:spPr>
          <a:xfrm>
            <a:off x="274320" y="2048256"/>
            <a:ext cx="2231136" cy="256032"/>
          </a:xfrm>
          <a:prstGeom prst="rect">
            <a:avLst/>
          </a:prstGeom>
          <a:noFill/>
          <a:ln/>
        </p:spPr>
        <p:txBody>
          <a:bodyPr wrap="square" lIns="0" tIns="0" rIns="0" bIns="0" rtlCol="0" anchor="ctr"/>
          <a:lstStyle/>
          <a:p>
            <a:pPr algn="ctr" indent="0" marL="0">
              <a:buNone/>
            </a:pPr>
            <a:r>
              <a:rPr lang="en-US" sz="900" i="1" dirty="0">
                <a:solidFill>
                  <a:srgbClr val="FFFFFF"/>
                </a:solidFill>
              </a:rPr>
              <a:t>4–8 wk</a:t>
            </a:r>
            <a:endParaRPr lang="en-US" sz="900" dirty="0"/>
          </a:p>
        </p:txBody>
      </p:sp>
      <p:sp>
        <p:nvSpPr>
          <p:cNvPr id="11" name="Shape 9"/>
          <p:cNvSpPr/>
          <p:nvPr/>
        </p:nvSpPr>
        <p:spPr>
          <a:xfrm>
            <a:off x="274320" y="2395728"/>
            <a:ext cx="2231136" cy="1417320"/>
          </a:xfrm>
          <a:prstGeom prst="rect">
            <a:avLst/>
          </a:prstGeom>
          <a:solidFill>
            <a:srgbClr val="E3F2FD"/>
          </a:solidFill>
          <a:ln/>
          <a:effectLst>
            <a:outerShdw sx="100000" sy="100000" kx="0" ky="0" algn="bl" rotWithShape="0" blurRad="88900" dist="25400" dir="8100000">
              <a:srgbClr val="000000">
                <a:alpha val="9000"/>
              </a:srgbClr>
            </a:outerShdw>
          </a:effectLst>
        </p:spPr>
      </p:sp>
      <p:sp>
        <p:nvSpPr>
          <p:cNvPr id="12" name="Shape 10"/>
          <p:cNvSpPr/>
          <p:nvPr/>
        </p:nvSpPr>
        <p:spPr>
          <a:xfrm>
            <a:off x="274320" y="2395728"/>
            <a:ext cx="2231136" cy="274320"/>
          </a:xfrm>
          <a:prstGeom prst="rect">
            <a:avLst/>
          </a:prstGeom>
          <a:solidFill>
            <a:srgbClr val="1565C0"/>
          </a:solidFill>
          <a:ln/>
        </p:spPr>
      </p:sp>
      <p:sp>
        <p:nvSpPr>
          <p:cNvPr id="13" name="Text 11"/>
          <p:cNvSpPr/>
          <p:nvPr/>
        </p:nvSpPr>
        <p:spPr>
          <a:xfrm>
            <a:off x="274320" y="2395728"/>
            <a:ext cx="2231136" cy="274320"/>
          </a:xfrm>
          <a:prstGeom prst="rect">
            <a:avLst/>
          </a:prstGeom>
          <a:noFill/>
          <a:ln/>
        </p:spPr>
        <p:txBody>
          <a:bodyPr wrap="square" lIns="0" tIns="0" rIns="0" bIns="0" rtlCol="0" anchor="ctr"/>
          <a:lstStyle/>
          <a:p>
            <a:pPr algn="ctr" indent="0" marL="0">
              <a:buNone/>
            </a:pPr>
            <a:r>
              <a:rPr lang="en-US" sz="750" b="1" dirty="0">
                <a:solidFill>
                  <a:srgbClr val="FFFFFF"/>
                </a:solidFill>
              </a:rPr>
              <a:t>SAP DOES</a:t>
            </a:r>
            <a:endParaRPr lang="en-US" sz="750" dirty="0"/>
          </a:p>
        </p:txBody>
      </p:sp>
      <p:sp>
        <p:nvSpPr>
          <p:cNvPr id="14" name="Text 12"/>
          <p:cNvSpPr/>
          <p:nvPr/>
        </p:nvSpPr>
        <p:spPr>
          <a:xfrm>
            <a:off x="365760" y="2715768"/>
            <a:ext cx="2048256" cy="1051560"/>
          </a:xfrm>
          <a:prstGeom prst="rect">
            <a:avLst/>
          </a:prstGeom>
          <a:noFill/>
          <a:ln/>
        </p:spPr>
        <p:txBody>
          <a:bodyPr wrap="square" lIns="0" tIns="0" rIns="0" bIns="0" rtlCol="0" anchor="ctr"/>
          <a:lstStyle/>
          <a:p>
            <a:pPr algn="ctr" indent="0" marL="0">
              <a:buNone/>
            </a:pPr>
            <a:r>
              <a:rPr lang="en-US" sz="820" dirty="0">
                <a:solidFill>
                  <a:srgbClr val="0D47A1"/>
                </a:solidFill>
              </a:rPr>
              <a:t>Readiness Check</a:t>
            </a:r>
            <a:endParaRPr lang="en-US" sz="820" dirty="0"/>
          </a:p>
          <a:p>
            <a:pPr algn="ctr" indent="0" marL="0">
              <a:buNone/>
            </a:pPr>
            <a:r>
              <a:rPr lang="en-US" sz="820" dirty="0">
                <a:solidFill>
                  <a:srgbClr val="0D47A1"/>
                </a:solidFill>
              </a:rPr>
              <a:t>Signavio</a:t>
            </a:r>
            <a:endParaRPr lang="en-US" sz="820" dirty="0"/>
          </a:p>
          <a:p>
            <a:pPr algn="ctr" indent="0" marL="0">
              <a:buNone/>
            </a:pPr>
            <a:r>
              <a:rPr lang="en-US" sz="820" dirty="0">
                <a:solidFill>
                  <a:srgbClr val="0D47A1"/>
                </a:solidFill>
              </a:rPr>
              <a:t>LeanIX</a:t>
            </a:r>
            <a:endParaRPr lang="en-US" sz="820" dirty="0"/>
          </a:p>
        </p:txBody>
      </p:sp>
      <p:sp>
        <p:nvSpPr>
          <p:cNvPr id="15" name="Shape 13"/>
          <p:cNvSpPr/>
          <p:nvPr/>
        </p:nvSpPr>
        <p:spPr>
          <a:xfrm>
            <a:off x="274320" y="3886200"/>
            <a:ext cx="2231136" cy="1417320"/>
          </a:xfrm>
          <a:prstGeom prst="rect">
            <a:avLst/>
          </a:prstGeom>
          <a:solidFill>
            <a:srgbClr val="E0F2F1"/>
          </a:solidFill>
          <a:ln/>
          <a:effectLst>
            <a:outerShdw sx="100000" sy="100000" kx="0" ky="0" algn="bl" rotWithShape="0" blurRad="88900" dist="25400" dir="8100000">
              <a:srgbClr val="000000">
                <a:alpha val="9000"/>
              </a:srgbClr>
            </a:outerShdw>
          </a:effectLst>
        </p:spPr>
      </p:sp>
      <p:sp>
        <p:nvSpPr>
          <p:cNvPr id="16" name="Shape 14"/>
          <p:cNvSpPr/>
          <p:nvPr/>
        </p:nvSpPr>
        <p:spPr>
          <a:xfrm>
            <a:off x="274320" y="3886200"/>
            <a:ext cx="2231136" cy="274320"/>
          </a:xfrm>
          <a:prstGeom prst="rect">
            <a:avLst/>
          </a:prstGeom>
          <a:solidFill>
            <a:srgbClr val="00796B"/>
          </a:solidFill>
          <a:ln/>
        </p:spPr>
      </p:sp>
      <p:sp>
        <p:nvSpPr>
          <p:cNvPr id="17" name="Text 15"/>
          <p:cNvSpPr/>
          <p:nvPr/>
        </p:nvSpPr>
        <p:spPr>
          <a:xfrm>
            <a:off x="274320" y="3886200"/>
            <a:ext cx="2231136" cy="274320"/>
          </a:xfrm>
          <a:prstGeom prst="rect">
            <a:avLst/>
          </a:prstGeom>
          <a:noFill/>
          <a:ln/>
        </p:spPr>
        <p:txBody>
          <a:bodyPr wrap="square" lIns="0" tIns="0" rIns="0" bIns="0" rtlCol="0" anchor="ctr"/>
          <a:lstStyle/>
          <a:p>
            <a:pPr algn="ctr" indent="0" marL="0">
              <a:buNone/>
            </a:pPr>
            <a:r>
              <a:rPr lang="en-US" sz="750" b="1" dirty="0">
                <a:solidFill>
                  <a:srgbClr val="FFFFFF"/>
                </a:solidFill>
              </a:rPr>
              <a:t>YOUR TEAM DOES</a:t>
            </a:r>
            <a:endParaRPr lang="en-US" sz="750" dirty="0"/>
          </a:p>
        </p:txBody>
      </p:sp>
      <p:sp>
        <p:nvSpPr>
          <p:cNvPr id="18" name="Text 16"/>
          <p:cNvSpPr/>
          <p:nvPr/>
        </p:nvSpPr>
        <p:spPr>
          <a:xfrm>
            <a:off x="365760" y="4206240"/>
            <a:ext cx="2048256" cy="1051560"/>
          </a:xfrm>
          <a:prstGeom prst="rect">
            <a:avLst/>
          </a:prstGeom>
          <a:noFill/>
          <a:ln/>
        </p:spPr>
        <p:txBody>
          <a:bodyPr wrap="square" lIns="0" tIns="0" rIns="0" bIns="0" rtlCol="0" anchor="ctr"/>
          <a:lstStyle/>
          <a:p>
            <a:pPr algn="ctr" indent="0" marL="0">
              <a:buNone/>
            </a:pPr>
            <a:r>
              <a:rPr lang="en-US" sz="820" dirty="0">
                <a:solidFill>
                  <a:srgbClr val="004D40"/>
                </a:solidFill>
              </a:rPr>
              <a:t>Run assessment</a:t>
            </a:r>
            <a:endParaRPr lang="en-US" sz="820" dirty="0"/>
          </a:p>
          <a:p>
            <a:pPr algn="ctr" indent="0" marL="0">
              <a:buNone/>
            </a:pPr>
            <a:r>
              <a:rPr lang="en-US" sz="820" dirty="0">
                <a:solidFill>
                  <a:srgbClr val="004D40"/>
                </a:solidFill>
              </a:rPr>
              <a:t>Fit-Gap workshops</a:t>
            </a:r>
            <a:endParaRPr lang="en-US" sz="820" dirty="0"/>
          </a:p>
          <a:p>
            <a:pPr algn="ctr" indent="0" marL="0">
              <a:buNone/>
            </a:pPr>
            <a:r>
              <a:rPr lang="en-US" sz="820" dirty="0">
                <a:solidFill>
                  <a:srgbClr val="004D40"/>
                </a:solidFill>
              </a:rPr>
              <a:t>Business case</a:t>
            </a:r>
            <a:endParaRPr lang="en-US" sz="820" dirty="0"/>
          </a:p>
        </p:txBody>
      </p:sp>
      <p:sp>
        <p:nvSpPr>
          <p:cNvPr id="19" name="Shape 17"/>
          <p:cNvSpPr/>
          <p:nvPr/>
        </p:nvSpPr>
        <p:spPr>
          <a:xfrm>
            <a:off x="3438144" y="1115568"/>
            <a:ext cx="512064" cy="512064"/>
          </a:xfrm>
          <a:prstGeom prst="ellipse">
            <a:avLst/>
          </a:prstGeom>
          <a:solidFill>
            <a:srgbClr val="00796B"/>
          </a:solidFill>
          <a:ln/>
        </p:spPr>
      </p:sp>
      <p:sp>
        <p:nvSpPr>
          <p:cNvPr id="20" name="Text 18"/>
          <p:cNvSpPr/>
          <p:nvPr/>
        </p:nvSpPr>
        <p:spPr>
          <a:xfrm>
            <a:off x="3438144" y="1115568"/>
            <a:ext cx="512064" cy="512064"/>
          </a:xfrm>
          <a:prstGeom prst="rect">
            <a:avLst/>
          </a:prstGeom>
          <a:noFill/>
          <a:ln/>
        </p:spPr>
        <p:txBody>
          <a:bodyPr wrap="square" lIns="0" tIns="0" rIns="0" bIns="0" rtlCol="0" anchor="ctr"/>
          <a:lstStyle/>
          <a:p>
            <a:pPr algn="ctr" indent="0" marL="0">
              <a:buNone/>
            </a:pPr>
            <a:r>
              <a:rPr lang="en-US" sz="1600" b="1" dirty="0">
                <a:solidFill>
                  <a:srgbClr val="FFFFFF"/>
                </a:solidFill>
              </a:rPr>
              <a:t>2</a:t>
            </a:r>
            <a:endParaRPr lang="en-US" sz="1600" dirty="0"/>
          </a:p>
        </p:txBody>
      </p:sp>
      <p:sp>
        <p:nvSpPr>
          <p:cNvPr id="21" name="Shape 19"/>
          <p:cNvSpPr/>
          <p:nvPr/>
        </p:nvSpPr>
        <p:spPr>
          <a:xfrm>
            <a:off x="2578608" y="1719072"/>
            <a:ext cx="2231136" cy="621792"/>
          </a:xfrm>
          <a:prstGeom prst="rect">
            <a:avLst/>
          </a:prstGeom>
          <a:solidFill>
            <a:srgbClr val="00796B"/>
          </a:solidFill>
          <a:ln/>
        </p:spPr>
      </p:sp>
      <p:sp>
        <p:nvSpPr>
          <p:cNvPr id="22" name="Text 20"/>
          <p:cNvSpPr/>
          <p:nvPr/>
        </p:nvSpPr>
        <p:spPr>
          <a:xfrm>
            <a:off x="2578608" y="1737360"/>
            <a:ext cx="2231136" cy="320040"/>
          </a:xfrm>
          <a:prstGeom prst="rect">
            <a:avLst/>
          </a:prstGeom>
          <a:noFill/>
          <a:ln/>
        </p:spPr>
        <p:txBody>
          <a:bodyPr wrap="square" lIns="0" tIns="0" rIns="0" bIns="0" rtlCol="0" anchor="ctr"/>
          <a:lstStyle/>
          <a:p>
            <a:pPr algn="ctr" indent="0" marL="0">
              <a:buNone/>
            </a:pPr>
            <a:r>
              <a:rPr lang="en-US" sz="1300" b="1" dirty="0">
                <a:solidFill>
                  <a:srgbClr val="FFFFFF"/>
                </a:solidFill>
              </a:rPr>
              <a:t>PREPARE</a:t>
            </a:r>
            <a:endParaRPr lang="en-US" sz="1300" dirty="0"/>
          </a:p>
        </p:txBody>
      </p:sp>
      <p:sp>
        <p:nvSpPr>
          <p:cNvPr id="23" name="Text 21"/>
          <p:cNvSpPr/>
          <p:nvPr/>
        </p:nvSpPr>
        <p:spPr>
          <a:xfrm>
            <a:off x="2578608" y="2048256"/>
            <a:ext cx="2231136" cy="256032"/>
          </a:xfrm>
          <a:prstGeom prst="rect">
            <a:avLst/>
          </a:prstGeom>
          <a:noFill/>
          <a:ln/>
        </p:spPr>
        <p:txBody>
          <a:bodyPr wrap="square" lIns="0" tIns="0" rIns="0" bIns="0" rtlCol="0" anchor="ctr"/>
          <a:lstStyle/>
          <a:p>
            <a:pPr algn="ctr" indent="0" marL="0">
              <a:buNone/>
            </a:pPr>
            <a:r>
              <a:rPr lang="en-US" sz="900" i="1" dirty="0">
                <a:solidFill>
                  <a:srgbClr val="FFFFFF"/>
                </a:solidFill>
              </a:rPr>
              <a:t>4–8 wk</a:t>
            </a:r>
            <a:endParaRPr lang="en-US" sz="900" dirty="0"/>
          </a:p>
        </p:txBody>
      </p:sp>
      <p:sp>
        <p:nvSpPr>
          <p:cNvPr id="24" name="Shape 22"/>
          <p:cNvSpPr/>
          <p:nvPr/>
        </p:nvSpPr>
        <p:spPr>
          <a:xfrm>
            <a:off x="2578608" y="2395728"/>
            <a:ext cx="2231136" cy="1417320"/>
          </a:xfrm>
          <a:prstGeom prst="rect">
            <a:avLst/>
          </a:prstGeom>
          <a:solidFill>
            <a:srgbClr val="E3F2FD"/>
          </a:solidFill>
          <a:ln/>
          <a:effectLst>
            <a:outerShdw sx="100000" sy="100000" kx="0" ky="0" algn="bl" rotWithShape="0" blurRad="88900" dist="25400" dir="8100000">
              <a:srgbClr val="000000">
                <a:alpha val="9000"/>
              </a:srgbClr>
            </a:outerShdw>
          </a:effectLst>
        </p:spPr>
      </p:sp>
      <p:sp>
        <p:nvSpPr>
          <p:cNvPr id="25" name="Shape 23"/>
          <p:cNvSpPr/>
          <p:nvPr/>
        </p:nvSpPr>
        <p:spPr>
          <a:xfrm>
            <a:off x="2578608" y="2395728"/>
            <a:ext cx="2231136" cy="274320"/>
          </a:xfrm>
          <a:prstGeom prst="rect">
            <a:avLst/>
          </a:prstGeom>
          <a:solidFill>
            <a:srgbClr val="1565C0"/>
          </a:solidFill>
          <a:ln/>
        </p:spPr>
      </p:sp>
      <p:sp>
        <p:nvSpPr>
          <p:cNvPr id="26" name="Text 24"/>
          <p:cNvSpPr/>
          <p:nvPr/>
        </p:nvSpPr>
        <p:spPr>
          <a:xfrm>
            <a:off x="2578608" y="2395728"/>
            <a:ext cx="2231136" cy="274320"/>
          </a:xfrm>
          <a:prstGeom prst="rect">
            <a:avLst/>
          </a:prstGeom>
          <a:noFill/>
          <a:ln/>
        </p:spPr>
        <p:txBody>
          <a:bodyPr wrap="square" lIns="0" tIns="0" rIns="0" bIns="0" rtlCol="0" anchor="ctr"/>
          <a:lstStyle/>
          <a:p>
            <a:pPr algn="ctr" indent="0" marL="0">
              <a:buNone/>
            </a:pPr>
            <a:r>
              <a:rPr lang="en-US" sz="750" b="1" dirty="0">
                <a:solidFill>
                  <a:srgbClr val="FFFFFF"/>
                </a:solidFill>
              </a:rPr>
              <a:t>SAP DOES</a:t>
            </a:r>
            <a:endParaRPr lang="en-US" sz="750" dirty="0"/>
          </a:p>
        </p:txBody>
      </p:sp>
      <p:sp>
        <p:nvSpPr>
          <p:cNvPr id="27" name="Text 25"/>
          <p:cNvSpPr/>
          <p:nvPr/>
        </p:nvSpPr>
        <p:spPr>
          <a:xfrm>
            <a:off x="2670048" y="2715768"/>
            <a:ext cx="2048256" cy="1051560"/>
          </a:xfrm>
          <a:prstGeom prst="rect">
            <a:avLst/>
          </a:prstGeom>
          <a:noFill/>
          <a:ln/>
        </p:spPr>
        <p:txBody>
          <a:bodyPr wrap="square" lIns="0" tIns="0" rIns="0" bIns="0" rtlCol="0" anchor="ctr"/>
          <a:lstStyle/>
          <a:p>
            <a:pPr algn="ctr" indent="0" marL="0">
              <a:buNone/>
            </a:pPr>
            <a:r>
              <a:rPr lang="en-US" sz="820" dirty="0">
                <a:solidFill>
                  <a:srgbClr val="0D47A1"/>
                </a:solidFill>
              </a:rPr>
              <a:t>Provision GCP</a:t>
            </a:r>
            <a:endParaRPr lang="en-US" sz="820" dirty="0"/>
          </a:p>
          <a:p>
            <a:pPr algn="ctr" indent="0" marL="0">
              <a:buNone/>
            </a:pPr>
            <a:r>
              <a:rPr lang="en-US" sz="820" dirty="0">
                <a:solidFill>
                  <a:srgbClr val="0D47A1"/>
                </a:solidFill>
              </a:rPr>
              <a:t>Install S/4HANA</a:t>
            </a:r>
            <a:endParaRPr lang="en-US" sz="820" dirty="0"/>
          </a:p>
          <a:p>
            <a:pPr algn="ctr" indent="0" marL="0">
              <a:buNone/>
            </a:pPr>
            <a:r>
              <a:rPr lang="en-US" sz="820" dirty="0">
                <a:solidFill>
                  <a:srgbClr val="0D47A1"/>
                </a:solidFill>
              </a:rPr>
              <a:t>Set up ALM</a:t>
            </a:r>
            <a:endParaRPr lang="en-US" sz="820" dirty="0"/>
          </a:p>
        </p:txBody>
      </p:sp>
      <p:sp>
        <p:nvSpPr>
          <p:cNvPr id="28" name="Shape 26"/>
          <p:cNvSpPr/>
          <p:nvPr/>
        </p:nvSpPr>
        <p:spPr>
          <a:xfrm>
            <a:off x="2578608" y="3886200"/>
            <a:ext cx="2231136" cy="1417320"/>
          </a:xfrm>
          <a:prstGeom prst="rect">
            <a:avLst/>
          </a:prstGeom>
          <a:solidFill>
            <a:srgbClr val="E0F2F1"/>
          </a:solidFill>
          <a:ln/>
          <a:effectLst>
            <a:outerShdw sx="100000" sy="100000" kx="0" ky="0" algn="bl" rotWithShape="0" blurRad="88900" dist="25400" dir="8100000">
              <a:srgbClr val="000000">
                <a:alpha val="9000"/>
              </a:srgbClr>
            </a:outerShdw>
          </a:effectLst>
        </p:spPr>
      </p:sp>
      <p:sp>
        <p:nvSpPr>
          <p:cNvPr id="29" name="Shape 27"/>
          <p:cNvSpPr/>
          <p:nvPr/>
        </p:nvSpPr>
        <p:spPr>
          <a:xfrm>
            <a:off x="2578608" y="3886200"/>
            <a:ext cx="2231136" cy="274320"/>
          </a:xfrm>
          <a:prstGeom prst="rect">
            <a:avLst/>
          </a:prstGeom>
          <a:solidFill>
            <a:srgbClr val="00796B"/>
          </a:solidFill>
          <a:ln/>
        </p:spPr>
      </p:sp>
      <p:sp>
        <p:nvSpPr>
          <p:cNvPr id="30" name="Text 28"/>
          <p:cNvSpPr/>
          <p:nvPr/>
        </p:nvSpPr>
        <p:spPr>
          <a:xfrm>
            <a:off x="2578608" y="3886200"/>
            <a:ext cx="2231136" cy="274320"/>
          </a:xfrm>
          <a:prstGeom prst="rect">
            <a:avLst/>
          </a:prstGeom>
          <a:noFill/>
          <a:ln/>
        </p:spPr>
        <p:txBody>
          <a:bodyPr wrap="square" lIns="0" tIns="0" rIns="0" bIns="0" rtlCol="0" anchor="ctr"/>
          <a:lstStyle/>
          <a:p>
            <a:pPr algn="ctr" indent="0" marL="0">
              <a:buNone/>
            </a:pPr>
            <a:r>
              <a:rPr lang="en-US" sz="750" b="1" dirty="0">
                <a:solidFill>
                  <a:srgbClr val="FFFFFF"/>
                </a:solidFill>
              </a:rPr>
              <a:t>YOUR TEAM DOES</a:t>
            </a:r>
            <a:endParaRPr lang="en-US" sz="750" dirty="0"/>
          </a:p>
        </p:txBody>
      </p:sp>
      <p:sp>
        <p:nvSpPr>
          <p:cNvPr id="31" name="Text 29"/>
          <p:cNvSpPr/>
          <p:nvPr/>
        </p:nvSpPr>
        <p:spPr>
          <a:xfrm>
            <a:off x="2670048" y="4206240"/>
            <a:ext cx="2048256" cy="1051560"/>
          </a:xfrm>
          <a:prstGeom prst="rect">
            <a:avLst/>
          </a:prstGeom>
          <a:noFill/>
          <a:ln/>
        </p:spPr>
        <p:txBody>
          <a:bodyPr wrap="square" lIns="0" tIns="0" rIns="0" bIns="0" rtlCol="0" anchor="ctr"/>
          <a:lstStyle/>
          <a:p>
            <a:pPr algn="ctr" indent="0" marL="0">
              <a:buNone/>
            </a:pPr>
            <a:r>
              <a:rPr lang="en-US" sz="820" dirty="0">
                <a:solidFill>
                  <a:srgbClr val="004D40"/>
                </a:solidFill>
              </a:rPr>
              <a:t>Project setup</a:t>
            </a:r>
            <a:endParaRPr lang="en-US" sz="820" dirty="0"/>
          </a:p>
          <a:p>
            <a:pPr algn="ctr" indent="0" marL="0">
              <a:buNone/>
            </a:pPr>
            <a:r>
              <a:rPr lang="en-US" sz="820" dirty="0">
                <a:solidFill>
                  <a:srgbClr val="004D40"/>
                </a:solidFill>
              </a:rPr>
              <a:t>Install SUM tool</a:t>
            </a:r>
            <a:endParaRPr lang="en-US" sz="820" dirty="0"/>
          </a:p>
          <a:p>
            <a:pPr algn="ctr" indent="0" marL="0">
              <a:buNone/>
            </a:pPr>
            <a:r>
              <a:rPr lang="en-US" sz="820" dirty="0">
                <a:solidFill>
                  <a:srgbClr val="004D40"/>
                </a:solidFill>
              </a:rPr>
              <a:t>Config blueprint</a:t>
            </a:r>
            <a:endParaRPr lang="en-US" sz="820" dirty="0"/>
          </a:p>
        </p:txBody>
      </p:sp>
      <p:sp>
        <p:nvSpPr>
          <p:cNvPr id="32" name="Shape 30"/>
          <p:cNvSpPr/>
          <p:nvPr/>
        </p:nvSpPr>
        <p:spPr>
          <a:xfrm>
            <a:off x="5742432" y="1115568"/>
            <a:ext cx="512064" cy="512064"/>
          </a:xfrm>
          <a:prstGeom prst="ellipse">
            <a:avLst/>
          </a:prstGeom>
          <a:solidFill>
            <a:srgbClr val="4A148C"/>
          </a:solidFill>
          <a:ln/>
        </p:spPr>
      </p:sp>
      <p:sp>
        <p:nvSpPr>
          <p:cNvPr id="33" name="Text 31"/>
          <p:cNvSpPr/>
          <p:nvPr/>
        </p:nvSpPr>
        <p:spPr>
          <a:xfrm>
            <a:off x="5742432" y="1115568"/>
            <a:ext cx="512064" cy="512064"/>
          </a:xfrm>
          <a:prstGeom prst="rect">
            <a:avLst/>
          </a:prstGeom>
          <a:noFill/>
          <a:ln/>
        </p:spPr>
        <p:txBody>
          <a:bodyPr wrap="square" lIns="0" tIns="0" rIns="0" bIns="0" rtlCol="0" anchor="ctr"/>
          <a:lstStyle/>
          <a:p>
            <a:pPr algn="ctr" indent="0" marL="0">
              <a:buNone/>
            </a:pPr>
            <a:r>
              <a:rPr lang="en-US" sz="1600" b="1" dirty="0">
                <a:solidFill>
                  <a:srgbClr val="FFFFFF"/>
                </a:solidFill>
              </a:rPr>
              <a:t>3</a:t>
            </a:r>
            <a:endParaRPr lang="en-US" sz="1600" dirty="0"/>
          </a:p>
        </p:txBody>
      </p:sp>
      <p:sp>
        <p:nvSpPr>
          <p:cNvPr id="34" name="Shape 32"/>
          <p:cNvSpPr/>
          <p:nvPr/>
        </p:nvSpPr>
        <p:spPr>
          <a:xfrm>
            <a:off x="4882896" y="1719072"/>
            <a:ext cx="2231136" cy="621792"/>
          </a:xfrm>
          <a:prstGeom prst="rect">
            <a:avLst/>
          </a:prstGeom>
          <a:solidFill>
            <a:srgbClr val="4A148C"/>
          </a:solidFill>
          <a:ln/>
        </p:spPr>
      </p:sp>
      <p:sp>
        <p:nvSpPr>
          <p:cNvPr id="35" name="Text 33"/>
          <p:cNvSpPr/>
          <p:nvPr/>
        </p:nvSpPr>
        <p:spPr>
          <a:xfrm>
            <a:off x="4882896" y="1737360"/>
            <a:ext cx="2231136" cy="320040"/>
          </a:xfrm>
          <a:prstGeom prst="rect">
            <a:avLst/>
          </a:prstGeom>
          <a:noFill/>
          <a:ln/>
        </p:spPr>
        <p:txBody>
          <a:bodyPr wrap="square" lIns="0" tIns="0" rIns="0" bIns="0" rtlCol="0" anchor="ctr"/>
          <a:lstStyle/>
          <a:p>
            <a:pPr algn="ctr" indent="0" marL="0">
              <a:buNone/>
            </a:pPr>
            <a:r>
              <a:rPr lang="en-US" sz="1300" b="1" dirty="0">
                <a:solidFill>
                  <a:srgbClr val="FFFFFF"/>
                </a:solidFill>
              </a:rPr>
              <a:t>CONVERT</a:t>
            </a:r>
            <a:endParaRPr lang="en-US" sz="1300" dirty="0"/>
          </a:p>
        </p:txBody>
      </p:sp>
      <p:sp>
        <p:nvSpPr>
          <p:cNvPr id="36" name="Text 34"/>
          <p:cNvSpPr/>
          <p:nvPr/>
        </p:nvSpPr>
        <p:spPr>
          <a:xfrm>
            <a:off x="4882896" y="2048256"/>
            <a:ext cx="2231136" cy="256032"/>
          </a:xfrm>
          <a:prstGeom prst="rect">
            <a:avLst/>
          </a:prstGeom>
          <a:noFill/>
          <a:ln/>
        </p:spPr>
        <p:txBody>
          <a:bodyPr wrap="square" lIns="0" tIns="0" rIns="0" bIns="0" rtlCol="0" anchor="ctr"/>
          <a:lstStyle/>
          <a:p>
            <a:pPr algn="ctr" indent="0" marL="0">
              <a:buNone/>
            </a:pPr>
            <a:r>
              <a:rPr lang="en-US" sz="900" i="1" dirty="0">
                <a:solidFill>
                  <a:srgbClr val="FFFFFF"/>
                </a:solidFill>
              </a:rPr>
              <a:t>3–7 days</a:t>
            </a:r>
            <a:endParaRPr lang="en-US" sz="900" dirty="0"/>
          </a:p>
        </p:txBody>
      </p:sp>
      <p:sp>
        <p:nvSpPr>
          <p:cNvPr id="37" name="Shape 35"/>
          <p:cNvSpPr/>
          <p:nvPr/>
        </p:nvSpPr>
        <p:spPr>
          <a:xfrm>
            <a:off x="4882896" y="2395728"/>
            <a:ext cx="2231136" cy="1417320"/>
          </a:xfrm>
          <a:prstGeom prst="rect">
            <a:avLst/>
          </a:prstGeom>
          <a:solidFill>
            <a:srgbClr val="E3F2FD"/>
          </a:solidFill>
          <a:ln/>
          <a:effectLst>
            <a:outerShdw sx="100000" sy="100000" kx="0" ky="0" algn="bl" rotWithShape="0" blurRad="88900" dist="25400" dir="8100000">
              <a:srgbClr val="000000">
                <a:alpha val="9000"/>
              </a:srgbClr>
            </a:outerShdw>
          </a:effectLst>
        </p:spPr>
      </p:sp>
      <p:sp>
        <p:nvSpPr>
          <p:cNvPr id="38" name="Shape 36"/>
          <p:cNvSpPr/>
          <p:nvPr/>
        </p:nvSpPr>
        <p:spPr>
          <a:xfrm>
            <a:off x="4882896" y="2395728"/>
            <a:ext cx="2231136" cy="274320"/>
          </a:xfrm>
          <a:prstGeom prst="rect">
            <a:avLst/>
          </a:prstGeom>
          <a:solidFill>
            <a:srgbClr val="1565C0"/>
          </a:solidFill>
          <a:ln/>
        </p:spPr>
      </p:sp>
      <p:sp>
        <p:nvSpPr>
          <p:cNvPr id="39" name="Text 37"/>
          <p:cNvSpPr/>
          <p:nvPr/>
        </p:nvSpPr>
        <p:spPr>
          <a:xfrm>
            <a:off x="4882896" y="2395728"/>
            <a:ext cx="2231136" cy="274320"/>
          </a:xfrm>
          <a:prstGeom prst="rect">
            <a:avLst/>
          </a:prstGeom>
          <a:noFill/>
          <a:ln/>
        </p:spPr>
        <p:txBody>
          <a:bodyPr wrap="square" lIns="0" tIns="0" rIns="0" bIns="0" rtlCol="0" anchor="ctr"/>
          <a:lstStyle/>
          <a:p>
            <a:pPr algn="ctr" indent="0" marL="0">
              <a:buNone/>
            </a:pPr>
            <a:r>
              <a:rPr lang="en-US" sz="750" b="1" dirty="0">
                <a:solidFill>
                  <a:srgbClr val="FFFFFF"/>
                </a:solidFill>
              </a:rPr>
              <a:t>SAP DOES</a:t>
            </a:r>
            <a:endParaRPr lang="en-US" sz="750" dirty="0"/>
          </a:p>
        </p:txBody>
      </p:sp>
      <p:sp>
        <p:nvSpPr>
          <p:cNvPr id="40" name="Text 38"/>
          <p:cNvSpPr/>
          <p:nvPr/>
        </p:nvSpPr>
        <p:spPr>
          <a:xfrm>
            <a:off x="4974336" y="2715768"/>
            <a:ext cx="2048256" cy="1051560"/>
          </a:xfrm>
          <a:prstGeom prst="rect">
            <a:avLst/>
          </a:prstGeom>
          <a:noFill/>
          <a:ln/>
        </p:spPr>
        <p:txBody>
          <a:bodyPr wrap="square" lIns="0" tIns="0" rIns="0" bIns="0" rtlCol="0" anchor="ctr"/>
          <a:lstStyle/>
          <a:p>
            <a:pPr algn="ctr" indent="0" marL="0">
              <a:buNone/>
            </a:pPr>
            <a:r>
              <a:rPr lang="en-US" sz="820" dirty="0">
                <a:solidFill>
                  <a:srgbClr val="0D47A1"/>
                </a:solidFill>
              </a:rPr>
              <a:t>Run SUM+DMO</a:t>
            </a:r>
            <a:endParaRPr lang="en-US" sz="820" dirty="0"/>
          </a:p>
          <a:p>
            <a:pPr algn="ctr" indent="0" marL="0">
              <a:buNone/>
            </a:pPr>
            <a:r>
              <a:rPr lang="en-US" sz="820" dirty="0">
                <a:solidFill>
                  <a:srgbClr val="0D47A1"/>
                </a:solidFill>
              </a:rPr>
              <a:t>Manage downtime</a:t>
            </a:r>
            <a:endParaRPr lang="en-US" sz="820" dirty="0"/>
          </a:p>
          <a:p>
            <a:pPr algn="ctr" indent="0" marL="0">
              <a:buNone/>
            </a:pPr>
            <a:r>
              <a:rPr lang="en-US" sz="820" dirty="0">
                <a:solidFill>
                  <a:srgbClr val="0D47A1"/>
                </a:solidFill>
              </a:rPr>
              <a:t>Scale GCP infra</a:t>
            </a:r>
            <a:endParaRPr lang="en-US" sz="820" dirty="0"/>
          </a:p>
        </p:txBody>
      </p:sp>
      <p:sp>
        <p:nvSpPr>
          <p:cNvPr id="41" name="Shape 39"/>
          <p:cNvSpPr/>
          <p:nvPr/>
        </p:nvSpPr>
        <p:spPr>
          <a:xfrm>
            <a:off x="4882896" y="3886200"/>
            <a:ext cx="2231136" cy="1417320"/>
          </a:xfrm>
          <a:prstGeom prst="rect">
            <a:avLst/>
          </a:prstGeom>
          <a:solidFill>
            <a:srgbClr val="E0F2F1"/>
          </a:solidFill>
          <a:ln/>
          <a:effectLst>
            <a:outerShdw sx="100000" sy="100000" kx="0" ky="0" algn="bl" rotWithShape="0" blurRad="88900" dist="25400" dir="8100000">
              <a:srgbClr val="000000">
                <a:alpha val="9000"/>
              </a:srgbClr>
            </a:outerShdw>
          </a:effectLst>
        </p:spPr>
      </p:sp>
      <p:sp>
        <p:nvSpPr>
          <p:cNvPr id="42" name="Shape 40"/>
          <p:cNvSpPr/>
          <p:nvPr/>
        </p:nvSpPr>
        <p:spPr>
          <a:xfrm>
            <a:off x="4882896" y="3886200"/>
            <a:ext cx="2231136" cy="274320"/>
          </a:xfrm>
          <a:prstGeom prst="rect">
            <a:avLst/>
          </a:prstGeom>
          <a:solidFill>
            <a:srgbClr val="00796B"/>
          </a:solidFill>
          <a:ln/>
        </p:spPr>
      </p:sp>
      <p:sp>
        <p:nvSpPr>
          <p:cNvPr id="43" name="Text 41"/>
          <p:cNvSpPr/>
          <p:nvPr/>
        </p:nvSpPr>
        <p:spPr>
          <a:xfrm>
            <a:off x="4882896" y="3886200"/>
            <a:ext cx="2231136" cy="274320"/>
          </a:xfrm>
          <a:prstGeom prst="rect">
            <a:avLst/>
          </a:prstGeom>
          <a:noFill/>
          <a:ln/>
        </p:spPr>
        <p:txBody>
          <a:bodyPr wrap="square" lIns="0" tIns="0" rIns="0" bIns="0" rtlCol="0" anchor="ctr"/>
          <a:lstStyle/>
          <a:p>
            <a:pPr algn="ctr" indent="0" marL="0">
              <a:buNone/>
            </a:pPr>
            <a:r>
              <a:rPr lang="en-US" sz="750" b="1" dirty="0">
                <a:solidFill>
                  <a:srgbClr val="FFFFFF"/>
                </a:solidFill>
              </a:rPr>
              <a:t>YOUR TEAM DOES</a:t>
            </a:r>
            <a:endParaRPr lang="en-US" sz="750" dirty="0"/>
          </a:p>
        </p:txBody>
      </p:sp>
      <p:sp>
        <p:nvSpPr>
          <p:cNvPr id="44" name="Text 42"/>
          <p:cNvSpPr/>
          <p:nvPr/>
        </p:nvSpPr>
        <p:spPr>
          <a:xfrm>
            <a:off x="4974336" y="4206240"/>
            <a:ext cx="2048256" cy="1051560"/>
          </a:xfrm>
          <a:prstGeom prst="rect">
            <a:avLst/>
          </a:prstGeom>
          <a:noFill/>
          <a:ln/>
        </p:spPr>
        <p:txBody>
          <a:bodyPr wrap="square" lIns="0" tIns="0" rIns="0" bIns="0" rtlCol="0" anchor="ctr"/>
          <a:lstStyle/>
          <a:p>
            <a:pPr algn="ctr" indent="0" marL="0">
              <a:buNone/>
            </a:pPr>
            <a:r>
              <a:rPr lang="en-US" sz="820" dirty="0">
                <a:solidFill>
                  <a:srgbClr val="004D40"/>
                </a:solidFill>
              </a:rPr>
              <a:t>War room mgmt</a:t>
            </a:r>
            <a:endParaRPr lang="en-US" sz="820" dirty="0"/>
          </a:p>
          <a:p>
            <a:pPr algn="ctr" indent="0" marL="0">
              <a:buNone/>
            </a:pPr>
            <a:r>
              <a:rPr lang="en-US" sz="820" dirty="0">
                <a:solidFill>
                  <a:srgbClr val="004D40"/>
                </a:solidFill>
              </a:rPr>
              <a:t>Data migration</a:t>
            </a:r>
            <a:endParaRPr lang="en-US" sz="820" dirty="0"/>
          </a:p>
          <a:p>
            <a:pPr algn="ctr" indent="0" marL="0">
              <a:buNone/>
            </a:pPr>
            <a:r>
              <a:rPr lang="en-US" sz="820" dirty="0">
                <a:solidFill>
                  <a:srgbClr val="004D40"/>
                </a:solidFill>
              </a:rPr>
              <a:t>Post-conversion checks</a:t>
            </a:r>
            <a:endParaRPr lang="en-US" sz="820" dirty="0"/>
          </a:p>
        </p:txBody>
      </p:sp>
      <p:sp>
        <p:nvSpPr>
          <p:cNvPr id="45" name="Shape 43"/>
          <p:cNvSpPr/>
          <p:nvPr/>
        </p:nvSpPr>
        <p:spPr>
          <a:xfrm>
            <a:off x="8046720" y="1115568"/>
            <a:ext cx="512064" cy="512064"/>
          </a:xfrm>
          <a:prstGeom prst="ellipse">
            <a:avLst/>
          </a:prstGeom>
          <a:solidFill>
            <a:srgbClr val="E65100"/>
          </a:solidFill>
          <a:ln/>
        </p:spPr>
      </p:sp>
      <p:sp>
        <p:nvSpPr>
          <p:cNvPr id="46" name="Text 44"/>
          <p:cNvSpPr/>
          <p:nvPr/>
        </p:nvSpPr>
        <p:spPr>
          <a:xfrm>
            <a:off x="8046720" y="1115568"/>
            <a:ext cx="512064" cy="512064"/>
          </a:xfrm>
          <a:prstGeom prst="rect">
            <a:avLst/>
          </a:prstGeom>
          <a:noFill/>
          <a:ln/>
        </p:spPr>
        <p:txBody>
          <a:bodyPr wrap="square" lIns="0" tIns="0" rIns="0" bIns="0" rtlCol="0" anchor="ctr"/>
          <a:lstStyle/>
          <a:p>
            <a:pPr algn="ctr" indent="0" marL="0">
              <a:buNone/>
            </a:pPr>
            <a:r>
              <a:rPr lang="en-US" sz="1600" b="1" dirty="0">
                <a:solidFill>
                  <a:srgbClr val="FFFFFF"/>
                </a:solidFill>
              </a:rPr>
              <a:t>4</a:t>
            </a:r>
            <a:endParaRPr lang="en-US" sz="1600" dirty="0"/>
          </a:p>
        </p:txBody>
      </p:sp>
      <p:sp>
        <p:nvSpPr>
          <p:cNvPr id="47" name="Shape 45"/>
          <p:cNvSpPr/>
          <p:nvPr/>
        </p:nvSpPr>
        <p:spPr>
          <a:xfrm>
            <a:off x="7187184" y="1719072"/>
            <a:ext cx="2231136" cy="621792"/>
          </a:xfrm>
          <a:prstGeom prst="rect">
            <a:avLst/>
          </a:prstGeom>
          <a:solidFill>
            <a:srgbClr val="E65100"/>
          </a:solidFill>
          <a:ln/>
        </p:spPr>
      </p:sp>
      <p:sp>
        <p:nvSpPr>
          <p:cNvPr id="48" name="Text 46"/>
          <p:cNvSpPr/>
          <p:nvPr/>
        </p:nvSpPr>
        <p:spPr>
          <a:xfrm>
            <a:off x="7187184" y="1737360"/>
            <a:ext cx="2231136" cy="320040"/>
          </a:xfrm>
          <a:prstGeom prst="rect">
            <a:avLst/>
          </a:prstGeom>
          <a:noFill/>
          <a:ln/>
        </p:spPr>
        <p:txBody>
          <a:bodyPr wrap="square" lIns="0" tIns="0" rIns="0" bIns="0" rtlCol="0" anchor="ctr"/>
          <a:lstStyle/>
          <a:p>
            <a:pPr algn="ctr" indent="0" marL="0">
              <a:buNone/>
            </a:pPr>
            <a:r>
              <a:rPr lang="en-US" sz="1300" b="1" dirty="0">
                <a:solidFill>
                  <a:srgbClr val="FFFFFF"/>
                </a:solidFill>
              </a:rPr>
              <a:t>REMEDIATE</a:t>
            </a:r>
            <a:endParaRPr lang="en-US" sz="1300" dirty="0"/>
          </a:p>
        </p:txBody>
      </p:sp>
      <p:sp>
        <p:nvSpPr>
          <p:cNvPr id="49" name="Text 47"/>
          <p:cNvSpPr/>
          <p:nvPr/>
        </p:nvSpPr>
        <p:spPr>
          <a:xfrm>
            <a:off x="7187184" y="2048256"/>
            <a:ext cx="2231136" cy="256032"/>
          </a:xfrm>
          <a:prstGeom prst="rect">
            <a:avLst/>
          </a:prstGeom>
          <a:noFill/>
          <a:ln/>
        </p:spPr>
        <p:txBody>
          <a:bodyPr wrap="square" lIns="0" tIns="0" rIns="0" bIns="0" rtlCol="0" anchor="ctr"/>
          <a:lstStyle/>
          <a:p>
            <a:pPr algn="ctr" indent="0" marL="0">
              <a:buNone/>
            </a:pPr>
            <a:r>
              <a:rPr lang="en-US" sz="900" i="1" dirty="0">
                <a:solidFill>
                  <a:srgbClr val="FFFFFF"/>
                </a:solidFill>
              </a:rPr>
              <a:t>12–20 wk</a:t>
            </a:r>
            <a:endParaRPr lang="en-US" sz="900" dirty="0"/>
          </a:p>
        </p:txBody>
      </p:sp>
      <p:sp>
        <p:nvSpPr>
          <p:cNvPr id="50" name="Shape 48"/>
          <p:cNvSpPr/>
          <p:nvPr/>
        </p:nvSpPr>
        <p:spPr>
          <a:xfrm>
            <a:off x="7187184" y="2395728"/>
            <a:ext cx="2231136" cy="1417320"/>
          </a:xfrm>
          <a:prstGeom prst="rect">
            <a:avLst/>
          </a:prstGeom>
          <a:solidFill>
            <a:srgbClr val="E3F2FD"/>
          </a:solidFill>
          <a:ln/>
          <a:effectLst>
            <a:outerShdw sx="100000" sy="100000" kx="0" ky="0" algn="bl" rotWithShape="0" blurRad="88900" dist="25400" dir="8100000">
              <a:srgbClr val="000000">
                <a:alpha val="9000"/>
              </a:srgbClr>
            </a:outerShdw>
          </a:effectLst>
        </p:spPr>
      </p:sp>
      <p:sp>
        <p:nvSpPr>
          <p:cNvPr id="51" name="Shape 49"/>
          <p:cNvSpPr/>
          <p:nvPr/>
        </p:nvSpPr>
        <p:spPr>
          <a:xfrm>
            <a:off x="7187184" y="2395728"/>
            <a:ext cx="2231136" cy="274320"/>
          </a:xfrm>
          <a:prstGeom prst="rect">
            <a:avLst/>
          </a:prstGeom>
          <a:solidFill>
            <a:srgbClr val="1565C0"/>
          </a:solidFill>
          <a:ln/>
        </p:spPr>
      </p:sp>
      <p:sp>
        <p:nvSpPr>
          <p:cNvPr id="52" name="Text 50"/>
          <p:cNvSpPr/>
          <p:nvPr/>
        </p:nvSpPr>
        <p:spPr>
          <a:xfrm>
            <a:off x="7187184" y="2395728"/>
            <a:ext cx="2231136" cy="274320"/>
          </a:xfrm>
          <a:prstGeom prst="rect">
            <a:avLst/>
          </a:prstGeom>
          <a:noFill/>
          <a:ln/>
        </p:spPr>
        <p:txBody>
          <a:bodyPr wrap="square" lIns="0" tIns="0" rIns="0" bIns="0" rtlCol="0" anchor="ctr"/>
          <a:lstStyle/>
          <a:p>
            <a:pPr algn="ctr" indent="0" marL="0">
              <a:buNone/>
            </a:pPr>
            <a:r>
              <a:rPr lang="en-US" sz="750" b="1" dirty="0">
                <a:solidFill>
                  <a:srgbClr val="FFFFFF"/>
                </a:solidFill>
              </a:rPr>
              <a:t>SAP DOES</a:t>
            </a:r>
            <a:endParaRPr lang="en-US" sz="750" dirty="0"/>
          </a:p>
        </p:txBody>
      </p:sp>
      <p:sp>
        <p:nvSpPr>
          <p:cNvPr id="53" name="Text 51"/>
          <p:cNvSpPr/>
          <p:nvPr/>
        </p:nvSpPr>
        <p:spPr>
          <a:xfrm>
            <a:off x="7278624" y="2715768"/>
            <a:ext cx="2048256" cy="1051560"/>
          </a:xfrm>
          <a:prstGeom prst="rect">
            <a:avLst/>
          </a:prstGeom>
          <a:noFill/>
          <a:ln/>
        </p:spPr>
        <p:txBody>
          <a:bodyPr wrap="square" lIns="0" tIns="0" rIns="0" bIns="0" rtlCol="0" anchor="ctr"/>
          <a:lstStyle/>
          <a:p>
            <a:pPr algn="ctr" indent="0" marL="0">
              <a:buNone/>
            </a:pPr>
            <a:r>
              <a:rPr lang="en-US" sz="820" dirty="0">
                <a:solidFill>
                  <a:srgbClr val="0D47A1"/>
                </a:solidFill>
              </a:rPr>
              <a:t>ATC scanner</a:t>
            </a:r>
            <a:endParaRPr lang="en-US" sz="820" dirty="0"/>
          </a:p>
          <a:p>
            <a:pPr algn="ctr" indent="0" marL="0">
              <a:buNone/>
            </a:pPr>
            <a:r>
              <a:rPr lang="en-US" sz="820" dirty="0">
                <a:solidFill>
                  <a:srgbClr val="0D47A1"/>
                </a:solidFill>
              </a:rPr>
              <a:t>Fiori apps</a:t>
            </a:r>
            <a:endParaRPr lang="en-US" sz="820" dirty="0"/>
          </a:p>
          <a:p>
            <a:pPr algn="ctr" indent="0" marL="0">
              <a:buNone/>
            </a:pPr>
            <a:r>
              <a:rPr lang="en-US" sz="820" dirty="0">
                <a:solidFill>
                  <a:srgbClr val="0D47A1"/>
                </a:solidFill>
              </a:rPr>
              <a:t>Best practices</a:t>
            </a:r>
            <a:endParaRPr lang="en-US" sz="820" dirty="0"/>
          </a:p>
        </p:txBody>
      </p:sp>
      <p:sp>
        <p:nvSpPr>
          <p:cNvPr id="54" name="Shape 52"/>
          <p:cNvSpPr/>
          <p:nvPr/>
        </p:nvSpPr>
        <p:spPr>
          <a:xfrm>
            <a:off x="7187184" y="3886200"/>
            <a:ext cx="2231136" cy="1417320"/>
          </a:xfrm>
          <a:prstGeom prst="rect">
            <a:avLst/>
          </a:prstGeom>
          <a:solidFill>
            <a:srgbClr val="E0F2F1"/>
          </a:solidFill>
          <a:ln/>
          <a:effectLst>
            <a:outerShdw sx="100000" sy="100000" kx="0" ky="0" algn="bl" rotWithShape="0" blurRad="88900" dist="25400" dir="8100000">
              <a:srgbClr val="000000">
                <a:alpha val="9000"/>
              </a:srgbClr>
            </a:outerShdw>
          </a:effectLst>
        </p:spPr>
      </p:sp>
      <p:sp>
        <p:nvSpPr>
          <p:cNvPr id="55" name="Shape 53"/>
          <p:cNvSpPr/>
          <p:nvPr/>
        </p:nvSpPr>
        <p:spPr>
          <a:xfrm>
            <a:off x="7187184" y="3886200"/>
            <a:ext cx="2231136" cy="274320"/>
          </a:xfrm>
          <a:prstGeom prst="rect">
            <a:avLst/>
          </a:prstGeom>
          <a:solidFill>
            <a:srgbClr val="00796B"/>
          </a:solidFill>
          <a:ln/>
        </p:spPr>
      </p:sp>
      <p:sp>
        <p:nvSpPr>
          <p:cNvPr id="56" name="Text 54"/>
          <p:cNvSpPr/>
          <p:nvPr/>
        </p:nvSpPr>
        <p:spPr>
          <a:xfrm>
            <a:off x="7187184" y="3886200"/>
            <a:ext cx="2231136" cy="274320"/>
          </a:xfrm>
          <a:prstGeom prst="rect">
            <a:avLst/>
          </a:prstGeom>
          <a:noFill/>
          <a:ln/>
        </p:spPr>
        <p:txBody>
          <a:bodyPr wrap="square" lIns="0" tIns="0" rIns="0" bIns="0" rtlCol="0" anchor="ctr"/>
          <a:lstStyle/>
          <a:p>
            <a:pPr algn="ctr" indent="0" marL="0">
              <a:buNone/>
            </a:pPr>
            <a:r>
              <a:rPr lang="en-US" sz="750" b="1" dirty="0">
                <a:solidFill>
                  <a:srgbClr val="FFFFFF"/>
                </a:solidFill>
              </a:rPr>
              <a:t>YOUR TEAM DOES</a:t>
            </a:r>
            <a:endParaRPr lang="en-US" sz="750" dirty="0"/>
          </a:p>
        </p:txBody>
      </p:sp>
      <p:sp>
        <p:nvSpPr>
          <p:cNvPr id="57" name="Text 55"/>
          <p:cNvSpPr/>
          <p:nvPr/>
        </p:nvSpPr>
        <p:spPr>
          <a:xfrm>
            <a:off x="7278624" y="4206240"/>
            <a:ext cx="2048256" cy="1051560"/>
          </a:xfrm>
          <a:prstGeom prst="rect">
            <a:avLst/>
          </a:prstGeom>
          <a:noFill/>
          <a:ln/>
        </p:spPr>
        <p:txBody>
          <a:bodyPr wrap="square" lIns="0" tIns="0" rIns="0" bIns="0" rtlCol="0" anchor="ctr"/>
          <a:lstStyle/>
          <a:p>
            <a:pPr algn="ctr" indent="0" marL="0">
              <a:buNone/>
            </a:pPr>
            <a:r>
              <a:rPr lang="en-US" sz="820" dirty="0">
                <a:solidFill>
                  <a:srgbClr val="004D40"/>
                </a:solidFill>
              </a:rPr>
              <a:t>Fix custom code</a:t>
            </a:r>
            <a:endParaRPr lang="en-US" sz="820" dirty="0"/>
          </a:p>
          <a:p>
            <a:pPr algn="ctr" indent="0" marL="0">
              <a:buNone/>
            </a:pPr>
            <a:r>
              <a:rPr lang="en-US" sz="820" dirty="0">
                <a:solidFill>
                  <a:srgbClr val="004D40"/>
                </a:solidFill>
              </a:rPr>
              <a:t>Full configuration</a:t>
            </a:r>
            <a:endParaRPr lang="en-US" sz="820" dirty="0"/>
          </a:p>
          <a:p>
            <a:pPr algn="ctr" indent="0" marL="0">
              <a:buNone/>
            </a:pPr>
            <a:r>
              <a:rPr lang="en-US" sz="820" dirty="0">
                <a:solidFill>
                  <a:srgbClr val="004D40"/>
                </a:solidFill>
              </a:rPr>
              <a:t>All testing phases</a:t>
            </a:r>
            <a:endParaRPr lang="en-US" sz="820" dirty="0"/>
          </a:p>
        </p:txBody>
      </p:sp>
      <p:sp>
        <p:nvSpPr>
          <p:cNvPr id="58" name="Shape 56"/>
          <p:cNvSpPr/>
          <p:nvPr/>
        </p:nvSpPr>
        <p:spPr>
          <a:xfrm>
            <a:off x="10351008" y="1115568"/>
            <a:ext cx="512064" cy="512064"/>
          </a:xfrm>
          <a:prstGeom prst="ellipse">
            <a:avLst/>
          </a:prstGeom>
          <a:solidFill>
            <a:srgbClr val="2E7D32"/>
          </a:solidFill>
          <a:ln/>
        </p:spPr>
      </p:sp>
      <p:sp>
        <p:nvSpPr>
          <p:cNvPr id="59" name="Text 57"/>
          <p:cNvSpPr/>
          <p:nvPr/>
        </p:nvSpPr>
        <p:spPr>
          <a:xfrm>
            <a:off x="10351008" y="1115568"/>
            <a:ext cx="512064" cy="512064"/>
          </a:xfrm>
          <a:prstGeom prst="rect">
            <a:avLst/>
          </a:prstGeom>
          <a:noFill/>
          <a:ln/>
        </p:spPr>
        <p:txBody>
          <a:bodyPr wrap="square" lIns="0" tIns="0" rIns="0" bIns="0" rtlCol="0" anchor="ctr"/>
          <a:lstStyle/>
          <a:p>
            <a:pPr algn="ctr" indent="0" marL="0">
              <a:buNone/>
            </a:pPr>
            <a:r>
              <a:rPr lang="en-US" sz="1600" b="1" dirty="0">
                <a:solidFill>
                  <a:srgbClr val="FFFFFF"/>
                </a:solidFill>
              </a:rPr>
              <a:t>5</a:t>
            </a:r>
            <a:endParaRPr lang="en-US" sz="1600" dirty="0"/>
          </a:p>
        </p:txBody>
      </p:sp>
      <p:sp>
        <p:nvSpPr>
          <p:cNvPr id="60" name="Shape 58"/>
          <p:cNvSpPr/>
          <p:nvPr/>
        </p:nvSpPr>
        <p:spPr>
          <a:xfrm>
            <a:off x="9491472" y="1719072"/>
            <a:ext cx="2231136" cy="621792"/>
          </a:xfrm>
          <a:prstGeom prst="rect">
            <a:avLst/>
          </a:prstGeom>
          <a:solidFill>
            <a:srgbClr val="2E7D32"/>
          </a:solidFill>
          <a:ln/>
        </p:spPr>
      </p:sp>
      <p:sp>
        <p:nvSpPr>
          <p:cNvPr id="61" name="Text 59"/>
          <p:cNvSpPr/>
          <p:nvPr/>
        </p:nvSpPr>
        <p:spPr>
          <a:xfrm>
            <a:off x="9491472" y="1737360"/>
            <a:ext cx="2231136" cy="320040"/>
          </a:xfrm>
          <a:prstGeom prst="rect">
            <a:avLst/>
          </a:prstGeom>
          <a:noFill/>
          <a:ln/>
        </p:spPr>
        <p:txBody>
          <a:bodyPr wrap="square" lIns="0" tIns="0" rIns="0" bIns="0" rtlCol="0" anchor="ctr"/>
          <a:lstStyle/>
          <a:p>
            <a:pPr algn="ctr" indent="0" marL="0">
              <a:buNone/>
            </a:pPr>
            <a:r>
              <a:rPr lang="en-US" sz="1300" b="1" dirty="0">
                <a:solidFill>
                  <a:srgbClr val="FFFFFF"/>
                </a:solidFill>
              </a:rPr>
              <a:t>GO-LIVE</a:t>
            </a:r>
            <a:endParaRPr lang="en-US" sz="1300" dirty="0"/>
          </a:p>
        </p:txBody>
      </p:sp>
      <p:sp>
        <p:nvSpPr>
          <p:cNvPr id="62" name="Text 60"/>
          <p:cNvSpPr/>
          <p:nvPr/>
        </p:nvSpPr>
        <p:spPr>
          <a:xfrm>
            <a:off x="9491472" y="2048256"/>
            <a:ext cx="2231136" cy="256032"/>
          </a:xfrm>
          <a:prstGeom prst="rect">
            <a:avLst/>
          </a:prstGeom>
          <a:noFill/>
          <a:ln/>
        </p:spPr>
        <p:txBody>
          <a:bodyPr wrap="square" lIns="0" tIns="0" rIns="0" bIns="0" rtlCol="0" anchor="ctr"/>
          <a:lstStyle/>
          <a:p>
            <a:pPr algn="ctr" indent="0" marL="0">
              <a:buNone/>
            </a:pPr>
            <a:r>
              <a:rPr lang="en-US" sz="900" i="1" dirty="0">
                <a:solidFill>
                  <a:srgbClr val="FFFFFF"/>
                </a:solidFill>
              </a:rPr>
              <a:t>6–12 wk</a:t>
            </a:r>
            <a:endParaRPr lang="en-US" sz="900" dirty="0"/>
          </a:p>
        </p:txBody>
      </p:sp>
      <p:sp>
        <p:nvSpPr>
          <p:cNvPr id="63" name="Shape 61"/>
          <p:cNvSpPr/>
          <p:nvPr/>
        </p:nvSpPr>
        <p:spPr>
          <a:xfrm>
            <a:off x="9491472" y="2395728"/>
            <a:ext cx="2231136" cy="1417320"/>
          </a:xfrm>
          <a:prstGeom prst="rect">
            <a:avLst/>
          </a:prstGeom>
          <a:solidFill>
            <a:srgbClr val="E3F2FD"/>
          </a:solidFill>
          <a:ln/>
          <a:effectLst>
            <a:outerShdw sx="100000" sy="100000" kx="0" ky="0" algn="bl" rotWithShape="0" blurRad="88900" dist="25400" dir="8100000">
              <a:srgbClr val="000000">
                <a:alpha val="9000"/>
              </a:srgbClr>
            </a:outerShdw>
          </a:effectLst>
        </p:spPr>
      </p:sp>
      <p:sp>
        <p:nvSpPr>
          <p:cNvPr id="64" name="Shape 62"/>
          <p:cNvSpPr/>
          <p:nvPr/>
        </p:nvSpPr>
        <p:spPr>
          <a:xfrm>
            <a:off x="9491472" y="2395728"/>
            <a:ext cx="2231136" cy="274320"/>
          </a:xfrm>
          <a:prstGeom prst="rect">
            <a:avLst/>
          </a:prstGeom>
          <a:solidFill>
            <a:srgbClr val="1565C0"/>
          </a:solidFill>
          <a:ln/>
        </p:spPr>
      </p:sp>
      <p:sp>
        <p:nvSpPr>
          <p:cNvPr id="65" name="Text 63"/>
          <p:cNvSpPr/>
          <p:nvPr/>
        </p:nvSpPr>
        <p:spPr>
          <a:xfrm>
            <a:off x="9491472" y="2395728"/>
            <a:ext cx="2231136" cy="274320"/>
          </a:xfrm>
          <a:prstGeom prst="rect">
            <a:avLst/>
          </a:prstGeom>
          <a:noFill/>
          <a:ln/>
        </p:spPr>
        <p:txBody>
          <a:bodyPr wrap="square" lIns="0" tIns="0" rIns="0" bIns="0" rtlCol="0" anchor="ctr"/>
          <a:lstStyle/>
          <a:p>
            <a:pPr algn="ctr" indent="0" marL="0">
              <a:buNone/>
            </a:pPr>
            <a:r>
              <a:rPr lang="en-US" sz="750" b="1" dirty="0">
                <a:solidFill>
                  <a:srgbClr val="FFFFFF"/>
                </a:solidFill>
              </a:rPr>
              <a:t>SAP DOES</a:t>
            </a:r>
            <a:endParaRPr lang="en-US" sz="750" dirty="0"/>
          </a:p>
        </p:txBody>
      </p:sp>
      <p:sp>
        <p:nvSpPr>
          <p:cNvPr id="66" name="Text 64"/>
          <p:cNvSpPr/>
          <p:nvPr/>
        </p:nvSpPr>
        <p:spPr>
          <a:xfrm>
            <a:off x="9582912" y="2715768"/>
            <a:ext cx="2048256" cy="1051560"/>
          </a:xfrm>
          <a:prstGeom prst="rect">
            <a:avLst/>
          </a:prstGeom>
          <a:noFill/>
          <a:ln/>
        </p:spPr>
        <p:txBody>
          <a:bodyPr wrap="square" lIns="0" tIns="0" rIns="0" bIns="0" rtlCol="0" anchor="ctr"/>
          <a:lstStyle/>
          <a:p>
            <a:pPr algn="ctr" indent="0" marL="0">
              <a:buNone/>
            </a:pPr>
            <a:r>
              <a:rPr lang="en-US" sz="820" dirty="0">
                <a:solidFill>
                  <a:srgbClr val="0D47A1"/>
                </a:solidFill>
              </a:rPr>
              <a:t>DNS switch</a:t>
            </a:r>
            <a:endParaRPr lang="en-US" sz="820" dirty="0"/>
          </a:p>
          <a:p>
            <a:pPr algn="ctr" indent="0" marL="0">
              <a:buNone/>
            </a:pPr>
            <a:r>
              <a:rPr lang="en-US" sz="820" dirty="0">
                <a:solidFill>
                  <a:srgbClr val="0D47A1"/>
                </a:solidFill>
              </a:rPr>
              <a:t>Activate ops</a:t>
            </a:r>
            <a:endParaRPr lang="en-US" sz="820" dirty="0"/>
          </a:p>
          <a:p>
            <a:pPr algn="ctr" indent="0" marL="0">
              <a:buNone/>
            </a:pPr>
            <a:r>
              <a:rPr lang="en-US" sz="820" dirty="0">
                <a:solidFill>
                  <a:srgbClr val="0D47A1"/>
                </a:solidFill>
              </a:rPr>
              <a:t>Take over Run</a:t>
            </a:r>
            <a:endParaRPr lang="en-US" sz="820" dirty="0"/>
          </a:p>
        </p:txBody>
      </p:sp>
      <p:sp>
        <p:nvSpPr>
          <p:cNvPr id="67" name="Shape 65"/>
          <p:cNvSpPr/>
          <p:nvPr/>
        </p:nvSpPr>
        <p:spPr>
          <a:xfrm>
            <a:off x="9491472" y="3886200"/>
            <a:ext cx="2231136" cy="1417320"/>
          </a:xfrm>
          <a:prstGeom prst="rect">
            <a:avLst/>
          </a:prstGeom>
          <a:solidFill>
            <a:srgbClr val="E0F2F1"/>
          </a:solidFill>
          <a:ln/>
          <a:effectLst>
            <a:outerShdw sx="100000" sy="100000" kx="0" ky="0" algn="bl" rotWithShape="0" blurRad="88900" dist="25400" dir="8100000">
              <a:srgbClr val="000000">
                <a:alpha val="9000"/>
              </a:srgbClr>
            </a:outerShdw>
          </a:effectLst>
        </p:spPr>
      </p:sp>
      <p:sp>
        <p:nvSpPr>
          <p:cNvPr id="68" name="Shape 66"/>
          <p:cNvSpPr/>
          <p:nvPr/>
        </p:nvSpPr>
        <p:spPr>
          <a:xfrm>
            <a:off x="9491472" y="3886200"/>
            <a:ext cx="2231136" cy="274320"/>
          </a:xfrm>
          <a:prstGeom prst="rect">
            <a:avLst/>
          </a:prstGeom>
          <a:solidFill>
            <a:srgbClr val="00796B"/>
          </a:solidFill>
          <a:ln/>
        </p:spPr>
      </p:sp>
      <p:sp>
        <p:nvSpPr>
          <p:cNvPr id="69" name="Text 67"/>
          <p:cNvSpPr/>
          <p:nvPr/>
        </p:nvSpPr>
        <p:spPr>
          <a:xfrm>
            <a:off x="9491472" y="3886200"/>
            <a:ext cx="2231136" cy="274320"/>
          </a:xfrm>
          <a:prstGeom prst="rect">
            <a:avLst/>
          </a:prstGeom>
          <a:noFill/>
          <a:ln/>
        </p:spPr>
        <p:txBody>
          <a:bodyPr wrap="square" lIns="0" tIns="0" rIns="0" bIns="0" rtlCol="0" anchor="ctr"/>
          <a:lstStyle/>
          <a:p>
            <a:pPr algn="ctr" indent="0" marL="0">
              <a:buNone/>
            </a:pPr>
            <a:r>
              <a:rPr lang="en-US" sz="750" b="1" dirty="0">
                <a:solidFill>
                  <a:srgbClr val="FFFFFF"/>
                </a:solidFill>
              </a:rPr>
              <a:t>YOUR TEAM DOES</a:t>
            </a:r>
            <a:endParaRPr lang="en-US" sz="750" dirty="0"/>
          </a:p>
        </p:txBody>
      </p:sp>
      <p:sp>
        <p:nvSpPr>
          <p:cNvPr id="70" name="Text 68"/>
          <p:cNvSpPr/>
          <p:nvPr/>
        </p:nvSpPr>
        <p:spPr>
          <a:xfrm>
            <a:off x="9582912" y="4206240"/>
            <a:ext cx="2048256" cy="1051560"/>
          </a:xfrm>
          <a:prstGeom prst="rect">
            <a:avLst/>
          </a:prstGeom>
          <a:noFill/>
          <a:ln/>
        </p:spPr>
        <p:txBody>
          <a:bodyPr wrap="square" lIns="0" tIns="0" rIns="0" bIns="0" rtlCol="0" anchor="ctr"/>
          <a:lstStyle/>
          <a:p>
            <a:pPr algn="ctr" indent="0" marL="0">
              <a:buNone/>
            </a:pPr>
            <a:r>
              <a:rPr lang="en-US" sz="820" dirty="0">
                <a:solidFill>
                  <a:srgbClr val="004D40"/>
                </a:solidFill>
              </a:rPr>
              <a:t>Cutover playbook</a:t>
            </a:r>
            <a:endParaRPr lang="en-US" sz="820" dirty="0"/>
          </a:p>
          <a:p>
            <a:pPr algn="ctr" indent="0" marL="0">
              <a:buNone/>
            </a:pPr>
            <a:r>
              <a:rPr lang="en-US" sz="820" dirty="0">
                <a:solidFill>
                  <a:srgbClr val="004D40"/>
                </a:solidFill>
              </a:rPr>
              <a:t>Go-live sign-off</a:t>
            </a:r>
            <a:endParaRPr lang="en-US" sz="820" dirty="0"/>
          </a:p>
          <a:p>
            <a:pPr algn="ctr" indent="0" marL="0">
              <a:buNone/>
            </a:pPr>
            <a:r>
              <a:rPr lang="en-US" sz="820" dirty="0">
                <a:solidFill>
                  <a:srgbClr val="004D40"/>
                </a:solidFill>
              </a:rPr>
              <a:t>Hypercare support</a:t>
            </a:r>
            <a:endParaRPr lang="en-US" sz="820" dirty="0"/>
          </a:p>
        </p:txBody>
      </p:sp>
      <p:sp>
        <p:nvSpPr>
          <p:cNvPr id="71" name="Shape 69"/>
          <p:cNvSpPr/>
          <p:nvPr/>
        </p:nvSpPr>
        <p:spPr>
          <a:xfrm>
            <a:off x="274320" y="5394960"/>
            <a:ext cx="11612880" cy="475488"/>
          </a:xfrm>
          <a:prstGeom prst="rect">
            <a:avLst/>
          </a:prstGeom>
          <a:solidFill>
            <a:srgbClr val="0D1B2A"/>
          </a:solidFill>
          <a:ln/>
        </p:spPr>
      </p:sp>
      <p:sp>
        <p:nvSpPr>
          <p:cNvPr id="72" name="Text 70"/>
          <p:cNvSpPr/>
          <p:nvPr/>
        </p:nvSpPr>
        <p:spPr>
          <a:xfrm>
            <a:off x="274320" y="5394960"/>
            <a:ext cx="11612880" cy="475488"/>
          </a:xfrm>
          <a:prstGeom prst="rect">
            <a:avLst/>
          </a:prstGeom>
          <a:noFill/>
          <a:ln/>
        </p:spPr>
        <p:txBody>
          <a:bodyPr wrap="square" lIns="0" tIns="0" rIns="0" bIns="0" rtlCol="0" anchor="ctr"/>
          <a:lstStyle/>
          <a:p>
            <a:pPr algn="ctr" indent="0" marL="0">
              <a:buNone/>
            </a:pPr>
            <a:r>
              <a:rPr lang="en-US" sz="1100" b="1" dirty="0">
                <a:solidFill>
                  <a:srgbClr val="FFFFFF"/>
                </a:solidFill>
              </a:rPr>
              <a:t>TYPICAL TOTAL PROGRAMME DURATION:  12 – 24 MONTHS  (Brownfield under RISE with SAP on GCP KSA)</a:t>
            </a:r>
            <a:endParaRPr lang="en-US" sz="1100" dirty="0"/>
          </a:p>
        </p:txBody>
      </p:sp>
      <p:sp>
        <p:nvSpPr>
          <p:cNvPr id="73" name="Shape 71"/>
          <p:cNvSpPr/>
          <p:nvPr/>
        </p:nvSpPr>
        <p:spPr>
          <a:xfrm>
            <a:off x="274320" y="5961888"/>
            <a:ext cx="11612880" cy="749808"/>
          </a:xfrm>
          <a:prstGeom prst="rect">
            <a:avLst/>
          </a:prstGeom>
          <a:solidFill>
            <a:srgbClr val="F1F5F9"/>
          </a:solidFill>
          <a:ln/>
        </p:spPr>
      </p:sp>
      <p:sp>
        <p:nvSpPr>
          <p:cNvPr id="74" name="Shape 72"/>
          <p:cNvSpPr/>
          <p:nvPr/>
        </p:nvSpPr>
        <p:spPr>
          <a:xfrm>
            <a:off x="274320" y="5961888"/>
            <a:ext cx="64008" cy="749808"/>
          </a:xfrm>
          <a:prstGeom prst="rect">
            <a:avLst/>
          </a:prstGeom>
          <a:solidFill>
            <a:srgbClr val="E65100"/>
          </a:solidFill>
          <a:ln/>
        </p:spPr>
      </p:sp>
      <p:sp>
        <p:nvSpPr>
          <p:cNvPr id="75" name="Text 73"/>
          <p:cNvSpPr/>
          <p:nvPr/>
        </p:nvSpPr>
        <p:spPr>
          <a:xfrm>
            <a:off x="457200" y="5989320"/>
            <a:ext cx="1463040" cy="274320"/>
          </a:xfrm>
          <a:prstGeom prst="rect">
            <a:avLst/>
          </a:prstGeom>
          <a:noFill/>
          <a:ln/>
        </p:spPr>
        <p:txBody>
          <a:bodyPr wrap="square" lIns="0" tIns="0" rIns="0" bIns="0" rtlCol="0" anchor="ctr"/>
          <a:lstStyle/>
          <a:p>
            <a:pPr indent="0" marL="0">
              <a:buNone/>
            </a:pPr>
            <a:r>
              <a:rPr lang="en-US" sz="850" b="1" dirty="0">
                <a:solidFill>
                  <a:srgbClr val="E65100"/>
                </a:solidFill>
              </a:rPr>
              <a:t>KEY PRINCIPLE:</a:t>
            </a:r>
            <a:endParaRPr lang="en-US" sz="850" dirty="0"/>
          </a:p>
        </p:txBody>
      </p:sp>
      <p:sp>
        <p:nvSpPr>
          <p:cNvPr id="76" name="Text 74"/>
          <p:cNvSpPr/>
          <p:nvPr/>
        </p:nvSpPr>
        <p:spPr>
          <a:xfrm>
            <a:off x="457200" y="6281928"/>
            <a:ext cx="11247120" cy="384048"/>
          </a:xfrm>
          <a:prstGeom prst="rect">
            <a:avLst/>
          </a:prstGeom>
          <a:noFill/>
          <a:ln/>
        </p:spPr>
        <p:txBody>
          <a:bodyPr wrap="square" lIns="0" tIns="0" rIns="0" bIns="0" rtlCol="0" anchor="ctr"/>
          <a:lstStyle/>
          <a:p>
            <a:pPr indent="0" marL="0">
              <a:buNone/>
            </a:pPr>
            <a:r>
              <a:rPr lang="en-US" sz="820" dirty="0">
                <a:solidFill>
                  <a:srgbClr val="37474F"/>
                </a:solidFill>
              </a:rPr>
              <a:t>SAP manages the 'building' (GCP infrastructure, HANA DB, platform ops) so your team can focus on the 'interior design' (business configuration, process setup, custom code, data, integrations, training). RISE removes infrastructure risk from the SI engagement and concentrates your team's expertise where it creates the most business value.</a:t>
            </a:r>
            <a:endParaRPr lang="en-US" sz="82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RISE with SAP &amp; Brownfield Migration — Leadership Briefing</dc:title>
  <dc:subject>PptxGenJS Presentation</dc:subject>
  <dc:creator>PptxGenJS</dc:creator>
  <cp:lastModifiedBy>PptxGenJS</cp:lastModifiedBy>
  <cp:revision>1</cp:revision>
  <dcterms:created xsi:type="dcterms:W3CDTF">2026-03-09T17:09:04Z</dcterms:created>
  <dcterms:modified xsi:type="dcterms:W3CDTF">2026-03-09T17:09:04Z</dcterms:modified>
</cp:coreProperties>
</file>