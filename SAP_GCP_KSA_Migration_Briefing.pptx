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33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16459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2286000"/>
            <a:ext cx="2743200" cy="2377440"/>
          </a:xfrm>
          <a:prstGeom prst="rect">
            <a:avLst/>
          </a:prstGeom>
          <a:solidFill>
            <a:srgbClr val="1565C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097280"/>
            <a:ext cx="1645920" cy="1005840"/>
          </a:xfrm>
          <a:prstGeom prst="rect">
            <a:avLst/>
          </a:prstGeom>
          <a:solidFill>
            <a:srgbClr val="1E88E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005840"/>
            <a:ext cx="2377440" cy="32918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05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INTERNAL BRIEFING  | 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SAP on Google Cloud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90CAF9"/>
                </a:solidFill>
              </a:rPr>
              <a:t>KSA Migration Strategy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777240" y="3401568"/>
            <a:ext cx="50292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66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</a:rPr>
              <a:t>Workloads · Migration Approaches · Pros &amp; Cons · Estimates · RISE Accelerators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3566160" cy="41148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1. SAP Workloads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4572000"/>
            <a:ext cx="3566160" cy="41148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2. Migration Options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66760" y="4572000"/>
            <a:ext cx="3566160" cy="41148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3. Pros &amp; Cons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5166360"/>
            <a:ext cx="3566160" cy="41148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166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4. Cost Estimates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5166360"/>
            <a:ext cx="3566160" cy="41148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5166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5. RISE FastTrack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66760" y="5166360"/>
            <a:ext cx="3566160" cy="41148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5166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6. Accelerators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1  |  SAP WORKLOAD CATEGORIES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3749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37490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CORE ERP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36245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S/4HANA – The core ERP system (Finance, Procurement, Supply Chain, HR, Manufacturing)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ECC – Legacy ERP (predecessor to S/4HANA; most KSA customers still on this)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BW/BW4HANA – Business Warehouse &amp; analytics layer on top of ERP data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187952" y="960120"/>
            <a:ext cx="3749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960120"/>
            <a:ext cx="374904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4187952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PLATFORM &amp; INTEGRATION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25112" y="136245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BTP (Business Technology Platform) – Integration, extensions, low-code app development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325112" y="18013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Integration Suite – Connects SAP to non-SAP systems (middleware/ESB layer)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325112" y="22402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API Management – API gateway for exposing/consuming SAP data externally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147304" y="960120"/>
            <a:ext cx="3749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47304" y="960120"/>
            <a:ext cx="3749040" cy="34747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7304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ANALYTICS &amp;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84464" y="136245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Datasphere – Cloud data warehouse and data fabric layer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284464" y="18013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Analytics Cloud (SAC) – BI, planning, and predictive analytics dashboards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284464" y="22402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HANA DB – The in-memory database powering all S/4HANA workloads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3749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880360"/>
            <a:ext cx="374904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LINE OF BUSINESS (LoB)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282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Ariba – Procurement &amp; supplier collaboration network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65760" y="37216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SuccessFactors – Human Capital Management (HCM/HR in the cloud)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Fieldglass – Contingent workforce &amp; services procurement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187952" y="2880360"/>
            <a:ext cx="3749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87952" y="2880360"/>
            <a:ext cx="374904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1" name="Text 29"/>
          <p:cNvSpPr/>
          <p:nvPr/>
        </p:nvSpPr>
        <p:spPr>
          <a:xfrm>
            <a:off x="4187952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INDUSTRY &amp; OPERATIONS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25112" y="3282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PM/EAM – Plant Maintenance &amp; Enterprise Asset Management (critical for ARAMCO/SABIC)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325112" y="37216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IBP – Integrated Business Planning (demand planning, supply chain optimization)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325112" y="416052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GTS – Global Trade Services (customs, compliance, import/export management)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147304" y="2880360"/>
            <a:ext cx="37490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47304" y="2880360"/>
            <a:ext cx="374904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7" name="Text 35"/>
          <p:cNvSpPr/>
          <p:nvPr/>
        </p:nvSpPr>
        <p:spPr>
          <a:xfrm>
            <a:off x="8147304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SECURITY &amp; COMPLIANCE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84464" y="3282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GRC (Governance, Risk &amp; Compliance) – Access control, audit management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8284464" y="37216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Identity Management – SSO, role provisioning, user lifecycle management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284464" y="416052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93B"/>
                </a:solidFill>
              </a:rPr>
              <a:t>›  SAP Focused Run / SAP Cloud ALM – Application monitoring and operations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228600" y="644652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Note: In KSA, most large enterprises run ECC (core) + BW (analytics) + GRC + PM — these are the primary migration workloads.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2  |  MIGRATION APPROACHES — HOW TO MIGRATE SAP TO GCP KSA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73152" cy="2560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069848"/>
            <a:ext cx="457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GREENFIELD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1344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New Implementation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3474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Build a brand-new S/4HANA system on GCP from scratch. No data or config from old system is carried over. Business processes are redesigned using SAP Best Practices.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109728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565C0"/>
                </a:solidFill>
              </a:rPr>
              <a:t>EFFORT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0040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Highest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2679192"/>
            <a:ext cx="109728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565C0"/>
                </a:solidFill>
              </a:rPr>
              <a:t>TIMELINE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508760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18–36 months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97480" y="2679192"/>
            <a:ext cx="109728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565C0"/>
                </a:solidFill>
              </a:rPr>
              <a:t>RISK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697480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3410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Best when: Legacy ECC with heavy customization • Business wants to re-engineer processes • M&amp;A / new entity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42232" y="9601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42232" y="960120"/>
            <a:ext cx="73152" cy="2560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5" name="Shape 23"/>
          <p:cNvSpPr/>
          <p:nvPr/>
        </p:nvSpPr>
        <p:spPr>
          <a:xfrm>
            <a:off x="4279392" y="1069848"/>
            <a:ext cx="45720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4279392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9744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BROWNFIELD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9744" y="1344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System Conversion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79392" y="1645920"/>
            <a:ext cx="3474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4279392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Convert the existing ECC or S/4HANA system directly into S/4HANA on GCP. All historical data, config, and custom code is migrated over technically.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79392" y="2679192"/>
            <a:ext cx="1097280" cy="6858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2" name="Text 30"/>
          <p:cNvSpPr/>
          <p:nvPr/>
        </p:nvSpPr>
        <p:spPr>
          <a:xfrm>
            <a:off x="4279392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897B"/>
                </a:solidFill>
              </a:rPr>
              <a:t>EFFORT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279392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Medium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68112" y="2679192"/>
            <a:ext cx="1097280" cy="6858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5" name="Text 33"/>
          <p:cNvSpPr/>
          <p:nvPr/>
        </p:nvSpPr>
        <p:spPr>
          <a:xfrm>
            <a:off x="5468112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897B"/>
                </a:solidFill>
              </a:rPr>
              <a:t>TIMELINE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68112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12–24 months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56832" y="2679192"/>
            <a:ext cx="1097280" cy="6858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8" name="Text 36"/>
          <p:cNvSpPr/>
          <p:nvPr/>
        </p:nvSpPr>
        <p:spPr>
          <a:xfrm>
            <a:off x="6656832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897B"/>
                </a:solidFill>
              </a:rPr>
              <a:t>RISK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656832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Medium-High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79392" y="3410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Best when: Stable ECC with good data quality • Want to preserve history • Tight timeline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101584" y="9601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01584" y="960120"/>
            <a:ext cx="73152" cy="25603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3" name="Shape 41"/>
          <p:cNvSpPr/>
          <p:nvPr/>
        </p:nvSpPr>
        <p:spPr>
          <a:xfrm>
            <a:off x="8238744" y="1069848"/>
            <a:ext cx="457200" cy="4572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4" name="Text 42"/>
          <p:cNvSpPr/>
          <p:nvPr/>
        </p:nvSpPr>
        <p:spPr>
          <a:xfrm>
            <a:off x="8238744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769096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</a:rPr>
              <a:t>BLUEFIELD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769096" y="1344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Selective Data Transition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38744" y="1645920"/>
            <a:ext cx="3474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8238744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Hybrid approach — selectively migrate specific processes, org units, or data to a new S/4HANA shell while leaving others behind. Best of Greenfield + Brownfield.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38744" y="2679192"/>
            <a:ext cx="1097280" cy="6858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0" name="Text 48"/>
          <p:cNvSpPr/>
          <p:nvPr/>
        </p:nvSpPr>
        <p:spPr>
          <a:xfrm>
            <a:off x="8238744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7C00"/>
                </a:solidFill>
              </a:rPr>
              <a:t>EFFORT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238744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High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427464" y="2679192"/>
            <a:ext cx="1097280" cy="6858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3" name="Text 51"/>
          <p:cNvSpPr/>
          <p:nvPr/>
        </p:nvSpPr>
        <p:spPr>
          <a:xfrm>
            <a:off x="9427464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7C00"/>
                </a:solidFill>
              </a:rPr>
              <a:t>TIMELINE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9427464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18–30 months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616184" y="2679192"/>
            <a:ext cx="1097280" cy="6858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6" name="Text 54"/>
          <p:cNvSpPr/>
          <p:nvPr/>
        </p:nvSpPr>
        <p:spPr>
          <a:xfrm>
            <a:off x="10616184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7C00"/>
                </a:solidFill>
              </a:rPr>
              <a:t>RISK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616184" y="28986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Medium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38744" y="3410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Best when: Complex group structures • Want clean-core but keep some legacy • Phased transformation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82880" y="37033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82880" y="3703320"/>
            <a:ext cx="73152" cy="2560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1" name="Shape 59"/>
          <p:cNvSpPr/>
          <p:nvPr/>
        </p:nvSpPr>
        <p:spPr>
          <a:xfrm>
            <a:off x="320040" y="3813048"/>
            <a:ext cx="4572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2" name="Text 60"/>
          <p:cNvSpPr/>
          <p:nvPr/>
        </p:nvSpPr>
        <p:spPr>
          <a:xfrm>
            <a:off x="3200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50392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LIFT &amp; SHIFT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50392" y="4087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Rehost to GCP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0040" y="4389120"/>
            <a:ext cx="3474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320040" y="4480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Move the existing SAP system (ECC or S/4HANA) to GCP VMs without any software version change. No business transformation — purely an infrastructure move.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0040" y="5422392"/>
            <a:ext cx="1097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8" name="Text 66"/>
          <p:cNvSpPr/>
          <p:nvPr/>
        </p:nvSpPr>
        <p:spPr>
          <a:xfrm>
            <a:off x="32004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D32"/>
                </a:solidFill>
              </a:rPr>
              <a:t>EFFORT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20040" y="56418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Lowest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508760" y="5422392"/>
            <a:ext cx="1097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1" name="Text 69"/>
          <p:cNvSpPr/>
          <p:nvPr/>
        </p:nvSpPr>
        <p:spPr>
          <a:xfrm>
            <a:off x="150876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D32"/>
                </a:solidFill>
              </a:rPr>
              <a:t>TIMELINE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508760" y="56418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2–6 months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697480" y="5422392"/>
            <a:ext cx="109728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4" name="Text 72"/>
          <p:cNvSpPr/>
          <p:nvPr/>
        </p:nvSpPr>
        <p:spPr>
          <a:xfrm>
            <a:off x="2697480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D32"/>
                </a:solidFill>
              </a:rPr>
              <a:t>RISK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697480" y="56418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Low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20040" y="61539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Best when: Short-term compliance (data residency) • Budget constrained • Pre-RISE step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142232" y="37033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142232" y="3703320"/>
            <a:ext cx="73152" cy="25603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9" name="Shape 77"/>
          <p:cNvSpPr/>
          <p:nvPr/>
        </p:nvSpPr>
        <p:spPr>
          <a:xfrm>
            <a:off x="4279392" y="3813048"/>
            <a:ext cx="45720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80" name="Text 78"/>
          <p:cNvSpPr/>
          <p:nvPr/>
        </p:nvSpPr>
        <p:spPr>
          <a:xfrm>
            <a:off x="427939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809744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</a:rPr>
              <a:t>RISE MIGRATION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4809744" y="4087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Managed Cloud via SAP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279392" y="4389120"/>
            <a:ext cx="3474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4279392" y="4480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Migrate to S/4HANA Cloud Private Edition under the RISE program on GCP Dammam. SAP manages infrastructure and platform. Can combine Brownfield or Bluefield within RISE.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279392" y="5422392"/>
            <a:ext cx="1097280" cy="6858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6" name="Text 84"/>
          <p:cNvSpPr/>
          <p:nvPr/>
        </p:nvSpPr>
        <p:spPr>
          <a:xfrm>
            <a:off x="4279392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A1B9A"/>
                </a:solidFill>
              </a:rPr>
              <a:t>EFFORT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279392" y="56418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Medium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468112" y="5422392"/>
            <a:ext cx="1097280" cy="6858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89" name="Text 87"/>
          <p:cNvSpPr/>
          <p:nvPr/>
        </p:nvSpPr>
        <p:spPr>
          <a:xfrm>
            <a:off x="5468112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A1B9A"/>
                </a:solidFill>
              </a:rPr>
              <a:t>TIMELINE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468112" y="56418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12–24 months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656832" y="5422392"/>
            <a:ext cx="1097280" cy="68580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92" name="Text 90"/>
          <p:cNvSpPr/>
          <p:nvPr/>
        </p:nvSpPr>
        <p:spPr>
          <a:xfrm>
            <a:off x="6656832" y="5440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A1B9A"/>
                </a:solidFill>
              </a:rPr>
              <a:t>RISK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6656832" y="56418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Low-Medium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279392" y="61539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Best when: Customers wanting single-vendor accountability • Long-term cloud transformation • KSA regulated entities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3  |  PROS &amp; CONS OF EACH MIGRATION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68880" y="896112"/>
            <a:ext cx="4572000" cy="29260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896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✔  PROS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78040" y="896112"/>
            <a:ext cx="4754880" cy="292608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896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✘  CONS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261872"/>
            <a:ext cx="117957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" y="1261872"/>
            <a:ext cx="210312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26187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Greenfield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3075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100% clean core — no legacy baggage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377440" y="15361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Full SAP Best Practices adoption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377440" y="17647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Lowest technical debt going forward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377440" y="19933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Best AI/innovation readiness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132320" y="13075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Longest timeline (18–36 months)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132320" y="15361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Highest cost &amp; resource demand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132320" y="17647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Re-training all business users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132320" y="19933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Risk of missing legacy features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82880" y="2359152"/>
            <a:ext cx="117957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" y="2359152"/>
            <a:ext cx="210312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235915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Brownfield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4048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Fastest path to S/4HANA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377440" y="26334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All historical data preserved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2377440" y="28620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Lower user disruption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377440" y="30906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Lower initial cost vs Greenfield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132320" y="24048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Carries forward all old customizations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132320" y="26334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Custom code must be remediated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132320" y="28620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Less opportunity to re-engineer processes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132320" y="30906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Higher technical debt post-migration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82880" y="3456432"/>
            <a:ext cx="117957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" y="3456432"/>
            <a:ext cx="2103120" cy="10058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345643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Bluefield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77440" y="350215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Selective clean-core for chosen areas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2377440" y="373075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Preserves critical legacy processes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377440" y="395935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Phased approach reduces risk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2377440" y="418795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Best of both worlds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132320" y="35021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Most complex to plan &amp; execute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132320" y="37307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Requires specialist tools (SNP, Natuvion)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7132320" y="39593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Parallel run costs during transition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7132320" y="41879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Extended programme governance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182880" y="4553712"/>
            <a:ext cx="117957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Shape 41"/>
          <p:cNvSpPr/>
          <p:nvPr/>
        </p:nvSpPr>
        <p:spPr>
          <a:xfrm>
            <a:off x="182880" y="4553712"/>
            <a:ext cx="210312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455371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Lift &amp; Shift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77440" y="45994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Fastest execution (2–6 months)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2377440" y="48280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Zero business disruption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2377440" y="50566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Lowest cost short-term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377440" y="52852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Immediate data residency compliance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7132320" y="459943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No software modernization benefit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132320" y="482803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ECC end-of-life still looming (2030)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7132320" y="505663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No access to S/4HANA innovations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7132320" y="528523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Becomes a stepping stone — costs again later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182880" y="5650992"/>
            <a:ext cx="117957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82880" y="5650992"/>
            <a:ext cx="2103120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5" name="Text 53"/>
          <p:cNvSpPr/>
          <p:nvPr/>
        </p:nvSpPr>
        <p:spPr>
          <a:xfrm>
            <a:off x="182880" y="565099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RISE Migration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377440" y="569671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Single SAP contract — simplified governance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2377440" y="592531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SAP manages infra &amp; upgrades on GCP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2377440" y="615391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Includes BTP, Signavio, LeanIX tools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2377440" y="638251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E7D32"/>
                </a:solidFill>
              </a:rPr>
              <a:t>✔  Pre-certified for NCA/CCC in KSA (me-central2)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7132320" y="56967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Less infrastructure flexibility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7132320" y="59253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Fixed system sizes (RAM/compute caps)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7132320" y="61539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Application config still needs SI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7132320" y="638251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</a:rPr>
              <a:t>✘  Long-term lock-in to SAP subscription model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4  |  HIGHEST ESTIMATES BY MIGRATION OPTION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</a:rPr>
              <a:t>Based on large-enterprise SAP landscapes (1,000–5,000 users). Estimates are indicative ranges for KSA-region engagements.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0116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APPROACH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9202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SI / IMPL. COST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0" y="1188720"/>
            <a:ext cx="19202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GCP INFRA/YR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19202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RISE LICENCE/YR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5280" y="1188720"/>
            <a:ext cx="19202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TOTAL INVEST.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75520" y="1188720"/>
            <a:ext cx="13716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1188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TIMELINE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1627632"/>
            <a:ext cx="2011680" cy="6766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16276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Lift &amp; Shift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1627632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16276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$0.5M–$2M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1627632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16276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$0.3M–$1M/yr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627632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6276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N/A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55280" y="1627632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16276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$0.8M–$3M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75520" y="1627632"/>
            <a:ext cx="137160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0" y="162763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2–6 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2377440"/>
            <a:ext cx="2011680" cy="67665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237744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Brownfield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94560" y="2377440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2194560" y="23774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$3M–$10M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0" y="2377440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23774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$1M–$3M/yr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2377440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23774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$1M–$2.5M/yr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2377440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0" y="23774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</a:rPr>
              <a:t>$5M–$15M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875520" y="2377440"/>
            <a:ext cx="137160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9875520" y="237744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12–24 mo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3127248"/>
            <a:ext cx="2011680" cy="676656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312724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Bluefield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94560" y="3127248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194560" y="312724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$5M–$15M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0" y="3127248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0" y="312724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$1M–$3M/yr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35040" y="3127248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035040" y="312724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$1M–$2.5M/yr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955280" y="3127248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955280" y="312724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</a:rPr>
              <a:t>$8M–$20M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875520" y="3127248"/>
            <a:ext cx="137160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9875520" y="312724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18–30 mo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2880" y="3877056"/>
            <a:ext cx="2011680" cy="6766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5" name="Text 53"/>
          <p:cNvSpPr/>
          <p:nvPr/>
        </p:nvSpPr>
        <p:spPr>
          <a:xfrm>
            <a:off x="182880" y="387705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Greenfield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94560" y="3877056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2194560" y="38770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$8M–$20M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14800" y="3877056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7"/>
          <p:cNvSpPr/>
          <p:nvPr/>
        </p:nvSpPr>
        <p:spPr>
          <a:xfrm>
            <a:off x="4114800" y="38770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$1M–$3M/yr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35040" y="3877056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6035040" y="38770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$1M–$2.5M/yr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55280" y="3877056"/>
            <a:ext cx="192024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61"/>
          <p:cNvSpPr/>
          <p:nvPr/>
        </p:nvSpPr>
        <p:spPr>
          <a:xfrm>
            <a:off x="7955280" y="38770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$12M–$28M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875520" y="3877056"/>
            <a:ext cx="1371600" cy="6766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Text 63"/>
          <p:cNvSpPr/>
          <p:nvPr/>
        </p:nvSpPr>
        <p:spPr>
          <a:xfrm>
            <a:off x="9875520" y="387705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18–36 mo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82880" y="4626864"/>
            <a:ext cx="2011680" cy="67665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7" name="Text 65"/>
          <p:cNvSpPr/>
          <p:nvPr/>
        </p:nvSpPr>
        <p:spPr>
          <a:xfrm>
            <a:off x="182880" y="462686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RISE (Brownfield)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94560" y="4626864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2194560" y="462686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$3M–$10M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14800" y="4626864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114800" y="462686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Included in RISE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35040" y="4626864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6035040" y="462686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$1.5M–$3M/yr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955280" y="4626864"/>
            <a:ext cx="192024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7955280" y="462686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B9A"/>
                </a:solidFill>
              </a:rPr>
              <a:t>$5M–$15M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875520" y="4626864"/>
            <a:ext cx="137160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9875520" y="462686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12–24 mo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4320" y="5577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What drives costs: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74320" y="587044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›  SI / Implementation: Number of consultants × duration × rates (SAR 800–2,500/day for KSA)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6108192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›  GCP Infra: VM sizes for HANA DB (M-series), compute, storage, networking in me-central2 (Dammam)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274320" y="6345936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›  RISE Licence: Based on number of users (FUE model), system size (RAM), and BTP consumption credits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74320" y="6583680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›  Hidden costs: Change management, training, custom code remediation, data cleansing, parallel run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5  |  HOW RISE WITH SAP FASTTRACKS THE MIGRATION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WITHOUT RISE — Traditional Migration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WITH RISE — FastTrack on GCP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4389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98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Negotiate separate GCP contract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17720" y="1335024"/>
            <a:ext cx="100584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3350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</a:rPr>
              <a:t>4–8 weeks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" y="1737360"/>
            <a:ext cx="43891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37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SAP licence procurement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773936"/>
            <a:ext cx="100584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7739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</a:rPr>
              <a:t>6–12 weeks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" y="2176272"/>
            <a:ext cx="4389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76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Infrastructure design &amp; provisioning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2212848"/>
            <a:ext cx="100584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2128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</a:rPr>
              <a:t>8–16 weeks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615184"/>
            <a:ext cx="43891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6151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BTP setup separately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2651760"/>
            <a:ext cx="100584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651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</a:rPr>
              <a:t>4–8 weeks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3054096"/>
            <a:ext cx="4389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Signavio &amp; LeanIX procurement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3090672"/>
            <a:ext cx="100584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0906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</a:rPr>
              <a:t>4–6 weeks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" y="3493008"/>
            <a:ext cx="43891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4930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SAP Readiness Check (manual)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3529584"/>
            <a:ext cx="100584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35295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</a:rPr>
              <a:t>4–8 weeks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3931920"/>
            <a:ext cx="4389120" cy="384048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931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TOTAL PRE-PROJECT OVERHEAD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3968496"/>
            <a:ext cx="1005840" cy="3108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39684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~9–12 months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63640" y="1298448"/>
            <a:ext cx="4389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1298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RISE single contract signed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698480" y="1335024"/>
            <a:ext cx="118872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10698480" y="13350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</a:rPr>
              <a:t>1–2 weeks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63640" y="1737360"/>
            <a:ext cx="43891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1737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GCP Dammam provisioned by SAP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698480" y="1773936"/>
            <a:ext cx="118872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10698480" y="17739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</a:rPr>
              <a:t>2–4 weeks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63640" y="2176272"/>
            <a:ext cx="4389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2176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BTP, Signavio, LeanIX bundled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698480" y="2212848"/>
            <a:ext cx="118872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Text 44"/>
          <p:cNvSpPr/>
          <p:nvPr/>
        </p:nvSpPr>
        <p:spPr>
          <a:xfrm>
            <a:off x="10698480" y="2212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</a:rPr>
              <a:t>Included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63640" y="2615184"/>
            <a:ext cx="43891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26151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SAP Readiness Check automated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698480" y="2651760"/>
            <a:ext cx="118872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0" name="Text 48"/>
          <p:cNvSpPr/>
          <p:nvPr/>
        </p:nvSpPr>
        <p:spPr>
          <a:xfrm>
            <a:off x="10698480" y="2651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</a:rPr>
              <a:t>1–2 weeks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63640" y="3054096"/>
            <a:ext cx="4389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Migration Cockpit pre-configured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698480" y="3090672"/>
            <a:ext cx="118872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4" name="Text 52"/>
          <p:cNvSpPr/>
          <p:nvPr/>
        </p:nvSpPr>
        <p:spPr>
          <a:xfrm>
            <a:off x="10698480" y="30906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</a:rPr>
              <a:t>Included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263640" y="3493008"/>
            <a:ext cx="43891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34930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Cloud ALM ready out-of-box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698480" y="3529584"/>
            <a:ext cx="118872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8" name="Text 56"/>
          <p:cNvSpPr/>
          <p:nvPr/>
        </p:nvSpPr>
        <p:spPr>
          <a:xfrm>
            <a:off x="10698480" y="35295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</a:rPr>
              <a:t>Included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63640" y="3931920"/>
            <a:ext cx="4389120" cy="3840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0" name="Text 58"/>
          <p:cNvSpPr/>
          <p:nvPr/>
        </p:nvSpPr>
        <p:spPr>
          <a:xfrm>
            <a:off x="6355080" y="3931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TOTAL PRE-PROJECT OVERHEAD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698480" y="3968496"/>
            <a:ext cx="1188720" cy="3108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2" name="Text 60"/>
          <p:cNvSpPr/>
          <p:nvPr/>
        </p:nvSpPr>
        <p:spPr>
          <a:xfrm>
            <a:off x="10698480" y="3968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~4–6 weeks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897880" y="914400"/>
            <a:ext cx="36576" cy="45720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4" name="Shape 62"/>
          <p:cNvSpPr/>
          <p:nvPr/>
        </p:nvSpPr>
        <p:spPr>
          <a:xfrm>
            <a:off x="5623560" y="2377440"/>
            <a:ext cx="54864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5" name="Text 63"/>
          <p:cNvSpPr/>
          <p:nvPr/>
        </p:nvSpPr>
        <p:spPr>
          <a:xfrm>
            <a:off x="562356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82880" y="5669280"/>
            <a:ext cx="3749040" cy="91440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82880" y="5669280"/>
            <a:ext cx="54864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8" name="Text 66"/>
          <p:cNvSpPr/>
          <p:nvPr/>
        </p:nvSpPr>
        <p:spPr>
          <a:xfrm>
            <a:off x="320040" y="5696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Single Accountability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20040" y="59710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SAP owns the SLA across infra + platform + support. No finger-pointing between GCP &amp; SAP.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4178808" y="5669280"/>
            <a:ext cx="3749040" cy="91440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178808" y="5669280"/>
            <a:ext cx="54864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2" name="Text 70"/>
          <p:cNvSpPr/>
          <p:nvPr/>
        </p:nvSpPr>
        <p:spPr>
          <a:xfrm>
            <a:off x="4315968" y="5696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Pre-certified for KSA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315968" y="59710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GCP Dammam (me-central2) is NCA/CCC certified. RISE is already scoped for Saudi data residency.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8174736" y="5669280"/>
            <a:ext cx="3749040" cy="91440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174736" y="5669280"/>
            <a:ext cx="54864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6" name="Text 74"/>
          <p:cNvSpPr/>
          <p:nvPr/>
        </p:nvSpPr>
        <p:spPr>
          <a:xfrm>
            <a:off x="8311896" y="5696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Automated Provisioning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11896" y="59710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E293B"/>
                </a:solidFill>
              </a:rPr>
              <a:t>SAP's Guided Deployment automates GCP infra setup — VMs, HANA, HA clustering, networking — in days not months.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6  |  RISE &amp; GCP MIGRATION ACCELERATORS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565C0"/>
                </a:solidFill>
              </a:rPr>
              <a:t>SAP-NATIVE ACCELERATORS (Included in RISE)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09360" y="89611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897B"/>
                </a:solidFill>
              </a:rPr>
              <a:t>GCP-NATIVE ACCELERATORS (Google Cloud Tools)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243584"/>
            <a:ext cx="57607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43584"/>
            <a:ext cx="64008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SAP Readiness Check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0" y="1335024"/>
            <a:ext cx="173736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335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Discover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9184" y="15727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Automated scan of existing ECC/S/4 system — identifies custom code issues, simplification items, and system sizing for migration.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2157984"/>
            <a:ext cx="5760720" cy="804672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157984"/>
            <a:ext cx="64008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SAP Signavio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0" y="2249424"/>
            <a:ext cx="173736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Prepare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9184" y="24871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Process mining tool — maps how business processes actually run today (not how they're documented), identifies inefficiencies before migration.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3072384"/>
            <a:ext cx="57607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072384"/>
            <a:ext cx="64008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SAP LeanIX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3163824"/>
            <a:ext cx="173736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31638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Prepare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9184" y="34015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Enterprise architecture tool — creates a visual map of your entire IT landscape and tracks dependency changes during migration.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3986784"/>
            <a:ext cx="5760720" cy="804672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986784"/>
            <a:ext cx="64008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SAP Cloud ALM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0" y="4078224"/>
            <a:ext cx="173736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4078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All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9184" y="43159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Application Lifecycle Management — project management, test orchestration, change control, and operations monitoring for the migration programme.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4901184"/>
            <a:ext cx="57607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4901184"/>
            <a:ext cx="64008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" y="4956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SAP Migration Cockpit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4992624"/>
            <a:ext cx="173736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4992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Realize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9184" y="52303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Toolset for migrating master data and transactional data from legacy systems to S/4HANA. Replaces the old LSMW/BAPI approach.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5815584"/>
            <a:ext cx="5760720" cy="804672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5815584"/>
            <a:ext cx="64008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SAP Activate Methodology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0" y="5907024"/>
            <a:ext cx="173736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0" y="5907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All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9184" y="61447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Pre-built project methodology with guided configuration workbooks, fit-to-standard workshops, and sprint templates — accelerates design phase.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63640" y="1243584"/>
            <a:ext cx="57607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1243584"/>
            <a:ext cx="64008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9944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Google Cloud Cortex Framework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195560" y="1335024"/>
            <a:ext cx="173736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7" name="Text 45"/>
          <p:cNvSpPr/>
          <p:nvPr/>
        </p:nvSpPr>
        <p:spPr>
          <a:xfrm>
            <a:off x="10195560" y="1335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Post-migration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409944" y="15727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Pre-built SAP data models for BigQuery — connects S/4HANA to GCP analytics instantly. Includes dashboards for Finance, Supply Chain, Sales.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63640" y="2157984"/>
            <a:ext cx="5760720" cy="804672"/>
          </a:xfrm>
          <a:prstGeom prst="rect">
            <a:avLst/>
          </a:prstGeom>
          <a:solidFill>
            <a:srgbClr val="E0F2F1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63640" y="2157984"/>
            <a:ext cx="64008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1" name="Text 49"/>
          <p:cNvSpPr/>
          <p:nvPr/>
        </p:nvSpPr>
        <p:spPr>
          <a:xfrm>
            <a:off x="6409944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Workload Manager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195560" y="2249424"/>
            <a:ext cx="173736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3" name="Text 51"/>
          <p:cNvSpPr/>
          <p:nvPr/>
        </p:nvSpPr>
        <p:spPr>
          <a:xfrm>
            <a:off x="1019556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Prepare &amp; Run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409944" y="24871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Scans SAP workloads on GCP against SAP + Google best practices — flags performance, reliability and security gaps automatically.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263640" y="3072384"/>
            <a:ext cx="57607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63640" y="3072384"/>
            <a:ext cx="64008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7" name="Text 55"/>
          <p:cNvSpPr/>
          <p:nvPr/>
        </p:nvSpPr>
        <p:spPr>
          <a:xfrm>
            <a:off x="6409944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Guided Deployment Automation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195560" y="3163824"/>
            <a:ext cx="173736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9" name="Text 57"/>
          <p:cNvSpPr/>
          <p:nvPr/>
        </p:nvSpPr>
        <p:spPr>
          <a:xfrm>
            <a:off x="10195560" y="31638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Realize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409944" y="34015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Terraform-based automated provisioning of SAP-certified GCP infrastructure (VMs, VPC, HA clustering, HANA storage) in days.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263640" y="3986784"/>
            <a:ext cx="5760720" cy="804672"/>
          </a:xfrm>
          <a:prstGeom prst="rect">
            <a:avLst/>
          </a:prstGeom>
          <a:solidFill>
            <a:srgbClr val="E0F2F1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63640" y="3986784"/>
            <a:ext cx="64008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3" name="Text 61"/>
          <p:cNvSpPr/>
          <p:nvPr/>
        </p:nvSpPr>
        <p:spPr>
          <a:xfrm>
            <a:off x="6409944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BigQuery + SAP Datasphere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195560" y="4078224"/>
            <a:ext cx="173736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5" name="Text 63"/>
          <p:cNvSpPr/>
          <p:nvPr/>
        </p:nvSpPr>
        <p:spPr>
          <a:xfrm>
            <a:off x="10195560" y="4078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Post-migration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409944" y="43159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Zero-ETL federation between S/4HANA and BigQuery — real-time analytics without data duplication. Co-engineered by SAP &amp; Google.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263640" y="4901184"/>
            <a:ext cx="57607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263640" y="4901184"/>
            <a:ext cx="64008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9" name="Text 67"/>
          <p:cNvSpPr/>
          <p:nvPr/>
        </p:nvSpPr>
        <p:spPr>
          <a:xfrm>
            <a:off x="6409944" y="4956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M4 / C4D Optimized VMs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0195560" y="4992624"/>
            <a:ext cx="173736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1" name="Text 69"/>
          <p:cNvSpPr/>
          <p:nvPr/>
        </p:nvSpPr>
        <p:spPr>
          <a:xfrm>
            <a:off x="10195560" y="4992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Realize &amp; Run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409944" y="52303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GCP VMs certified for S/4HANA. M4 series delivers up to 127% better HANA performance vs prior gen at 36% better TCO.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263640" y="5815584"/>
            <a:ext cx="5760720" cy="804672"/>
          </a:xfrm>
          <a:prstGeom prst="rect">
            <a:avLst/>
          </a:prstGeom>
          <a:solidFill>
            <a:srgbClr val="E0F2F1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263640" y="5815584"/>
            <a:ext cx="64008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5" name="Text 73"/>
          <p:cNvSpPr/>
          <p:nvPr/>
        </p:nvSpPr>
        <p:spPr>
          <a:xfrm>
            <a:off x="6409944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Google Unified Security (SIEM/SOAR)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195560" y="5907024"/>
            <a:ext cx="173736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7" name="Text 75"/>
          <p:cNvSpPr/>
          <p:nvPr/>
        </p:nvSpPr>
        <p:spPr>
          <a:xfrm>
            <a:off x="10195560" y="5907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Phase: Run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409944" y="61447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Centralised security monitoring for the SAP landscape — threat detection, access controls, and compliance reporting for NCA/CCC.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1E88E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0CAF9"/>
                </a:solidFill>
              </a:rPr>
              <a:t>OUR RECOMMENDATION FOR KSA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RISE with SAP on GCP Dammam — Brownfield Migration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515600" cy="2743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41148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Fastest path that maintains data residency compliance — SAP pre-certifies GCP Dammam for NCA/CCC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41148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Single contract with SAP — reduces procurement complexity and governance overhead in KSA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41148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Brownfield converts existing ECC landscape preserving history — minimizes re-training disruption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41148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RISE tools (Signavio, Cloud ALM, Migration Cockpit) compress timeline by 30–40% vs traditional approach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41148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Post-migration: GCP Cortex + BigQuery unlocks AI/analytics capabilities aligned with Vision 2030 digitization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515600" cy="2743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0CAF9"/>
                </a:solidFill>
              </a:rPr>
              <a:t>IMMEDIATE NEXT STEPS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21808"/>
            <a:ext cx="27432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5321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 SAP Readiness Check — </a:t>
            </a:r>
            <a:r>
              <a:rPr lang="en-US" sz="900" dirty="0">
                <a:solidFill>
                  <a:srgbClr val="94A3B8"/>
                </a:solidFill>
              </a:rPr>
              <a:t>on the existing KSA landscape to quantify custom code debt and system size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5687568"/>
            <a:ext cx="27432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5687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Engage CNTXT (GCP KSA reseller) — </a:t>
            </a:r>
            <a:r>
              <a:rPr lang="en-US" sz="900" dirty="0">
                <a:solidFill>
                  <a:srgbClr val="94A3B8"/>
                </a:solidFill>
              </a:rPr>
              <a:t>to understand GCP Dammam commercial model and sovereign controls requirements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6053328"/>
            <a:ext cx="27432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6053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 NCA/CCC classification — </a:t>
            </a:r>
            <a:r>
              <a:rPr lang="en-US" sz="900" dirty="0">
                <a:solidFill>
                  <a:srgbClr val="94A3B8"/>
                </a:solidFill>
              </a:rPr>
              <a:t>determine if customer is regulated (CNI/public sector) to scope sovereignty controls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6419088"/>
            <a:ext cx="27432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64190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RISE commercial workshop with SAP — </a:t>
            </a:r>
            <a:r>
              <a:rPr lang="en-US" sz="900" dirty="0">
                <a:solidFill>
                  <a:srgbClr val="94A3B8"/>
                </a:solidFill>
              </a:rPr>
              <a:t>get indicative RISE pricing based on user count, system size, and TDAM model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1928</Words>
  <Application>Microsoft Office PowerPoint</Application>
  <PresentationFormat>Widescreen</PresentationFormat>
  <Paragraphs>289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on GCP – KSA Migration Briefing</dc:title>
  <dc:subject>PptxGenJS Presentation</dc:subject>
  <dc:creator>PptxGenJS</dc:creator>
  <cp:lastModifiedBy>Tanur yadav</cp:lastModifiedBy>
  <cp:revision>2</cp:revision>
  <dcterms:created xsi:type="dcterms:W3CDTF">2026-03-05T19:41:44Z</dcterms:created>
  <dcterms:modified xsi:type="dcterms:W3CDTF">2026-03-06T03:12:39Z</dcterms:modified>
</cp:coreProperties>
</file>